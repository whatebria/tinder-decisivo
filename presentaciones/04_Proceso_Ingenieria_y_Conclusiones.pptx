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-- 15 a 20 minutos</a:t>
            </a:r>
          </a:p>
          <a:p/>
          <a:p>
            <a:r>
              <a:t>Esta presentacion responde: como se construyo el sistema?</a:t>
            </a:r>
          </a:p>
          <a:p/>
          <a:p>
            <a:r>
              <a:t>Tres mensajes centrales:</a:t>
            </a:r>
          </a:p>
          <a:p>
            <a:r>
              <a:t>  1. Las decisiones tecnologicas tuvieron justificacion explicita.</a:t>
            </a:r>
          </a:p>
          <a:p>
            <a:r>
              <a:t>  2. La ingenieria estuvo al servicio del problema civico, no al reves.</a:t>
            </a:r>
          </a:p>
          <a:p>
            <a:r>
              <a:t>  3. El sistema produce conocimiento reutilizable, no solo software.</a:t>
            </a:r>
          </a:p>
          <a:p/>
          <a:p>
            <a:r>
              <a:t>La audiencia tecnica encontrara aqui el trabajo real de ingenieria.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 especificos completos (7):</a:t>
            </a:r>
          </a:p>
          <a:p>
            <a:r>
              <a:t>  1. Investigar el problema del deficit informativo electoral en Chile.</a:t>
            </a:r>
          </a:p>
          <a:p>
            <a:r>
              <a:t>  2. Analizar el estado del arte en VAAs internacionales y nacionales.</a:t>
            </a:r>
          </a:p>
          <a:p>
            <a:r>
              <a:t>  3. Disenar una experiencia de usuario centrada en la reduccion de carga cognitiva.</a:t>
            </a:r>
          </a:p>
          <a:p>
            <a:r>
              <a:t>  4. Definir algoritmo de matching con ponderacion e indicador de confianza.</a:t>
            </a:r>
          </a:p>
          <a:p>
            <a:r>
              <a:t>  5. Implementar el sistema completo con arquitectura cliente-servidor.</a:t>
            </a:r>
          </a:p>
          <a:p>
            <a:r>
              <a:t>  6. Establecer un modelo de verificacion de datos con fuentes trazables.</a:t>
            </a:r>
          </a:p>
          <a:p>
            <a:r>
              <a:t>  7. Documentar el sistema para facilitar contribuciones externas.</a:t>
            </a:r>
          </a:p>
          <a:p/>
          <a:p>
            <a:r>
              <a:t>Al cierre:</a:t>
            </a:r>
          </a:p>
          <a:p>
            <a:r>
              <a:t>  -- Objetivos 1-6: alcanzados completamente.</a:t>
            </a:r>
          </a:p>
          <a:p>
            <a:r>
              <a:t>  -- Objetivo 7: alcanzado parcialmente (documentacion existe pero requiere ampliacion).</a:t>
            </a:r>
          </a:p>
          <a:p/>
          <a:p>
            <a:r>
              <a:t>Esta honestidad sobre el estado de los objetivos es parte del modelo de transparencia.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8 fases completas:</a:t>
            </a:r>
          </a:p>
          <a:p>
            <a:r>
              <a:t>  F0: Investigacion del estado del arte -- 9 VAAs + 4 iniciativas chilenas</a:t>
            </a:r>
          </a:p>
          <a:p>
            <a:r>
              <a:t>  F1: Diseno de arquitectura y contrato API -- modelo de dominio + OpenAPI 3.1</a:t>
            </a:r>
          </a:p>
          <a:p>
            <a:r>
              <a:t>  F2: MVP end-to-end -- flujo funcional registro -&gt; resultados</a:t>
            </a:r>
          </a:p>
          <a:p>
            <a:r>
              <a:t>  F3: Auditoria y refactorizacion -- 4 hallazgos criticos de seguridad + DRY</a:t>
            </a:r>
          </a:p>
          <a:p>
            <a:r>
              <a:t>  F4: Expansion territorial -- modelo polimorfico + preguntas base</a:t>
            </a:r>
          </a:p>
          <a:p>
            <a:r>
              <a:t>  F5: Simplificacion YAGNI -- swipe eliminado + DecisionFinal eliminado</a:t>
            </a:r>
          </a:p>
          <a:p>
            <a:r>
              <a:t>  F6: Sistema de diseno y accesibilidad -- Atomic Design + WCAG 2.2 AA</a:t>
            </a:r>
          </a:p>
          <a:p>
            <a:r>
              <a:t>  F7: Documentacion y tesis -- 37 documentos auditados contra codigo real</a:t>
            </a:r>
          </a:p>
          <a:p/>
          <a:p>
            <a:r>
              <a:t>La Fase 5 (Simplificacion YAGNI) es importante:</a:t>
            </a:r>
          </a:p>
          <a:p>
            <a:r>
              <a:t>Se eliminaron features implementadas que no resolvian el problema central.</a:t>
            </a:r>
          </a:p>
          <a:p>
            <a:r>
              <a:t>YAGNI = You Aren't Gonna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decision arquitectonica mas importante no fue que tecnologia usar.</a:t>
            </a:r>
          </a:p>
          <a:p>
            <a:r>
              <a:t>Fue DONDE vive el algoritmo.</a:t>
            </a:r>
          </a:p>
          <a:p/>
          <a:p>
            <a:r>
              <a:t>Esa respuesta determina si el sistema puede ser auditado independientemente</a:t>
            </a:r>
          </a:p>
          <a:p>
            <a:r>
              <a:t>o si opera como una caja negra.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separacion es critica para la auditabilidad electoral.</a:t>
            </a:r>
          </a:p>
          <a:p/>
          <a:p>
            <a:r>
              <a:t>Si el algoritmo estuviera en el cliente, podrian existir distintas versiones</a:t>
            </a:r>
          </a:p>
          <a:p>
            <a:r>
              <a:t>del calculo segun el cliente ejecutado.</a:t>
            </a:r>
          </a:p>
          <a:p/>
          <a:p>
            <a:r>
              <a:t>Al vivir exclusivamente en el servidor:</a:t>
            </a:r>
          </a:p>
          <a:p>
            <a:r>
              <a:t>  -- El algoritmo es unico</a:t>
            </a:r>
          </a:p>
          <a:p>
            <a:r>
              <a:t>  -- Es auditable de manera independiente</a:t>
            </a:r>
          </a:p>
          <a:p>
            <a:r>
              <a:t>  -- No puede ser alterado por el cliente</a:t>
            </a:r>
          </a:p>
          <a:p/>
          <a:p>
            <a:r>
              <a:t>El contrato OpenAPI 3.1 genera tipos TypeScript automaticamente.</a:t>
            </a:r>
          </a:p>
          <a:p>
            <a:r>
              <a:t>Cuando el backend cambia, el compilador senala donde el frontend debe actualizar.</a:t>
            </a:r>
          </a:p>
          <a:p>
            <a:r>
              <a:t>Elimina errores de integracion que de otro modo aparecen solo en produccion.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territorial polimorfico es una decision arquitectonica destacada:</a:t>
            </a:r>
          </a:p>
          <a:p>
            <a:r>
              <a:t>  16 regiones, 28 distritos electorales, 346 comunas</a:t>
            </a:r>
          </a:p>
          <a:p>
            <a:r>
              <a:t>  representados como jerarquia auto-recursiva.</a:t>
            </a:r>
          </a:p>
          <a:p>
            <a:r>
              <a:t>  Permite filtrado de candidatos por scope del usuario como algoritmo generico.</a:t>
            </a:r>
          </a:p>
          <a:p/>
          <a:p>
            <a:r>
              <a:t>PosturaCandidato con nivel de confianza (ALTA/MEDIA/BAJA) es la</a:t>
            </a:r>
          </a:p>
          <a:p>
            <a:r>
              <a:t>implementacion tecnica del principio de transparencia.</a:t>
            </a:r>
          </a:p>
          <a:p/>
          <a:p>
            <a:r>
              <a:t>42 migraciones documentan la evolucion del schema desde el dia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algoritmo priorizo la EXPLICABILIDAD sobre la sofisticacion matematica.</a:t>
            </a:r>
          </a:p>
          <a:p/>
          <a:p>
            <a:r>
              <a:t>Cualquier ciudadano con comprension basica de proporciones puede entender</a:t>
            </a:r>
          </a:p>
          <a:p>
            <a:r>
              <a:t>como se calcula el resultado. Es un requerimiento funcional para la credibilidad.</a:t>
            </a:r>
          </a:p>
          <a:p/>
          <a:p>
            <a:r>
              <a:t>La funcion cuadratica de penalizacion (elevar al cuadrado la diferencia normalizada)</a:t>
            </a:r>
          </a:p>
          <a:p>
            <a:r>
              <a:t>penaliza los desacuerdos extremos con mayor severidad que los leves.</a:t>
            </a:r>
          </a:p>
          <a:p>
            <a:r>
              <a:t>Refleja la intuicion politica: distancias extremas son cualitativamente distintas</a:t>
            </a:r>
          </a:p>
          <a:p>
            <a:r>
              <a:t>de diferencias pequeñas.</a:t>
            </a:r>
          </a:p>
          <a:p/>
          <a:p>
            <a:r>
              <a:t>El indicador de confianza (Componente 3) es la diferenciacion algorítmica</a:t>
            </a:r>
          </a:p>
          <a:p>
            <a:r>
              <a:t>mas significativa respecto a VAAs internacionales.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Criterio aplicado a cada decision:</a:t>
            </a:r>
          </a:p>
          <a:p>
            <a:r>
              <a:t>'Elegir herramientas probadas en produccion, con comunidades activas,</a:t>
            </a:r>
          </a:p>
          <a:p>
            <a:r>
              <a:t>que resuelvan el problema actual sin anadir complejidad innecesaria.'</a:t>
            </a:r>
          </a:p>
          <a:p/>
          <a:p>
            <a:r>
              <a:t>Esto refleja YAGNI aplicado al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decision de Django sobre FastAPI es un ejemplo canonico de YAGNI.</a:t>
            </a:r>
          </a:p>
          <a:p/>
          <a:p>
            <a:r>
              <a:t>FastAPI es tecnicamente superior para APIs puras.</a:t>
            </a:r>
          </a:p>
          <a:p>
            <a:r>
              <a:t>Pero el proyecto tenia un requerimiento especifico:</a:t>
            </a:r>
          </a:p>
          <a:p>
            <a:r>
              <a:t>el equipo de curacion de posturas necesitaba una interfaz de administracion</a:t>
            </a:r>
          </a:p>
          <a:p>
            <a:r>
              <a:t>sin escribir codigo adicional.</a:t>
            </a:r>
          </a:p>
          <a:p/>
          <a:p>
            <a:r>
              <a:t>Django incluye eso por defecto. FastAPI no.</a:t>
            </a:r>
          </a:p>
          <a:p/>
          <a:p>
            <a:r>
              <a:t>Agregar FastAPI + una interfaz de admin custom habria sido mas complejo</a:t>
            </a:r>
          </a:p>
          <a:p>
            <a:r>
              <a:t>que usar Django que resuelve ambos problemas con una sola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requerimiento de cobertura multiplataforma es un argumento civico:</a:t>
            </a:r>
          </a:p>
          <a:p>
            <a:r>
              <a:t>una plataforma electoral que solo funciona en web excluye a los usuarios</a:t>
            </a:r>
          </a:p>
          <a:p>
            <a:r>
              <a:t>que consumen contenido principalmente desde dispositivos moviles.</a:t>
            </a:r>
          </a:p>
          <a:p/>
          <a:p>
            <a:r>
              <a:t>TanStack Query resolvio un problema real de cache:</a:t>
            </a:r>
          </a:p>
          <a:p>
            <a:r>
              <a:t>sin ella, cada navegacion entre pantallas hacia un request nuevo al servidor.</a:t>
            </a:r>
          </a:p>
          <a:p/>
          <a:p>
            <a:r>
              <a:t>Redux fue descartado (YAGNI): tiene capacidades que VotoAfin no necesita</a:t>
            </a:r>
          </a:p>
          <a:p>
            <a:r>
              <a:t>y complejidad que encarece el mantenimiento sin agregar valor.</a:t>
            </a:r>
          </a:p>
          <a:p/>
          <a:p>
            <a:r>
              <a:t>Base de datos: SQLite en desarrollo, PostgreSQL en produccion.</a:t>
            </a:r>
          </a:p>
          <a:p>
            <a:r>
              <a:t>Deuda reconocida: viola Factor X del 12-Factor App. Documentada para resolver</a:t>
            </a:r>
          </a:p>
          <a:p>
            <a:r>
              <a:t>antes del lanzamiento mediante contenedores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fue una de las decisiones mas reflexivas del proyecto.</a:t>
            </a:r>
          </a:p>
          <a:p/>
          <a:p>
            <a:r>
              <a:t>MIT o Apache: cualquiera puede hacer una version cerrada.</a:t>
            </a:r>
          </a:p>
          <a:p>
            <a:r>
              <a:t>Un gobierno o empresa podria modificar el algoritmo sin compartir los cambios.</a:t>
            </a:r>
          </a:p>
          <a:p/>
          <a:p>
            <a:r>
              <a:t>AGPL: cualquier version modificada y desplegada publicamente DEBE publicar su codigo.</a:t>
            </a:r>
          </a:p>
          <a:p>
            <a:r>
              <a:t>Ningun actor puede hacer opaca la logica de una herramienta electoral.</a:t>
            </a:r>
          </a:p>
          <a:p/>
          <a:p>
            <a:r>
              <a:t>Impacto adicional: habilita reutilizacion para otros paises de LatAm</a:t>
            </a:r>
          </a:p>
          <a:p>
            <a:r>
              <a:t>sin permitir que los reutilizadores cierren el codigo.</a:t>
            </a:r>
          </a:p>
          <a:p/>
          <a:p>
            <a:r>
              <a:t>La AGPL es la implementacion tecnica del argumento democratico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episodio fue uno de los momentos mas importantes del proyecto.</a:t>
            </a:r>
          </a:p>
          <a:p/>
          <a:p>
            <a:r>
              <a:t>El asistente intento generar posturas por inferencia ideologica:</a:t>
            </a:r>
          </a:p>
          <a:p>
            <a:r>
              <a:t>'Si el candidato X es de derecha, su postura sobre Y es Z.'</a:t>
            </a:r>
          </a:p>
          <a:p/>
          <a:p>
            <a:r>
              <a:t>La autora lo identifico de inmediato:</a:t>
            </a:r>
          </a:p>
          <a:p>
            <a:r>
              <a:t>Las inferencias pueden ser incorrectas Y sesgadas.</a:t>
            </a:r>
          </a:p>
          <a:p>
            <a:r>
              <a:t>Un sistema electoral con datos fabricados desinforma con formato de credibilidad.</a:t>
            </a:r>
          </a:p>
          <a:p/>
          <a:p>
            <a:r>
              <a:t>Protocolo implementado como consecuencia:</a:t>
            </a:r>
          </a:p>
          <a:p>
            <a:r>
              <a:t>  -- Justificacion textual minima (20 caracteres) obligatoria por postura</a:t>
            </a:r>
          </a:p>
          <a:p>
            <a:r>
              <a:t>  -- URL de fuente primaria verificable requerida</a:t>
            </a:r>
          </a:p>
          <a:p>
            <a:r>
              <a:t>  -- El sistema RECHAZA automaticamente entradas sin esos campos</a:t>
            </a:r>
          </a:p>
          <a:p>
            <a:r>
              <a:t>  -- Posturas con incertidumbre: confianza BAJA, visible al usuario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proyecto enfrenta desafios que no aparecen en los libros de texto.</a:t>
            </a:r>
          </a:p>
          <a:p>
            <a:r>
              <a:t>VotoAfin tuvo tres principales. Narrarlos con honestidad es parte del</a:t>
            </a:r>
          </a:p>
          <a:p>
            <a:r>
              <a:t>valor academico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tres desafios no son de ingenieria pura: son de contexto civico.</a:t>
            </a:r>
          </a:p>
          <a:p/>
          <a:p>
            <a:r>
              <a:t>DATOS: la curacion de posturas no se puede automatizar sin riesgo de sesgos.</a:t>
            </a:r>
          </a:p>
          <a:p>
            <a:r>
              <a:t>Un LLM que 'infiere' posturas a partir de la ideologia del partido seria</a:t>
            </a:r>
          </a:p>
          <a:p>
            <a:r>
              <a:t>mas rapido pero completamente inaceptable.</a:t>
            </a:r>
          </a:p>
          <a:p/>
          <a:p>
            <a:r>
              <a:t>NEUTRALIDAD: la investigacion politologica muestra que el orden de las opciones,</a:t>
            </a:r>
          </a:p>
          <a:p>
            <a:r>
              <a:t>los terminos elegidos y el encuadre de la pregunta afectan las respuestas.</a:t>
            </a:r>
          </a:p>
          <a:p/>
          <a:p>
            <a:r>
              <a:t>SOSTENIBILIDAD: la informacion electoral tiene maxima relevancia dos semanas</a:t>
            </a:r>
          </a:p>
          <a:p>
            <a:r>
              <a:t>por ano y es cara de mantener el resto del tiempo. Sin modelo estable, las VAAs mueren.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auditoria de seguridad fue parte formal del proceso (Fase 3).</a:t>
            </a:r>
          </a:p>
          <a:p/>
          <a:p>
            <a:r>
              <a:t>17 hallazgos identificados:</a:t>
            </a:r>
          </a:p>
          <a:p>
            <a:r>
              <a:t>  -- 15 resueltos durante la auditoria</a:t>
            </a:r>
          </a:p>
          <a:p>
            <a:r>
              <a:t>  -- 2 aceptados como deuda documentada con razon explicita</a:t>
            </a:r>
          </a:p>
          <a:p>
            <a:r>
              <a:t>  -- 0 sin accion ni documentacion</a:t>
            </a:r>
          </a:p>
          <a:p/>
          <a:p>
            <a:r>
              <a:t>370 tests automatizados: la suite cubre servicios de negocio y endpoints API.</a:t>
            </a:r>
          </a:p>
          <a:p>
            <a:r>
              <a:t>El frontend tiene cobertura minima -- deuda identificada para v0.2.</a:t>
            </a:r>
          </a:p>
          <a:p/>
          <a:p>
            <a:r>
              <a:t>37 documentos auditados contra el codigo real:</a:t>
            </a:r>
          </a:p>
          <a:p>
            <a:r>
              <a:t>no fue documentacion escrita a priori, sino verificada linea a linea.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212 commits no son solo cambios de codigo:</a:t>
            </a:r>
          </a:p>
          <a:p>
            <a:r>
              <a:t>son decisiones documentadas y evidencia de proceso de desarrollo con revision continua.</a:t>
            </a:r>
          </a:p>
          <a:p/>
          <a:p>
            <a:r>
              <a:t>370 tests: la relacion test/codigo aumento a lo largo del proyecto.</a:t>
            </a:r>
          </a:p>
          <a:p/>
          <a:p>
            <a:r>
              <a:t>89 componentes UI: el crecimiento desde 7 refleja la aplicacion de Atomic Design.</a:t>
            </a:r>
          </a:p>
          <a:p>
            <a:r>
              <a:t>La UI crece por composicion, no por duplicacion.</a:t>
            </a:r>
          </a:p>
          <a:p/>
          <a:p>
            <a:r>
              <a:t>17/17 hallazgos de seguridad: cero sin accion ni documentacion.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LECCION 1 (pregunta de diseno): el cambio de 'como hacer atractivo el candidato'</a:t>
            </a:r>
          </a:p>
          <a:p>
            <a:r>
              <a:t>a 'como medir la coincidencia programatica' genero una solucion fundamentalmente distinta.</a:t>
            </a:r>
          </a:p>
          <a:p/>
          <a:p>
            <a:r>
              <a:t>LECCION 2 (datos &gt; algoritmo): en sistemas electorales, la calidad de los datos</a:t>
            </a:r>
          </a:p>
          <a:p>
            <a:r>
              <a:t>no es una opcion. Es una obligacion etica.</a:t>
            </a:r>
          </a:p>
          <a:p/>
          <a:p>
            <a:r>
              <a:t>LECCION 3 (separacion de responsabilidades): extraer logica de negocio a servicios puros</a:t>
            </a:r>
          </a:p>
          <a:p>
            <a:r>
              <a:t>produjo tests unitarios 30x mas rapidos y elimino duplicacion de codigo.</a:t>
            </a:r>
          </a:p>
          <a:p/>
          <a:p>
            <a:r>
              <a:t>LECCION 4 (contrato de API): la generacion automatica de tipos TypeScript desde OpenAPI</a:t>
            </a:r>
          </a:p>
          <a:p>
            <a:r>
              <a:t>elimino una categoria completa de errores de integracion.</a:t>
            </a:r>
          </a:p>
          <a:p/>
          <a:p>
            <a:r>
              <a:t>LECCION 5 (deuda documentada): declarar que deuda se acepta y por que</a:t>
            </a:r>
          </a:p>
          <a:p>
            <a:r>
              <a:t>permite priorizar deliberadamente en lugar de reaccionar ante los problemas.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v0.2 es la prioridad mas alta:</a:t>
            </a:r>
          </a:p>
          <a:p>
            <a:r>
              <a:t>Sin datos verificados completos, el MVP comunica incertidumbre de manera</a:t>
            </a:r>
          </a:p>
          <a:p>
            <a:r>
              <a:t>honesta pero no puede garantizar la calidad que una herramienta electoral requiere.</a:t>
            </a:r>
          </a:p>
          <a:p/>
          <a:p>
            <a:r>
              <a:t>v0.3 (explicabilidad) es la feature mas demandada academicamente:</a:t>
            </a:r>
          </a:p>
          <a:p>
            <a:r>
              <a:t>los investigadores de ciencia politica quieren entender no solo el resultado</a:t>
            </a:r>
          </a:p>
          <a:p>
            <a:r>
              <a:t>sino las preguntas que lo determinaron.</a:t>
            </a:r>
          </a:p>
          <a:p/>
          <a:p>
            <a:r>
              <a:t>v0.4 (cobertura municipal) ataca directamente el mayor problema identificado:</a:t>
            </a:r>
          </a:p>
          <a:p>
            <a:r>
              <a:t>los +460% de votos nulos para alcalde ocurrieron en elecciones municipales</a:t>
            </a:r>
          </a:p>
          <a:p>
            <a:r>
              <a:t>y VotoAfin no las cubre todavia.</a:t>
            </a:r>
          </a:p>
          <a:p/>
          <a:p>
            <a:r>
              <a:t>v1.0 requiere alianzas institucionales para hosting y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VotoAfin no termina cuando se entrega la tesis: es una base tecnica</a:t>
            </a:r>
          </a:p>
          <a:p>
            <a:r>
              <a:t>que puede evolucionar en multiples direcciones.</a:t>
            </a:r>
          </a:p>
          <a:p/>
          <a:p>
            <a:r>
              <a:t>El modelo de Vote Compass es el referente:</a:t>
            </a:r>
          </a:p>
          <a:p>
            <a:r>
              <a:t>una VAA con algoritmo estandar alcanzo millones de usuarios</a:t>
            </a:r>
          </a:p>
          <a:p>
            <a:r>
              <a:t>gracias a su modelo de distribucion (alianza con CBC Canada).</a:t>
            </a:r>
          </a:p>
          <a:p/>
          <a:p>
            <a:r>
              <a:t>VotoAfin tiene mejores especificaciones tecnicas que Vote Compass.</a:t>
            </a:r>
          </a:p>
          <a:p>
            <a:r>
              <a:t>Lo que le falta es la alianza de distribucion.</a:t>
            </a:r>
          </a:p>
          <a:p/>
          <a:p>
            <a:r>
              <a:t>La apertura del codigo bajo AGPL-3.0 hace posibles las tres dimensiones.</a:t>
            </a:r>
          </a:p>
          <a:p>
            <a:r>
              <a:t>Una VAA propietaria no puede ser usada por investigadores</a:t>
            </a:r>
          </a:p>
          <a:p>
            <a:r>
              <a:t>ni adaptada por otros paises sin negociacion.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la Presentacion 4 y de la exposicion completa.</a:t>
            </a:r>
          </a:p>
          <a:p/>
          <a:p>
            <a:r>
              <a:t>Esta cita es la reflexion final de la tesis.</a:t>
            </a:r>
          </a:p>
          <a:p/>
          <a:p>
            <a:r>
              <a:t>Sintetiza el argumento central del proyecto:</a:t>
            </a:r>
          </a:p>
          <a:p>
            <a:r>
              <a:t>  -- La tecnologia fue el medio, la democracia fue el fin.</a:t>
            </a:r>
          </a:p>
          <a:p>
            <a:r>
              <a:t>  -- El estandar etico para tecnologia electoral es mas alto que para</a:t>
            </a:r>
          </a:p>
          <a:p>
            <a:r>
              <a:t>     tecnologia comercial.</a:t>
            </a:r>
          </a:p>
          <a:p>
            <a:r>
              <a:t>  -- El proyecto es pequeno en escala pero coherente en valores.</a:t>
            </a:r>
          </a:p>
          <a:p/>
          <a:p>
            <a:r>
              <a:t>GUION PARA DEFENSA DE 45-60 MINUTOS:</a:t>
            </a:r>
          </a:p>
          <a:p>
            <a:r>
              <a:t>  P1 (Problema):   10-13 min</a:t>
            </a:r>
          </a:p>
          <a:p>
            <a:r>
              <a:t>  P2 (Evolucion):  12-15 min</a:t>
            </a:r>
          </a:p>
          <a:p>
            <a:r>
              <a:t>  P3 (Solucion):   15-18 min</a:t>
            </a:r>
          </a:p>
          <a:p>
            <a:r>
              <a:t>  P4 (Ingenieria): 16-20 min</a:t>
            </a:r>
          </a:p>
          <a:p>
            <a:r>
              <a:t>  Preguntas:        7-15 min</a:t>
            </a:r>
          </a:p>
          <a:p>
            <a:r>
              <a:t>  Total:           60-81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cierre. La URL del repositorio permite acceso al codigo,</a:t>
            </a:r>
          </a:p>
          <a:p>
            <a:r>
              <a:t>la documentacion y los datos en cualquier momento.</a:t>
            </a:r>
          </a:p>
          <a:p/>
          <a:p>
            <a:r>
              <a:t>Dejar este slide en pantalla durante la sesion de preguntas.</a:t>
            </a:r>
          </a:p>
          <a:p/>
          <a:p>
            <a:r>
              <a:t>Preguntas mas probables de la comision:</a:t>
            </a:r>
          </a:p>
          <a:p>
            <a:r>
              <a:t>  1. El algoritmo: funcion de penalizacion cuadratica vs lineal</a:t>
            </a:r>
          </a:p>
          <a:p>
            <a:r>
              <a:t>  2. Neutralidad de preguntas: como se verifico, quien lo reviso</a:t>
            </a:r>
          </a:p>
          <a:p>
            <a:r>
              <a:t>  3. Sostenibilidad: como se financiara el sistema a largo plazo</a:t>
            </a:r>
          </a:p>
          <a:p/>
          <a:p>
            <a:r>
              <a:t>Las tres estan documentadas con respuestas desarrolladas en la tesis.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9E7A"/>
                </a:solidFill>
              </a:rPr>
              <a:t>PRESENTACION 4 DE 4  --  PROCESO DE INGENIERIA Y 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45720" cy="25603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Ingenieria para la Democracia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9BBF"/>
                </a:solidFill>
              </a:rPr>
              <a:t>Arquitectura, decisiones, desafios, resultados y lecciones aprendidas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BA098"/>
                </a:solidFill>
              </a:rPr>
              <a:t>VotoAfin  --  UTFSM  --  Jenifer Castillo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A52"/>
                </a:solidFill>
              </a:rPr>
              <a:t>Objetivo general y 7 especificos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728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General: disenar e implementar una VAA de codigo abierto para Chile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6888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1. Investigar el deficit informativo electoral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7472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2. Analizar el estado del arte en VAAs internacionales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8056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3. Disenar UX centrada en reduccion de carga cognitiva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8640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4. Implementar algoritmo de matching con ponderacion y confianza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Metodologia -- 8 fases iterativas en ~32 semanas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172968"/>
            <a:ext cx="10911535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75785" y="3044952"/>
            <a:ext cx="310896" cy="310896"/>
          </a:xfrm>
          <a:prstGeom prst="ellipse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44A63"/>
                </a:solidFill>
              </a:rPr>
              <a:t>F0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Investigacion</a:t>
            </a:r>
            <a:br/>
            <a:r>
              <a:t>VAAs + estado del arte</a:t>
            </a:r>
          </a:p>
        </p:txBody>
      </p:sp>
      <p:sp>
        <p:nvSpPr>
          <p:cNvPr id="8" name="Oval 7"/>
          <p:cNvSpPr/>
          <p:nvPr/>
        </p:nvSpPr>
        <p:spPr>
          <a:xfrm>
            <a:off x="3758092" y="3044952"/>
            <a:ext cx="310896" cy="310896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460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E5F7E"/>
                </a:solidFill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860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Arquitectura</a:t>
            </a:r>
            <a:br/>
            <a:r>
              <a:t>+ contrato API</a:t>
            </a:r>
          </a:p>
        </p:txBody>
      </p:sp>
      <p:sp>
        <p:nvSpPr>
          <p:cNvPr id="11" name="Oval 10"/>
          <p:cNvSpPr/>
          <p:nvPr/>
        </p:nvSpPr>
        <p:spPr>
          <a:xfrm>
            <a:off x="5940399" y="3044952"/>
            <a:ext cx="310896" cy="310896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55767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A9E7A"/>
                </a:solidFill>
              </a:rPr>
              <a:t>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7167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MVP</a:t>
            </a:r>
            <a:br/>
            <a:r>
              <a:t>end-to-end</a:t>
            </a:r>
          </a:p>
        </p:txBody>
      </p:sp>
      <p:sp>
        <p:nvSpPr>
          <p:cNvPr id="14" name="Oval 13"/>
          <p:cNvSpPr/>
          <p:nvPr/>
        </p:nvSpPr>
        <p:spPr>
          <a:xfrm>
            <a:off x="8122706" y="3044952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8074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</a:rPr>
              <a:t>F3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9474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Auditoria</a:t>
            </a:r>
            <a:br/>
            <a:r>
              <a:t>seguridad + DRY</a:t>
            </a:r>
          </a:p>
        </p:txBody>
      </p:sp>
      <p:sp>
        <p:nvSpPr>
          <p:cNvPr id="17" name="Oval 16"/>
          <p:cNvSpPr/>
          <p:nvPr/>
        </p:nvSpPr>
        <p:spPr>
          <a:xfrm>
            <a:off x="10305013" y="3044952"/>
            <a:ext cx="310896" cy="310896"/>
          </a:xfrm>
          <a:prstGeom prst="ellipse">
            <a:avLst/>
          </a:prstGeom>
          <a:solidFill>
            <a:srgbClr val="7BA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0381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7BA098"/>
                </a:solidFill>
              </a:rPr>
              <a:t>F4-F7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1781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Expansion</a:t>
            </a:r>
            <a:br/>
            <a:r>
              <a:t>Diseno</a:t>
            </a:r>
            <a:br/>
            <a:r>
              <a:t>Docs</a:t>
            </a:r>
            <a:br/>
            <a:r>
              <a:t>Tesis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244A63"/>
                </a:solidFill>
              </a:rPr>
              <a:t>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4864" cy="1645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Diseno y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9BBF"/>
                </a:solidFill>
              </a:rPr>
              <a:t>Las decisiones que determinaron la auditabilidad del sistema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Arquitectura cliente-servidor -- la separacion que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41467" cy="5029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Backend (servidor)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84247"/>
            <a:ext cx="146304" cy="146304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Django 5.2 + DRF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61487"/>
            <a:ext cx="146304" cy="146304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Persistencia y logica de negocio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38727"/>
            <a:ext cx="146304" cy="146304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Algoritmo de matching (SOLO aqui)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15967"/>
            <a:ext cx="146304" cy="146304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API REST con contrato OpenAPI 3.1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093207"/>
            <a:ext cx="146304" cy="146304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98347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Fuente de verdad del sistema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1188720"/>
            <a:ext cx="5341467" cy="502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Frontend (cliente)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0147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3027" y="198424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0771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Expo + React Native + TypeScript</a:t>
            </a:r>
          </a:p>
        </p:txBody>
      </p:sp>
      <p:sp>
        <p:nvSpPr>
          <p:cNvPr id="22" name="Oval 21"/>
          <p:cNvSpPr/>
          <p:nvPr/>
        </p:nvSpPr>
        <p:spPr>
          <a:xfrm>
            <a:off x="6393027" y="276148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0771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Presentacion y navegacion</a:t>
            </a:r>
          </a:p>
        </p:txBody>
      </p:sp>
      <p:sp>
        <p:nvSpPr>
          <p:cNvPr id="24" name="Oval 23"/>
          <p:cNvSpPr/>
          <p:nvPr/>
        </p:nvSpPr>
        <p:spPr>
          <a:xfrm>
            <a:off x="6393027" y="353872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0771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Sin logica de negocio critica</a:t>
            </a:r>
          </a:p>
        </p:txBody>
      </p:sp>
      <p:sp>
        <p:nvSpPr>
          <p:cNvPr id="26" name="Oval 25"/>
          <p:cNvSpPr/>
          <p:nvPr/>
        </p:nvSpPr>
        <p:spPr>
          <a:xfrm>
            <a:off x="6393027" y="431596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0771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Multiplataforma: web + iOS + Android</a:t>
            </a:r>
          </a:p>
        </p:txBody>
      </p:sp>
      <p:sp>
        <p:nvSpPr>
          <p:cNvPr id="28" name="Oval 27"/>
          <p:cNvSpPr/>
          <p:nvPr/>
        </p:nvSpPr>
        <p:spPr>
          <a:xfrm>
            <a:off x="6393027" y="509320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0771" y="498347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Tipos TypeScript generados desde OpenAPI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Modelo de datos -- 4 dominios, 19 modelos, 42 migraciones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515258" cy="11887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Catalogo Electoral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TipoEleccion</a:t>
            </a:r>
            <a:br/>
            <a:r>
              <a:t>Candidato (partido, lista, territorio)</a:t>
            </a:r>
            <a:br/>
            <a:r>
              <a:t>Pregunta (por eje)</a:t>
            </a:r>
            <a:br/>
            <a:r>
              <a:t>OpcionRespuesta</a:t>
            </a:r>
            <a:br/>
            <a:r>
              <a:t>PosturaCandidato + nivel confianza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188720"/>
            <a:ext cx="3515258" cy="1188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7946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Interaccion</a:t>
            </a:r>
            <a:br/>
            <a:r>
              <a:t>de Usuario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5378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Respuesta del usuario</a:t>
            </a:r>
            <a:br/>
            <a:r>
              <a:t>ResultadoCandidato</a:t>
            </a:r>
            <a:br/>
            <a:r>
              <a:t>ResultadoEje (7 ejes)</a:t>
            </a:r>
            <a:br/>
            <a:r>
              <a:t>Guardado (favoritos)</a:t>
            </a:r>
            <a:br/>
            <a:r>
              <a:t>Descartado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6356" y="1188720"/>
            <a:ext cx="3515258" cy="11887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Territorio</a:t>
            </a:r>
            <a:br/>
            <a:r>
              <a:t>y Perfil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6356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3516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Region / Distrito / Comuna</a:t>
            </a:r>
            <a:br/>
            <a:r>
              <a:t>(modelo polimorfico auto-recursivo)</a:t>
            </a:r>
            <a:br/>
            <a:br/>
            <a:r>
              <a:t>Perfil usuario</a:t>
            </a:r>
            <a:br/>
            <a:r>
              <a:t>Noticia</a:t>
            </a:r>
            <a:br/>
            <a:r>
              <a:t>MarcadorNoticia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El algoritmo de matching -- 4 componentes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4021" y="2560320"/>
            <a:ext cx="2727883" cy="36576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52561" y="2308860"/>
            <a:ext cx="502920" cy="50292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52561" y="230886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54680"/>
            <a:ext cx="25815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3A52"/>
                </a:solidFill>
              </a:rPr>
              <a:t>Comparacion</a:t>
            </a:r>
            <a:br/>
            <a:r>
              <a:t>posicion a posicion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160520"/>
            <a:ext cx="25815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</a:rPr>
              <a:t>Distancia normalizada</a:t>
            </a:r>
            <a:br/>
            <a:r>
              <a:t>0=discrepancia</a:t>
            </a:r>
            <a:br/>
            <a:r>
              <a:t>1=coincidencia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731905" y="2560320"/>
            <a:ext cx="2727883" cy="36576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445" y="2308860"/>
            <a:ext cx="502920" cy="502920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445" y="230886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115" y="3154680"/>
            <a:ext cx="25815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3A52"/>
                </a:solidFill>
              </a:rPr>
              <a:t>Aplicacion</a:t>
            </a:r>
            <a:br/>
            <a:r>
              <a:t>del peso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1115" y="4160520"/>
            <a:ext cx="25815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</a:rPr>
              <a:t>4 niveles de importancia</a:t>
            </a:r>
            <a:br/>
            <a:r>
              <a:t>Multiplicadores diferenciados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9789" y="2560320"/>
            <a:ext cx="2727883" cy="36576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08329" y="2308860"/>
            <a:ext cx="502920" cy="502920"/>
          </a:xfrm>
          <a:prstGeom prst="ellipse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8329" y="230886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8999" y="3154680"/>
            <a:ext cx="25815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3A52"/>
                </a:solidFill>
              </a:rPr>
              <a:t>Cobertura</a:t>
            </a:r>
            <a:br/>
            <a:r>
              <a:t>y confianza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8999" y="4160520"/>
            <a:ext cx="25815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</a:rPr>
              <a:t>Cuantas preguntas</a:t>
            </a:r>
            <a:br/>
            <a:r>
              <a:t>participaron?</a:t>
            </a:r>
            <a:br/>
            <a:r>
              <a:t>Umbral -&gt; nivel confianza</a:t>
            </a:r>
          </a:p>
        </p:txBody>
      </p:sp>
      <p:sp>
        <p:nvSpPr>
          <p:cNvPr id="19" name="Oval 18"/>
          <p:cNvSpPr/>
          <p:nvPr/>
        </p:nvSpPr>
        <p:spPr>
          <a:xfrm>
            <a:off x="9936213" y="2308860"/>
            <a:ext cx="502920" cy="502920"/>
          </a:xfrm>
          <a:prstGeom prst="ellipse">
            <a:avLst/>
          </a:prstGeom>
          <a:solidFill>
            <a:srgbClr val="7BA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6213" y="230886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6883" y="3154680"/>
            <a:ext cx="25815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3A52"/>
                </a:solidFill>
              </a:rPr>
              <a:t>Desglose</a:t>
            </a:r>
            <a:br/>
            <a:r>
              <a:t>por eje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6883" y="4160520"/>
            <a:ext cx="25815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</a:rPr>
              <a:t>% por cada uno de</a:t>
            </a:r>
            <a:br/>
            <a:r>
              <a:t>los 7 ejes tematicos</a:t>
            </a:r>
            <a:br/>
            <a:r>
              <a:t>Alimenta el radar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244A63"/>
                </a:solidFill>
              </a:rPr>
              <a:t>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4864" cy="1645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Decisiones Tecnologicas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9BBF"/>
                </a:solidFill>
              </a:rPr>
              <a:t>YAGNI aplicado: herramientas probadas para el problema actual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Backend -- Django vs FastAPI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41467" cy="502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 que Django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8424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20 anos de historia en produccion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6148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Panel de administracion incluido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3872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ORM + migraciones automaticas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1596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DRF: serializacion + validacion + auth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09320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98347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YAGNI: resuelve ambos problemas con una herramienta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1188720"/>
            <a:ext cx="5341467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 que NO FastAPI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0147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3027" y="198424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0771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Mas moderno y de mayor rendimiento</a:t>
            </a:r>
          </a:p>
        </p:txBody>
      </p:sp>
      <p:sp>
        <p:nvSpPr>
          <p:cNvPr id="22" name="Oval 21"/>
          <p:cNvSpPr/>
          <p:nvPr/>
        </p:nvSpPr>
        <p:spPr>
          <a:xfrm>
            <a:off x="6393027" y="276148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0771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Sin panel de administracion integrado</a:t>
            </a:r>
          </a:p>
        </p:txBody>
      </p:sp>
      <p:sp>
        <p:nvSpPr>
          <p:cNvPr id="24" name="Oval 23"/>
          <p:cNvSpPr/>
          <p:nvPr/>
        </p:nvSpPr>
        <p:spPr>
          <a:xfrm>
            <a:off x="6393027" y="353872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0771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El equipo necesitaba gestionar datos sin codigo</a:t>
            </a:r>
          </a:p>
        </p:txBody>
      </p:sp>
      <p:sp>
        <p:nvSpPr>
          <p:cNvPr id="26" name="Oval 25"/>
          <p:cNvSpPr/>
          <p:nvPr/>
        </p:nvSpPr>
        <p:spPr>
          <a:xfrm>
            <a:off x="6393027" y="431596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0771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Agregar admin custom = mas complejidad</a:t>
            </a:r>
          </a:p>
        </p:txBody>
      </p:sp>
      <p:sp>
        <p:nvSpPr>
          <p:cNvPr id="28" name="Oval 27"/>
          <p:cNvSpPr/>
          <p:nvPr/>
        </p:nvSpPr>
        <p:spPr>
          <a:xfrm>
            <a:off x="6393027" y="509320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0771" y="498347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Descartado: YAGNI + requerimiento funcional critico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Frontend -- Expo React Native vs PWA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5341467" cy="502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 que Expo + React Native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8424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Una sola base de codigo: web + iOS + Android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6148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Cobertura maxima para plataforma civica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3872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TypeScript strict: errores detectados en compilacion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1596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TanStack Query v5: cache + deduplication + retry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093207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98347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Zustand: estado minimo sin boilerplate de Redux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1188720"/>
            <a:ext cx="5341467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1234440"/>
            <a:ext cx="506714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 que NO PWA pura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0147" y="1691640"/>
            <a:ext cx="5341467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3027" y="198424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0771" y="187451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Limitaciones en capacidades nativas del dispositivo</a:t>
            </a:r>
          </a:p>
        </p:txBody>
      </p:sp>
      <p:sp>
        <p:nvSpPr>
          <p:cNvPr id="22" name="Oval 21"/>
          <p:cNvSpPr/>
          <p:nvPr/>
        </p:nvSpPr>
        <p:spPr>
          <a:xfrm>
            <a:off x="6393027" y="276148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0771" y="265175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Almacenamiento seguro de tokens (Keychain/EncryptedSharedPrefs)</a:t>
            </a:r>
          </a:p>
        </p:txBody>
      </p:sp>
      <p:sp>
        <p:nvSpPr>
          <p:cNvPr id="24" name="Oval 23"/>
          <p:cNvSpPr/>
          <p:nvPr/>
        </p:nvSpPr>
        <p:spPr>
          <a:xfrm>
            <a:off x="6393027" y="353872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0771" y="342899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Notificaciones push (necesarias en versiones futuras)</a:t>
            </a:r>
          </a:p>
        </p:txBody>
      </p:sp>
      <p:sp>
        <p:nvSpPr>
          <p:cNvPr id="26" name="Oval 25"/>
          <p:cNvSpPr/>
          <p:nvPr/>
        </p:nvSpPr>
        <p:spPr>
          <a:xfrm>
            <a:off x="6393027" y="4315967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0771" y="4206239"/>
            <a:ext cx="48294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A35"/>
                </a:solidFill>
              </a:rPr>
              <a:t>Descartada por limitaciones en el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La tecnologia electoral no deberia ser</a:t>
            </a:r>
            <a:br/>
            <a:r>
              <a:t>una caja negra de propiedad privada.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9BBF"/>
                </a:solidFill>
              </a:rPr>
              <a:t>Licencia AGPL-3.0: cualquier version modificada y desplegada publicamente</a:t>
            </a:r>
            <a:br/>
            <a:r>
              <a:t>debe publicar su codigo fuente con la misma licencia.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5760720" cy="36576"/>
          </a:xfrm>
          <a:prstGeom prst="rect">
            <a:avLst/>
          </a:prstGeom>
          <a:solidFill>
            <a:srgbClr val="4A9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?Que pasa cuando el asistente de desarrollo</a:t>
            </a:r>
            <a:br/>
            <a:r>
              <a:t>intenta inferir posturas de candidatos sin fuentes?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480560"/>
            <a:ext cx="57607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3A9E7A"/>
                </a:solidFill>
              </a:rPr>
              <a:t>Se establece el principio que organiza todo el proyecto:</a:t>
            </a:r>
            <a:br/>
            <a:r>
              <a:t>NUNCA INVENTAR DATOS ELECTORALES.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3200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244A63"/>
                </a:solidFill>
              </a:rPr>
              <a:t>!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4864" cy="1645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Los 3 Grandes Desafios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9BBF"/>
                </a:solidFill>
              </a:rPr>
              <a:t>Los problemas que no estaban en el curriculum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Los 3 desafios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515258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Los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Las posturas de candidatos chilenos</a:t>
            </a:r>
            <a:br/>
            <a:r>
              <a:t>no estan sistematizadas en ninguna BD.</a:t>
            </a:r>
            <a:br/>
            <a:br/>
            <a:r>
              <a:t>Requiere consulta de multiples fuentes</a:t>
            </a:r>
            <a:br/>
            <a:r>
              <a:t>primarias por cada postura.</a:t>
            </a:r>
            <a:br/>
            <a:br/>
            <a:r>
              <a:t>No automatizable confiablemente.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188720"/>
            <a:ext cx="3515258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7946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Neutralidad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5378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Disenar preguntas de politica publica</a:t>
            </a:r>
            <a:br/>
            <a:r>
              <a:t>realmente neutras es muy dificil.</a:t>
            </a:r>
            <a:br/>
            <a:br/>
            <a:r>
              <a:t>El lenguaje mismo es un campo politico.</a:t>
            </a:r>
            <a:br/>
            <a:br/>
            <a:r>
              <a:t>Requiere revision con especialistas</a:t>
            </a:r>
            <a:br/>
            <a:r>
              <a:t>en metodologia de encuestas.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6356" y="1188720"/>
            <a:ext cx="3515258" cy="11887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Sostenibilidad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6356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3516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Las VAAs ciudadanas en Chile</a:t>
            </a:r>
            <a:br/>
            <a:r>
              <a:t>han sido discontinuadas.</a:t>
            </a:r>
            <a:br/>
            <a:r>
              <a:t>(Decide Chile = ejemplo reciente)</a:t>
            </a:r>
            <a:br/>
            <a:br/>
            <a:r>
              <a:t>Solucion actual: AGPL-3.0 + CSV.</a:t>
            </a:r>
            <a:br/>
            <a:r>
              <a:t>Camino largo: alianzas institucionales.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A52"/>
                </a:solidFill>
              </a:rPr>
              <a:t>Validaciones y seguridad -- lo que se verifico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728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17 hallazgos de seguridad identificados: 15 resueltos, 2 documentados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6888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Token en cookie httpOnly (web) + Keychain/EncryptedSharedPrefs (nativo)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7472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370 tests automatizados cubriendo servicios y endpoints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8056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37 documentos tecnicos auditados contra el codigo fuente real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86400"/>
            <a:ext cx="164592" cy="16459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10591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A35"/>
                </a:solidFill>
              </a:rPr>
              <a:t>Protocolo de importacion: URL de fuente primaria obligatoria por postura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A9BBF"/>
                </a:solidFill>
              </a:rPr>
              <a:t>El proyecto en numeros -- Sprint 8 inicial vs estado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3A9E7A"/>
                </a:solidFill>
              </a:rPr>
              <a:t>212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commits en main</a:t>
            </a:r>
            <a:br/>
            <a:r>
              <a:t>(inicio: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9403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9403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4A9BBF"/>
                </a:solidFill>
              </a:rPr>
              <a:t>370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123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tests automatizados</a:t>
            </a:r>
            <a:br/>
            <a:r>
              <a:t>(inicio: 46)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7BA098"/>
                </a:solidFill>
              </a:rPr>
              <a:t>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componentes UI</a:t>
            </a:r>
            <a:br/>
            <a:r>
              <a:t>reutilizables (inicio: 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171" y="1051560"/>
            <a:ext cx="2545003" cy="53035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171" y="1371600"/>
            <a:ext cx="2545003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3A9E7A"/>
                </a:solidFill>
              </a:rPr>
              <a:t>17/17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0891" y="3931920"/>
            <a:ext cx="245356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9BBF"/>
                </a:solidFill>
              </a:rPr>
              <a:t>hallazgos de</a:t>
            </a:r>
            <a:br/>
            <a:r>
              <a:t>seguridad resueltos</a:t>
            </a:r>
            <a:br/>
            <a:r>
              <a:t>o documentados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Lecciones aprendidas -- las que perduran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2131" y="1188720"/>
            <a:ext cx="27432" cy="530352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E5F7E"/>
                </a:solidFill>
              </a:rPr>
              <a:t>De producto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64208"/>
            <a:ext cx="82296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993391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50625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F2A35"/>
                </a:solidFill>
              </a:rPr>
              <a:t>La pregunta correcta determina la solucion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98063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1"/>
            <a:ext cx="50625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F2A35"/>
                </a:solidFill>
              </a:rPr>
              <a:t>Los datos son el producto; el algoritmo es el envoltorio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02735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83863"/>
            <a:ext cx="50625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F2A35"/>
                </a:solidFill>
              </a:rPr>
              <a:t>La transparencia es un requerimiento funcional, no una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118872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E5F7E"/>
                </a:solidFill>
              </a:rPr>
              <a:t>De ingenieria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664208"/>
            <a:ext cx="82296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3007" y="1993391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9039" y="1874519"/>
            <a:ext cx="50625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F2A35"/>
                </a:solidFill>
              </a:rPr>
              <a:t>Separacion de responsabilidades: tests 30x mas rapidos</a:t>
            </a:r>
          </a:p>
        </p:txBody>
      </p:sp>
      <p:sp>
        <p:nvSpPr>
          <p:cNvPr id="17" name="Oval 16"/>
          <p:cNvSpPr/>
          <p:nvPr/>
        </p:nvSpPr>
        <p:spPr>
          <a:xfrm>
            <a:off x="6233007" y="2798063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9039" y="2679191"/>
            <a:ext cx="50625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F2A35"/>
                </a:solidFill>
              </a:rPr>
              <a:t>Contrato de API: el compilador detecta incompatibilidades</a:t>
            </a:r>
          </a:p>
        </p:txBody>
      </p:sp>
      <p:sp>
        <p:nvSpPr>
          <p:cNvPr id="19" name="Oval 18"/>
          <p:cNvSpPr/>
          <p:nvPr/>
        </p:nvSpPr>
        <p:spPr>
          <a:xfrm>
            <a:off x="6233007" y="3602735"/>
            <a:ext cx="146304" cy="146304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9039" y="3483863"/>
            <a:ext cx="50625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F2A35"/>
                </a:solidFill>
              </a:rPr>
              <a:t>Deuda documentada es manejable; la oculta no lo 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Roadmap -- 4 releases hacia el lanzamiento publico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172968"/>
            <a:ext cx="10911535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48573" y="3044952"/>
            <a:ext cx="310896" cy="310896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63941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A9E7A"/>
                </a:solidFill>
              </a:rPr>
              <a:t>v0.2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341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Datos verificados</a:t>
            </a:r>
            <a:br/>
            <a:r>
              <a:t>Expansion cuestionario</a:t>
            </a:r>
            <a:br/>
            <a:r>
              <a:t>Changelog publico</a:t>
            </a:r>
          </a:p>
        </p:txBody>
      </p:sp>
      <p:sp>
        <p:nvSpPr>
          <p:cNvPr id="8" name="Oval 7"/>
          <p:cNvSpPr/>
          <p:nvPr/>
        </p:nvSpPr>
        <p:spPr>
          <a:xfrm>
            <a:off x="4576457" y="3044952"/>
            <a:ext cx="310896" cy="310896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1825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E5F7E"/>
                </a:solidFill>
              </a:rPr>
              <a:t>v0.3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3225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Explicabilidad</a:t>
            </a:r>
            <a:br/>
            <a:r>
              <a:t>'Por que este candidato</a:t>
            </a:r>
            <a:br/>
            <a:r>
              <a:t>rankeo alto o bajo?'</a:t>
            </a:r>
          </a:p>
        </p:txBody>
      </p:sp>
      <p:sp>
        <p:nvSpPr>
          <p:cNvPr id="11" name="Oval 10"/>
          <p:cNvSpPr/>
          <p:nvPr/>
        </p:nvSpPr>
        <p:spPr>
          <a:xfrm>
            <a:off x="7304341" y="3044952"/>
            <a:ext cx="310896" cy="310896"/>
          </a:xfrm>
          <a:prstGeom prst="ellipse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9709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44A63"/>
                </a:solidFill>
              </a:rPr>
              <a:t>v0.4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109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Elecciones municipales</a:t>
            </a:r>
            <a:br/>
            <a:r>
              <a:t>Notificaciones</a:t>
            </a:r>
            <a:br/>
            <a:r>
              <a:t>Onboarding candidato</a:t>
            </a:r>
          </a:p>
        </p:txBody>
      </p:sp>
      <p:sp>
        <p:nvSpPr>
          <p:cNvPr id="14" name="Oval 13"/>
          <p:cNvSpPr/>
          <p:nvPr/>
        </p:nvSpPr>
        <p:spPr>
          <a:xfrm>
            <a:off x="10032225" y="3044952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7593" y="23774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</a:rPr>
              <a:t>v1.0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8993" y="356616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</a:rPr>
              <a:t>Produccion</a:t>
            </a:r>
            <a:br/>
            <a:r>
              <a:t>Pruebas de carga</a:t>
            </a:r>
            <a:br/>
            <a:r>
              <a:t>Internacionalizacion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1153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Potencial de evolucion -- 3 dimensiones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515258" cy="11887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Investigacion Academica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La plataforma puede usarse para estudiar:</a:t>
            </a:r>
            <a:br/>
            <a:br/>
            <a:r>
              <a:t>-- Comportamiento electoral frente a informacion estructurada</a:t>
            </a:r>
            <a:br/>
            <a:r>
              <a:t>-- Relacion entre ponderacion y resultado del matching</a:t>
            </a:r>
            <a:br/>
            <a:r>
              <a:t>-- Efecto del indicador de confianza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188720"/>
            <a:ext cx="3515258" cy="1188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7946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Modelo para LatAm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5378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AGPL-3.0 + arquitectura modular.</a:t>
            </a:r>
            <a:br/>
            <a:br/>
            <a:r>
              <a:t>Un fork para Argentina, Colombia o Mexico:</a:t>
            </a:r>
            <a:br/>
            <a:r>
              <a:t>-- Actualizar datos y preguntas</a:t>
            </a:r>
            <a:br/>
            <a:r>
              <a:t>-- Infraestructura ya construida</a:t>
            </a:r>
            <a:br/>
            <a:r>
              <a:t>-- Sin partir de cero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6356" y="1188720"/>
            <a:ext cx="3515258" cy="1188720"/>
          </a:xfrm>
          <a:prstGeom prst="rect">
            <a:avLst/>
          </a:prstGeom>
          <a:solidFill>
            <a:srgbClr val="24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1325880"/>
            <a:ext cx="329580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Alianzas Institucionales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6356" y="2377440"/>
            <a:ext cx="351525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3516" y="2560320"/>
            <a:ext cx="324093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5"/>
                </a:solidFill>
              </a:rPr>
              <a:t>Modelo Vote Compass:</a:t>
            </a:r>
            <a:br/>
            <a:r>
              <a:t>VAA + medio de comunicacion</a:t>
            </a:r>
            <a:br/>
            <a:r>
              <a:t>= millones de usuarios (CBC, Canada)</a:t>
            </a:r>
            <a:br/>
            <a:br/>
            <a:r>
              <a:t>VotoAfin + medio chileno + SERVEL</a:t>
            </a:r>
            <a:br/>
            <a:r>
              <a:t>= escala masiva posible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3A9E7A"/>
                </a:solidFill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i="1">
                <a:solidFill>
                  <a:srgbClr val="FFFFFF"/>
                </a:solidFill>
              </a:rPr>
              <a:t>La tecnologia electoral no deberia ser propiedad de nadie. Deberia ser infraestructura publica, auditable, y construida con los mismos estandares de rigor y transparencia que esperamos de cualquier otro proceso de interes democratico. VotoAfin es un paso pequeno pero concreto en esa direccion.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57800"/>
            <a:ext cx="18288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115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7BA098"/>
                </a:solidFill>
              </a:rPr>
              <a:t>-- Jenifer Castillo -- Tesis UTFSM, Agosto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9E7A"/>
                </a:solidFill>
              </a:rPr>
              <a:t>FIN DE LA EXPOSICION -- PRESENTACION 4 DE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45720" cy="25603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Un problema real. Una investigacion real. Una solucion construida.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A9BBF"/>
                </a:solidFill>
              </a:rPr>
              <a:t>VotoAfin  --  Chile 2026  --  github.com/whatebria/tinder-decisivo</a:t>
            </a:r>
            <a:br/>
            <a:r>
              <a:t>Codigo abierto bajo AGPL-3.0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BA098"/>
                </a:solidFill>
              </a:rPr>
              <a:t>VotoAfin  --  UTFSM  --  Jenifer Castillo  --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