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APERTURA -- 15 a 20 minutos</a:t>
            </a:r>
          </a:p>
          <a:p/>
          <a:p>
            <a:r>
              <a:t>Esta presentacion responde: que es VotoAfin y como funciona?</a:t>
            </a:r>
          </a:p>
          <a:p/>
          <a:p>
            <a:r>
              <a:t>Hay tres cosas que la audiencia deberia entender al terminar:</a:t>
            </a:r>
          </a:p>
          <a:p>
            <a:r>
              <a:t>  1. Por que una VAA -- y no otra cosa -- es la respuesta correcta al problema.</a:t>
            </a:r>
          </a:p>
          <a:p>
            <a:r>
              <a:t>  2. Que decisions de UX se tomaron y por que.</a:t>
            </a:r>
          </a:p>
          <a:p>
            <a:r>
              <a:t>  3. Que valor genera concretamente para el usuario.</a:t>
            </a:r>
          </a:p>
          <a:p/>
          <a:p>
            <a:r>
              <a:t>Esta presentacion puede usarse de manera independiente frente a audiencias de producto, UX e innovacion.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definicion de VAA es simple pero importante establecerla desde el inicio.</a:t>
            </a:r>
          </a:p>
          <a:p/>
          <a:p>
            <a:r>
              <a:t>La clave conceptual es la INVERSION DEL FLUJO:</a:t>
            </a:r>
          </a:p>
          <a:p>
            <a:r>
              <a:t>  - Las VAAs NO muestran primero a los candidatos para que el usuario elija.</a:t>
            </a:r>
          </a:p>
          <a:p>
            <a:r>
              <a:t>  - Muestran primero los TEMAS, capturan las preferencias del usuario,     y LUEGO producen la comparacion.</a:t>
            </a:r>
          </a:p>
          <a:p/>
          <a:p>
            <a:r>
              <a:t>Este orden es deliberado: reduce el peso de los sesgos de identificacion partidaria y favorece la evaluacion basada en posiciones programaticas.</a:t>
            </a:r>
          </a:p>
          <a:p/>
          <a:p>
            <a:r>
              <a:t>Muy importante: el resultado es un INSUMO para la decision, no la decision misma. VotoAfin no le dice al usuario por quien votar. Le dice con quien coincide mas.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slide conecta el problema (slides anteriores) con la solucion.</a:t>
            </a:r>
          </a:p>
          <a:p/>
          <a:p>
            <a:r>
              <a:t>El 42% indeciso con el cargo de alcalde (el mas visible) contrasta con los 5-10 minutos necesarios para completar el cuestionario de VotoAfin.</a:t>
            </a:r>
          </a:p>
          <a:p/>
          <a:p>
            <a:r>
              <a:t>El valor no es que VotoAfin sea 'facil' -- es que es EFICIENTE:</a:t>
            </a:r>
          </a:p>
          <a:p>
            <a:r>
              <a:t>invierte 5 minutos del usuario y produce un resultado accionable.</a:t>
            </a:r>
          </a:p>
          <a:p/>
          <a:p>
            <a:r>
              <a:t>La desconfianza en los politicos (79%) hace aun mas relevante una herramienta que parte de las POSTURAS declaradas, no de la imagen o el discurso del candidato.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VotoAfin no es solo 'otra app de candidatos'.</a:t>
            </a:r>
          </a:p>
          <a:p>
            <a:r>
              <a:t>Tiene cinco dimensiones de diferenciacion respecto a lo que existia en Chile.</a:t>
            </a:r>
          </a:p>
          <a:p>
            <a:r>
              <a:t>Ninguna de ellas es 'mas features' -- todas son decisiones de diseno con una razon especifica.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una de estas dimensiones responde a una brecha identificada en el analisis comparativo de VAAs internacionales y nacionales.</a:t>
            </a:r>
          </a:p>
          <a:p/>
          <a:p>
            <a:r>
              <a:t>Dimension 1 (Transparencia): ninguna VAA chilena anterior publicaba su algoritmo.</a:t>
            </a:r>
          </a:p>
          <a:p>
            <a:r>
              <a:t>Dimension 2 (Trazabilidad): ninguna requeria fuentes verificables tecnicamente.</a:t>
            </a:r>
          </a:p>
          <a:p>
            <a:r>
              <a:t>Dimension 3 (Ponderacion): comun en VAAs internacionales, ausente en Chile.</a:t>
            </a:r>
          </a:p>
          <a:p>
            <a:r>
              <a:t>Dimension 4 (Confianza): UNICA entre todas las VAAs analizadas -- ni Wahl-O-Mat ni Smartvote ni Vote Compass lo implementan.</a:t>
            </a:r>
          </a:p>
          <a:p>
            <a:r>
              <a:t>Dimension 5 (Open source): ninguna VAA del grupo internacional tiene codigo fuente completamente abierto bajo licencia libre.</a:t>
            </a:r>
          </a:p>
          <a:p/>
          <a:p>
            <a:r>
              <a:t>VotoAfin es la primera VAA que combina las cinco dimensiones.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publico objetivo fue definido desde el inicio del proyecto, no construido retroactivamente.</a:t>
            </a:r>
          </a:p>
          <a:p/>
          <a:p>
            <a:r>
              <a:t>Los tres segmentos compartian una necesidad comun: informacion confiable, estructurada y procesable en tiempo razonable, sin conocimiento politico previo.</a:t>
            </a:r>
          </a:p>
          <a:p/>
          <a:p>
            <a:r>
              <a:t>El diseño mobile-first responde directamente al perfil del joven votante (mayor potencial de adopcion).</a:t>
            </a:r>
          </a:p>
          <a:p/>
          <a:p>
            <a:r>
              <a:t>La claridad del resultado y el indicador de confianza responden al perfil del votante indeciso que busca informacion en el ultimo momento.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Transicion al diseño de experiencia.</a:t>
            </a:r>
          </a:p>
          <a:p/>
          <a:p>
            <a:r>
              <a:t>Una VAA puede tener el mejor algoritmo del mundo, pero si el flujo de usuario es confuso o genera abandono, el impacto es cero.</a:t>
            </a:r>
          </a:p>
          <a:p/>
          <a:p>
            <a:r>
              <a:t>El flujo de VotoAfin fue disenado con un principio central: el camino mas corto posible desde el ingreso hasta el resultado util.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flujo de 7 pasos fue diseñado minimizando los puntos de abandono.</a:t>
            </a:r>
          </a:p>
          <a:p/>
          <a:p>
            <a:r>
              <a:t>Decisiones clave de UX:</a:t>
            </a:r>
          </a:p>
          <a:p>
            <a:r>
              <a:t>  - Sin RUT ni Clave Unica: reduce la friccion de onboarding drasticamente.</a:t>
            </a:r>
          </a:p>
          <a:p>
            <a:r>
              <a:t>    (vs la hipotesis de Emprendimiento II que requeria Clave Unica).</a:t>
            </a:r>
          </a:p>
          <a:p/>
          <a:p>
            <a:r>
              <a:t>  - La ponderacion es OPCIONAL: el usuario puede completar el cuestionario     sin ponderar y obtener un resultado igualmente util.</a:t>
            </a:r>
          </a:p>
          <a:p/>
          <a:p>
            <a:r>
              <a:t>  - El resultado se muestra ANTES de explorar candidatos: invierte el     flujo tradicional. Primero la coincidencia; luego los perfiles.</a:t>
            </a:r>
          </a:p>
          <a:p/>
          <a:p>
            <a:r>
              <a:t>  - El modal de contexto educativo por pregunta permite a usuarios sin     conocimiento politico tomar posicion informada.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cuestionario de 12 preguntas es un balance deliberado entre:</a:t>
            </a:r>
          </a:p>
          <a:p>
            <a:r>
              <a:t>  - Calidad del resultado (mas preguntas = resultado mas preciso)</a:t>
            </a:r>
          </a:p>
          <a:p>
            <a:r>
              <a:t>  - Tasa de completitud (mas preguntas = mas abandono)</a:t>
            </a:r>
          </a:p>
          <a:p/>
          <a:p>
            <a:r>
              <a:t>La literatura politologica sobre VAAs identifica este balance como uno de los principales desafios de diseno. 12 es conservador pero suficiente.</a:t>
            </a:r>
          </a:p>
          <a:p/>
          <a:p>
            <a:r>
              <a:t>La opcion 'No se' es mas que una comodidad:</a:t>
            </a:r>
          </a:p>
          <a:p>
            <a:r>
              <a:t>  - La respuesta NEUTRAL implica que el usuario tiene una posicion intermedia.</a:t>
            </a:r>
          </a:p>
          <a:p>
            <a:r>
              <a:t>  - La respuesta 'No se' implica falta de informacion suficiente.</a:t>
            </a:r>
          </a:p>
          <a:p>
            <a:r>
              <a:t>  - Tratar ambas como equivalentes introduciria ruido en el calculo.</a:t>
            </a:r>
          </a:p>
          <a:p/>
          <a:p>
            <a:r>
              <a:t>El modal de contexto educativo permite que un usuario sin conocimiento politico pueda tomar posicion informada en cada pregunta.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algoritmo priorizo la EXPLICABILIDAD sobre la sofisticacion matematica.</a:t>
            </a:r>
          </a:p>
          <a:p/>
          <a:p>
            <a:r>
              <a:t>Cualquier ciudadano con comprension basica de proporciones puede entender como se calcula el resultado. Esto es un requerimiento funcional para la credibilidad en un contexto electoral.</a:t>
            </a:r>
          </a:p>
          <a:p/>
          <a:p>
            <a:r>
              <a:t>La funcion cuadratica de penalizacion (elevar al cuadrado la diferencia normalizada) penaliza los desacuerdos extremos con mayor severidad, reflejando la intuicion politica de que la distancia entre posiciones no es linealmente proporcional a su diferencia numerica.</a:t>
            </a:r>
          </a:p>
          <a:p/>
          <a:p>
            <a:r>
              <a:t>El indicador de confianza (Componente 3) es la diferenciacion algorítmica mas significativa respecto a VAAs internacionales.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resultado no es un numero: es un sistema de informacion.</a:t>
            </a:r>
          </a:p>
          <a:p/>
          <a:p>
            <a:r>
              <a:t>El radar de 7 ejes permite al usuario ver no solo 'con quien coincide mas' sino 'en que temas coincide mas'. Esto es especialmente util para el votante que tiene prioridades especificas (p.ej. coincide en economia pero difiere en derechos humanos).</a:t>
            </a:r>
          </a:p>
          <a:p/>
          <a:p>
            <a:r>
              <a:t>El indicador de confianza en las posturas es la implementacion directa del principio de honestidad: si una postura fue verificada con certeza limitada, el sistema lo dice. No simula certeza que no existe.</a:t>
            </a:r>
          </a:p>
          <a:p/>
          <a:p>
            <a:r>
              <a:t>Este nivel de transparencia protege la credibilidad del sistema a largo plazo.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Transicion al sistema visual.</a:t>
            </a:r>
          </a:p>
          <a:p/>
          <a:p>
            <a:r>
              <a:t>El diseño no es decoracion: es parte del mensaje.</a:t>
            </a:r>
          </a:p>
          <a:p/>
          <a:p>
            <a:r>
              <a:t>VotoAfin necesitaba transmitir credibilidad institucional y neutralidad politica simultaneamente. Esa combinacion requirio decisiones especificas de color, tipografia y componentes.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sistema de color fue diseñado con una restriccion critica: ningun color puede asociarse con ningun partido politico chileno.</a:t>
            </a:r>
          </a:p>
          <a:p/>
          <a:p>
            <a:r>
              <a:t>Esta restriccion determino la paleta entera:</a:t>
            </a:r>
          </a:p>
          <a:p>
            <a:r>
              <a:t>  - El azul-petroleo (#1C3A52) fue elegido por ser suficientemente distinto     del azul de RN y Chile Vamos.</a:t>
            </a:r>
          </a:p>
          <a:p>
            <a:r>
              <a:t>  - El verde-salvia (#7BA098) es diferente del verde del Frente Amplio.</a:t>
            </a:r>
          </a:p>
          <a:p>
            <a:r>
              <a:t>  - El verde acento (#3A9E7A) tampoco es el verde del FA.</a:t>
            </a:r>
          </a:p>
          <a:p/>
          <a:p>
            <a:r>
              <a:t>6 capas independientes: un cambio de branding no rompe los ejes ni la visualizacion de datos. Esto es diseno sistematico, no decoracion.</a:t>
            </a:r>
          </a:p>
          <a:p/>
          <a:p>
            <a:r>
              <a:t>Todos los pares de colores cumplen contraste WCAG 2.2 AA (4.5:1 minimo).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slide sintetiza la filosofia del Design System de VotoAfin.</a:t>
            </a:r>
          </a:p>
          <a:p/>
          <a:p>
            <a:r>
              <a:t>El sistema fue documentado en 11 modulos (ds-01 a ds-11), cubriendo:</a:t>
            </a:r>
          </a:p>
          <a:p>
            <a:r>
              <a:t>  - Filosofia y principios</a:t>
            </a:r>
          </a:p>
          <a:p>
            <a:r>
              <a:t>  - Psicologia del usuario</a:t>
            </a:r>
          </a:p>
          <a:p>
            <a:r>
              <a:t>  - Benchmarking visual</a:t>
            </a:r>
          </a:p>
          <a:p>
            <a:r>
              <a:t>  - Sistema de color completo</a:t>
            </a:r>
          </a:p>
          <a:p>
            <a:r>
              <a:t>  - Dark mode</a:t>
            </a:r>
          </a:p>
          <a:p>
            <a:r>
              <a:t>  - Ejes tematicos</a:t>
            </a:r>
          </a:p>
          <a:p>
            <a:r>
              <a:t>  - Visualizacion de datos</a:t>
            </a:r>
          </a:p>
          <a:p>
            <a:r>
              <a:t>  - Tiers de afinidad</a:t>
            </a:r>
          </a:p>
          <a:p>
            <a:r>
              <a:t>  - Component library</a:t>
            </a:r>
          </a:p>
          <a:p>
            <a:r>
              <a:t>  - Design tokens</a:t>
            </a:r>
          </a:p>
          <a:p>
            <a:r>
              <a:t>  - Validacion por pantalla</a:t>
            </a:r>
          </a:p>
          <a:p/>
          <a:p>
            <a:r>
              <a:t>Esta profundidad de documentacion es lo que permite mantener consistencia visual a lo largo de 17 pantallas y 89 componentes reutilizables.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dos principios guiaron todas las decisiones de UX del sistema.</a:t>
            </a:r>
          </a:p>
          <a:p/>
          <a:p>
            <a:r>
              <a:t>Principio 1 explica por que no hay animaciones excesivas, iconos ambiguos ni jerarquias visuales complicadas.</a:t>
            </a:r>
          </a:p>
          <a:p/>
          <a:p>
            <a:r>
              <a:t>Principio 2 explica la decision de usar el radar de 7 ejes como visualizacion principal: es visualmente intuitivo y no requiere que el usuario sepa leer estadisticas.</a:t>
            </a:r>
          </a:p>
          <a:p/>
          <a:p>
            <a:r>
              <a:t>Un tercer principio que guio el diseno fue el FLUJO MINIMO VIABLE:</a:t>
            </a:r>
          </a:p>
          <a:p>
            <a:r>
              <a:t>el camino desde el ingreso hasta el resultado debe ser lo mas corto posible. Cada pantalla adicional es una oportunidad de abandono.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VotoAfin es la unica VAA del grupo analizado que combina los 5 elementos:</a:t>
            </a:r>
          </a:p>
          <a:p>
            <a:r>
              <a:t>  - Escala de 5 puntos con opcion 'No se'</a:t>
            </a:r>
          </a:p>
          <a:p>
            <a:r>
              <a:t>  - Ponderacion en 4 niveles</a:t>
            </a:r>
          </a:p>
          <a:p>
            <a:r>
              <a:t>  - Fuentes primarias con URL como requerimiento tecnico obligatorio</a:t>
            </a:r>
          </a:p>
          <a:p>
            <a:r>
              <a:t>  - Radar de 7 ejes</a:t>
            </a:r>
          </a:p>
          <a:p>
            <a:r>
              <a:t>  - Codigo abierto bajo AGPL-3.0</a:t>
            </a:r>
          </a:p>
          <a:p/>
          <a:p>
            <a:r>
              <a:t>Ademas, es la UNICA que incorpora indicador de confianza del resultado -- una caracteristica no implementada en ninguna VAA del grupo analizado.</a:t>
            </a:r>
          </a:p>
          <a:p/>
          <a:p>
            <a:r>
              <a:t>Esto no significa que VotoAfin es mejor que Wahl-O-Mat o Smartvote en terminos de escala de uso: esas tienen millones de usuarios. Pero en terminos de especificaciones de diseno, cubre brechas que las mas consolidadas no tienen.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slide hace concreto el valor de VotoAfin para el usuario final.</a:t>
            </a:r>
          </a:p>
          <a:p/>
          <a:p>
            <a:r>
              <a:t>El contraste antes/despues es poderoso porque conecta directamente con los datos del problema que se presentaron en la Presentacion 1.</a:t>
            </a:r>
          </a:p>
          <a:p/>
          <a:p>
            <a:r>
              <a:t>81% de exposicion a desinformacion semanal -&gt; ahora tienen una fuente con verificacion tecnica obligatoria de fuentes primarias.</a:t>
            </a:r>
          </a:p>
          <a:p/>
          <a:p>
            <a:r>
              <a:t>21% muy informados -&gt; la herramienta no garantiza llegar al 100%, pero si puede aumentar la calidad de informacion de quienes la usen.</a:t>
            </a:r>
          </a:p>
          <a:p/>
          <a:p>
            <a:r>
              <a:t>El tiempo (5-10 minutos) es un argumento contra el desinteres: no es necesario leer decenas de paginas. Es una inversion razonable.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de la Presentacion 3.</a:t>
            </a:r>
          </a:p>
          <a:p/>
          <a:p>
            <a:r>
              <a:t>Tiempo estimado: 15-18 minutos.</a:t>
            </a:r>
          </a:p>
          <a:p/>
          <a:p>
            <a:r>
              <a:t>La frase 'Una brujula, no una agenda' sintetiza el posicionamiento del producto:</a:t>
            </a:r>
          </a:p>
          <a:p>
            <a:r>
              <a:t>  - VotoAfin orienta. No prescribe.</a:t>
            </a:r>
          </a:p>
          <a:p>
            <a:r>
              <a:t>  - VotoAfin compara. No recomienda.</a:t>
            </a:r>
          </a:p>
          <a:p>
            <a:r>
              <a:t>  - VotoAfin informa. No decide.</a:t>
            </a:r>
          </a:p>
          <a:p/>
          <a:p>
            <a:r>
              <a:t>El usuario conserva completamente la autonomia de su decision.</a:t>
            </a:r>
          </a:p>
          <a:p>
            <a:r>
              <a:t>VotoAfin solo hace esa decision mas informada.</a:t>
            </a:r>
          </a:p>
          <a:p/>
          <a:p>
            <a:r>
              <a:t>Mensajes de salida clave:</a:t>
            </a:r>
          </a:p>
          <a:p>
            <a:r>
              <a:t>  - La VAA es la respuesta correcta al problema identificado.</a:t>
            </a:r>
          </a:p>
          <a:p>
            <a:r>
              <a:t>  - Las 5 dimensiones de valor diferencian a VotoAfin.</a:t>
            </a:r>
          </a:p>
          <a:p>
            <a:r>
              <a:t>  - El diseño priorizo claridad y resultado accionable.</a:t>
            </a:r>
          </a:p>
          <a:p>
            <a:r>
              <a:t>  - El sistema existe. Funciona. Y puede escalar.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640080" y="2011680"/>
            <a:ext cx="54864" cy="228600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911535" cy="457200"/>
          </a:xfrm>
          <a:prstGeom prst="rect">
            <a:avLst/>
          </a:prstGeom>
          <a:noFill/>
        </p:spPr>
        <p:txBody>
          <a:bodyPr wrap="square">
            <a:spAutoFit/>
          </a:bodyPr>
          <a:lstStyle/>
          <a:p>
            <a:pPr algn="l"/>
            <a:r>
              <a:rPr sz="1100" b="1" i="0">
                <a:solidFill>
                  <a:srgbClr val="3A9E7A"/>
                </a:solidFill>
              </a:rPr>
              <a:t>PRESENTACION 3 DE 4  --  SOLUCION, DISENO Y PRODUCTO</a:t>
            </a:r>
          </a:p>
        </p:txBody>
      </p:sp>
      <p:sp>
        <p:nvSpPr>
          <p:cNvPr id="4" name="TextBox 3"/>
          <p:cNvSpPr txBox="1"/>
          <p:nvPr/>
        </p:nvSpPr>
        <p:spPr>
          <a:xfrm>
            <a:off x="640080" y="2194560"/>
            <a:ext cx="10911535" cy="2286000"/>
          </a:xfrm>
          <a:prstGeom prst="rect">
            <a:avLst/>
          </a:prstGeom>
          <a:noFill/>
        </p:spPr>
        <p:txBody>
          <a:bodyPr wrap="square">
            <a:spAutoFit/>
          </a:bodyPr>
          <a:lstStyle/>
          <a:p>
            <a:pPr algn="l"/>
            <a:r>
              <a:rPr sz="4400" b="1">
                <a:solidFill>
                  <a:srgbClr val="FFFFFF"/>
                </a:solidFill>
              </a:rPr>
              <a:t>VotoAfin</a:t>
            </a:r>
          </a:p>
        </p:txBody>
      </p:sp>
      <p:sp>
        <p:nvSpPr>
          <p:cNvPr id="5" name="TextBox 4"/>
          <p:cNvSpPr txBox="1"/>
          <p:nvPr/>
        </p:nvSpPr>
        <p:spPr>
          <a:xfrm>
            <a:off x="640080" y="4480560"/>
            <a:ext cx="10911535" cy="1097280"/>
          </a:xfrm>
          <a:prstGeom prst="rect">
            <a:avLst/>
          </a:prstGeom>
          <a:noFill/>
        </p:spPr>
        <p:txBody>
          <a:bodyPr wrap="square">
            <a:spAutoFit/>
          </a:bodyPr>
          <a:lstStyle/>
          <a:p>
            <a:pPr algn="l"/>
            <a:r>
              <a:rPr sz="1800" b="0">
                <a:solidFill>
                  <a:srgbClr val="4A9BBF"/>
                </a:solidFill>
              </a:rPr>
              <a:t>Una brujula para el votante. Solucion, diseno y producto.</a:t>
            </a:r>
          </a:p>
        </p:txBody>
      </p:sp>
      <p:sp>
        <p:nvSpPr>
          <p:cNvPr id="6" name="TextBox 5"/>
          <p:cNvSpPr txBox="1"/>
          <p:nvPr/>
        </p:nvSpPr>
        <p:spPr>
          <a:xfrm>
            <a:off x="640080" y="6217920"/>
            <a:ext cx="10911535" cy="365760"/>
          </a:xfrm>
          <a:prstGeom prst="rect">
            <a:avLst/>
          </a:prstGeom>
          <a:noFill/>
        </p:spPr>
        <p:txBody>
          <a:bodyPr wrap="none">
            <a:spAutoFit/>
          </a:bodyPr>
          <a:lstStyle/>
          <a:p>
            <a:pPr algn="r"/>
            <a:r>
              <a:rPr sz="900">
                <a:solidFill>
                  <a:srgbClr val="7BA098"/>
                </a:solidFill>
              </a:rPr>
              <a:t>VotoAFin · UTFSM · Jenifer Castillo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7"/>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11535" cy="777240"/>
          </a:xfrm>
          <a:prstGeom prst="rect">
            <a:avLst/>
          </a:prstGeom>
          <a:noFill/>
        </p:spPr>
        <p:txBody>
          <a:bodyPr wrap="square">
            <a:spAutoFit/>
          </a:bodyPr>
          <a:lstStyle/>
          <a:p>
            <a:r>
              <a:rPr sz="2800" b="1">
                <a:solidFill>
                  <a:srgbClr val="1C3A52"/>
                </a:solidFill>
              </a:rPr>
              <a:t>Que es una Voting Advice Application?</a:t>
            </a:r>
          </a:p>
        </p:txBody>
      </p:sp>
      <p:sp>
        <p:nvSpPr>
          <p:cNvPr id="4" name="Rectangle 3"/>
          <p:cNvSpPr/>
          <p:nvPr/>
        </p:nvSpPr>
        <p:spPr>
          <a:xfrm>
            <a:off x="640080" y="1143000"/>
            <a:ext cx="1371600"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10911535" cy="640080"/>
          </a:xfrm>
          <a:prstGeom prst="rect">
            <a:avLst/>
          </a:prstGeom>
          <a:noFill/>
        </p:spPr>
        <p:txBody>
          <a:bodyPr wrap="square">
            <a:spAutoFit/>
          </a:bodyPr>
          <a:lstStyle/>
          <a:p>
            <a:r>
              <a:rPr sz="1700" b="1">
                <a:solidFill>
                  <a:srgbClr val="2E5F7E"/>
                </a:solidFill>
              </a:rPr>
              <a:t>Una herramienta que mide la coincidencia entre tus posiciones y las de los candidatos.</a:t>
            </a:r>
          </a:p>
        </p:txBody>
      </p:sp>
      <p:sp>
        <p:nvSpPr>
          <p:cNvPr id="6" name="TextBox 5"/>
          <p:cNvSpPr txBox="1"/>
          <p:nvPr/>
        </p:nvSpPr>
        <p:spPr>
          <a:xfrm>
            <a:off x="640080" y="2011680"/>
            <a:ext cx="10911535" cy="4389120"/>
          </a:xfrm>
          <a:prstGeom prst="rect">
            <a:avLst/>
          </a:prstGeom>
          <a:noFill/>
        </p:spPr>
        <p:txBody>
          <a:bodyPr wrap="square">
            <a:spAutoFit/>
          </a:bodyPr>
          <a:lstStyle/>
          <a:p>
            <a:pPr>
              <a:spcBef>
                <a:spcPts val="400"/>
              </a:spcBef>
            </a:pPr>
            <a:r>
              <a:rPr sz="1600">
                <a:solidFill>
                  <a:srgbClr val="1F2A35"/>
                </a:solidFill>
              </a:rPr>
              <a:t>1. Se te presentan preguntas sobre politica publica (economia, medioambiente, etc.)</a:t>
            </a:r>
          </a:p>
          <a:p>
            <a:pPr>
              <a:spcBef>
                <a:spcPts val="400"/>
              </a:spcBef>
            </a:pPr>
            <a:r>
              <a:rPr sz="1600">
                <a:solidFill>
                  <a:srgbClr val="1F2A35"/>
                </a:solidFill>
              </a:rPr>
              <a:t>2. Indicas tu posicion en una escala de 5 puntos (Muy de acuerdo &lt;-&gt; Muy en desacuerdo)</a:t>
            </a:r>
          </a:p>
          <a:p>
            <a:pPr>
              <a:spcBef>
                <a:spcPts val="400"/>
              </a:spcBef>
            </a:pPr>
            <a:r>
              <a:rPr sz="1600">
                <a:solidFill>
                  <a:srgbClr val="1F2A35"/>
                </a:solidFill>
              </a:rPr>
              <a:t>3. Opcionalmente: indicas que temas son mas importantes para ti</a:t>
            </a:r>
          </a:p>
          <a:p>
            <a:pPr>
              <a:spcBef>
                <a:spcPts val="400"/>
              </a:spcBef>
            </a:pPr>
            <a:r>
              <a:rPr sz="1600">
                <a:solidFill>
                  <a:srgbClr val="1F2A35"/>
                </a:solidFill>
              </a:rPr>
              <a:t>4. El sistema compara tus respuestas con las posturas documentadas de cada candidato</a:t>
            </a:r>
          </a:p>
          <a:p>
            <a:pPr>
              <a:spcBef>
                <a:spcPts val="400"/>
              </a:spcBef>
            </a:pPr>
            <a:r>
              <a:rPr sz="1600">
                <a:solidFill>
                  <a:srgbClr val="1F2A35"/>
                </a:solidFill>
              </a:rPr>
              <a:t>5. Obtienes un ranking de afinidad: quien coincide mas con tu forma de pensar</a:t>
            </a:r>
          </a:p>
          <a:p>
            <a:pPr>
              <a:spcBef>
                <a:spcPts val="400"/>
              </a:spcBef>
            </a:pPr>
          </a:p>
          <a:p>
            <a:pPr>
              <a:spcBef>
                <a:spcPts val="400"/>
              </a:spcBef>
            </a:pPr>
            <a:r>
              <a:rPr sz="1600">
                <a:solidFill>
                  <a:srgbClr val="1F2A35"/>
                </a:solidFill>
              </a:rPr>
              <a:t>No es una encuesta. No es un sondeo. No dice por quien votar.</a:t>
            </a:r>
          </a:p>
          <a:p>
            <a:pPr>
              <a:spcBef>
                <a:spcPts val="400"/>
              </a:spcBef>
            </a:pPr>
            <a:r>
              <a:rPr sz="1600">
                <a:solidFill>
                  <a:srgbClr val="1F2A35"/>
                </a:solidFill>
              </a:rPr>
              <a:t>Es una herramienta de orientacion que hace transparente la comparacion.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28600"/>
            <a:ext cx="10911535" cy="685800"/>
          </a:xfrm>
          <a:prstGeom prst="rect">
            <a:avLst/>
          </a:prstGeom>
          <a:noFill/>
        </p:spPr>
        <p:txBody>
          <a:bodyPr wrap="square">
            <a:spAutoFit/>
          </a:bodyPr>
          <a:lstStyle/>
          <a:p>
            <a:r>
              <a:rPr sz="2400" b="1">
                <a:solidFill>
                  <a:srgbClr val="FFFFFF"/>
                </a:solidFill>
              </a:rPr>
              <a:t>El problema que VotoAfin resuelve en numeros</a:t>
            </a:r>
          </a:p>
        </p:txBody>
      </p:sp>
      <p:sp>
        <p:nvSpPr>
          <p:cNvPr id="4" name="TextBox 3"/>
          <p:cNvSpPr txBox="1"/>
          <p:nvPr/>
        </p:nvSpPr>
        <p:spPr>
          <a:xfrm>
            <a:off x="640080" y="1280160"/>
            <a:ext cx="2727883" cy="2286000"/>
          </a:xfrm>
          <a:prstGeom prst="rect">
            <a:avLst/>
          </a:prstGeom>
          <a:noFill/>
        </p:spPr>
        <p:txBody>
          <a:bodyPr wrap="square">
            <a:spAutoFit/>
          </a:bodyPr>
          <a:lstStyle/>
          <a:p>
            <a:pPr algn="ctr"/>
            <a:r>
              <a:rPr sz="6000" b="1">
                <a:solidFill>
                  <a:srgbClr val="DC2626"/>
                </a:solidFill>
              </a:rPr>
              <a:t>79%</a:t>
            </a:r>
          </a:p>
        </p:txBody>
      </p:sp>
      <p:sp>
        <p:nvSpPr>
          <p:cNvPr id="5" name="TextBox 4"/>
          <p:cNvSpPr txBox="1"/>
          <p:nvPr/>
        </p:nvSpPr>
        <p:spPr>
          <a:xfrm>
            <a:off x="640080" y="3566160"/>
            <a:ext cx="2727883" cy="1645920"/>
          </a:xfrm>
          <a:prstGeom prst="rect">
            <a:avLst/>
          </a:prstGeom>
          <a:noFill/>
        </p:spPr>
        <p:txBody>
          <a:bodyPr wrap="square">
            <a:spAutoFit/>
          </a:bodyPr>
          <a:lstStyle/>
          <a:p>
            <a:pPr algn="ctr"/>
            <a:r>
              <a:rPr sz="1400" b="0">
                <a:solidFill>
                  <a:srgbClr val="4A9BBF"/>
                </a:solidFill>
              </a:rPr>
              <a:t>no confia en politicos</a:t>
            </a:r>
            <a:br/>
            <a:r>
              <a:t>como fuente de informacion</a:t>
            </a:r>
          </a:p>
        </p:txBody>
      </p:sp>
      <p:sp>
        <p:nvSpPr>
          <p:cNvPr id="6" name="TextBox 5"/>
          <p:cNvSpPr txBox="1"/>
          <p:nvPr/>
        </p:nvSpPr>
        <p:spPr>
          <a:xfrm>
            <a:off x="3367963" y="1280160"/>
            <a:ext cx="2727883" cy="2286000"/>
          </a:xfrm>
          <a:prstGeom prst="rect">
            <a:avLst/>
          </a:prstGeom>
          <a:noFill/>
        </p:spPr>
        <p:txBody>
          <a:bodyPr wrap="square">
            <a:spAutoFit/>
          </a:bodyPr>
          <a:lstStyle/>
          <a:p>
            <a:pPr algn="ctr"/>
            <a:r>
              <a:rPr sz="6000" b="1">
                <a:solidFill>
                  <a:srgbClr val="D97706"/>
                </a:solidFill>
              </a:rPr>
              <a:t>42%</a:t>
            </a:r>
          </a:p>
        </p:txBody>
      </p:sp>
      <p:sp>
        <p:nvSpPr>
          <p:cNvPr id="7" name="TextBox 6"/>
          <p:cNvSpPr txBox="1"/>
          <p:nvPr/>
        </p:nvSpPr>
        <p:spPr>
          <a:xfrm>
            <a:off x="3367963" y="3566160"/>
            <a:ext cx="2727883" cy="1645920"/>
          </a:xfrm>
          <a:prstGeom prst="rect">
            <a:avLst/>
          </a:prstGeom>
          <a:noFill/>
        </p:spPr>
        <p:txBody>
          <a:bodyPr wrap="square">
            <a:spAutoFit/>
          </a:bodyPr>
          <a:lstStyle/>
          <a:p>
            <a:pPr algn="ctr"/>
            <a:r>
              <a:rPr sz="1400" b="0">
                <a:solidFill>
                  <a:srgbClr val="4A9BBF"/>
                </a:solidFill>
              </a:rPr>
              <a:t>indeciso sobre su voto</a:t>
            </a:r>
            <a:br/>
            <a:r>
              <a:t>para el cargo mas conocido</a:t>
            </a:r>
          </a:p>
        </p:txBody>
      </p:sp>
      <p:sp>
        <p:nvSpPr>
          <p:cNvPr id="8" name="TextBox 7"/>
          <p:cNvSpPr txBox="1"/>
          <p:nvPr/>
        </p:nvSpPr>
        <p:spPr>
          <a:xfrm>
            <a:off x="6095847" y="1280160"/>
            <a:ext cx="2727883" cy="2286000"/>
          </a:xfrm>
          <a:prstGeom prst="rect">
            <a:avLst/>
          </a:prstGeom>
          <a:noFill/>
        </p:spPr>
        <p:txBody>
          <a:bodyPr wrap="square">
            <a:spAutoFit/>
          </a:bodyPr>
          <a:lstStyle/>
          <a:p>
            <a:pPr algn="ctr"/>
            <a:r>
              <a:rPr sz="6000" b="1">
                <a:solidFill>
                  <a:srgbClr val="4A9BBF"/>
                </a:solidFill>
              </a:rPr>
              <a:t>21%</a:t>
            </a:r>
          </a:p>
        </p:txBody>
      </p:sp>
      <p:sp>
        <p:nvSpPr>
          <p:cNvPr id="9" name="TextBox 8"/>
          <p:cNvSpPr txBox="1"/>
          <p:nvPr/>
        </p:nvSpPr>
        <p:spPr>
          <a:xfrm>
            <a:off x="6095847" y="3566160"/>
            <a:ext cx="2727883" cy="1645920"/>
          </a:xfrm>
          <a:prstGeom prst="rect">
            <a:avLst/>
          </a:prstGeom>
          <a:noFill/>
        </p:spPr>
        <p:txBody>
          <a:bodyPr wrap="square">
            <a:spAutoFit/>
          </a:bodyPr>
          <a:lstStyle/>
          <a:p>
            <a:pPr algn="ctr"/>
            <a:r>
              <a:rPr sz="1400" b="0">
                <a:solidFill>
                  <a:srgbClr val="4A9BBF"/>
                </a:solidFill>
              </a:rPr>
              <a:t>se considera</a:t>
            </a:r>
            <a:br/>
            <a:r>
              <a:t>'muy informado'</a:t>
            </a:r>
          </a:p>
        </p:txBody>
      </p:sp>
      <p:sp>
        <p:nvSpPr>
          <p:cNvPr id="10" name="TextBox 9"/>
          <p:cNvSpPr txBox="1"/>
          <p:nvPr/>
        </p:nvSpPr>
        <p:spPr>
          <a:xfrm>
            <a:off x="8823731" y="1280160"/>
            <a:ext cx="2727883" cy="2286000"/>
          </a:xfrm>
          <a:prstGeom prst="rect">
            <a:avLst/>
          </a:prstGeom>
          <a:noFill/>
        </p:spPr>
        <p:txBody>
          <a:bodyPr wrap="square">
            <a:spAutoFit/>
          </a:bodyPr>
          <a:lstStyle/>
          <a:p>
            <a:pPr algn="ctr"/>
            <a:r>
              <a:rPr sz="6000" b="1">
                <a:solidFill>
                  <a:srgbClr val="3A9E7A"/>
                </a:solidFill>
              </a:rPr>
              <a:t>5-10</a:t>
            </a:r>
          </a:p>
        </p:txBody>
      </p:sp>
      <p:sp>
        <p:nvSpPr>
          <p:cNvPr id="11" name="TextBox 10"/>
          <p:cNvSpPr txBox="1"/>
          <p:nvPr/>
        </p:nvSpPr>
        <p:spPr>
          <a:xfrm>
            <a:off x="8823731" y="3566160"/>
            <a:ext cx="2727883" cy="1645920"/>
          </a:xfrm>
          <a:prstGeom prst="rect">
            <a:avLst/>
          </a:prstGeom>
          <a:noFill/>
        </p:spPr>
        <p:txBody>
          <a:bodyPr wrap="square">
            <a:spAutoFit/>
          </a:bodyPr>
          <a:lstStyle/>
          <a:p>
            <a:pPr algn="ctr"/>
            <a:r>
              <a:rPr sz="1400" b="0">
                <a:solidFill>
                  <a:srgbClr val="4A9BBF"/>
                </a:solidFill>
              </a:rPr>
              <a:t>minutos para completar</a:t>
            </a:r>
            <a:br/>
            <a:r>
              <a:t>el cuestionario VotoAfin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E5F7E"/>
        </a:solidFill>
        <a:effectLst/>
      </p:bgPr>
    </p:bg>
    <p:spTree>
      <p:nvGrpSpPr>
        <p:cNvPr id="1" name=""/>
        <p:cNvGrpSpPr/>
        <p:nvPr/>
      </p:nvGrpSpPr>
      <p:grpSpPr/>
      <p:sp>
        <p:nvSpPr>
          <p:cNvPr id="2" name="TextBox 1"/>
          <p:cNvSpPr txBox="1"/>
          <p:nvPr/>
        </p:nvSpPr>
        <p:spPr>
          <a:xfrm>
            <a:off x="640080" y="1371600"/>
            <a:ext cx="1828800" cy="1828800"/>
          </a:xfrm>
          <a:prstGeom prst="rect">
            <a:avLst/>
          </a:prstGeom>
          <a:noFill/>
        </p:spPr>
        <p:txBody>
          <a:bodyPr wrap="none">
            <a:spAutoFit/>
          </a:bodyPr>
          <a:lstStyle/>
          <a:p>
            <a:r>
              <a:rPr sz="9600" b="1" i="0">
                <a:solidFill>
                  <a:srgbClr val="6EA2C0"/>
                </a:solidFill>
              </a:rPr>
              <a:t>V</a:t>
            </a:r>
          </a:p>
        </p:txBody>
      </p:sp>
      <p:sp>
        <p:nvSpPr>
          <p:cNvPr id="3" name="TextBox 2"/>
          <p:cNvSpPr txBox="1"/>
          <p:nvPr/>
        </p:nvSpPr>
        <p:spPr>
          <a:xfrm>
            <a:off x="640080" y="3200400"/>
            <a:ext cx="10911535" cy="1371600"/>
          </a:xfrm>
          <a:prstGeom prst="rect">
            <a:avLst/>
          </a:prstGeom>
          <a:noFill/>
        </p:spPr>
        <p:txBody>
          <a:bodyPr wrap="square">
            <a:spAutoFit/>
          </a:bodyPr>
          <a:lstStyle/>
          <a:p>
            <a:r>
              <a:rPr sz="3600" b="1">
                <a:solidFill>
                  <a:srgbClr val="FFFFFF"/>
                </a:solidFill>
              </a:rPr>
              <a:t>Propuesta de Valor</a:t>
            </a:r>
          </a:p>
        </p:txBody>
      </p:sp>
      <p:sp>
        <p:nvSpPr>
          <p:cNvPr id="4" name="TextBox 3"/>
          <p:cNvSpPr txBox="1"/>
          <p:nvPr/>
        </p:nvSpPr>
        <p:spPr>
          <a:xfrm>
            <a:off x="640080" y="4572000"/>
            <a:ext cx="10911535" cy="914400"/>
          </a:xfrm>
          <a:prstGeom prst="rect">
            <a:avLst/>
          </a:prstGeom>
          <a:noFill/>
        </p:spPr>
        <p:txBody>
          <a:bodyPr wrap="square">
            <a:spAutoFit/>
          </a:bodyPr>
          <a:lstStyle/>
          <a:p>
            <a:r>
              <a:rPr sz="1600" b="0">
                <a:solidFill>
                  <a:srgbClr val="4A9BBF"/>
                </a:solidFill>
              </a:rPr>
              <a:t>5 dimensiones que diferencian a VotoAfin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7"/>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11535" cy="777240"/>
          </a:xfrm>
          <a:prstGeom prst="rect">
            <a:avLst/>
          </a:prstGeom>
          <a:noFill/>
        </p:spPr>
        <p:txBody>
          <a:bodyPr wrap="square">
            <a:spAutoFit/>
          </a:bodyPr>
          <a:lstStyle/>
          <a:p>
            <a:r>
              <a:rPr sz="2800" b="1">
                <a:solidFill>
                  <a:srgbClr val="1C3A52"/>
                </a:solidFill>
              </a:rPr>
              <a:t>5 dimensiones que diferencian a VotoAfin</a:t>
            </a:r>
          </a:p>
        </p:txBody>
      </p:sp>
      <p:sp>
        <p:nvSpPr>
          <p:cNvPr id="4" name="Rectangle 3"/>
          <p:cNvSpPr/>
          <p:nvPr/>
        </p:nvSpPr>
        <p:spPr>
          <a:xfrm>
            <a:off x="640080" y="1143000"/>
            <a:ext cx="1371600"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10911535" cy="5029200"/>
          </a:xfrm>
          <a:prstGeom prst="rect">
            <a:avLst/>
          </a:prstGeom>
          <a:noFill/>
        </p:spPr>
        <p:txBody>
          <a:bodyPr wrap="square">
            <a:spAutoFit/>
          </a:bodyPr>
          <a:lstStyle/>
          <a:p>
            <a:pPr>
              <a:spcBef>
                <a:spcPts val="400"/>
              </a:spcBef>
            </a:pPr>
            <a:r>
              <a:rPr sz="1600">
                <a:solidFill>
                  <a:srgbClr val="1F2A35"/>
                </a:solidFill>
              </a:rPr>
              <a:t>1. TRANSPARENCIA METODOLOGICA</a:t>
            </a:r>
          </a:p>
          <a:p>
            <a:pPr>
              <a:spcBef>
                <a:spcPts val="400"/>
              </a:spcBef>
            </a:pPr>
            <a:r>
              <a:rPr sz="1600">
                <a:solidFill>
                  <a:srgbClr val="1F2A35"/>
                </a:solidFill>
              </a:rPr>
              <a:t>   El algoritmo es publico, documentado y auditable.</a:t>
            </a:r>
          </a:p>
          <a:p>
            <a:pPr>
              <a:spcBef>
                <a:spcPts val="400"/>
              </a:spcBef>
            </a:pPr>
            <a:r>
              <a:rPr sz="1600">
                <a:solidFill>
                  <a:srgbClr val="1F2A35"/>
                </a:solidFill>
              </a:rPr>
              <a:t>   Cualquier ciudadano puede verificar como se calculan los resultados.</a:t>
            </a:r>
          </a:p>
          <a:p>
            <a:pPr>
              <a:spcBef>
                <a:spcPts val="400"/>
              </a:spcBef>
            </a:pPr>
          </a:p>
          <a:p>
            <a:pPr>
              <a:spcBef>
                <a:spcPts val="400"/>
              </a:spcBef>
            </a:pPr>
            <a:r>
              <a:rPr sz="1600">
                <a:solidFill>
                  <a:srgbClr val="1F2A35"/>
                </a:solidFill>
              </a:rPr>
              <a:t>2. TRAZABILIDAD DE POSTURAS</a:t>
            </a:r>
          </a:p>
          <a:p>
            <a:pPr>
              <a:spcBef>
                <a:spcPts val="400"/>
              </a:spcBef>
            </a:pPr>
            <a:r>
              <a:rPr sz="1600">
                <a:solidFill>
                  <a:srgbClr val="1F2A35"/>
                </a:solidFill>
              </a:rPr>
              <a:t>   Cada postura incluye justificacion textual + URL de fuente primaria.</a:t>
            </a:r>
          </a:p>
          <a:p>
            <a:pPr>
              <a:spcBef>
                <a:spcPts val="400"/>
              </a:spcBef>
            </a:pPr>
            <a:r>
              <a:rPr sz="1600">
                <a:solidFill>
                  <a:srgbClr val="1F2A35"/>
                </a:solidFill>
              </a:rPr>
              <a:t>   El sistema rechaza datos sin fuente verificable.</a:t>
            </a:r>
          </a:p>
          <a:p>
            <a:pPr>
              <a:spcBef>
                <a:spcPts val="400"/>
              </a:spcBef>
            </a:pPr>
          </a:p>
          <a:p>
            <a:pPr>
              <a:spcBef>
                <a:spcPts val="400"/>
              </a:spcBef>
            </a:pPr>
            <a:r>
              <a:rPr sz="1600">
                <a:solidFill>
                  <a:srgbClr val="1F2A35"/>
                </a:solidFill>
              </a:rPr>
              <a:t>3. PONDERACION POR IMPORTANCIA</a:t>
            </a:r>
          </a:p>
          <a:p>
            <a:pPr>
              <a:spcBef>
                <a:spcPts val="400"/>
              </a:spcBef>
            </a:pPr>
            <a:r>
              <a:rPr sz="1600">
                <a:solidFill>
                  <a:srgbClr val="1F2A35"/>
                </a:solidFill>
              </a:rPr>
              <a:t>   El usuario indica que temas le importan mas. El algoritmo ajusta.</a:t>
            </a:r>
          </a:p>
          <a:p>
            <a:pPr>
              <a:spcBef>
                <a:spcPts val="400"/>
              </a:spcBef>
            </a:pPr>
            <a:r>
              <a:rPr sz="1600">
                <a:solidFill>
                  <a:srgbClr val="1F2A35"/>
                </a:solidFill>
              </a:rPr>
              <a:t>   La afinidad electoral no es una magnitud universal.</a:t>
            </a:r>
          </a:p>
          <a:p>
            <a:pPr>
              <a:spcBef>
                <a:spcPts val="400"/>
              </a:spcBef>
            </a:pPr>
          </a:p>
          <a:p>
            <a:pPr>
              <a:spcBef>
                <a:spcPts val="400"/>
              </a:spcBef>
            </a:pPr>
            <a:r>
              <a:rPr sz="1600">
                <a:solidFill>
                  <a:srgbClr val="1F2A35"/>
                </a:solidFill>
              </a:rPr>
              <a:t>4. INDICADOR DE CONFIANZA DEL RESULTADO</a:t>
            </a:r>
          </a:p>
          <a:p>
            <a:pPr>
              <a:spcBef>
                <a:spcPts val="400"/>
              </a:spcBef>
            </a:pPr>
            <a:r>
              <a:rPr sz="1600">
                <a:solidFill>
                  <a:srgbClr val="1F2A35"/>
                </a:solidFill>
              </a:rPr>
              <a:t>   Un match calculado sobre 3 preguntas tiene menos certeza que uno sobre 12.</a:t>
            </a:r>
          </a:p>
          <a:p>
            <a:pPr>
              <a:spcBef>
                <a:spcPts val="400"/>
              </a:spcBef>
            </a:pPr>
            <a:r>
              <a:rPr sz="1600">
                <a:solidFill>
                  <a:srgbClr val="1F2A35"/>
                </a:solidFill>
              </a:rPr>
              <a:t>   VotoAfin lo comunica explicitamente.</a:t>
            </a:r>
          </a:p>
          <a:p>
            <a:pPr>
              <a:spcBef>
                <a:spcPts val="400"/>
              </a:spcBef>
            </a:pPr>
          </a:p>
          <a:p>
            <a:pPr>
              <a:spcBef>
                <a:spcPts val="400"/>
              </a:spcBef>
            </a:pPr>
            <a:r>
              <a:rPr sz="1600">
                <a:solidFill>
                  <a:srgbClr val="1F2A35"/>
                </a:solidFill>
              </a:rPr>
              <a:t>5. CODIGO ABIERTO (AGPL-3.0)</a:t>
            </a:r>
          </a:p>
          <a:p>
            <a:pPr>
              <a:spcBef>
                <a:spcPts val="400"/>
              </a:spcBef>
            </a:pPr>
            <a:r>
              <a:rPr sz="1600">
                <a:solidFill>
                  <a:srgbClr val="1F2A35"/>
                </a:solidFill>
              </a:rPr>
              <a:t>   La tecnologia electoral no deberia ser una caja negra.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7"/>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731520"/>
          </a:xfrm>
          <a:prstGeom prst="rect">
            <a:avLst/>
          </a:prstGeom>
          <a:noFill/>
        </p:spPr>
        <p:txBody>
          <a:bodyPr wrap="square">
            <a:spAutoFit/>
          </a:bodyPr>
          <a:lstStyle/>
          <a:p>
            <a:r>
              <a:rPr sz="2600" b="1">
                <a:solidFill>
                  <a:srgbClr val="1C3A52"/>
                </a:solidFill>
              </a:rPr>
              <a:t>A quien ayuda VotoAfin?</a:t>
            </a:r>
          </a:p>
        </p:txBody>
      </p:sp>
      <p:sp>
        <p:nvSpPr>
          <p:cNvPr id="4" name="Rectangle 3"/>
          <p:cNvSpPr/>
          <p:nvPr/>
        </p:nvSpPr>
        <p:spPr>
          <a:xfrm>
            <a:off x="6095847" y="1188720"/>
            <a:ext cx="18288" cy="5303520"/>
          </a:xfrm>
          <a:prstGeom prst="rect">
            <a:avLst/>
          </a:prstGeom>
          <a:solidFill>
            <a:srgbClr val="CBD1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0"/>
            <a:ext cx="5272887" cy="457200"/>
          </a:xfrm>
          <a:prstGeom prst="rect">
            <a:avLst/>
          </a:prstGeom>
          <a:noFill/>
        </p:spPr>
        <p:txBody>
          <a:bodyPr wrap="none">
            <a:spAutoFit/>
          </a:bodyPr>
          <a:lstStyle/>
          <a:p>
            <a:r>
              <a:rPr sz="1400" b="1">
                <a:solidFill>
                  <a:srgbClr val="2E5F7E"/>
                </a:solidFill>
              </a:rPr>
              <a:t>El votante objetivo</a:t>
            </a:r>
          </a:p>
        </p:txBody>
      </p:sp>
      <p:sp>
        <p:nvSpPr>
          <p:cNvPr id="6" name="Rectangle 5"/>
          <p:cNvSpPr/>
          <p:nvPr/>
        </p:nvSpPr>
        <p:spPr>
          <a:xfrm>
            <a:off x="640080" y="1554480"/>
            <a:ext cx="731520"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5272887" cy="4663440"/>
          </a:xfrm>
          <a:prstGeom prst="rect">
            <a:avLst/>
          </a:prstGeom>
          <a:noFill/>
        </p:spPr>
        <p:txBody>
          <a:bodyPr wrap="square">
            <a:spAutoFit/>
          </a:bodyPr>
          <a:lstStyle/>
          <a:p>
            <a:pPr>
              <a:spcBef>
                <a:spcPts val="500"/>
              </a:spcBef>
            </a:pPr>
            <a:r>
              <a:rPr sz="1400">
                <a:solidFill>
                  <a:srgbClr val="1F2A35"/>
                </a:solidFill>
              </a:rPr>
              <a:t>Cualquier ciudadano chileno que:</a:t>
            </a:r>
          </a:p>
          <a:p>
            <a:pPr>
              <a:spcBef>
                <a:spcPts val="500"/>
              </a:spcBef>
            </a:pPr>
          </a:p>
          <a:p>
            <a:pPr>
              <a:spcBef>
                <a:spcPts val="500"/>
              </a:spcBef>
            </a:pPr>
            <a:r>
              <a:rPr sz="1400">
                <a:solidFill>
                  <a:srgbClr val="1F2A35"/>
                </a:solidFill>
              </a:rPr>
              <a:t>  -- Enfrenta una eleccion proxima</a:t>
            </a:r>
          </a:p>
          <a:p>
            <a:pPr>
              <a:spcBef>
                <a:spcPts val="500"/>
              </a:spcBef>
            </a:pPr>
            <a:r>
              <a:rPr sz="1400">
                <a:solidFill>
                  <a:srgbClr val="1F2A35"/>
                </a:solidFill>
              </a:rPr>
              <a:t>  -- Desea informacion estructurada</a:t>
            </a:r>
          </a:p>
          <a:p>
            <a:pPr>
              <a:spcBef>
                <a:spcPts val="500"/>
              </a:spcBef>
            </a:pPr>
            <a:r>
              <a:rPr sz="1400">
                <a:solidFill>
                  <a:srgbClr val="1F2A35"/>
                </a:solidFill>
              </a:rPr>
              <a:t>     sobre posiciones de candidatos</a:t>
            </a:r>
          </a:p>
          <a:p>
            <a:pPr>
              <a:spcBef>
                <a:spcPts val="500"/>
              </a:spcBef>
            </a:pPr>
            <a:r>
              <a:rPr sz="1400">
                <a:solidFill>
                  <a:srgbClr val="1F2A35"/>
                </a:solidFill>
              </a:rPr>
              <a:t>  -- No quiere leer programas</a:t>
            </a:r>
          </a:p>
          <a:p>
            <a:pPr>
              <a:spcBef>
                <a:spcPts val="500"/>
              </a:spcBef>
            </a:pPr>
            <a:r>
              <a:rPr sz="1400">
                <a:solidFill>
                  <a:srgbClr val="1F2A35"/>
                </a:solidFill>
              </a:rPr>
              <a:t>     extensos de campaña</a:t>
            </a:r>
          </a:p>
          <a:p>
            <a:pPr>
              <a:spcBef>
                <a:spcPts val="500"/>
              </a:spcBef>
            </a:pPr>
            <a:r>
              <a:rPr sz="1400">
                <a:solidFill>
                  <a:srgbClr val="1F2A35"/>
                </a:solidFill>
              </a:rPr>
              <a:t>  -- Dispone de 5-15 minutos</a:t>
            </a:r>
          </a:p>
          <a:p>
            <a:pPr>
              <a:spcBef>
                <a:spcPts val="500"/>
              </a:spcBef>
            </a:pPr>
            <a:r>
              <a:rPr sz="1400">
                <a:solidFill>
                  <a:srgbClr val="1F2A35"/>
                </a:solidFill>
              </a:rPr>
              <a:t>  -- Tiene acceso a un dispositivo</a:t>
            </a:r>
          </a:p>
          <a:p>
            <a:pPr>
              <a:spcBef>
                <a:spcPts val="500"/>
              </a:spcBef>
            </a:pPr>
            <a:r>
              <a:rPr sz="1400">
                <a:solidFill>
                  <a:srgbClr val="1F2A35"/>
                </a:solidFill>
              </a:rPr>
              <a:t>     movil o navegador web</a:t>
            </a:r>
          </a:p>
        </p:txBody>
      </p:sp>
      <p:sp>
        <p:nvSpPr>
          <p:cNvPr id="8" name="TextBox 7"/>
          <p:cNvSpPr txBox="1"/>
          <p:nvPr/>
        </p:nvSpPr>
        <p:spPr>
          <a:xfrm>
            <a:off x="6297015" y="1097280"/>
            <a:ext cx="5272887" cy="457200"/>
          </a:xfrm>
          <a:prstGeom prst="rect">
            <a:avLst/>
          </a:prstGeom>
          <a:noFill/>
        </p:spPr>
        <p:txBody>
          <a:bodyPr wrap="none">
            <a:spAutoFit/>
          </a:bodyPr>
          <a:lstStyle/>
          <a:p>
            <a:r>
              <a:rPr sz="1400" b="1">
                <a:solidFill>
                  <a:srgbClr val="2E5F7E"/>
                </a:solidFill>
              </a:rPr>
              <a:t>Diseñado especificamente para tres segmentos</a:t>
            </a:r>
          </a:p>
        </p:txBody>
      </p:sp>
      <p:sp>
        <p:nvSpPr>
          <p:cNvPr id="9" name="Rectangle 8"/>
          <p:cNvSpPr/>
          <p:nvPr/>
        </p:nvSpPr>
        <p:spPr>
          <a:xfrm>
            <a:off x="6297015" y="1554480"/>
            <a:ext cx="731520"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97015" y="1691640"/>
            <a:ext cx="5272887" cy="4663440"/>
          </a:xfrm>
          <a:prstGeom prst="rect">
            <a:avLst/>
          </a:prstGeom>
          <a:noFill/>
        </p:spPr>
        <p:txBody>
          <a:bodyPr wrap="square">
            <a:spAutoFit/>
          </a:bodyPr>
          <a:lstStyle/>
          <a:p>
            <a:pPr>
              <a:spcBef>
                <a:spcPts val="500"/>
              </a:spcBef>
            </a:pPr>
            <a:r>
              <a:rPr sz="1400">
                <a:solidFill>
                  <a:srgbClr val="1F2A35"/>
                </a:solidFill>
              </a:rPr>
              <a:t>JOVENES VOTANTES</a:t>
            </a:r>
          </a:p>
          <a:p>
            <a:pPr>
              <a:spcBef>
                <a:spcPts val="500"/>
              </a:spcBef>
            </a:pPr>
            <a:r>
              <a:rPr sz="1400">
                <a:solidFill>
                  <a:srgbClr val="1F2A35"/>
                </a:solidFill>
              </a:rPr>
              <a:t>Alta exposicion digital, menor consumo</a:t>
            </a:r>
          </a:p>
          <a:p>
            <a:pPr>
              <a:spcBef>
                <a:spcPts val="500"/>
              </a:spcBef>
            </a:pPr>
            <a:r>
              <a:rPr sz="1400">
                <a:solidFill>
                  <a:srgbClr val="1F2A35"/>
                </a:solidFill>
              </a:rPr>
              <a:t>de medios verificados. Mayor potencial</a:t>
            </a:r>
          </a:p>
          <a:p>
            <a:pPr>
              <a:spcBef>
                <a:spcPts val="500"/>
              </a:spcBef>
            </a:pPr>
            <a:r>
              <a:rPr sz="1400">
                <a:solidFill>
                  <a:srgbClr val="1F2A35"/>
                </a:solidFill>
              </a:rPr>
              <a:t>de adopcion.</a:t>
            </a:r>
          </a:p>
          <a:p>
            <a:pPr>
              <a:spcBef>
                <a:spcPts val="500"/>
              </a:spcBef>
            </a:pPr>
          </a:p>
          <a:p>
            <a:pPr>
              <a:spcBef>
                <a:spcPts val="500"/>
              </a:spcBef>
            </a:pPr>
            <a:r>
              <a:rPr sz="1400">
                <a:solidFill>
                  <a:srgbClr val="1F2A35"/>
                </a:solidFill>
              </a:rPr>
              <a:t>ADULTOS MAYORES</a:t>
            </a:r>
          </a:p>
          <a:p>
            <a:pPr>
              <a:spcBef>
                <a:spcPts val="500"/>
              </a:spcBef>
            </a:pPr>
            <a:r>
              <a:rPr sz="1400">
                <a:solidFill>
                  <a:srgbClr val="1F2A35"/>
                </a:solidFill>
              </a:rPr>
              <a:t>Dificultad para evaluar confiabilidad.</a:t>
            </a:r>
          </a:p>
          <a:p>
            <a:pPr>
              <a:spcBef>
                <a:spcPts val="500"/>
              </a:spcBef>
            </a:pPr>
            <a:r>
              <a:rPr sz="1400">
                <a:solidFill>
                  <a:srgbClr val="1F2A35"/>
                </a:solidFill>
              </a:rPr>
              <a:t>La interfaz simple reduce la barrera.</a:t>
            </a:r>
          </a:p>
          <a:p>
            <a:pPr>
              <a:spcBef>
                <a:spcPts val="500"/>
              </a:spcBef>
            </a:pPr>
          </a:p>
          <a:p>
            <a:pPr>
              <a:spcBef>
                <a:spcPts val="500"/>
              </a:spcBef>
            </a:pPr>
            <a:r>
              <a:rPr sz="1400">
                <a:solidFill>
                  <a:srgbClr val="1F2A35"/>
                </a:solidFill>
              </a:rPr>
              <a:t>VOTANTES INDECISOS</a:t>
            </a:r>
          </a:p>
          <a:p>
            <a:pPr>
              <a:spcBef>
                <a:spcPts val="500"/>
              </a:spcBef>
            </a:pPr>
            <a:r>
              <a:rPr sz="1400">
                <a:solidFill>
                  <a:srgbClr val="1F2A35"/>
                </a:solidFill>
              </a:rPr>
              <a:t>Buscan en el ultimo momento.</a:t>
            </a:r>
          </a:p>
          <a:p>
            <a:pPr>
              <a:spcBef>
                <a:spcPts val="500"/>
              </a:spcBef>
            </a:pPr>
            <a:r>
              <a:rPr sz="1400">
                <a:solidFill>
                  <a:srgbClr val="1F2A35"/>
                </a:solidFill>
              </a:rPr>
              <a:t>El resultado accionable responde</a:t>
            </a:r>
          </a:p>
          <a:p>
            <a:pPr>
              <a:spcBef>
                <a:spcPts val="500"/>
              </a:spcBef>
            </a:pPr>
            <a:r>
              <a:rPr sz="1400">
                <a:solidFill>
                  <a:srgbClr val="1F2A35"/>
                </a:solidFill>
              </a:rPr>
              <a:t>exactamente esa necesidad.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E5F7E"/>
        </a:solidFill>
        <a:effectLst/>
      </p:bgPr>
    </p:bg>
    <p:spTree>
      <p:nvGrpSpPr>
        <p:cNvPr id="1" name=""/>
        <p:cNvGrpSpPr/>
        <p:nvPr/>
      </p:nvGrpSpPr>
      <p:grpSpPr/>
      <p:sp>
        <p:nvSpPr>
          <p:cNvPr id="2" name="TextBox 1"/>
          <p:cNvSpPr txBox="1"/>
          <p:nvPr/>
        </p:nvSpPr>
        <p:spPr>
          <a:xfrm>
            <a:off x="640080" y="1371600"/>
            <a:ext cx="1828800" cy="1828800"/>
          </a:xfrm>
          <a:prstGeom prst="rect">
            <a:avLst/>
          </a:prstGeom>
          <a:noFill/>
        </p:spPr>
        <p:txBody>
          <a:bodyPr wrap="none">
            <a:spAutoFit/>
          </a:bodyPr>
          <a:lstStyle/>
          <a:p>
            <a:r>
              <a:rPr sz="9600" b="1" i="0">
                <a:solidFill>
                  <a:srgbClr val="6EA2C0"/>
                </a:solidFill>
              </a:rPr>
              <a:t>UX</a:t>
            </a:r>
          </a:p>
        </p:txBody>
      </p:sp>
      <p:sp>
        <p:nvSpPr>
          <p:cNvPr id="3" name="TextBox 2"/>
          <p:cNvSpPr txBox="1"/>
          <p:nvPr/>
        </p:nvSpPr>
        <p:spPr>
          <a:xfrm>
            <a:off x="640080" y="3200400"/>
            <a:ext cx="10911535" cy="1371600"/>
          </a:xfrm>
          <a:prstGeom prst="rect">
            <a:avLst/>
          </a:prstGeom>
          <a:noFill/>
        </p:spPr>
        <p:txBody>
          <a:bodyPr wrap="square">
            <a:spAutoFit/>
          </a:bodyPr>
          <a:lstStyle/>
          <a:p>
            <a:r>
              <a:rPr sz="3600" b="1">
                <a:solidFill>
                  <a:srgbClr val="FFFFFF"/>
                </a:solidFill>
              </a:rPr>
              <a:t>El Flujo de Usuario</a:t>
            </a:r>
          </a:p>
        </p:txBody>
      </p:sp>
      <p:sp>
        <p:nvSpPr>
          <p:cNvPr id="4" name="TextBox 3"/>
          <p:cNvSpPr txBox="1"/>
          <p:nvPr/>
        </p:nvSpPr>
        <p:spPr>
          <a:xfrm>
            <a:off x="640080" y="4572000"/>
            <a:ext cx="10911535" cy="914400"/>
          </a:xfrm>
          <a:prstGeom prst="rect">
            <a:avLst/>
          </a:prstGeom>
          <a:noFill/>
        </p:spPr>
        <p:txBody>
          <a:bodyPr wrap="square">
            <a:spAutoFit/>
          </a:bodyPr>
          <a:lstStyle/>
          <a:p>
            <a:r>
              <a:rPr sz="1600" b="0">
                <a:solidFill>
                  <a:srgbClr val="4A9BBF"/>
                </a:solidFill>
              </a:rPr>
              <a:t>7 pasos desde el ingreso hasta la decision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7"/>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11535" cy="777240"/>
          </a:xfrm>
          <a:prstGeom prst="rect">
            <a:avLst/>
          </a:prstGeom>
          <a:noFill/>
        </p:spPr>
        <p:txBody>
          <a:bodyPr wrap="square">
            <a:spAutoFit/>
          </a:bodyPr>
          <a:lstStyle/>
          <a:p>
            <a:r>
              <a:rPr sz="2800" b="1">
                <a:solidFill>
                  <a:srgbClr val="1C3A52"/>
                </a:solidFill>
              </a:rPr>
              <a:t>Flujo de 7 pasos: del ingreso al resultado</a:t>
            </a:r>
          </a:p>
        </p:txBody>
      </p:sp>
      <p:sp>
        <p:nvSpPr>
          <p:cNvPr id="4" name="Rectangle 3"/>
          <p:cNvSpPr/>
          <p:nvPr/>
        </p:nvSpPr>
        <p:spPr>
          <a:xfrm>
            <a:off x="640080" y="1143000"/>
            <a:ext cx="1371600"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10911535" cy="5029200"/>
          </a:xfrm>
          <a:prstGeom prst="rect">
            <a:avLst/>
          </a:prstGeom>
          <a:noFill/>
        </p:spPr>
        <p:txBody>
          <a:bodyPr wrap="square">
            <a:spAutoFit/>
          </a:bodyPr>
          <a:lstStyle/>
          <a:p>
            <a:pPr>
              <a:spcBef>
                <a:spcPts val="400"/>
              </a:spcBef>
            </a:pPr>
            <a:r>
              <a:rPr sz="1600">
                <a:solidFill>
                  <a:srgbClr val="1F2A35"/>
                </a:solidFill>
              </a:rPr>
              <a:t>PASO 1  Registro / Inicio de sesion</a:t>
            </a:r>
          </a:p>
          <a:p>
            <a:pPr>
              <a:spcBef>
                <a:spcPts val="400"/>
              </a:spcBef>
            </a:pPr>
            <a:r>
              <a:rPr sz="1600">
                <a:solidFill>
                  <a:srgbClr val="1F2A35"/>
                </a:solidFill>
              </a:rPr>
              <a:t>  Solo nombre de usuario, correo y contrasena. Sin RUT, sin Clave Unica.</a:t>
            </a:r>
          </a:p>
          <a:p>
            <a:pPr>
              <a:spcBef>
                <a:spcPts val="400"/>
              </a:spcBef>
            </a:pPr>
          </a:p>
          <a:p>
            <a:pPr>
              <a:spcBef>
                <a:spcPts val="400"/>
              </a:spcBef>
            </a:pPr>
            <a:r>
              <a:rPr sz="1600">
                <a:solidFill>
                  <a:srgbClr val="1F2A35"/>
                </a:solidFill>
              </a:rPr>
              <a:t>PASO 2  Seleccion del tipo de eleccion</a:t>
            </a:r>
          </a:p>
          <a:p>
            <a:pPr>
              <a:spcBef>
                <a:spcPts val="400"/>
              </a:spcBef>
            </a:pPr>
            <a:r>
              <a:rPr sz="1600">
                <a:solidFill>
                  <a:srgbClr val="1F2A35"/>
                </a:solidFill>
              </a:rPr>
              <a:t>  El usuario indica a que proceso electoral se orienta la recomendacion.</a:t>
            </a:r>
          </a:p>
          <a:p>
            <a:pPr>
              <a:spcBef>
                <a:spcPts val="400"/>
              </a:spcBef>
            </a:pPr>
          </a:p>
          <a:p>
            <a:pPr>
              <a:spcBef>
                <a:spcPts val="400"/>
              </a:spcBef>
            </a:pPr>
            <a:r>
              <a:rPr sz="1600">
                <a:solidFill>
                  <a:srgbClr val="1F2A35"/>
                </a:solidFill>
              </a:rPr>
              <a:t>PASO 3  Cuestionario</a:t>
            </a:r>
          </a:p>
          <a:p>
            <a:pPr>
              <a:spcBef>
                <a:spcPts val="400"/>
              </a:spcBef>
            </a:pPr>
            <a:r>
              <a:rPr sz="1600">
                <a:solidFill>
                  <a:srgbClr val="1F2A35"/>
                </a:solidFill>
              </a:rPr>
              <a:t>  Preguntas sobre politica publica. Escala Likert de 5 puntos + opcion 'No se'.</a:t>
            </a:r>
          </a:p>
          <a:p>
            <a:pPr>
              <a:spcBef>
                <a:spcPts val="400"/>
              </a:spcBef>
            </a:pPr>
            <a:r>
              <a:rPr sz="1600">
                <a:solidFill>
                  <a:srgbClr val="1F2A35"/>
                </a:solidFill>
              </a:rPr>
              <a:t>  Modal de contexto educativo disponible por cada pregunta.</a:t>
            </a:r>
          </a:p>
          <a:p>
            <a:pPr>
              <a:spcBef>
                <a:spcPts val="400"/>
              </a:spcBef>
            </a:pPr>
          </a:p>
          <a:p>
            <a:pPr>
              <a:spcBef>
                <a:spcPts val="400"/>
              </a:spcBef>
            </a:pPr>
            <a:r>
              <a:rPr sz="1600">
                <a:solidFill>
                  <a:srgbClr val="1F2A35"/>
                </a:solidFill>
              </a:rPr>
              <a:t>PASO 4  Ponderacion (opcional)</a:t>
            </a:r>
          </a:p>
          <a:p>
            <a:pPr>
              <a:spcBef>
                <a:spcPts val="400"/>
              </a:spcBef>
            </a:pPr>
            <a:r>
              <a:rPr sz="1600">
                <a:solidFill>
                  <a:srgbClr val="1F2A35"/>
                </a:solidFill>
              </a:rPr>
              <a:t>  El usuario indica que temas le importan mas. 4 niveles de peso.</a:t>
            </a:r>
          </a:p>
          <a:p>
            <a:pPr>
              <a:spcBef>
                <a:spcPts val="400"/>
              </a:spcBef>
            </a:pPr>
          </a:p>
          <a:p>
            <a:pPr>
              <a:spcBef>
                <a:spcPts val="400"/>
              </a:spcBef>
            </a:pPr>
            <a:r>
              <a:rPr sz="1600">
                <a:solidFill>
                  <a:srgbClr val="1F2A35"/>
                </a:solidFill>
              </a:rPr>
              <a:t>PASO 5  Resultados</a:t>
            </a:r>
          </a:p>
          <a:p>
            <a:pPr>
              <a:spcBef>
                <a:spcPts val="400"/>
              </a:spcBef>
            </a:pPr>
            <a:r>
              <a:rPr sz="1600">
                <a:solidFill>
                  <a:srgbClr val="1F2A35"/>
                </a:solidFill>
              </a:rPr>
              <a:t>  Ranking de candidatos con % de coincidencia + indicador de confianza.</a:t>
            </a:r>
          </a:p>
          <a:p>
            <a:pPr>
              <a:spcBef>
                <a:spcPts val="400"/>
              </a:spcBef>
            </a:pPr>
          </a:p>
          <a:p>
            <a:pPr>
              <a:spcBef>
                <a:spcPts val="400"/>
              </a:spcBef>
            </a:pPr>
            <a:r>
              <a:rPr sz="1600">
                <a:solidFill>
                  <a:srgbClr val="1F2A35"/>
                </a:solidFill>
              </a:rPr>
              <a:t>PASO 6  Detalle del candidato</a:t>
            </a:r>
          </a:p>
          <a:p>
            <a:pPr>
              <a:spcBef>
                <a:spcPts val="400"/>
              </a:spcBef>
            </a:pPr>
            <a:r>
              <a:rPr sz="1600">
                <a:solidFill>
                  <a:srgbClr val="1F2A35"/>
                </a:solidFill>
              </a:rPr>
              <a:t>  Perfil completo: postura por pregunta + justificacion + fuente + radar.</a:t>
            </a:r>
          </a:p>
          <a:p>
            <a:pPr>
              <a:spcBef>
                <a:spcPts val="400"/>
              </a:spcBef>
            </a:pPr>
          </a:p>
          <a:p>
            <a:pPr>
              <a:spcBef>
                <a:spcPts val="400"/>
              </a:spcBef>
            </a:pPr>
            <a:r>
              <a:rPr sz="1600">
                <a:solidFill>
                  <a:srgbClr val="1F2A35"/>
                </a:solidFill>
              </a:rPr>
              <a:t>PASO 7  Guardado y comparacion</a:t>
            </a:r>
          </a:p>
          <a:p>
            <a:pPr>
              <a:spcBef>
                <a:spcPts val="400"/>
              </a:spcBef>
            </a:pPr>
            <a:r>
              <a:rPr sz="1600">
                <a:solidFill>
                  <a:srgbClr val="1F2A35"/>
                </a:solidFill>
              </a:rPr>
              <a:t>  Favoritos, descartados, comparacion entre candidatos.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731520"/>
          </a:xfrm>
          <a:prstGeom prst="rect">
            <a:avLst/>
          </a:prstGeom>
          <a:noFill/>
        </p:spPr>
        <p:txBody>
          <a:bodyPr wrap="square">
            <a:spAutoFit/>
          </a:bodyPr>
          <a:lstStyle/>
          <a:p>
            <a:r>
              <a:rPr sz="2400" b="1">
                <a:solidFill>
                  <a:srgbClr val="4A9BBF"/>
                </a:solidFill>
              </a:rPr>
              <a:t>El cuestionario: el corazon del sistema</a:t>
            </a:r>
          </a:p>
        </p:txBody>
      </p:sp>
      <p:sp>
        <p:nvSpPr>
          <p:cNvPr id="4" name="TextBox 3"/>
          <p:cNvSpPr txBox="1"/>
          <p:nvPr/>
        </p:nvSpPr>
        <p:spPr>
          <a:xfrm>
            <a:off x="640080" y="1188720"/>
            <a:ext cx="10911535" cy="1371600"/>
          </a:xfrm>
          <a:prstGeom prst="rect">
            <a:avLst/>
          </a:prstGeom>
          <a:noFill/>
        </p:spPr>
        <p:txBody>
          <a:bodyPr wrap="square">
            <a:spAutoFit/>
          </a:bodyPr>
          <a:lstStyle/>
          <a:p>
            <a:r>
              <a:rPr sz="3400" b="1">
                <a:solidFill>
                  <a:srgbClr val="FFFFFF"/>
                </a:solidFill>
              </a:rPr>
              <a:t>12 preguntas. 7 ejes. 5 + 1 opciones de respuesta.</a:t>
            </a:r>
          </a:p>
        </p:txBody>
      </p:sp>
      <p:sp>
        <p:nvSpPr>
          <p:cNvPr id="5" name="TextBox 4"/>
          <p:cNvSpPr txBox="1"/>
          <p:nvPr/>
        </p:nvSpPr>
        <p:spPr>
          <a:xfrm>
            <a:off x="640080" y="2651760"/>
            <a:ext cx="10911535" cy="3840480"/>
          </a:xfrm>
          <a:prstGeom prst="rect">
            <a:avLst/>
          </a:prstGeom>
          <a:noFill/>
        </p:spPr>
        <p:txBody>
          <a:bodyPr wrap="square">
            <a:spAutoFit/>
          </a:bodyPr>
          <a:lstStyle/>
          <a:p>
            <a:pPr>
              <a:spcBef>
                <a:spcPts val="400"/>
              </a:spcBef>
            </a:pPr>
            <a:r>
              <a:rPr sz="1600">
                <a:solidFill>
                  <a:srgbClr val="4A9BBF"/>
                </a:solidFill>
              </a:rPr>
              <a:t>Los 7 ejes tematicos:</a:t>
            </a:r>
          </a:p>
          <a:p>
            <a:pPr>
              <a:spcBef>
                <a:spcPts val="400"/>
              </a:spcBef>
            </a:pPr>
            <a:r>
              <a:rPr sz="1600">
                <a:solidFill>
                  <a:srgbClr val="4A9BBF"/>
                </a:solidFill>
              </a:rPr>
              <a:t>  Economia  --  Sociedad  --  Ambiente  --  Seguridad</a:t>
            </a:r>
          </a:p>
          <a:p>
            <a:pPr>
              <a:spcBef>
                <a:spcPts val="400"/>
              </a:spcBef>
            </a:pPr>
            <a:r>
              <a:rPr sz="1600">
                <a:solidFill>
                  <a:srgbClr val="4A9BBF"/>
                </a:solidFill>
              </a:rPr>
              <a:t>  Derechos Humanos  --  Internacional  --  Institucional</a:t>
            </a:r>
          </a:p>
          <a:p>
            <a:pPr>
              <a:spcBef>
                <a:spcPts val="400"/>
              </a:spcBef>
            </a:pPr>
          </a:p>
          <a:p>
            <a:pPr>
              <a:spcBef>
                <a:spcPts val="400"/>
              </a:spcBef>
            </a:pPr>
            <a:r>
              <a:rPr sz="1600">
                <a:solidFill>
                  <a:srgbClr val="4A9BBF"/>
                </a:solidFill>
              </a:rPr>
              <a:t>La escala de respuesta:</a:t>
            </a:r>
          </a:p>
          <a:p>
            <a:pPr>
              <a:spcBef>
                <a:spcPts val="400"/>
              </a:spcBef>
            </a:pPr>
            <a:r>
              <a:rPr sz="1600">
                <a:solidFill>
                  <a:srgbClr val="4A9BBF"/>
                </a:solidFill>
              </a:rPr>
              <a:t>  Muy de acuerdo / De acuerdo / Neutral / En desacuerdo / Muy en desacuerdo</a:t>
            </a:r>
          </a:p>
          <a:p>
            <a:pPr>
              <a:spcBef>
                <a:spcPts val="400"/>
              </a:spcBef>
            </a:pPr>
            <a:r>
              <a:rPr sz="1600">
                <a:solidFill>
                  <a:srgbClr val="4A9BBF"/>
                </a:solidFill>
              </a:rPr>
              <a:t>  + 'No se' (excluye la pregunta del calculo, no asigna posicion neutral)</a:t>
            </a:r>
          </a:p>
          <a:p>
            <a:pPr>
              <a:spcBef>
                <a:spcPts val="400"/>
              </a:spcBef>
            </a:pPr>
          </a:p>
          <a:p>
            <a:pPr>
              <a:spcBef>
                <a:spcPts val="400"/>
              </a:spcBef>
            </a:pPr>
            <a:r>
              <a:rPr sz="1600">
                <a:solidFill>
                  <a:srgbClr val="4A9BBF"/>
                </a:solidFill>
              </a:rPr>
              <a:t>Por cada pregunta: modal de contexto educativo con 5 dimensiones de analisis</a:t>
            </a:r>
          </a:p>
          <a:p>
            <a:pPr>
              <a:spcBef>
                <a:spcPts val="400"/>
              </a:spcBef>
            </a:pPr>
            <a:r>
              <a:rPr sz="1600">
                <a:solidFill>
                  <a:srgbClr val="4A9BBF"/>
                </a:solidFill>
              </a:rPr>
              <a:t>(economica, social, cultural, ambiental, institucional) -- lenguaje neutral.</a:t>
            </a:r>
          </a:p>
          <a:p>
            <a:pPr>
              <a:spcBef>
                <a:spcPts val="400"/>
              </a:spcBef>
            </a:pPr>
          </a:p>
          <a:p>
            <a:pPr>
              <a:spcBef>
                <a:spcPts val="400"/>
              </a:spcBef>
            </a:pPr>
            <a:r>
              <a:rPr sz="1600">
                <a:solidFill>
                  <a:srgbClr val="4A9BBF"/>
                </a:solidFill>
              </a:rPr>
              <a:t>Tiempo estimado de completitud: 5 a 10 minutos.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7"/>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11535" cy="777240"/>
          </a:xfrm>
          <a:prstGeom prst="rect">
            <a:avLst/>
          </a:prstGeom>
          <a:noFill/>
        </p:spPr>
        <p:txBody>
          <a:bodyPr wrap="square">
            <a:spAutoFit/>
          </a:bodyPr>
          <a:lstStyle/>
          <a:p>
            <a:r>
              <a:rPr sz="2800" b="1">
                <a:solidFill>
                  <a:srgbClr val="1C3A52"/>
                </a:solidFill>
              </a:rPr>
              <a:t>El algoritmo de matching: 4 componentes</a:t>
            </a:r>
          </a:p>
        </p:txBody>
      </p:sp>
      <p:sp>
        <p:nvSpPr>
          <p:cNvPr id="4" name="Rectangle 3"/>
          <p:cNvSpPr/>
          <p:nvPr/>
        </p:nvSpPr>
        <p:spPr>
          <a:xfrm>
            <a:off x="640080" y="1143000"/>
            <a:ext cx="1371600"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10911535" cy="5029200"/>
          </a:xfrm>
          <a:prstGeom prst="rect">
            <a:avLst/>
          </a:prstGeom>
          <a:noFill/>
        </p:spPr>
        <p:txBody>
          <a:bodyPr wrap="square">
            <a:spAutoFit/>
          </a:bodyPr>
          <a:lstStyle/>
          <a:p>
            <a:pPr>
              <a:spcBef>
                <a:spcPts val="400"/>
              </a:spcBef>
            </a:pPr>
            <a:r>
              <a:rPr sz="1600">
                <a:solidFill>
                  <a:srgbClr val="1F2A35"/>
                </a:solidFill>
              </a:rPr>
              <a:t>1. COMPARACION POSICION A POSICION</a:t>
            </a:r>
          </a:p>
          <a:p>
            <a:pPr>
              <a:spcBef>
                <a:spcPts val="400"/>
              </a:spcBef>
            </a:pPr>
            <a:r>
              <a:rPr sz="1600">
                <a:solidFill>
                  <a:srgbClr val="1F2A35"/>
                </a:solidFill>
              </a:rPr>
              <a:t>   Para cada pregunta respondida por el usuario y con postura del candidato:</a:t>
            </a:r>
          </a:p>
          <a:p>
            <a:pPr>
              <a:spcBef>
                <a:spcPts val="400"/>
              </a:spcBef>
            </a:pPr>
            <a:r>
              <a:rPr sz="1600">
                <a:solidFill>
                  <a:srgbClr val="1F2A35"/>
                </a:solidFill>
              </a:rPr>
              <a:t>   Distancia entre posicion del usuario y postura del candidato.</a:t>
            </a:r>
          </a:p>
          <a:p>
            <a:pPr>
              <a:spcBef>
                <a:spcPts val="400"/>
              </a:spcBef>
            </a:pPr>
            <a:r>
              <a:rPr sz="1600">
                <a:solidFill>
                  <a:srgbClr val="1F2A35"/>
                </a:solidFill>
              </a:rPr>
              <a:t>   Normalizada: 0 (maxima discrepancia) a 1 (coincidencia exacta).</a:t>
            </a:r>
          </a:p>
          <a:p>
            <a:pPr>
              <a:spcBef>
                <a:spcPts val="400"/>
              </a:spcBef>
            </a:pPr>
          </a:p>
          <a:p>
            <a:pPr>
              <a:spcBef>
                <a:spcPts val="400"/>
              </a:spcBef>
            </a:pPr>
            <a:r>
              <a:rPr sz="1600">
                <a:solidFill>
                  <a:srgbClr val="1F2A35"/>
                </a:solidFill>
              </a:rPr>
              <a:t>2. APLICACION DEL PESO</a:t>
            </a:r>
          </a:p>
          <a:p>
            <a:pPr>
              <a:spcBef>
                <a:spcPts val="400"/>
              </a:spcBef>
            </a:pPr>
            <a:r>
              <a:rPr sz="1600">
                <a:solidFill>
                  <a:srgbClr val="1F2A35"/>
                </a:solidFill>
              </a:rPr>
              <a:t>   El resultado se multiplica por el peso asignado por el usuario al tema.</a:t>
            </a:r>
          </a:p>
          <a:p>
            <a:pPr>
              <a:spcBef>
                <a:spcPts val="400"/>
              </a:spcBef>
            </a:pPr>
            <a:r>
              <a:rPr sz="1600">
                <a:solidFill>
                  <a:srgbClr val="1F2A35"/>
                </a:solidFill>
              </a:rPr>
              <a:t>   4 niveles de importancia, con multiplicadores diferenciados.</a:t>
            </a:r>
          </a:p>
          <a:p>
            <a:pPr>
              <a:spcBef>
                <a:spcPts val="400"/>
              </a:spcBef>
            </a:pPr>
          </a:p>
          <a:p>
            <a:pPr>
              <a:spcBef>
                <a:spcPts val="400"/>
              </a:spcBef>
            </a:pPr>
            <a:r>
              <a:rPr sz="1600">
                <a:solidFill>
                  <a:srgbClr val="1F2A35"/>
                </a:solidFill>
              </a:rPr>
              <a:t>3. COBERTURA Y CONFIANZA</a:t>
            </a:r>
          </a:p>
          <a:p>
            <a:pPr>
              <a:spcBef>
                <a:spcPts val="400"/>
              </a:spcBef>
            </a:pPr>
            <a:r>
              <a:rPr sz="1600">
                <a:solidFill>
                  <a:srgbClr val="1F2A35"/>
                </a:solidFill>
              </a:rPr>
              <a:t>   Cuantas preguntas participaron en el calculo?</a:t>
            </a:r>
          </a:p>
          <a:p>
            <a:pPr>
              <a:spcBef>
                <a:spcPts val="400"/>
              </a:spcBef>
            </a:pPr>
            <a:r>
              <a:rPr sz="1600">
                <a:solidFill>
                  <a:srgbClr val="1F2A35"/>
                </a:solidFill>
              </a:rPr>
              <a:t>   Umbral de cobertura determina nivel de confianza del resultado.</a:t>
            </a:r>
          </a:p>
          <a:p>
            <a:pPr>
              <a:spcBef>
                <a:spcPts val="400"/>
              </a:spcBef>
            </a:pPr>
          </a:p>
          <a:p>
            <a:pPr>
              <a:spcBef>
                <a:spcPts val="400"/>
              </a:spcBef>
            </a:pPr>
            <a:r>
              <a:rPr sz="1600">
                <a:solidFill>
                  <a:srgbClr val="1F2A35"/>
                </a:solidFill>
              </a:rPr>
              <a:t>4. DESGLOSE POR EJE</a:t>
            </a:r>
          </a:p>
          <a:p>
            <a:pPr>
              <a:spcBef>
                <a:spcPts val="400"/>
              </a:spcBef>
            </a:pPr>
            <a:r>
              <a:rPr sz="1600">
                <a:solidFill>
                  <a:srgbClr val="1F2A35"/>
                </a:solidFill>
              </a:rPr>
              <a:t>   Ademas del porcentaje global, el algoritmo calcula % por cada eje.</a:t>
            </a:r>
          </a:p>
          <a:p>
            <a:pPr>
              <a:spcBef>
                <a:spcPts val="400"/>
              </a:spcBef>
            </a:pPr>
            <a:r>
              <a:rPr sz="1600">
                <a:solidFill>
                  <a:srgbClr val="1F2A35"/>
                </a:solidFill>
              </a:rPr>
              <a:t>   Produce el vector que alimenta el grafico de radar.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731520"/>
          </a:xfrm>
          <a:prstGeom prst="rect">
            <a:avLst/>
          </a:prstGeom>
          <a:noFill/>
        </p:spPr>
        <p:txBody>
          <a:bodyPr wrap="square">
            <a:spAutoFit/>
          </a:bodyPr>
          <a:lstStyle/>
          <a:p>
            <a:r>
              <a:rPr sz="2400" b="1">
                <a:solidFill>
                  <a:srgbClr val="4A9BBF"/>
                </a:solidFill>
              </a:rPr>
              <a:t>La pantalla de resultados: que ve el usuario</a:t>
            </a:r>
          </a:p>
        </p:txBody>
      </p:sp>
      <p:sp>
        <p:nvSpPr>
          <p:cNvPr id="4" name="TextBox 3"/>
          <p:cNvSpPr txBox="1"/>
          <p:nvPr/>
        </p:nvSpPr>
        <p:spPr>
          <a:xfrm>
            <a:off x="640080" y="1188720"/>
            <a:ext cx="10911535" cy="1371600"/>
          </a:xfrm>
          <a:prstGeom prst="rect">
            <a:avLst/>
          </a:prstGeom>
          <a:noFill/>
        </p:spPr>
        <p:txBody>
          <a:bodyPr wrap="square">
            <a:spAutoFit/>
          </a:bodyPr>
          <a:lstStyle/>
          <a:p>
            <a:r>
              <a:rPr sz="3400" b="1">
                <a:solidFill>
                  <a:srgbClr val="FFFFFF"/>
                </a:solidFill>
              </a:rPr>
              <a:t>Un ranking. Un radar. Un indicador de confianza.</a:t>
            </a:r>
          </a:p>
        </p:txBody>
      </p:sp>
      <p:sp>
        <p:nvSpPr>
          <p:cNvPr id="5" name="TextBox 4"/>
          <p:cNvSpPr txBox="1"/>
          <p:nvPr/>
        </p:nvSpPr>
        <p:spPr>
          <a:xfrm>
            <a:off x="640080" y="2651760"/>
            <a:ext cx="10911535" cy="3840480"/>
          </a:xfrm>
          <a:prstGeom prst="rect">
            <a:avLst/>
          </a:prstGeom>
          <a:noFill/>
        </p:spPr>
        <p:txBody>
          <a:bodyPr wrap="square">
            <a:spAutoFit/>
          </a:bodyPr>
          <a:lstStyle/>
          <a:p>
            <a:pPr>
              <a:spcBef>
                <a:spcPts val="400"/>
              </a:spcBef>
            </a:pPr>
            <a:r>
              <a:rPr sz="1600">
                <a:solidFill>
                  <a:srgbClr val="4A9BBF"/>
                </a:solidFill>
              </a:rPr>
              <a:t>RANKING DE CANDIDATOS</a:t>
            </a:r>
          </a:p>
          <a:p>
            <a:pPr>
              <a:spcBef>
                <a:spcPts val="400"/>
              </a:spcBef>
            </a:pPr>
            <a:r>
              <a:rPr sz="1600">
                <a:solidFill>
                  <a:srgbClr val="4A9BBF"/>
                </a:solidFill>
              </a:rPr>
              <a:t>  Ordenados por % de coincidencia global.</a:t>
            </a:r>
          </a:p>
          <a:p>
            <a:pPr>
              <a:spcBef>
                <a:spcPts val="400"/>
              </a:spcBef>
            </a:pPr>
            <a:r>
              <a:rPr sz="1600">
                <a:solidFill>
                  <a:srgbClr val="4A9BBF"/>
                </a:solidFill>
              </a:rPr>
              <a:t>  Indicador visual: ALTA / MEDIA / BAJA confianza del resultado.</a:t>
            </a:r>
          </a:p>
          <a:p>
            <a:pPr>
              <a:spcBef>
                <a:spcPts val="400"/>
              </a:spcBef>
            </a:pPr>
          </a:p>
          <a:p>
            <a:pPr>
              <a:spcBef>
                <a:spcPts val="400"/>
              </a:spcBef>
            </a:pPr>
            <a:r>
              <a:rPr sz="1600">
                <a:solidFill>
                  <a:srgbClr val="4A9BBF"/>
                </a:solidFill>
              </a:rPr>
              <a:t>DETALLE DEL CANDIDATO</a:t>
            </a:r>
          </a:p>
          <a:p>
            <a:pPr>
              <a:spcBef>
                <a:spcPts val="400"/>
              </a:spcBef>
            </a:pPr>
            <a:r>
              <a:rPr sz="1600">
                <a:solidFill>
                  <a:srgbClr val="4A9BBF"/>
                </a:solidFill>
              </a:rPr>
              <a:t>  Radar de 7 ejes: coincidencia visual por dimension tematica.</a:t>
            </a:r>
          </a:p>
          <a:p>
            <a:pPr>
              <a:spcBef>
                <a:spcPts val="400"/>
              </a:spcBef>
            </a:pPr>
            <a:r>
              <a:rPr sz="1600">
                <a:solidFill>
                  <a:srgbClr val="4A9BBF"/>
                </a:solidFill>
              </a:rPr>
              <a:t>  Postura en cada pregunta + justificacion + URL de fuente primaria.</a:t>
            </a:r>
          </a:p>
          <a:p>
            <a:pPr>
              <a:spcBef>
                <a:spcPts val="400"/>
              </a:spcBef>
            </a:pPr>
            <a:r>
              <a:rPr sz="1600">
                <a:solidFill>
                  <a:srgbClr val="4A9BBF"/>
                </a:solidFill>
              </a:rPr>
              <a:t>  Nivel de confianza de cada postura (ALTA/MEDIA/BAJA).</a:t>
            </a:r>
          </a:p>
          <a:p>
            <a:pPr>
              <a:spcBef>
                <a:spcPts val="400"/>
              </a:spcBef>
            </a:pPr>
          </a:p>
          <a:p>
            <a:pPr>
              <a:spcBef>
                <a:spcPts val="400"/>
              </a:spcBef>
            </a:pPr>
            <a:r>
              <a:rPr sz="1600">
                <a:solidFill>
                  <a:srgbClr val="4A9BBF"/>
                </a:solidFill>
              </a:rPr>
              <a:t>ACCIONES DISPONIBLES</a:t>
            </a:r>
          </a:p>
          <a:p>
            <a:pPr>
              <a:spcBef>
                <a:spcPts val="400"/>
              </a:spcBef>
            </a:pPr>
            <a:r>
              <a:rPr sz="1600">
                <a:solidFill>
                  <a:srgbClr val="4A9BBF"/>
                </a:solidFill>
              </a:rPr>
              <a:t>  Guardar candidato como favorito.</a:t>
            </a:r>
          </a:p>
          <a:p>
            <a:pPr>
              <a:spcBef>
                <a:spcPts val="400"/>
              </a:spcBef>
            </a:pPr>
            <a:r>
              <a:rPr sz="1600">
                <a:solidFill>
                  <a:srgbClr val="4A9BBF"/>
                </a:solidFill>
              </a:rPr>
              <a:t>  Descartar candidato del ranking.</a:t>
            </a:r>
          </a:p>
          <a:p>
            <a:pPr>
              <a:spcBef>
                <a:spcPts val="400"/>
              </a:spcBef>
            </a:pPr>
            <a:r>
              <a:rPr sz="1600">
                <a:solidFill>
                  <a:srgbClr val="4A9BBF"/>
                </a:solidFill>
              </a:rPr>
              <a:t>  Comparar candidatos entre si.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E5F7E"/>
        </a:solidFill>
        <a:effectLst/>
      </p:bgPr>
    </p:bg>
    <p:spTree>
      <p:nvGrpSpPr>
        <p:cNvPr id="1" name=""/>
        <p:cNvGrpSpPr/>
        <p:nvPr/>
      </p:nvGrpSpPr>
      <p:grpSpPr/>
      <p:sp>
        <p:nvSpPr>
          <p:cNvPr id="2" name="TextBox 1"/>
          <p:cNvSpPr txBox="1"/>
          <p:nvPr/>
        </p:nvSpPr>
        <p:spPr>
          <a:xfrm>
            <a:off x="640080" y="1371600"/>
            <a:ext cx="1828800" cy="1828800"/>
          </a:xfrm>
          <a:prstGeom prst="rect">
            <a:avLst/>
          </a:prstGeom>
          <a:noFill/>
        </p:spPr>
        <p:txBody>
          <a:bodyPr wrap="none">
            <a:spAutoFit/>
          </a:bodyPr>
          <a:lstStyle/>
          <a:p>
            <a:r>
              <a:rPr sz="9600" b="1" i="0">
                <a:solidFill>
                  <a:srgbClr val="6EA2C0"/>
                </a:solidFill>
              </a:rPr>
              <a:t>DS</a:t>
            </a:r>
          </a:p>
        </p:txBody>
      </p:sp>
      <p:sp>
        <p:nvSpPr>
          <p:cNvPr id="3" name="TextBox 2"/>
          <p:cNvSpPr txBox="1"/>
          <p:nvPr/>
        </p:nvSpPr>
        <p:spPr>
          <a:xfrm>
            <a:off x="640080" y="3200400"/>
            <a:ext cx="10911535" cy="1371600"/>
          </a:xfrm>
          <a:prstGeom prst="rect">
            <a:avLst/>
          </a:prstGeom>
          <a:noFill/>
        </p:spPr>
        <p:txBody>
          <a:bodyPr wrap="square">
            <a:spAutoFit/>
          </a:bodyPr>
          <a:lstStyle/>
          <a:p>
            <a:r>
              <a:rPr sz="3600" b="1">
                <a:solidFill>
                  <a:srgbClr val="FFFFFF"/>
                </a:solidFill>
              </a:rPr>
              <a:t>Sistema Visual</a:t>
            </a:r>
          </a:p>
        </p:txBody>
      </p:sp>
      <p:sp>
        <p:nvSpPr>
          <p:cNvPr id="4" name="TextBox 3"/>
          <p:cNvSpPr txBox="1"/>
          <p:nvPr/>
        </p:nvSpPr>
        <p:spPr>
          <a:xfrm>
            <a:off x="640080" y="4572000"/>
            <a:ext cx="10911535" cy="914400"/>
          </a:xfrm>
          <a:prstGeom prst="rect">
            <a:avLst/>
          </a:prstGeom>
          <a:noFill/>
        </p:spPr>
        <p:txBody>
          <a:bodyPr wrap="square">
            <a:spAutoFit/>
          </a:bodyPr>
          <a:lstStyle/>
          <a:p>
            <a:r>
              <a:rPr sz="1600" b="0">
                <a:solidFill>
                  <a:srgbClr val="4A9BBF"/>
                </a:solidFill>
              </a:rPr>
              <a:t>La identidad que comunica confianza sin tomar partido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7"/>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11535" cy="777240"/>
          </a:xfrm>
          <a:prstGeom prst="rect">
            <a:avLst/>
          </a:prstGeom>
          <a:noFill/>
        </p:spPr>
        <p:txBody>
          <a:bodyPr wrap="square">
            <a:spAutoFit/>
          </a:bodyPr>
          <a:lstStyle/>
          <a:p>
            <a:r>
              <a:rPr sz="2800" b="1">
                <a:solidFill>
                  <a:srgbClr val="1C3A52"/>
                </a:solidFill>
              </a:rPr>
              <a:t>Sistema de color — 6 capas con ownership exclusivo</a:t>
            </a:r>
          </a:p>
        </p:txBody>
      </p:sp>
      <p:sp>
        <p:nvSpPr>
          <p:cNvPr id="4" name="Rectangle 3"/>
          <p:cNvSpPr/>
          <p:nvPr/>
        </p:nvSpPr>
        <p:spPr>
          <a:xfrm>
            <a:off x="640080" y="1143000"/>
            <a:ext cx="1371600"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10911535" cy="5029200"/>
          </a:xfrm>
          <a:prstGeom prst="rect">
            <a:avLst/>
          </a:prstGeom>
          <a:noFill/>
        </p:spPr>
        <p:txBody>
          <a:bodyPr wrap="square">
            <a:spAutoFit/>
          </a:bodyPr>
          <a:lstStyle/>
          <a:p>
            <a:pPr>
              <a:spcBef>
                <a:spcPts val="400"/>
              </a:spcBef>
            </a:pPr>
            <a:r>
              <a:rPr sz="1600">
                <a:solidFill>
                  <a:srgbClr val="1F2A35"/>
                </a:solidFill>
              </a:rPr>
              <a:t>CAPA A -- MARCA</a:t>
            </a:r>
          </a:p>
          <a:p>
            <a:pPr>
              <a:spcBef>
                <a:spcPts val="400"/>
              </a:spcBef>
            </a:pPr>
            <a:r>
              <a:rPr sz="1600">
                <a:solidFill>
                  <a:srgbClr val="1F2A35"/>
                </a:solidFill>
              </a:rPr>
              <a:t>  #1C3A52 brand-hero  --  #2E5F7E primary  --  #4A9BBF primary-light</a:t>
            </a:r>
          </a:p>
          <a:p>
            <a:pPr>
              <a:spcBef>
                <a:spcPts val="400"/>
              </a:spcBef>
            </a:pPr>
            <a:r>
              <a:rPr sz="1600">
                <a:solidFill>
                  <a:srgbClr val="1F2A35"/>
                </a:solidFill>
              </a:rPr>
              <a:t>  #7BA098 secondary   --  #3A9E7A accent</a:t>
            </a:r>
          </a:p>
          <a:p>
            <a:pPr>
              <a:spcBef>
                <a:spcPts val="400"/>
              </a:spcBef>
            </a:pPr>
          </a:p>
          <a:p>
            <a:pPr>
              <a:spcBef>
                <a:spcPts val="400"/>
              </a:spcBef>
            </a:pPr>
            <a:r>
              <a:rPr sz="1600">
                <a:solidFill>
                  <a:srgbClr val="1F2A35"/>
                </a:solidFill>
              </a:rPr>
              <a:t>CAPA B -- SEMANTICA</a:t>
            </a:r>
          </a:p>
          <a:p>
            <a:pPr>
              <a:spcBef>
                <a:spcPts val="400"/>
              </a:spcBef>
            </a:pPr>
            <a:r>
              <a:rPr sz="1600">
                <a:solidFill>
                  <a:srgbClr val="1F2A35"/>
                </a:solidFill>
              </a:rPr>
              <a:t>  success / warning / danger / info  (badges, toasts, feedback)</a:t>
            </a:r>
          </a:p>
          <a:p>
            <a:pPr>
              <a:spcBef>
                <a:spcPts val="400"/>
              </a:spcBef>
            </a:pPr>
          </a:p>
          <a:p>
            <a:pPr>
              <a:spcBef>
                <a:spcPts val="400"/>
              </a:spcBef>
            </a:pPr>
            <a:r>
              <a:rPr sz="1600">
                <a:solidFill>
                  <a:srgbClr val="1F2A35"/>
                </a:solidFill>
              </a:rPr>
              <a:t>CAPA C -- SUPERFICIE</a:t>
            </a:r>
          </a:p>
          <a:p>
            <a:pPr>
              <a:spcBef>
                <a:spcPts val="400"/>
              </a:spcBef>
            </a:pPr>
            <a:r>
              <a:rPr sz="1600">
                <a:solidFill>
                  <a:srgbClr val="1F2A35"/>
                </a:solidFill>
              </a:rPr>
              <a:t>  #F7F8F7 bg claro -- fondos, cards, inputs</a:t>
            </a:r>
          </a:p>
          <a:p>
            <a:pPr>
              <a:spcBef>
                <a:spcPts val="400"/>
              </a:spcBef>
            </a:pPr>
          </a:p>
          <a:p>
            <a:pPr>
              <a:spcBef>
                <a:spcPts val="400"/>
              </a:spcBef>
            </a:pPr>
            <a:r>
              <a:rPr sz="1600">
                <a:solidFill>
                  <a:srgbClr val="1F2A35"/>
                </a:solidFill>
              </a:rPr>
              <a:t>CAPA D -- DATOS  (radar, ranking bars, comparador)</a:t>
            </a:r>
          </a:p>
          <a:p>
            <a:pPr>
              <a:spcBef>
                <a:spcPts val="400"/>
              </a:spcBef>
            </a:pPr>
            <a:r>
              <a:rPr sz="1600">
                <a:solidFill>
                  <a:srgbClr val="1F2A35"/>
                </a:solidFill>
              </a:rPr>
              <a:t>CAPA E -- EJES  (cada eje tematico tiene color invariante)</a:t>
            </a:r>
          </a:p>
          <a:p>
            <a:pPr>
              <a:spcBef>
                <a:spcPts val="400"/>
              </a:spcBef>
            </a:pPr>
            <a:r>
              <a:rPr sz="1600">
                <a:solidFill>
                  <a:srgbClr val="1F2A35"/>
                </a:solidFill>
              </a:rPr>
              <a:t>CAPA F -- PREMIUM  (indicadores de funcionalidades premium)</a:t>
            </a:r>
          </a:p>
          <a:p>
            <a:pPr>
              <a:spcBef>
                <a:spcPts val="400"/>
              </a:spcBef>
            </a:pPr>
          </a:p>
          <a:p>
            <a:pPr>
              <a:spcBef>
                <a:spcPts val="400"/>
              </a:spcBef>
            </a:pPr>
            <a:r>
              <a:rPr sz="1600">
                <a:solidFill>
                  <a:srgbClr val="1F2A35"/>
                </a:solidFill>
              </a:rPr>
              <a:t>Principio: ningun color del sistema evoca un partido politico chileno.</a:t>
            </a:r>
          </a:p>
          <a:p>
            <a:pPr>
              <a:spcBef>
                <a:spcPts val="400"/>
              </a:spcBef>
            </a:pPr>
            <a:r>
              <a:rPr sz="1600">
                <a:solidFill>
                  <a:srgbClr val="1F2A35"/>
                </a:solidFill>
              </a:rPr>
              <a:t>Azul-petroleo (vs azul-RN). Verde-salvia (vs verde-FA).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731520"/>
          </a:xfrm>
          <a:prstGeom prst="rect">
            <a:avLst/>
          </a:prstGeom>
          <a:noFill/>
        </p:spPr>
        <p:txBody>
          <a:bodyPr wrap="square">
            <a:spAutoFit/>
          </a:bodyPr>
          <a:lstStyle/>
          <a:p>
            <a:r>
              <a:rPr sz="2400" b="1">
                <a:solidFill>
                  <a:srgbClr val="4A9BBF"/>
                </a:solidFill>
              </a:rPr>
              <a:t>La filosofia del sistema visual</a:t>
            </a:r>
          </a:p>
        </p:txBody>
      </p:sp>
      <p:sp>
        <p:nvSpPr>
          <p:cNvPr id="4" name="TextBox 3"/>
          <p:cNvSpPr txBox="1"/>
          <p:nvPr/>
        </p:nvSpPr>
        <p:spPr>
          <a:xfrm>
            <a:off x="640080" y="1188720"/>
            <a:ext cx="10911535" cy="1371600"/>
          </a:xfrm>
          <a:prstGeom prst="rect">
            <a:avLst/>
          </a:prstGeom>
          <a:noFill/>
        </p:spPr>
        <p:txBody>
          <a:bodyPr wrap="square">
            <a:spAutoFit/>
          </a:bodyPr>
          <a:lstStyle/>
          <a:p>
            <a:r>
              <a:rPr sz="3400" b="1">
                <a:solidFill>
                  <a:srgbClr val="FFFFFF"/>
                </a:solidFill>
              </a:rPr>
              <a:t>Seriedad institucional sin frialdad. Modernidad sin superficialidad.</a:t>
            </a:r>
          </a:p>
        </p:txBody>
      </p:sp>
      <p:sp>
        <p:nvSpPr>
          <p:cNvPr id="5" name="TextBox 4"/>
          <p:cNvSpPr txBox="1"/>
          <p:nvPr/>
        </p:nvSpPr>
        <p:spPr>
          <a:xfrm>
            <a:off x="640080" y="2651760"/>
            <a:ext cx="10911535" cy="3840480"/>
          </a:xfrm>
          <a:prstGeom prst="rect">
            <a:avLst/>
          </a:prstGeom>
          <a:noFill/>
        </p:spPr>
        <p:txBody>
          <a:bodyPr wrap="square">
            <a:spAutoFit/>
          </a:bodyPr>
          <a:lstStyle/>
          <a:p>
            <a:pPr>
              <a:spcBef>
                <a:spcPts val="400"/>
              </a:spcBef>
            </a:pPr>
            <a:r>
              <a:rPr sz="1600">
                <a:solidFill>
                  <a:srgbClr val="4A9BBF"/>
                </a:solidFill>
              </a:rPr>
              <a:t>6 objetivos del sistema:</a:t>
            </a:r>
          </a:p>
          <a:p>
            <a:pPr>
              <a:spcBef>
                <a:spcPts val="400"/>
              </a:spcBef>
            </a:pPr>
          </a:p>
          <a:p>
            <a:pPr>
              <a:spcBef>
                <a:spcPts val="400"/>
              </a:spcBef>
            </a:pPr>
            <a:r>
              <a:rPr sz="1600">
                <a:solidFill>
                  <a:srgbClr val="4A9BBF"/>
                </a:solidFill>
              </a:rPr>
              <a:t>  C -- Credibilidad      Paleta desaturada, tipografia solida, sin gimmicks.</a:t>
            </a:r>
          </a:p>
          <a:p>
            <a:pPr>
              <a:spcBef>
                <a:spcPts val="400"/>
              </a:spcBef>
            </a:pPr>
            <a:r>
              <a:rPr sz="1600">
                <a:solidFill>
                  <a:srgbClr val="4A9BBF"/>
                </a:solidFill>
              </a:rPr>
              <a:t>  N -- Neutralidad       Ningun color evoca un partido politico.</a:t>
            </a:r>
          </a:p>
          <a:p>
            <a:pPr>
              <a:spcBef>
                <a:spcPts val="400"/>
              </a:spcBef>
            </a:pPr>
            <a:r>
              <a:rPr sz="1600">
                <a:solidFill>
                  <a:srgbClr val="4A9BBF"/>
                </a:solidFill>
              </a:rPr>
              <a:t>  Cl -- Claridad         Un dato, un color, un rol. Sin ambiguedad semantica.</a:t>
            </a:r>
          </a:p>
          <a:p>
            <a:pPr>
              <a:spcBef>
                <a:spcPts val="400"/>
              </a:spcBef>
            </a:pPr>
            <a:r>
              <a:rPr sz="1600">
                <a:solidFill>
                  <a:srgbClr val="4A9BBF"/>
                </a:solidFill>
              </a:rPr>
              <a:t>  Co -- Confianza        WCAG AA minimo, dark mode correcto, contraste real.</a:t>
            </a:r>
          </a:p>
          <a:p>
            <a:pPr>
              <a:spcBef>
                <a:spcPts val="400"/>
              </a:spcBef>
            </a:pPr>
            <a:r>
              <a:rPr sz="1600">
                <a:solidFill>
                  <a:srgbClr val="4A9BBF"/>
                </a:solidFill>
              </a:rPr>
              <a:t>  M -- Modernidad        Hero oscuro, accent energetico, tipografia bold.</a:t>
            </a:r>
          </a:p>
          <a:p>
            <a:pPr>
              <a:spcBef>
                <a:spcPts val="400"/>
              </a:spcBef>
            </a:pPr>
            <a:r>
              <a:rPr sz="1600">
                <a:solidFill>
                  <a:srgbClr val="4A9BBF"/>
                </a:solidFill>
              </a:rPr>
              <a:t>  E -- Escalabilidad     6 capas independientes. Rebrandable sin romper datos.</a:t>
            </a:r>
          </a:p>
          <a:p>
            <a:pPr>
              <a:spcBef>
                <a:spcPts val="400"/>
              </a:spcBef>
            </a:pPr>
          </a:p>
          <a:p>
            <a:pPr>
              <a:spcBef>
                <a:spcPts val="400"/>
              </a:spcBef>
            </a:pPr>
            <a:r>
              <a:rPr sz="1600">
                <a:solidFill>
                  <a:srgbClr val="4A9BBF"/>
                </a:solidFill>
              </a:rPr>
              <a:t>Debe sentirse como:</a:t>
            </a:r>
          </a:p>
          <a:p>
            <a:pPr>
              <a:spcBef>
                <a:spcPts val="400"/>
              </a:spcBef>
            </a:pPr>
            <a:r>
              <a:rPr sz="1600">
                <a:solidFill>
                  <a:srgbClr val="4A9BBF"/>
                </a:solidFill>
              </a:rPr>
              <a:t>  Una guia.  Una brujula.  Una herramienta de orientacion.</a:t>
            </a:r>
          </a:p>
          <a:p>
            <a:pPr>
              <a:spcBef>
                <a:spcPts val="400"/>
              </a:spcBef>
            </a:pPr>
            <a:r>
              <a:rPr sz="1600">
                <a:solidFill>
                  <a:srgbClr val="4A9BBF"/>
                </a:solidFill>
              </a:rPr>
              <a:t>NO como:</a:t>
            </a:r>
          </a:p>
          <a:p>
            <a:pPr>
              <a:spcBef>
                <a:spcPts val="400"/>
              </a:spcBef>
            </a:pPr>
            <a:r>
              <a:rPr sz="1600">
                <a:solidFill>
                  <a:srgbClr val="4A9BBF"/>
                </a:solidFill>
              </a:rPr>
              <a:t>  Un partido politico.  Una campana electoral.  Una institucion gubernamental.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7"/>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731520"/>
          </a:xfrm>
          <a:prstGeom prst="rect">
            <a:avLst/>
          </a:prstGeom>
          <a:noFill/>
        </p:spPr>
        <p:txBody>
          <a:bodyPr wrap="square">
            <a:spAutoFit/>
          </a:bodyPr>
          <a:lstStyle/>
          <a:p>
            <a:r>
              <a:rPr sz="2600" b="1">
                <a:solidFill>
                  <a:srgbClr val="1C3A52"/>
                </a:solidFill>
              </a:rPr>
              <a:t>Decisiones de UX: la claridad primero</a:t>
            </a:r>
          </a:p>
        </p:txBody>
      </p:sp>
      <p:sp>
        <p:nvSpPr>
          <p:cNvPr id="4" name="Rectangle 3"/>
          <p:cNvSpPr/>
          <p:nvPr/>
        </p:nvSpPr>
        <p:spPr>
          <a:xfrm>
            <a:off x="6095847" y="1188720"/>
            <a:ext cx="18288" cy="5303520"/>
          </a:xfrm>
          <a:prstGeom prst="rect">
            <a:avLst/>
          </a:prstGeom>
          <a:solidFill>
            <a:srgbClr val="CBD1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0"/>
            <a:ext cx="5272887" cy="457200"/>
          </a:xfrm>
          <a:prstGeom prst="rect">
            <a:avLst/>
          </a:prstGeom>
          <a:noFill/>
        </p:spPr>
        <p:txBody>
          <a:bodyPr wrap="none">
            <a:spAutoFit/>
          </a:bodyPr>
          <a:lstStyle/>
          <a:p>
            <a:r>
              <a:rPr sz="1400" b="1">
                <a:solidFill>
                  <a:srgbClr val="2E5F7E"/>
                </a:solidFill>
              </a:rPr>
              <a:t>Principio 1: Claridad sobre atractivo</a:t>
            </a:r>
          </a:p>
        </p:txBody>
      </p:sp>
      <p:sp>
        <p:nvSpPr>
          <p:cNvPr id="6" name="Rectangle 5"/>
          <p:cNvSpPr/>
          <p:nvPr/>
        </p:nvSpPr>
        <p:spPr>
          <a:xfrm>
            <a:off x="640080" y="1554480"/>
            <a:ext cx="731520"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5272887" cy="4663440"/>
          </a:xfrm>
          <a:prstGeom prst="rect">
            <a:avLst/>
          </a:prstGeom>
          <a:noFill/>
        </p:spPr>
        <p:txBody>
          <a:bodyPr wrap="square">
            <a:spAutoFit/>
          </a:bodyPr>
          <a:lstStyle/>
          <a:p>
            <a:pPr>
              <a:spcBef>
                <a:spcPts val="500"/>
              </a:spcBef>
            </a:pPr>
            <a:r>
              <a:rPr sz="1400">
                <a:solidFill>
                  <a:srgbClr val="1F2A35"/>
                </a:solidFill>
              </a:rPr>
              <a:t>En cada decision donde competian</a:t>
            </a:r>
          </a:p>
          <a:p>
            <a:pPr>
              <a:spcBef>
                <a:spcPts val="500"/>
              </a:spcBef>
            </a:pPr>
            <a:r>
              <a:rPr sz="1400">
                <a:solidFill>
                  <a:srgbClr val="1F2A35"/>
                </a:solidFill>
              </a:rPr>
              <a:t>la claridad del mensaje y el</a:t>
            </a:r>
          </a:p>
          <a:p>
            <a:pPr>
              <a:spcBef>
                <a:spcPts val="500"/>
              </a:spcBef>
            </a:pPr>
            <a:r>
              <a:rPr sz="1400">
                <a:solidFill>
                  <a:srgbClr val="1F2A35"/>
                </a:solidFill>
              </a:rPr>
              <a:t>atractivo visual, se priorizo</a:t>
            </a:r>
          </a:p>
          <a:p>
            <a:pPr>
              <a:spcBef>
                <a:spcPts val="500"/>
              </a:spcBef>
            </a:pPr>
            <a:r>
              <a:rPr sz="1400">
                <a:solidFill>
                  <a:srgbClr val="1F2A35"/>
                </a:solidFill>
              </a:rPr>
              <a:t>la claridad.</a:t>
            </a:r>
          </a:p>
          <a:p>
            <a:pPr>
              <a:spcBef>
                <a:spcPts val="500"/>
              </a:spcBef>
            </a:pPr>
          </a:p>
          <a:p>
            <a:pPr>
              <a:spcBef>
                <a:spcPts val="500"/>
              </a:spcBef>
            </a:pPr>
            <a:r>
              <a:rPr sz="1400">
                <a:solidFill>
                  <a:srgbClr val="1F2A35"/>
                </a:solidFill>
              </a:rPr>
              <a:t>El usuario necesita entender lo</a:t>
            </a:r>
          </a:p>
          <a:p>
            <a:pPr>
              <a:spcBef>
                <a:spcPts val="500"/>
              </a:spcBef>
            </a:pPr>
            <a:r>
              <a:rPr sz="1400">
                <a:solidFill>
                  <a:srgbClr val="1F2A35"/>
                </a:solidFill>
              </a:rPr>
              <a:t>que el sistema le muestra antes</a:t>
            </a:r>
          </a:p>
          <a:p>
            <a:pPr>
              <a:spcBef>
                <a:spcPts val="500"/>
              </a:spcBef>
            </a:pPr>
            <a:r>
              <a:rPr sz="1400">
                <a:solidFill>
                  <a:srgbClr val="1F2A35"/>
                </a:solidFill>
              </a:rPr>
              <a:t>de apreciar como lo muestra.</a:t>
            </a:r>
          </a:p>
          <a:p>
            <a:pPr>
              <a:spcBef>
                <a:spcPts val="500"/>
              </a:spcBef>
            </a:pPr>
          </a:p>
          <a:p>
            <a:pPr>
              <a:spcBef>
                <a:spcPts val="500"/>
              </a:spcBef>
            </a:pPr>
            <a:r>
              <a:rPr sz="1400">
                <a:solidFill>
                  <a:srgbClr val="1F2A35"/>
                </a:solidFill>
              </a:rPr>
              <a:t>No es una presentacion de</a:t>
            </a:r>
          </a:p>
          <a:p>
            <a:pPr>
              <a:spcBef>
                <a:spcPts val="500"/>
              </a:spcBef>
            </a:pPr>
            <a:r>
              <a:rPr sz="1400">
                <a:solidFill>
                  <a:srgbClr val="1F2A35"/>
                </a:solidFill>
              </a:rPr>
              <a:t>entretenimiento. Es una</a:t>
            </a:r>
          </a:p>
          <a:p>
            <a:pPr>
              <a:spcBef>
                <a:spcPts val="500"/>
              </a:spcBef>
            </a:pPr>
            <a:r>
              <a:rPr sz="1400">
                <a:solidFill>
                  <a:srgbClr val="1F2A35"/>
                </a:solidFill>
              </a:rPr>
              <a:t>herramienta civica.</a:t>
            </a:r>
          </a:p>
        </p:txBody>
      </p:sp>
      <p:sp>
        <p:nvSpPr>
          <p:cNvPr id="8" name="TextBox 7"/>
          <p:cNvSpPr txBox="1"/>
          <p:nvPr/>
        </p:nvSpPr>
        <p:spPr>
          <a:xfrm>
            <a:off x="6297015" y="1097280"/>
            <a:ext cx="5272887" cy="457200"/>
          </a:xfrm>
          <a:prstGeom prst="rect">
            <a:avLst/>
          </a:prstGeom>
          <a:noFill/>
        </p:spPr>
        <p:txBody>
          <a:bodyPr wrap="none">
            <a:spAutoFit/>
          </a:bodyPr>
          <a:lstStyle/>
          <a:p>
            <a:r>
              <a:rPr sz="1400" b="1">
                <a:solidFill>
                  <a:srgbClr val="2E5F7E"/>
                </a:solidFill>
              </a:rPr>
              <a:t>Principio 2: Resultado accionable</a:t>
            </a:r>
          </a:p>
        </p:txBody>
      </p:sp>
      <p:sp>
        <p:nvSpPr>
          <p:cNvPr id="9" name="Rectangle 8"/>
          <p:cNvSpPr/>
          <p:nvPr/>
        </p:nvSpPr>
        <p:spPr>
          <a:xfrm>
            <a:off x="6297015" y="1554480"/>
            <a:ext cx="731520"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97015" y="1691640"/>
            <a:ext cx="5272887" cy="4663440"/>
          </a:xfrm>
          <a:prstGeom prst="rect">
            <a:avLst/>
          </a:prstGeom>
          <a:noFill/>
        </p:spPr>
        <p:txBody>
          <a:bodyPr wrap="square">
            <a:spAutoFit/>
          </a:bodyPr>
          <a:lstStyle/>
          <a:p>
            <a:pPr>
              <a:spcBef>
                <a:spcPts val="500"/>
              </a:spcBef>
            </a:pPr>
            <a:r>
              <a:rPr sz="1400">
                <a:solidFill>
                  <a:srgbClr val="1F2A35"/>
                </a:solidFill>
              </a:rPr>
              <a:t>El resultado debe ser interpretable</a:t>
            </a:r>
          </a:p>
          <a:p>
            <a:pPr>
              <a:spcBef>
                <a:spcPts val="500"/>
              </a:spcBef>
            </a:pPr>
            <a:r>
              <a:rPr sz="1400">
                <a:solidFill>
                  <a:srgbClr val="1F2A35"/>
                </a:solidFill>
              </a:rPr>
              <a:t>sin formacion estadistica o politica.</a:t>
            </a:r>
          </a:p>
          <a:p>
            <a:pPr>
              <a:spcBef>
                <a:spcPts val="500"/>
              </a:spcBef>
            </a:pPr>
          </a:p>
          <a:p>
            <a:pPr>
              <a:spcBef>
                <a:spcPts val="500"/>
              </a:spcBef>
            </a:pPr>
            <a:r>
              <a:rPr sz="1400">
                <a:solidFill>
                  <a:srgbClr val="1F2A35"/>
                </a:solidFill>
              </a:rPr>
              <a:t>El % de coincidencia, el radar</a:t>
            </a:r>
          </a:p>
          <a:p>
            <a:pPr>
              <a:spcBef>
                <a:spcPts val="500"/>
              </a:spcBef>
            </a:pPr>
            <a:r>
              <a:rPr sz="1400">
                <a:solidFill>
                  <a:srgbClr val="1F2A35"/>
                </a:solidFill>
              </a:rPr>
              <a:t>por ejes y el indicador de</a:t>
            </a:r>
          </a:p>
          <a:p>
            <a:pPr>
              <a:spcBef>
                <a:spcPts val="500"/>
              </a:spcBef>
            </a:pPr>
            <a:r>
              <a:rPr sz="1400">
                <a:solidFill>
                  <a:srgbClr val="1F2A35"/>
                </a:solidFill>
              </a:rPr>
              <a:t>confianza deben ser leidos por</a:t>
            </a:r>
          </a:p>
          <a:p>
            <a:pPr>
              <a:spcBef>
                <a:spcPts val="500"/>
              </a:spcBef>
            </a:pPr>
            <a:r>
              <a:rPr sz="1400">
                <a:solidFill>
                  <a:srgbClr val="1F2A35"/>
                </a:solidFill>
              </a:rPr>
              <a:t>cualquier ciudadano.</a:t>
            </a:r>
          </a:p>
          <a:p>
            <a:pPr>
              <a:spcBef>
                <a:spcPts val="500"/>
              </a:spcBef>
            </a:pPr>
          </a:p>
          <a:p>
            <a:pPr>
              <a:spcBef>
                <a:spcPts val="500"/>
              </a:spcBef>
            </a:pPr>
            <a:r>
              <a:rPr sz="1400">
                <a:solidFill>
                  <a:srgbClr val="1F2A35"/>
                </a:solidFill>
              </a:rPr>
              <a:t>Si el resultado requiere</a:t>
            </a:r>
          </a:p>
          <a:p>
            <a:pPr>
              <a:spcBef>
                <a:spcPts val="500"/>
              </a:spcBef>
            </a:pPr>
            <a:r>
              <a:rPr sz="1400">
                <a:solidFill>
                  <a:srgbClr val="1F2A35"/>
                </a:solidFill>
              </a:rPr>
              <a:t>explicacion para ser comprendido,</a:t>
            </a:r>
          </a:p>
          <a:p>
            <a:pPr>
              <a:spcBef>
                <a:spcPts val="500"/>
              </a:spcBef>
            </a:pPr>
            <a:r>
              <a:rPr sz="1400">
                <a:solidFill>
                  <a:srgbClr val="1F2A35"/>
                </a:solidFill>
              </a:rPr>
              <a:t>entonces el diseño fallo.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7"/>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11535" cy="777240"/>
          </a:xfrm>
          <a:prstGeom prst="rect">
            <a:avLst/>
          </a:prstGeom>
          <a:noFill/>
        </p:spPr>
        <p:txBody>
          <a:bodyPr wrap="square">
            <a:spAutoFit/>
          </a:bodyPr>
          <a:lstStyle/>
          <a:p>
            <a:r>
              <a:rPr sz="2800" b="1">
                <a:solidFill>
                  <a:srgbClr val="1C3A52"/>
                </a:solidFill>
              </a:rPr>
              <a:t>VotoAfin en el ecosistema de VAAs internacionales</a:t>
            </a:r>
          </a:p>
        </p:txBody>
      </p:sp>
      <p:sp>
        <p:nvSpPr>
          <p:cNvPr id="4" name="Rectangle 3"/>
          <p:cNvSpPr/>
          <p:nvPr/>
        </p:nvSpPr>
        <p:spPr>
          <a:xfrm>
            <a:off x="640080" y="1143000"/>
            <a:ext cx="1371600"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10911535" cy="5029200"/>
          </a:xfrm>
          <a:prstGeom prst="rect">
            <a:avLst/>
          </a:prstGeom>
          <a:noFill/>
        </p:spPr>
        <p:txBody>
          <a:bodyPr wrap="square">
            <a:spAutoFit/>
          </a:bodyPr>
          <a:lstStyle/>
          <a:p>
            <a:pPr>
              <a:spcBef>
                <a:spcPts val="400"/>
              </a:spcBef>
            </a:pPr>
            <a:r>
              <a:rPr sz="1600">
                <a:solidFill>
                  <a:srgbClr val="1F2A35"/>
                </a:solidFill>
              </a:rPr>
              <a:t>VAA               | Escala  | Peso   | Fuentes       | Radar  | Open Source</a:t>
            </a:r>
          </a:p>
          <a:p>
            <a:pPr>
              <a:spcBef>
                <a:spcPts val="400"/>
              </a:spcBef>
            </a:pPr>
            <a:r>
              <a:rPr sz="1600">
                <a:solidFill>
                  <a:srgbClr val="1F2A35"/>
                </a:solidFill>
              </a:rPr>
              <a:t>---               | ---     | ---    | ---           | ---    | ---</a:t>
            </a:r>
          </a:p>
          <a:p>
            <a:pPr>
              <a:spcBef>
                <a:spcPts val="400"/>
              </a:spcBef>
            </a:pPr>
            <a:r>
              <a:rPr sz="1600">
                <a:solidFill>
                  <a:srgbClr val="1F2A35"/>
                </a:solidFill>
              </a:rPr>
              <a:t>StemWijzer (NL)   | 3 pts   | 2 nvl  | Parcial       | No     | No</a:t>
            </a:r>
          </a:p>
          <a:p>
            <a:pPr>
              <a:spcBef>
                <a:spcPts val="400"/>
              </a:spcBef>
            </a:pPr>
            <a:r>
              <a:rPr sz="1600">
                <a:solidFill>
                  <a:srgbClr val="1F2A35"/>
                </a:solidFill>
              </a:rPr>
              <a:t>Wahl-O-Mat (DE)   | 3 pts   | doble  | Si (justif.)  | No     | No</a:t>
            </a:r>
          </a:p>
          <a:p>
            <a:pPr>
              <a:spcBef>
                <a:spcPts val="400"/>
              </a:spcBef>
            </a:pPr>
            <a:r>
              <a:rPr sz="1600">
                <a:solidFill>
                  <a:srgbClr val="1F2A35"/>
                </a:solidFill>
              </a:rPr>
              <a:t>Smartvote (CH)    | 4 pts   | 0-2    | Parcial       | Si     | Parcial</a:t>
            </a:r>
          </a:p>
          <a:p>
            <a:pPr>
              <a:spcBef>
                <a:spcPts val="400"/>
              </a:spcBef>
            </a:pPr>
            <a:r>
              <a:rPr sz="1600">
                <a:solidFill>
                  <a:srgbClr val="1F2A35"/>
                </a:solidFill>
              </a:rPr>
              <a:t>Vote Compass (CA) | 5 pts   | Si     | Limitado      | No     | No</a:t>
            </a:r>
          </a:p>
          <a:p>
            <a:pPr>
              <a:spcBef>
                <a:spcPts val="400"/>
              </a:spcBef>
            </a:pPr>
            <a:r>
              <a:rPr sz="1600">
                <a:solidFill>
                  <a:srgbClr val="1F2A35"/>
                </a:solidFill>
              </a:rPr>
              <a:t>iSideWith (Global)| Multiple| Si     | Limitado      | No     | No</a:t>
            </a:r>
          </a:p>
          <a:p>
            <a:pPr>
              <a:spcBef>
                <a:spcPts val="400"/>
              </a:spcBef>
            </a:pPr>
            <a:r>
              <a:rPr sz="1600">
                <a:solidFill>
                  <a:srgbClr val="1F2A35"/>
                </a:solidFill>
              </a:rPr>
              <a:t>Voto Informado(CL)| Sin alg.| No     | Parcial       | No     | No</a:t>
            </a:r>
          </a:p>
          <a:p>
            <a:pPr>
              <a:spcBef>
                <a:spcPts val="400"/>
              </a:spcBef>
            </a:pPr>
            <a:r>
              <a:rPr sz="1600">
                <a:solidFill>
                  <a:srgbClr val="1F2A35"/>
                </a:solidFill>
              </a:rPr>
              <a:t>Decide Chile (CL) | 5 pts   | Si     | Limitado      | No     | No</a:t>
            </a:r>
          </a:p>
          <a:p>
            <a:pPr>
              <a:spcBef>
                <a:spcPts val="400"/>
              </a:spcBef>
            </a:pPr>
            <a:r>
              <a:rPr sz="1600">
                <a:solidFill>
                  <a:srgbClr val="1F2A35"/>
                </a:solidFill>
              </a:rPr>
              <a:t>VotoAfin (CL)     | 5+No se | 4 nvl  | URL obligat.  | 7 ejes | AGPL-3.0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731520"/>
          </a:xfrm>
          <a:prstGeom prst="rect">
            <a:avLst/>
          </a:prstGeom>
          <a:noFill/>
        </p:spPr>
        <p:txBody>
          <a:bodyPr wrap="square">
            <a:spAutoFit/>
          </a:bodyPr>
          <a:lstStyle/>
          <a:p>
            <a:r>
              <a:rPr sz="2400" b="1">
                <a:solidFill>
                  <a:srgbClr val="4A9BBF"/>
                </a:solidFill>
              </a:rPr>
              <a:t>Que gana el usuario con VotoAfin?</a:t>
            </a:r>
          </a:p>
        </p:txBody>
      </p:sp>
      <p:sp>
        <p:nvSpPr>
          <p:cNvPr id="4" name="TextBox 3"/>
          <p:cNvSpPr txBox="1"/>
          <p:nvPr/>
        </p:nvSpPr>
        <p:spPr>
          <a:xfrm>
            <a:off x="640080" y="1188720"/>
            <a:ext cx="10911535" cy="1371600"/>
          </a:xfrm>
          <a:prstGeom prst="rect">
            <a:avLst/>
          </a:prstGeom>
          <a:noFill/>
        </p:spPr>
        <p:txBody>
          <a:bodyPr wrap="square">
            <a:spAutoFit/>
          </a:bodyPr>
          <a:lstStyle/>
          <a:p>
            <a:r>
              <a:rPr sz="3400" b="1">
                <a:solidFill>
                  <a:srgbClr val="FFFFFF"/>
                </a:solidFill>
              </a:rPr>
              <a:t>5-10 minutos. Un resultado accionable. Informacion verificada.</a:t>
            </a:r>
          </a:p>
        </p:txBody>
      </p:sp>
      <p:sp>
        <p:nvSpPr>
          <p:cNvPr id="5" name="TextBox 4"/>
          <p:cNvSpPr txBox="1"/>
          <p:nvPr/>
        </p:nvSpPr>
        <p:spPr>
          <a:xfrm>
            <a:off x="640080" y="2651760"/>
            <a:ext cx="10911535" cy="3840480"/>
          </a:xfrm>
          <a:prstGeom prst="rect">
            <a:avLst/>
          </a:prstGeom>
          <a:noFill/>
        </p:spPr>
        <p:txBody>
          <a:bodyPr wrap="square">
            <a:spAutoFit/>
          </a:bodyPr>
          <a:lstStyle/>
          <a:p>
            <a:pPr>
              <a:spcBef>
                <a:spcPts val="400"/>
              </a:spcBef>
            </a:pPr>
            <a:r>
              <a:rPr sz="1600">
                <a:solidFill>
                  <a:srgbClr val="4A9BBF"/>
                </a:solidFill>
              </a:rPr>
              <a:t>ANTES de VotoAfin, el votante chileno que queria informarse tenia que:</a:t>
            </a:r>
          </a:p>
          <a:p>
            <a:pPr>
              <a:spcBef>
                <a:spcPts val="400"/>
              </a:spcBef>
            </a:pPr>
            <a:r>
              <a:rPr sz="1600">
                <a:solidFill>
                  <a:srgbClr val="4A9BBF"/>
                </a:solidFill>
              </a:rPr>
              <a:t>  -- Leer programas de campaña de cada candidato (extensos, tecnicos)</a:t>
            </a:r>
          </a:p>
          <a:p>
            <a:pPr>
              <a:spcBef>
                <a:spcPts val="400"/>
              </a:spcBef>
            </a:pPr>
            <a:r>
              <a:rPr sz="1600">
                <a:solidFill>
                  <a:srgbClr val="4A9BBF"/>
                </a:solidFill>
              </a:rPr>
              <a:t>  -- Buscar en multiples fuentes comparativas (inexistentes o desactualizadas)</a:t>
            </a:r>
          </a:p>
          <a:p>
            <a:pPr>
              <a:spcBef>
                <a:spcPts val="400"/>
              </a:spcBef>
            </a:pPr>
            <a:r>
              <a:rPr sz="1600">
                <a:solidFill>
                  <a:srgbClr val="4A9BBF"/>
                </a:solidFill>
              </a:rPr>
              <a:t>  -- Confiar en la palabra del candidato sin verificacion posible</a:t>
            </a:r>
          </a:p>
          <a:p>
            <a:pPr>
              <a:spcBef>
                <a:spcPts val="400"/>
              </a:spcBef>
            </a:pPr>
            <a:r>
              <a:rPr sz="1600">
                <a:solidFill>
                  <a:srgbClr val="4A9BBF"/>
                </a:solidFill>
              </a:rPr>
              <a:t>  -- Navegar redes sociales (81% de exposicion a desinformacion semanal)</a:t>
            </a:r>
          </a:p>
          <a:p>
            <a:pPr>
              <a:spcBef>
                <a:spcPts val="400"/>
              </a:spcBef>
            </a:pPr>
          </a:p>
          <a:p>
            <a:pPr>
              <a:spcBef>
                <a:spcPts val="400"/>
              </a:spcBef>
            </a:pPr>
            <a:r>
              <a:rPr sz="1600">
                <a:solidFill>
                  <a:srgbClr val="4A9BBF"/>
                </a:solidFill>
              </a:rPr>
              <a:t>DESPUES de VotoAfin, el mismo votante puede:</a:t>
            </a:r>
          </a:p>
          <a:p>
            <a:pPr>
              <a:spcBef>
                <a:spcPts val="400"/>
              </a:spcBef>
            </a:pPr>
            <a:r>
              <a:rPr sz="1600">
                <a:solidFill>
                  <a:srgbClr val="4A9BBF"/>
                </a:solidFill>
              </a:rPr>
              <a:t>  -- Responder 12 preguntas en 5-10 minutos</a:t>
            </a:r>
          </a:p>
          <a:p>
            <a:pPr>
              <a:spcBef>
                <a:spcPts val="400"/>
              </a:spcBef>
            </a:pPr>
            <a:r>
              <a:rPr sz="1600">
                <a:solidFill>
                  <a:srgbClr val="4A9BBF"/>
                </a:solidFill>
              </a:rPr>
              <a:t>  -- Obtener un ranking de coincidencia con fuentes verificables</a:t>
            </a:r>
          </a:p>
          <a:p>
            <a:pPr>
              <a:spcBef>
                <a:spcPts val="400"/>
              </a:spcBef>
            </a:pPr>
            <a:r>
              <a:rPr sz="1600">
                <a:solidFill>
                  <a:srgbClr val="4A9BBF"/>
                </a:solidFill>
              </a:rPr>
              <a:t>  -- Explorar el perfil detallado del candidato con sus posturas y fuentes</a:t>
            </a:r>
          </a:p>
          <a:p>
            <a:pPr>
              <a:spcBef>
                <a:spcPts val="400"/>
              </a:spcBef>
            </a:pPr>
            <a:r>
              <a:rPr sz="1600">
                <a:solidFill>
                  <a:srgbClr val="4A9BBF"/>
                </a:solidFill>
              </a:rPr>
              <a:t>  -- Tomar una decision mas informada sin ser un experto en politica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640080" y="2011680"/>
            <a:ext cx="54864" cy="228600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911535" cy="457200"/>
          </a:xfrm>
          <a:prstGeom prst="rect">
            <a:avLst/>
          </a:prstGeom>
          <a:noFill/>
        </p:spPr>
        <p:txBody>
          <a:bodyPr wrap="square">
            <a:spAutoFit/>
          </a:bodyPr>
          <a:lstStyle/>
          <a:p>
            <a:pPr algn="l"/>
            <a:r>
              <a:rPr sz="1100" b="1" i="0">
                <a:solidFill>
                  <a:srgbClr val="3A9E7A"/>
                </a:solidFill>
              </a:rPr>
              <a:t>CIERRE -- PRESENTACION 3 DE 4</a:t>
            </a:r>
          </a:p>
        </p:txBody>
      </p:sp>
      <p:sp>
        <p:nvSpPr>
          <p:cNvPr id="4" name="TextBox 3"/>
          <p:cNvSpPr txBox="1"/>
          <p:nvPr/>
        </p:nvSpPr>
        <p:spPr>
          <a:xfrm>
            <a:off x="640080" y="2194560"/>
            <a:ext cx="10911535" cy="2286000"/>
          </a:xfrm>
          <a:prstGeom prst="rect">
            <a:avLst/>
          </a:prstGeom>
          <a:noFill/>
        </p:spPr>
        <p:txBody>
          <a:bodyPr wrap="square">
            <a:spAutoFit/>
          </a:bodyPr>
          <a:lstStyle/>
          <a:p>
            <a:pPr algn="l"/>
            <a:r>
              <a:rPr sz="4400" b="1">
                <a:solidFill>
                  <a:srgbClr val="FFFFFF"/>
                </a:solidFill>
              </a:rPr>
              <a:t>Una brujula, no una agenda.</a:t>
            </a:r>
          </a:p>
        </p:txBody>
      </p:sp>
      <p:sp>
        <p:nvSpPr>
          <p:cNvPr id="5" name="TextBox 4"/>
          <p:cNvSpPr txBox="1"/>
          <p:nvPr/>
        </p:nvSpPr>
        <p:spPr>
          <a:xfrm>
            <a:off x="640080" y="4480560"/>
            <a:ext cx="10911535" cy="1097280"/>
          </a:xfrm>
          <a:prstGeom prst="rect">
            <a:avLst/>
          </a:prstGeom>
          <a:noFill/>
        </p:spPr>
        <p:txBody>
          <a:bodyPr wrap="square">
            <a:spAutoFit/>
          </a:bodyPr>
          <a:lstStyle/>
          <a:p>
            <a:pPr algn="l"/>
            <a:r>
              <a:rPr sz="1800" b="0">
                <a:solidFill>
                  <a:srgbClr val="4A9BBF"/>
                </a:solidFill>
              </a:rPr>
              <a:t>Continuacion -&gt; Presentacion 4: Ingenieria, Arquitectura y Resultados</a:t>
            </a:r>
            <a:br/>
            <a:r>
              <a:t>Como se construyo. Que aprendimos. Que sigue.</a:t>
            </a:r>
          </a:p>
        </p:txBody>
      </p:sp>
      <p:sp>
        <p:nvSpPr>
          <p:cNvPr id="6" name="TextBox 5"/>
          <p:cNvSpPr txBox="1"/>
          <p:nvPr/>
        </p:nvSpPr>
        <p:spPr>
          <a:xfrm>
            <a:off x="640080" y="6217920"/>
            <a:ext cx="10911535" cy="365760"/>
          </a:xfrm>
          <a:prstGeom prst="rect">
            <a:avLst/>
          </a:prstGeom>
          <a:noFill/>
        </p:spPr>
        <p:txBody>
          <a:bodyPr wrap="none">
            <a:spAutoFit/>
          </a:bodyPr>
          <a:lstStyle/>
          <a:p>
            <a:pPr algn="r"/>
            <a:r>
              <a:rPr sz="900">
                <a:solidFill>
                  <a:srgbClr val="7BA098"/>
                </a:solidFill>
              </a:rPr>
              <a:t>VotoAFin · UTFSM · Jenifer Castillo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