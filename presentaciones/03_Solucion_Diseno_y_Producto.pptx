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APERTURA -- 15 a 20 minutos</a:t>
            </a:r>
          </a:p>
          <a:p/>
          <a:p>
            <a:r>
              <a:t>Esta presentacion responde tres preguntas:</a:t>
            </a:r>
          </a:p>
          <a:p>
            <a:r>
              <a:t>  1. ?Por que una VAA -- y no otra cosa -- es la respuesta correcta?</a:t>
            </a:r>
          </a:p>
          <a:p>
            <a:r>
              <a:t>  2. ?Que decisions de UX se tomaron y por que?</a:t>
            </a:r>
          </a:p>
          <a:p>
            <a:r>
              <a:t>  3. ?Que valor genera concretamente para el usuario?</a:t>
            </a:r>
          </a:p>
          <a:p/>
          <a:p>
            <a:r>
              <a:t>Esta presentacion puede usarse de manera independiente frente a audiencias</a:t>
            </a:r>
          </a:p>
          <a:p>
            <a:r>
              <a:t>de producto, UX, innovacion o emprendimiento.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VAA invierte el flujo tradicional:</a:t>
            </a:r>
          </a:p>
          <a:p>
            <a:r>
              <a:t>  -- NO muestra primero candidatos para que el usuario elija.</a:t>
            </a:r>
          </a:p>
          <a:p>
            <a:r>
              <a:t>  -- Muestra primero los TEMAS, captura preferencias, y LUEGO compara.</a:t>
            </a:r>
          </a:p>
          <a:p/>
          <a:p>
            <a:r>
              <a:t>Este orden es deliberado: reduce el peso de los sesgos de identificacion</a:t>
            </a:r>
          </a:p>
          <a:p>
            <a:r>
              <a:t>partidaria y favorece la evaluacion basada en posiciones programaticas.</a:t>
            </a:r>
          </a:p>
          <a:p/>
          <a:p>
            <a:r>
              <a:t>Clave: el resultado es un INSUMO para la decision, no la decision misma.</a:t>
            </a:r>
          </a:p>
          <a:p>
            <a:r>
              <a:t>VotoAfin no dice por quien votar. Dice con quien coincide 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contraste entre el 42% indeciso (para el cargo de alcalde, el mas visible)</a:t>
            </a:r>
          </a:p>
          <a:p>
            <a:r>
              <a:t>y los 5-10 minutos de VotoAfin hace visible el valor de manera directa.</a:t>
            </a:r>
          </a:p>
          <a:p/>
          <a:p>
            <a:r>
              <a:t>La desconfianza en politicos (79%) hace relevante una herramienta que</a:t>
            </a:r>
          </a:p>
          <a:p>
            <a:r>
              <a:t>parte de las POSTURAS declaradas, no de la imagen del candidato.</a:t>
            </a:r>
          </a:p>
          <a:p/>
          <a:p>
            <a:r>
              <a:t>5-10 minutos es el argumento contra el desinteres:</a:t>
            </a:r>
          </a:p>
          <a:p>
            <a:r>
              <a:t>no requiere leer decenas de paginas. Es una inversion razonable.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VotoAfin no es solo 'otra app de candidatos'.</a:t>
            </a:r>
          </a:p>
          <a:p>
            <a:r>
              <a:t>Tiene 5 dimensiones de diferenciacion respecto a lo que existia en Chile.</a:t>
            </a:r>
          </a:p>
          <a:p>
            <a:r>
              <a:t>Ninguna es 'mas features': todas son decisiones de diseno con razon explicita.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dimension responde a una brecha identificada en el analisis comparativo.</a:t>
            </a:r>
          </a:p>
          <a:p/>
          <a:p>
            <a:r>
              <a:t>Dimension 1: ninguna VAA chilena anterior publicaba su algoritmo.</a:t>
            </a:r>
          </a:p>
          <a:p>
            <a:r>
              <a:t>Dimension 2: ninguna requeria fuentes verificables como requerimiento tecnico.</a:t>
            </a:r>
          </a:p>
          <a:p>
            <a:r>
              <a:t>Dimension 3: comun en VAAs internacionales, ausente en Chile.</a:t>
            </a:r>
          </a:p>
          <a:p>
            <a:r>
              <a:t>Dimension 4: UNICA entre todas las VAAs analizadas. Ni Wahl-O-Mat ni</a:t>
            </a:r>
          </a:p>
          <a:p>
            <a:r>
              <a:t>Smartvote ni Vote Compass incorporan indicador de confianza.</a:t>
            </a:r>
          </a:p>
          <a:p>
            <a:r>
              <a:t>Dimension 5: ninguna VAA del grupo internacional tiene codigo completamente</a:t>
            </a:r>
          </a:p>
          <a:p>
            <a:r>
              <a:t>abierto bajo licencia libre.</a:t>
            </a:r>
          </a:p>
          <a:p/>
          <a:p>
            <a:r>
              <a:t>VotoAfin es la primera VAA que combina las cinco dimensiones.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tres segmentos comparten una necesidad comun:</a:t>
            </a:r>
          </a:p>
          <a:p>
            <a:r>
              <a:t>informacion confiable, procesable en tiempo razonable, sin conocimiento</a:t>
            </a:r>
          </a:p>
          <a:p>
            <a:r>
              <a:t>politico previo necesario para interpretarla.</a:t>
            </a:r>
          </a:p>
          <a:p/>
          <a:p>
            <a:r>
              <a:t>El diseno mobile-first responde al perfil del joven votante.</a:t>
            </a:r>
          </a:p>
          <a:p/>
          <a:p>
            <a:r>
              <a:t>La claridad del resultado y el indicador de confianza responden al</a:t>
            </a:r>
          </a:p>
          <a:p>
            <a:r>
              <a:t>perfil del votante indeciso que busca informacion en el ultimo momento.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VAA puede tener el mejor algoritmo del mundo,</a:t>
            </a:r>
          </a:p>
          <a:p>
            <a:r>
              <a:t>pero si el flujo de usuario genera abandono, el impacto es cero.</a:t>
            </a:r>
          </a:p>
          <a:p/>
          <a:p>
            <a:r>
              <a:t>El diseno de experiencia de VotoAfin fue guiado por un principio central:</a:t>
            </a:r>
          </a:p>
          <a:p>
            <a:r>
              <a:t>el camino mas corto posible desde el ingreso hasta un resultado 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Decisiones clave de UX en este flujo:</a:t>
            </a:r>
          </a:p>
          <a:p/>
          <a:p>
            <a:r>
              <a:t>Paso 1 -- Sin RUT ni Clave Unica:</a:t>
            </a:r>
          </a:p>
          <a:p>
            <a:r>
              <a:t>Reduce la friccion de onboarding vs la hipotesis original de Emprendimiento II.</a:t>
            </a:r>
          </a:p>
          <a:p/>
          <a:p>
            <a:r>
              <a:t>Paso 4 -- Ponderacion OPCIONAL:</a:t>
            </a:r>
          </a:p>
          <a:p>
            <a:r>
              <a:t>El usuario puede completar el cuestionario sin ponderar y obtener un resultado util.</a:t>
            </a:r>
          </a:p>
          <a:p/>
          <a:p>
            <a:r>
              <a:t>Paso 5 -- Resultado antes de explorar perfiles:</a:t>
            </a:r>
          </a:p>
          <a:p>
            <a:r>
              <a:t>Invierte el flujo tradicional. Primero la coincidencia; luego los candidatos.</a:t>
            </a:r>
          </a:p>
          <a:p/>
          <a:p>
            <a:r>
              <a:t>Paso 6 -- Modal de contexto educativo por pregunta:</a:t>
            </a:r>
          </a:p>
          <a:p>
            <a:r>
              <a:t>Permite tomar posicion sin conocimiento politico previo.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Home no es una pantalla de exploracion: es una pantalla de ORIENTACION.</a:t>
            </a:r>
          </a:p>
          <a:p/>
          <a:p>
            <a:r>
              <a:t>El principio de diseno: el usuario siempre debe saber que hacer a continuacion.</a:t>
            </a:r>
          </a:p>
          <a:p/>
          <a:p>
            <a:r>
              <a:t>Si no ha respondido: el CTA principal lo lleva al cuestionario.</a:t>
            </a:r>
          </a:p>
          <a:p>
            <a:r>
              <a:t>Si ya respondio: ve el resumen de sus resultados directamente.</a:t>
            </a:r>
          </a:p>
          <a:p/>
          <a:p>
            <a:r>
              <a:t>La navegacion esta presente pero no es el foco principal.</a:t>
            </a:r>
          </a:p>
          <a:p>
            <a:r>
              <a:t>El foco es siempre el flujo central: cuestionario -&gt;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cuestionario es un balance deliberado:</a:t>
            </a:r>
          </a:p>
          <a:p>
            <a:r>
              <a:t>  -- Calidad del resultado (mas preguntas = resultado mas preciso)</a:t>
            </a:r>
          </a:p>
          <a:p>
            <a:r>
              <a:t>  -- Tasa de completitud (mas preguntas = mas abandono)</a:t>
            </a:r>
          </a:p>
          <a:p/>
          <a:p>
            <a:r>
              <a:t>La opcion 'No se' es mas que una comodidad:</a:t>
            </a:r>
          </a:p>
          <a:p>
            <a:r>
              <a:t>  -- Respuesta NEUTRAL: el usuario tiene posicion intermedia.</a:t>
            </a:r>
          </a:p>
          <a:p>
            <a:r>
              <a:t>  -- Respuesta 'No se': el usuario no tiene informacion suficiente.</a:t>
            </a:r>
          </a:p>
          <a:p>
            <a:r>
              <a:t>  -- Tratarlas como equivalentes introduciria ruido en el calculo.</a:t>
            </a:r>
          </a:p>
          <a:p/>
          <a:p>
            <a:r>
              <a:t>El modal educativo permite que un ciudadano sin conocimiento politico</a:t>
            </a:r>
          </a:p>
          <a:p>
            <a:r>
              <a:t>tome posicion informada en cada pregunta.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7 ejes tematicos cubren las dimensiones centrales del debate publico chileno.</a:t>
            </a:r>
          </a:p>
          <a:p/>
          <a:p>
            <a:r>
              <a:t>Cada eje tiene color invariante en el sistema visual (Capa E del Design System):</a:t>
            </a:r>
          </a:p>
          <a:p>
            <a:r>
              <a:t>ningun color puede cambiar sin romper la semantica de la visualizacion.</a:t>
            </a:r>
          </a:p>
          <a:p/>
          <a:p>
            <a:r>
              <a:t>El radar de 7 ejes en los resultados permite al usuario ver no solo</a:t>
            </a:r>
          </a:p>
          <a:p>
            <a:r>
              <a:t>'con quien coincide mas' sino 'en que temas especificos coincide mas'.</a:t>
            </a:r>
          </a:p>
          <a:p/>
          <a:p>
            <a:r>
              <a:t>Esto es especialmente util para el votante que tiene prioridades especificas.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resultado no es un numero: es un SISTEMA DE INFORMACION.</a:t>
            </a:r>
          </a:p>
          <a:p/>
          <a:p>
            <a:r>
              <a:t>El radar de 7 ejes permite ver no solo 'con quien coincide mas'</a:t>
            </a:r>
          </a:p>
          <a:p>
            <a:r>
              <a:t>sino 'en que temas especificos coincide'.</a:t>
            </a:r>
          </a:p>
          <a:p/>
          <a:p>
            <a:r>
              <a:t>El indicador de confianza es la diferenciacion mas significativa:</a:t>
            </a:r>
          </a:p>
          <a:p>
            <a:r>
              <a:t>comunica la diferencia entre un match calculado sobre 3 preguntas (tentat.)</a:t>
            </a:r>
          </a:p>
          <a:p>
            <a:r>
              <a:t>y uno calculado sobre 12 (alta confianza).</a:t>
            </a:r>
          </a:p>
          <a:p/>
          <a:p>
            <a:r>
              <a:t>Esta honestidad protege la credibilidad del sistema a largo plazo.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perfil del candidato es donde la transparencia se hace concreta.</a:t>
            </a:r>
          </a:p>
          <a:p/>
          <a:p>
            <a:r>
              <a:t>El usuario puede ver:</a:t>
            </a:r>
          </a:p>
          <a:p>
            <a:r>
              <a:t>  -- No solo CUAL es la postura, sino POR QUE se asigno esa postura.</a:t>
            </a:r>
          </a:p>
          <a:p>
            <a:r>
              <a:t>  -- La fuente primaria que la respalda (declaracion, votacion, programa).</a:t>
            </a:r>
          </a:p>
          <a:p>
            <a:r>
              <a:t>  -- Si hay incertidumbre sobre la postura, el sistema lo dice.</a:t>
            </a:r>
          </a:p>
          <a:p/>
          <a:p>
            <a:r>
              <a:t>Este nivel de trazabilidad no existe en ninguna VAA chilena anterior</a:t>
            </a:r>
          </a:p>
          <a:p>
            <a:r>
              <a:t>ni en la mayoria de las VAAs internacionales analizadas.</a:t>
            </a:r>
          </a:p>
          <a:p/>
          <a:p>
            <a:r>
              <a:t>El principio: si hay incertidumbre, se muestra la incertidumbre.</a:t>
            </a:r>
          </a:p>
          <a:p>
            <a:r>
              <a:t>No se simula certeza que no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funcionalidad de comparacion responde a un patron de uso comun:</a:t>
            </a:r>
          </a:p>
          <a:p>
            <a:r>
              <a:t>el votante ya tiene un candidato preferido pero quiere compararlo</a:t>
            </a:r>
          </a:p>
          <a:p>
            <a:r>
              <a:t>con el segundo del ranking antes de decidir.</a:t>
            </a:r>
          </a:p>
          <a:p/>
          <a:p>
            <a:r>
              <a:t>La comparacion pregunta por pregunta con fuentes hace que el usuario</a:t>
            </a:r>
          </a:p>
          <a:p>
            <a:r>
              <a:t>no solo sepa que los candidatos difieren, sino POR QUE difieren.</a:t>
            </a:r>
          </a:p>
          <a:p/>
          <a:p>
            <a:r>
              <a:t>Esta funcionalidad transforma VotoAfin de un sistema de ranking</a:t>
            </a:r>
          </a:p>
          <a:p>
            <a:r>
              <a:t>a un sistema de exploracion informada.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diseno no es decoracion: es parte del mensaje.</a:t>
            </a:r>
          </a:p>
          <a:p/>
          <a:p>
            <a:r>
              <a:t>VotoAfin necesitaba transmitir credibilidad y neutralidad politica</a:t>
            </a:r>
          </a:p>
          <a:p>
            <a:r>
              <a:t>simultaneamente. Esa combinacion requirio decisiones especificas.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Restriccion critica: ningun color puede asociarse con ningun partido politico chileno.</a:t>
            </a:r>
          </a:p>
          <a:p>
            <a:r>
              <a:t>  -- Azul-petroleo (#1C3A52): suficientemente distinto del azul de RN/Chile Vamos.</a:t>
            </a:r>
          </a:p>
          <a:p>
            <a:r>
              <a:t>  -- Verde-salvia (#7BA098): diferente del verde del Frente Amplio.</a:t>
            </a:r>
          </a:p>
          <a:p>
            <a:r>
              <a:t>  -- Verde acento (#3A9E7A): tampoco es el verde del FA.</a:t>
            </a:r>
          </a:p>
          <a:p/>
          <a:p>
            <a:r>
              <a:t>6 capas independientes: un cambio de branding no rompe los ejes</a:t>
            </a:r>
          </a:p>
          <a:p>
            <a:r>
              <a:t>ni la visualizacion de datos. Esto es diseno sistematico, no decoracion.</a:t>
            </a:r>
          </a:p>
          <a:p/>
          <a:p>
            <a:r>
              <a:t>Todos los pares cumplen contraste WCAG 2.2 AA (4.5:1 minimo).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sistema visual fue documentado en 11 modulos (ds-01 a ds-11):</a:t>
            </a:r>
          </a:p>
          <a:p>
            <a:r>
              <a:t>filosofia, psicologia, benchmarking, color, dark mode, ejes, dataviz,</a:t>
            </a:r>
          </a:p>
          <a:p>
            <a:r>
              <a:t>tiers de afinidad, componentes, tokens y validacion por pantalla.</a:t>
            </a:r>
          </a:p>
          <a:p/>
          <a:p>
            <a:r>
              <a:t>Esta profundidad de documentacion permite mantener consistencia visual</a:t>
            </a:r>
          </a:p>
          <a:p>
            <a:r>
              <a:t>en 17 pantallas y 89 componentes reutilizables.</a:t>
            </a:r>
          </a:p>
          <a:p/>
          <a:p>
            <a:r>
              <a:t>El sistema debe sentirse como:</a:t>
            </a:r>
          </a:p>
          <a:p>
            <a:r>
              <a:t>  Una guia. Una brujula. Una herramienta de orientacion.</a:t>
            </a:r>
          </a:p>
          <a:p>
            <a:r>
              <a:t>NO como:</a:t>
            </a:r>
          </a:p>
          <a:p>
            <a:r>
              <a:t>  Un partido politico. Una campana electoral. Una institucion gubernamental.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hace concreto el valor para el usuario final.</a:t>
            </a:r>
          </a:p>
          <a:p/>
          <a:p>
            <a:r>
              <a:t>El contraste antes/despues conecta directamente con los datos del</a:t>
            </a:r>
          </a:p>
          <a:p>
            <a:r>
              <a:t>problema presentados en la Presentacion 1.</a:t>
            </a:r>
          </a:p>
          <a:p/>
          <a:p>
            <a:r>
              <a:t>El tiempo (5-10 minutos) es el argumento contra el desinteres:</a:t>
            </a:r>
          </a:p>
          <a:p>
            <a:r>
              <a:t>no es necesario leer decenas de paginas. Es una inversion razonable</a:t>
            </a:r>
          </a:p>
          <a:p>
            <a:r>
              <a:t>para un acto democratico que ocurre una vez cada cuatro anos.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-- Tiempo estimado: 15-18 minutos.</a:t>
            </a:r>
          </a:p>
          <a:p/>
          <a:p>
            <a:r>
              <a:t>La frase 'Una brujula, no una agenda' sintetiza el posicionamiento:</a:t>
            </a:r>
          </a:p>
          <a:p>
            <a:r>
              <a:t>  -- VotoAfin orienta. No prescribe.</a:t>
            </a:r>
          </a:p>
          <a:p>
            <a:r>
              <a:t>  -- VotoAfin compara. No recomienda.</a:t>
            </a:r>
          </a:p>
          <a:p>
            <a:r>
              <a:t>  -- VotoAfin informa. No decide.</a:t>
            </a:r>
          </a:p>
          <a:p/>
          <a:p>
            <a:r>
              <a:t>El usuario conserva completamente la autonomia de su decision.</a:t>
            </a:r>
          </a:p>
          <a:p>
            <a:r>
              <a:t>VotoAfin solo hace esa decision mas informada.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A9E7A"/>
                </a:solidFill>
              </a:rPr>
              <a:t>PRESENTACION 3 DE 4  --  SOLUCION, DISENO Y PRODUCTO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45720" cy="256032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72865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VotoAfin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4A9BBF"/>
                </a:solidFill>
              </a:rPr>
              <a:t>Una brujula para el votante.</a:t>
            </a:r>
            <a:br/>
            <a:r>
              <a:t>Solucion, diseno y propuesta de valor.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BA098"/>
                </a:solidFill>
              </a:rPr>
              <a:t>VotoAfin  --  UTFSM  --  Jenifer Castillo  --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1153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C3A52"/>
                </a:solidFill>
              </a:rPr>
              <a:t>?Que es una Voting Advice Application?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1549374" y="2560320"/>
            <a:ext cx="1818589" cy="36576"/>
          </a:xfrm>
          <a:prstGeom prst="rect">
            <a:avLst/>
          </a:prstGeom>
          <a:solidFill>
            <a:srgbClr val="CBD1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97914" y="2308860"/>
            <a:ext cx="502920" cy="502920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7914" y="2308860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154680"/>
            <a:ext cx="167228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3A52"/>
                </a:solidFill>
              </a:rPr>
              <a:t>Preguntas sobre politica publica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160520"/>
            <a:ext cx="167228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</a:rPr>
              <a:t>Economia, salud, medioambiente...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7963" y="2560320"/>
            <a:ext cx="1818589" cy="36576"/>
          </a:xfrm>
          <a:prstGeom prst="rect">
            <a:avLst/>
          </a:prstGeom>
          <a:solidFill>
            <a:srgbClr val="CBD1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116503" y="2308860"/>
            <a:ext cx="502920" cy="502920"/>
          </a:xfrm>
          <a:prstGeom prst="ellipse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16503" y="2308860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1821" y="3154680"/>
            <a:ext cx="167228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3A52"/>
                </a:solidFill>
              </a:rPr>
              <a:t>El usuario toma posicion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1821" y="4160520"/>
            <a:ext cx="167228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</a:rPr>
              <a:t>Escala Likert: 5 puntos + 'No se'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6552" y="2560320"/>
            <a:ext cx="1818589" cy="36576"/>
          </a:xfrm>
          <a:prstGeom prst="rect">
            <a:avLst/>
          </a:prstGeom>
          <a:solidFill>
            <a:srgbClr val="CBD1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35092" y="2308860"/>
            <a:ext cx="502920" cy="502920"/>
          </a:xfrm>
          <a:prstGeom prst="ellipse">
            <a:avLst/>
          </a:prstGeom>
          <a:solidFill>
            <a:srgbClr val="4A9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5092" y="2308860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50410" y="3154680"/>
            <a:ext cx="167228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3A52"/>
                </a:solidFill>
              </a:rPr>
              <a:t>Ponderacion opcional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4160520"/>
            <a:ext cx="167228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</a:rPr>
              <a:t>Que temas te importan mas?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05142" y="2560320"/>
            <a:ext cx="1818589" cy="36576"/>
          </a:xfrm>
          <a:prstGeom prst="rect">
            <a:avLst/>
          </a:prstGeom>
          <a:solidFill>
            <a:srgbClr val="CBD1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3682" y="2308860"/>
            <a:ext cx="502920" cy="502920"/>
          </a:xfrm>
          <a:prstGeom prst="ellipse">
            <a:avLst/>
          </a:prstGeom>
          <a:solidFill>
            <a:srgbClr val="7BA0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53682" y="2308860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68999" y="3154680"/>
            <a:ext cx="167228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3A52"/>
                </a:solidFill>
              </a:rPr>
              <a:t>Comparacion algoritmica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8999" y="4160520"/>
            <a:ext cx="167228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</a:rPr>
              <a:t>Postura del usuario vs candidato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23731" y="2560320"/>
            <a:ext cx="1818589" cy="36576"/>
          </a:xfrm>
          <a:prstGeom prst="rect">
            <a:avLst/>
          </a:prstGeom>
          <a:solidFill>
            <a:srgbClr val="CBD1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72271" y="2308860"/>
            <a:ext cx="502920" cy="50292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2271" y="2308860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7588" y="3154680"/>
            <a:ext cx="167228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3A52"/>
                </a:solidFill>
              </a:rPr>
              <a:t>Ranking de afinidad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87588" y="4160520"/>
            <a:ext cx="167228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</a:rPr>
              <a:t>% coincidencia + indicador de confianza</a:t>
            </a:r>
          </a:p>
        </p:txBody>
      </p:sp>
      <p:sp>
        <p:nvSpPr>
          <p:cNvPr id="29" name="Oval 28"/>
          <p:cNvSpPr/>
          <p:nvPr/>
        </p:nvSpPr>
        <p:spPr>
          <a:xfrm>
            <a:off x="10390860" y="2308860"/>
            <a:ext cx="502920" cy="50292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90860" y="2308860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06177" y="3154680"/>
            <a:ext cx="167228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3A52"/>
                </a:solidFill>
              </a:rPr>
              <a:t>Explorar resultados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6177" y="4160520"/>
            <a:ext cx="167228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</a:rPr>
              <a:t>Perfil, radar, fuentes verificadas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4A9BBF"/>
                </a:solidFill>
              </a:rPr>
              <a:t>El problema que VotoAfin resuelve -- en numeros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2545003" cy="5303520"/>
          </a:xfrm>
          <a:prstGeom prst="rect">
            <a:avLst/>
          </a:prstGeom>
          <a:solidFill>
            <a:srgbClr val="244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545003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400" b="1">
                <a:solidFill>
                  <a:srgbClr val="DC2626"/>
                </a:solidFill>
              </a:rPr>
              <a:t>79%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31920"/>
            <a:ext cx="2453563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A9BBF"/>
                </a:solidFill>
              </a:rPr>
              <a:t>no confia en</a:t>
            </a:r>
            <a:br/>
            <a:r>
              <a:t>politicos como</a:t>
            </a:r>
            <a:br/>
            <a:r>
              <a:t>fuente de informacion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59403" y="1051560"/>
            <a:ext cx="2545003" cy="5303520"/>
          </a:xfrm>
          <a:prstGeom prst="rect">
            <a:avLst/>
          </a:prstGeom>
          <a:solidFill>
            <a:srgbClr val="244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59403" y="1371600"/>
            <a:ext cx="2545003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400" b="1">
                <a:solidFill>
                  <a:srgbClr val="D97706"/>
                </a:solidFill>
              </a:rPr>
              <a:t>42%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5123" y="3931920"/>
            <a:ext cx="2453563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A9BBF"/>
                </a:solidFill>
              </a:rPr>
              <a:t>indeciso sobre su</a:t>
            </a:r>
            <a:br/>
            <a:r>
              <a:t>voto para el cargo</a:t>
            </a:r>
            <a:br/>
            <a:r>
              <a:t>mas conocido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51560"/>
            <a:ext cx="2545003" cy="5303520"/>
          </a:xfrm>
          <a:prstGeom prst="rect">
            <a:avLst/>
          </a:prstGeom>
          <a:solidFill>
            <a:srgbClr val="244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7287" y="1371600"/>
            <a:ext cx="2545003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400" b="1">
                <a:solidFill>
                  <a:srgbClr val="4A9BBF"/>
                </a:solidFill>
              </a:rPr>
              <a:t>21%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3931920"/>
            <a:ext cx="2453563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A9BBF"/>
                </a:solidFill>
              </a:rPr>
              <a:t>se considera</a:t>
            </a:r>
            <a:br/>
            <a:r>
              <a:t>'muy informado'</a:t>
            </a:r>
            <a:br/>
            <a:r>
              <a:t>antes de votar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15171" y="1051560"/>
            <a:ext cx="2545003" cy="5303520"/>
          </a:xfrm>
          <a:prstGeom prst="rect">
            <a:avLst/>
          </a:prstGeom>
          <a:solidFill>
            <a:srgbClr val="244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171" y="1371600"/>
            <a:ext cx="2545003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400" b="1">
                <a:solidFill>
                  <a:srgbClr val="3A9E7A"/>
                </a:solidFill>
              </a:rPr>
              <a:t>5-10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0891" y="3931920"/>
            <a:ext cx="2453563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A9BBF"/>
                </a:solidFill>
              </a:rPr>
              <a:t>minutos para completar</a:t>
            </a:r>
            <a:br/>
            <a:r>
              <a:t>el cuestionario</a:t>
            </a:r>
            <a:br/>
            <a:r>
              <a:t>de VotoAfin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5F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3200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0" b="1">
                <a:solidFill>
                  <a:srgbClr val="244A63"/>
                </a:solidFill>
              </a:rPr>
              <a:t>V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560320"/>
            <a:ext cx="54864" cy="164592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7772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Propuesta de Valor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9BBF"/>
                </a:solidFill>
              </a:rPr>
              <a:t>5 dimensiones que diferencian a VotoAfin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C3A52"/>
                </a:solidFill>
              </a:rPr>
              <a:t>5 dimensiones que diferencian a VotoAfin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728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46304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2588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1. Transparencia: algoritmo publico, documentado y auditable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46888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2. Trazabilidad: cada postura necesita URL de fuente primaria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7472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33756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3. Ponderacion: el usuario declara que temas le importan mas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48056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4340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4. Confianza: indicador de certeza segun cobertura de respuestas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48640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34924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5. Codigo abierto: AGPL-3.0 -- la tecnologia electoral no es una caja negra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1153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C3A52"/>
                </a:solidFill>
              </a:rPr>
              <a:t>A quien ayuda VotoAfin?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3515258" cy="11887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25880"/>
            <a:ext cx="329580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Jovenes Votantes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351525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324093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A35"/>
                </a:solidFill>
              </a:rPr>
              <a:t>Alta exposicion digital.</a:t>
            </a:r>
            <a:br/>
            <a:r>
              <a:t>Bajo consumo de medios verificados.</a:t>
            </a:r>
            <a:br/>
            <a:br/>
            <a:r>
              <a:t>Mayor potencial de adopcion.</a:t>
            </a:r>
            <a:br/>
            <a:r>
              <a:t>Diseno mobile-first.</a:t>
            </a:r>
            <a:br/>
            <a:r>
              <a:t>Experiencia sin friccion.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8218" y="1188720"/>
            <a:ext cx="3515258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7946" y="1325880"/>
            <a:ext cx="329580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Votantes Indecisos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8218" y="2377440"/>
            <a:ext cx="351525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5378" y="2560320"/>
            <a:ext cx="324093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A35"/>
                </a:solidFill>
              </a:rPr>
              <a:t>42% no decidido para alcalde.</a:t>
            </a:r>
            <a:br/>
            <a:r>
              <a:t>64% para gobernador.</a:t>
            </a:r>
            <a:br/>
            <a:br/>
            <a:r>
              <a:t>Buscan orientacion en el</a:t>
            </a:r>
            <a:br/>
            <a:r>
              <a:t>periodo previo inmediato.</a:t>
            </a:r>
            <a:br/>
            <a:r>
              <a:t>Resultado accionable en 10 min.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36356" y="1188720"/>
            <a:ext cx="3515258" cy="1188720"/>
          </a:xfrm>
          <a:prstGeom prst="rect">
            <a:avLst/>
          </a:prstGeom>
          <a:solidFill>
            <a:srgbClr val="244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1325880"/>
            <a:ext cx="329580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Adultos Mayores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36356" y="2377440"/>
            <a:ext cx="351525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3516" y="2560320"/>
            <a:ext cx="324093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A35"/>
                </a:solidFill>
              </a:rPr>
              <a:t>Dificultad para evaluar</a:t>
            </a:r>
            <a:br/>
            <a:r>
              <a:t>fuentes digitales.</a:t>
            </a:r>
            <a:br/>
            <a:br/>
            <a:r>
              <a:t>Interfaz clara y simple.</a:t>
            </a:r>
            <a:br/>
            <a:r>
              <a:t>Sin jerga politica necesaria.</a:t>
            </a:r>
            <a:br/>
            <a:r>
              <a:t>Resultado comprensible.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5F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3200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0" b="1">
                <a:solidFill>
                  <a:srgbClr val="244A63"/>
                </a:solidFill>
              </a:rPr>
              <a:t>UX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560320"/>
            <a:ext cx="54864" cy="164592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7772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Experiencia del Usuario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9BBF"/>
                </a:solidFill>
              </a:rPr>
              <a:t>Del ingreso al resultado en 7 pasos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1153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C3A52"/>
                </a:solidFill>
              </a:rPr>
              <a:t>Flujo de usuario -- 7 pasos del ingreso al resultado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1419475" y="2560320"/>
            <a:ext cx="1558790" cy="36576"/>
          </a:xfrm>
          <a:prstGeom prst="rect">
            <a:avLst/>
          </a:prstGeom>
          <a:solidFill>
            <a:srgbClr val="CBD1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8015" y="2308860"/>
            <a:ext cx="502920" cy="502920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8015" y="2308860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154680"/>
            <a:ext cx="141248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3A52"/>
                </a:solidFill>
              </a:rPr>
              <a:t>Registro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160520"/>
            <a:ext cx="141248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</a:rPr>
              <a:t>Solo usuario + email. Sin RUT ni Clave Unica.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78266" y="2560320"/>
            <a:ext cx="1558790" cy="36576"/>
          </a:xfrm>
          <a:prstGeom prst="rect">
            <a:avLst/>
          </a:prstGeom>
          <a:solidFill>
            <a:srgbClr val="CBD1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26806" y="2308860"/>
            <a:ext cx="502920" cy="502920"/>
          </a:xfrm>
          <a:prstGeom prst="ellipse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26806" y="2308860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2022" y="3154680"/>
            <a:ext cx="141248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3A52"/>
                </a:solidFill>
              </a:rPr>
              <a:t>Seleccionar eleccion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2022" y="4160520"/>
            <a:ext cx="141248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</a:rPr>
              <a:t>Presidencial, parlamentaria, municipal...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37056" y="2560320"/>
            <a:ext cx="1558790" cy="36576"/>
          </a:xfrm>
          <a:prstGeom prst="rect">
            <a:avLst/>
          </a:prstGeom>
          <a:solidFill>
            <a:srgbClr val="CBD1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85596" y="2308860"/>
            <a:ext cx="502920" cy="502920"/>
          </a:xfrm>
          <a:prstGeom prst="ellipse">
            <a:avLst/>
          </a:prstGeom>
          <a:solidFill>
            <a:srgbClr val="4A9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85596" y="2308860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30813" y="3154680"/>
            <a:ext cx="141248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3A52"/>
                </a:solidFill>
              </a:rPr>
              <a:t>Cuestionario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0813" y="4160520"/>
            <a:ext cx="141248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</a:rPr>
              <a:t>12 preguntas. 5 pts Likert + 'No se'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5847" y="2560320"/>
            <a:ext cx="1558790" cy="36576"/>
          </a:xfrm>
          <a:prstGeom prst="rect">
            <a:avLst/>
          </a:prstGeom>
          <a:solidFill>
            <a:srgbClr val="CBD1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44387" y="2308860"/>
            <a:ext cx="502920" cy="502920"/>
          </a:xfrm>
          <a:prstGeom prst="ellipse">
            <a:avLst/>
          </a:prstGeom>
          <a:solidFill>
            <a:srgbClr val="7BA0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44387" y="2308860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89604" y="3154680"/>
            <a:ext cx="141248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3A52"/>
                </a:solidFill>
              </a:rPr>
              <a:t>Ponderacion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89604" y="4160520"/>
            <a:ext cx="141248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</a:rPr>
              <a:t>Que temas te importan mas? (opcional)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54638" y="2560320"/>
            <a:ext cx="1558790" cy="36576"/>
          </a:xfrm>
          <a:prstGeom prst="rect">
            <a:avLst/>
          </a:prstGeom>
          <a:solidFill>
            <a:srgbClr val="CBD1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403178" y="2308860"/>
            <a:ext cx="502920" cy="50292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3178" y="2308860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8394" y="3154680"/>
            <a:ext cx="141248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3A52"/>
                </a:solidFill>
              </a:rPr>
              <a:t>Resultados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8394" y="4160520"/>
            <a:ext cx="141248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</a:rPr>
              <a:t>Ranking con % y nivel de confianza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13428" y="2560320"/>
            <a:ext cx="1558790" cy="36576"/>
          </a:xfrm>
          <a:prstGeom prst="rect">
            <a:avLst/>
          </a:prstGeom>
          <a:solidFill>
            <a:srgbClr val="CBD1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961968" y="2308860"/>
            <a:ext cx="502920" cy="50292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968" y="2308860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7185" y="3154680"/>
            <a:ext cx="141248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3A52"/>
                </a:solidFill>
              </a:rPr>
              <a:t>Explorar candidato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7185" y="4160520"/>
            <a:ext cx="141248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</a:rPr>
              <a:t>Radar 7 ejes + posturas + fuentes</a:t>
            </a:r>
          </a:p>
        </p:txBody>
      </p:sp>
      <p:sp>
        <p:nvSpPr>
          <p:cNvPr id="34" name="Oval 33"/>
          <p:cNvSpPr/>
          <p:nvPr/>
        </p:nvSpPr>
        <p:spPr>
          <a:xfrm>
            <a:off x="10520759" y="2308860"/>
            <a:ext cx="502920" cy="502920"/>
          </a:xfrm>
          <a:prstGeom prst="ellipse">
            <a:avLst/>
          </a:prstGeom>
          <a:solidFill>
            <a:srgbClr val="244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20759" y="2308860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65976" y="3154680"/>
            <a:ext cx="141248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C3A52"/>
                </a:solidFill>
              </a:rPr>
              <a:t>Guardar y comparar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65976" y="4160520"/>
            <a:ext cx="141248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568"/>
                </a:solidFill>
              </a:rPr>
              <a:t>Favoritos, descartados, comparacion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La Home -- punto de entrada a la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7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463040"/>
            <a:ext cx="164592" cy="164592"/>
          </a:xfrm>
          <a:prstGeom prst="ellipse">
            <a:avLst/>
          </a:prstGeom>
          <a:solidFill>
            <a:srgbClr val="4A9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2588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4A9BBF"/>
                </a:solidFill>
              </a:rPr>
              <a:t>Eleccion activa destacada con fecha y tipo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468880"/>
            <a:ext cx="164592" cy="164592"/>
          </a:xfrm>
          <a:prstGeom prst="ellipse">
            <a:avLst/>
          </a:prstGeom>
          <a:solidFill>
            <a:srgbClr val="4A9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4A9BBF"/>
                </a:solidFill>
              </a:rPr>
              <a:t>Acceso rapido al cuestionario (CTA principal)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74720"/>
            <a:ext cx="164592" cy="164592"/>
          </a:xfrm>
          <a:prstGeom prst="ellipse">
            <a:avLst/>
          </a:prstGeom>
          <a:solidFill>
            <a:srgbClr val="4A9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33756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4A9BBF"/>
                </a:solidFill>
              </a:rPr>
              <a:t>Estado de progreso si ya inicio el cuestionario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480560"/>
            <a:ext cx="164592" cy="164592"/>
          </a:xfrm>
          <a:prstGeom prst="ellipse">
            <a:avLst/>
          </a:prstGeom>
          <a:solidFill>
            <a:srgbClr val="4A9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4340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4A9BBF"/>
                </a:solidFill>
              </a:rPr>
              <a:t>Resumen de resultados si ya lo completo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486400"/>
            <a:ext cx="164592" cy="164592"/>
          </a:xfrm>
          <a:prstGeom prst="ellipse">
            <a:avLst/>
          </a:prstGeom>
          <a:solidFill>
            <a:srgbClr val="4A9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34924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4A9BBF"/>
                </a:solidFill>
              </a:rPr>
              <a:t>Navegacion: Resultados, Candidatos, Guardados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C3A52"/>
                </a:solidFill>
              </a:rPr>
              <a:t>El cuestionario -- el corazon del sistema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728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46304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2588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12 preguntas sobre politica publica en 7 ejes tematicos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46888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Escala Likert de 5 puntos + opcion 'No se' (excluye del calculo)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7472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33756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Ponderacion opcional: 4 niveles de importancia por pregunta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48056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4340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Modal de contexto educativo por pregunta (5 dimensiones, lenguaje neutral)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48640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34924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Tiempo estimado: 5 a 10 minutos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1153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C3A52"/>
                </a:solidFill>
              </a:rPr>
              <a:t>Los 7 ejes tematicos del cuestionario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3515258" cy="11887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25880"/>
            <a:ext cx="329580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Ejes 1-3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351525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324093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A35"/>
                </a:solidFill>
              </a:rPr>
              <a:t>Economia</a:t>
            </a:r>
            <a:br/>
            <a:r>
              <a:t>  (crecimiento, salario, impuestos)</a:t>
            </a:r>
            <a:br/>
            <a:br/>
            <a:r>
              <a:t>Sociedad</a:t>
            </a:r>
            <a:br/>
            <a:r>
              <a:t>  (salud, educacion, vivienda)</a:t>
            </a:r>
            <a:br/>
            <a:br/>
            <a:r>
              <a:t>Ambiente</a:t>
            </a:r>
            <a:br/>
            <a:r>
              <a:t>  (clima, recursos naturales)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8218" y="1188720"/>
            <a:ext cx="3515258" cy="118872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7946" y="1325880"/>
            <a:ext cx="329580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Ejes 4-5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8218" y="2377440"/>
            <a:ext cx="351525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5378" y="2560320"/>
            <a:ext cx="324093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A35"/>
                </a:solidFill>
              </a:rPr>
              <a:t>Seguridad</a:t>
            </a:r>
            <a:br/>
            <a:r>
              <a:t>  (crimen, policia, fronteras)</a:t>
            </a:r>
            <a:br/>
            <a:br/>
            <a:r>
              <a:t>Derechos Humanos</a:t>
            </a:r>
            <a:br/>
            <a:r>
              <a:t>  (genero, diversidad, migracion)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36356" y="1188720"/>
            <a:ext cx="3515258" cy="1188720"/>
          </a:xfrm>
          <a:prstGeom prst="rect">
            <a:avLst/>
          </a:prstGeom>
          <a:solidFill>
            <a:srgbClr val="926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1325880"/>
            <a:ext cx="329580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Ejes 6-7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36356" y="2377440"/>
            <a:ext cx="351525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3516" y="2560320"/>
            <a:ext cx="324093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A35"/>
                </a:solidFill>
              </a:rPr>
              <a:t>Internacional</a:t>
            </a:r>
            <a:br/>
            <a:r>
              <a:t>  (politica exterior, comercio)</a:t>
            </a:r>
            <a:br/>
            <a:br/>
            <a:r>
              <a:t>Institucional</a:t>
            </a:r>
            <a:br/>
            <a:r>
              <a:t>  (democracia, transparencia, descentralizacion)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C3A52"/>
                </a:solidFill>
              </a:rPr>
              <a:t>La pantalla de resultados -- lo que ve el usuario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728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46304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2588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Ranking de candidatos ordenado por % de coincidencia global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46888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Indicador de confianza: ALTA / MEDIA / BAJA segun cobertura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7472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33756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Radar de 7 ejes: coincidencia visual por dimension tematica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48056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4340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Acciones: guardar favorito / descartar del ranking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48640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34924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Acceso al detalle completo de cada candidato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C3A52"/>
                </a:solidFill>
              </a:rPr>
              <a:t>Perfil del candidato -- transparencia total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728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46304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2588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Postura en cada pregunta con justificacion textual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46888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URL de fuente primaria verificable por cada postura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7472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33756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Nivel de confianza de la postura: ALTA / MEDIA / BAJA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48056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4340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Radar de afinidad personal vs posiciones del candidato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48640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34924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Noticias recientes asociadas al candidato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C3A52"/>
                </a:solidFill>
              </a:rPr>
              <a:t>Comparacion de candidatos -- decidir con informacion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728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46304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2588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Vista lado a lado de dos candidatos del ranking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46888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Comparacion pregunta por pregunta: posturas y fuentes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7472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33756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Diferencias destacadas visualmente por eje tematico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48056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4340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Afinidad relativa: quien coincide mas en que dimension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48640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349240"/>
            <a:ext cx="10591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Acceso a guardar, descartar o explorar desde la vista comparativa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5F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3200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0" b="1">
                <a:solidFill>
                  <a:srgbClr val="244A63"/>
                </a:solidFill>
              </a:rPr>
              <a:t>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560320"/>
            <a:ext cx="54864" cy="164592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7772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Sistema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9BBF"/>
                </a:solidFill>
              </a:rPr>
              <a:t>Confianza institucional sin tomar partido politico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C3A52"/>
                </a:solidFill>
              </a:rPr>
              <a:t>Sistema de color -- 6 capas con ownership exclusivo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728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46304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25880"/>
            <a:ext cx="10591495" cy="861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A. Marca: hero #1C3A52 / primary #2E5F7E / accent #3A9E7A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2410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86940"/>
            <a:ext cx="10591495" cy="861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B. Semantica: success / warning / danger (estados y badges)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18516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048000"/>
            <a:ext cx="10591495" cy="861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C. Superficie: #F7F8F7 fondos claros, cards, inputs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04622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909060"/>
            <a:ext cx="10591495" cy="861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D. Datos: series para radar y comparador (invariantes)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90728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770120"/>
            <a:ext cx="10591495" cy="861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E. Ejes: 7 colores semanticos por eje tematico (invariantes)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768340"/>
            <a:ext cx="164592" cy="164592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631180"/>
            <a:ext cx="10591495" cy="861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A35"/>
                </a:solidFill>
              </a:rPr>
              <a:t>F. Premium: violeta #7C5C9E para funcionalidades avanzadas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1153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C3A52"/>
                </a:solidFill>
              </a:rPr>
              <a:t>Tres principios del sistema visual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3515258" cy="118872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25880"/>
            <a:ext cx="329580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Credibilidad</a:t>
            </a:r>
            <a:br/>
            <a:r>
              <a:t>y Neutralidad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351525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324093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A35"/>
                </a:solidFill>
              </a:rPr>
              <a:t>Paleta desaturada.</a:t>
            </a:r>
            <a:br/>
            <a:r>
              <a:t>Sin gimmicks visuales.</a:t>
            </a:r>
            <a:br/>
            <a:br/>
            <a:r>
              <a:t>Ningun color evoca</a:t>
            </a:r>
            <a:br/>
            <a:r>
              <a:t>un partido politico chileno.</a:t>
            </a:r>
            <a:br/>
            <a:br/>
            <a:r>
              <a:t>El usuario debe confiar</a:t>
            </a:r>
            <a:br/>
            <a:r>
              <a:t>en el instrumento.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8218" y="1188720"/>
            <a:ext cx="3515258" cy="118872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7946" y="1325880"/>
            <a:ext cx="329580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Claridad</a:t>
            </a:r>
            <a:br/>
            <a:r>
              <a:t>y Confianza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8218" y="2377440"/>
            <a:ext cx="351525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5378" y="2560320"/>
            <a:ext cx="324093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A35"/>
                </a:solidFill>
              </a:rPr>
              <a:t>Un dato, un color, un rol.</a:t>
            </a:r>
            <a:br/>
            <a:r>
              <a:t>Sin ambiguedad semantica.</a:t>
            </a:r>
            <a:br/>
            <a:br/>
            <a:r>
              <a:t>WCAG 2.2 AA en todos</a:t>
            </a:r>
            <a:br/>
            <a:r>
              <a:t>los pares de colores.</a:t>
            </a:r>
            <a:br/>
            <a:r>
              <a:t>Dark mode correcto.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36356" y="1188720"/>
            <a:ext cx="3515258" cy="1188720"/>
          </a:xfrm>
          <a:prstGeom prst="rect">
            <a:avLst/>
          </a:prstGeom>
          <a:solidFill>
            <a:srgbClr val="244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1325880"/>
            <a:ext cx="329580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Modernidad</a:t>
            </a:r>
            <a:br/>
            <a:r>
              <a:t>y Escalabilidad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36356" y="2377440"/>
            <a:ext cx="351525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3516" y="2560320"/>
            <a:ext cx="324093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A35"/>
                </a:solidFill>
              </a:rPr>
              <a:t>Hero oscuro, accent energetico.</a:t>
            </a:r>
            <a:br/>
            <a:r>
              <a:t>Tipografia bold.</a:t>
            </a:r>
            <a:br/>
            <a:br/>
            <a:r>
              <a:t>6 capas independientes.</a:t>
            </a:r>
            <a:br/>
            <a:r>
              <a:t>Rebrandable sin</a:t>
            </a:r>
            <a:br/>
            <a:r>
              <a:t>romper la visualizacion.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1153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C3A52"/>
                </a:solidFill>
              </a:rPr>
              <a:t>Que gana el usuario con VotoAfin?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5341467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50671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ANTES de VotoAfin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5341467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984247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1874519"/>
            <a:ext cx="482940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A35"/>
                </a:solidFill>
              </a:rPr>
              <a:t>Leer programas extensos de cada candidato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761487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2651759"/>
            <a:ext cx="482940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A35"/>
                </a:solidFill>
              </a:rPr>
              <a:t>Buscar comparativas inexistentes o desactualizadas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538727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3428999"/>
            <a:ext cx="482940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A35"/>
                </a:solidFill>
              </a:rPr>
              <a:t>Navegar redes con 81% de desinformacion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315967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4206239"/>
            <a:ext cx="482940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A35"/>
                </a:solidFill>
              </a:rPr>
              <a:t>Votar sin informacion (42% indeciso para alcalde)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0147" y="1188720"/>
            <a:ext cx="5341467" cy="50292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7307" y="1234440"/>
            <a:ext cx="50671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DESPUES de VotoAfin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0147" y="1691640"/>
            <a:ext cx="5341467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93027" y="1984247"/>
            <a:ext cx="146304" cy="146304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0771" y="1874519"/>
            <a:ext cx="482940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A35"/>
                </a:solidFill>
              </a:rPr>
              <a:t>12 preguntas en 5-10 minutos</a:t>
            </a:r>
          </a:p>
        </p:txBody>
      </p:sp>
      <p:sp>
        <p:nvSpPr>
          <p:cNvPr id="20" name="Oval 19"/>
          <p:cNvSpPr/>
          <p:nvPr/>
        </p:nvSpPr>
        <p:spPr>
          <a:xfrm>
            <a:off x="6393027" y="2761487"/>
            <a:ext cx="146304" cy="146304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0771" y="2651759"/>
            <a:ext cx="482940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A35"/>
                </a:solidFill>
              </a:rPr>
              <a:t>Ranking verificado con fuentes primarias</a:t>
            </a:r>
          </a:p>
        </p:txBody>
      </p:sp>
      <p:sp>
        <p:nvSpPr>
          <p:cNvPr id="22" name="Oval 21"/>
          <p:cNvSpPr/>
          <p:nvPr/>
        </p:nvSpPr>
        <p:spPr>
          <a:xfrm>
            <a:off x="6393027" y="3538727"/>
            <a:ext cx="146304" cy="146304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0771" y="3428999"/>
            <a:ext cx="482940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A35"/>
                </a:solidFill>
              </a:rPr>
              <a:t>Radar de coincidencia por 7 ejes tematicos</a:t>
            </a:r>
          </a:p>
        </p:txBody>
      </p:sp>
      <p:sp>
        <p:nvSpPr>
          <p:cNvPr id="24" name="Oval 23"/>
          <p:cNvSpPr/>
          <p:nvPr/>
        </p:nvSpPr>
        <p:spPr>
          <a:xfrm>
            <a:off x="6393027" y="4315967"/>
            <a:ext cx="146304" cy="146304"/>
          </a:xfrm>
          <a:prstGeom prst="ellipse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30771" y="4206239"/>
            <a:ext cx="482940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A35"/>
                </a:solidFill>
              </a:rPr>
              <a:t>Decision mas informada sin ser experto en politica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A9E7A"/>
                </a:solidFill>
              </a:rPr>
              <a:t>CIERRE -- PRESENTACION 3 DE 4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45720" cy="256032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72865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Una brujula, no una agenda.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4A9BBF"/>
                </a:solidFill>
              </a:rPr>
              <a:t>Continuacion -&gt; P4: Como se construyo y que aprendimos.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BA098"/>
                </a:solidFill>
              </a:rPr>
              <a:t>VotoAfin  --  UTFSM  --  Jenifer Castillo  --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