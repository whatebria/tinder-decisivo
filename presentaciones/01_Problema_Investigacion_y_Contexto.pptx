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APERTURA — 10 a 15 minutos</a:t>
            </a:r>
          </a:p>
          <a:p/>
          <a:p>
            <a:r>
              <a:t>Comenzar preguntando a la audiencia: '¿Cuántos de ustedes saben el nombre de al menos uno de los candidatos a diputado de su distrito?' Pausa breve.</a:t>
            </a:r>
          </a:p>
          <a:p>
            <a:r>
              <a:t>Esta presentación cuenta POR QUÉ nació este proyecto: un problema real, medible, con consecuencias democráticas concretas.</a:t>
            </a:r>
          </a:p>
          <a:p>
            <a:r>
              <a:t>El objetivo no es explicar la aplicación. Es que la audiencia termine pensando: 'Sí, este problema existe y merece ser resuelto.'</a:t>
            </a:r>
          </a:p>
          <a:p/>
          <a:p>
            <a:r>
              <a:t>VotoAFin · UTFSM · Jenifer Castillo ·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Establecer el contexto temporal: Chile tuvo entre 2020 y 2024 una densidad electoral sin precedentes en su historia democrática reciente.</a:t>
            </a:r>
          </a:p>
          <a:p/>
          <a:p>
            <a:r>
              <a:t>Ningún otro período de cuatro años en la historia chilena tuvo tantos procesos electorales consecutivos.</a:t>
            </a:r>
          </a:p>
          <a:p/>
          <a:p>
            <a:r>
              <a:t>Los analistas electorales comenzaron a documentar un fenómeno que llamaron 'fatiga electoral': a medida que se sucedían los procesos, los ciudadanos invertían cada vez menos atención en informarse.</a:t>
            </a:r>
          </a:p>
          <a:p/>
          <a:p>
            <a:r>
              <a:t>Esta acumulación es el escenario donde nace el problema que este proyecto busca resolver.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cita encapsula la consecuencia central de la densidad electoral.</a:t>
            </a:r>
          </a:p>
          <a:p/>
          <a:p>
            <a:r>
              <a:t>La fatiga no es solo cansancio: es una reducción activa en la disposición a invertir tiempo y atención en informarse.</a:t>
            </a:r>
          </a:p>
          <a:p/>
          <a:p>
            <a:r>
              <a:t>Claudio Fuentes (UDP) identificó tres causas del fenómeno con precisión: desinformación, desinterés y desconfianza — las tres 'D'.</a:t>
            </a:r>
          </a:p>
          <a:p/>
          <a:p>
            <a:r>
              <a:t>Cada una de esas 'D' representa una dimensión distinta del problema que VotoAFin intentó abordar.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 Informe Claves Ipsos N°33 — elecciones municipales octubre 2024.</a:t>
            </a:r>
          </a:p>
          <a:p/>
          <a:p>
            <a:r>
              <a:t>Solo el 21% 'muy informado'. Para perspectiva: el 83% sabía que se elegía alcalde, el cargo más mediático. Pero apenas el 55% sabía que también se elegían concejales.</a:t>
            </a:r>
          </a:p>
          <a:p/>
          <a:p>
            <a:r>
              <a:t>El 42% no había decidido su voto para alcalde al momento de la encuesta. Para gobernador: 64%. Para consejeros regionales: 68%.</a:t>
            </a:r>
          </a:p>
          <a:p/>
          <a:p>
            <a:r>
              <a:t>Conclusión directa: una proporción significativa del electorado ejercía su derecho a voto sin información adecuada sobre los candidatos.</a:t>
            </a:r>
          </a:p>
          <a:p/>
          <a:p>
            <a:r>
              <a:t>El voto deja de ser una decisión informada para convertirse en una decisión bajo incertidumbre.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 estudio 'Fake News y Desinformación en Chile y LatAm' — Activa Knowledge for Action.</a:t>
            </a:r>
          </a:p>
          <a:p/>
          <a:p>
            <a:r>
              <a:t>El 52% encuentra desinformación TODOS LOS DÍAS. El 29% al menos una vez a la semana. Total semanal o más: 81%.</a:t>
            </a:r>
          </a:p>
          <a:p/>
          <a:p>
            <a:r>
              <a:t>Las tres fuentes principales de información declaradas: televisión (35%), noticias online (14%), Facebook (12%). Exactamente las fuentes en que menos confían.</a:t>
            </a:r>
          </a:p>
          <a:p/>
          <a:p>
            <a:r>
              <a:t>El 79% de desconfianza en políticos como fuente es especialmente relevante: el principal emisor de mensajes electorales es el actor que menos credibilidad tiene.</a:t>
            </a:r>
          </a:p>
          <a:p/>
          <a:p>
            <a:r>
              <a:t>Este es el ecosistema informativo en el que el votante promedio intenta tomar una decisión de voto.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 Servicio Electoral de Chile (SERVEL), datos comparativos 2021-2024.</a:t>
            </a:r>
          </a:p>
          <a:p/>
          <a:p>
            <a:r>
              <a:t>El +460% en votos nulos para alcalde es el número más dramático del dataset. Es prácticamente el mismo cargo, el mismo electorado, cuatro años después.</a:t>
            </a:r>
          </a:p>
          <a:p/>
          <a:p>
            <a:r>
              <a:t>La interpretación de los expertos del SERVEL fue directa: 'en este proceso hubo poca información. Poca gente sabía lo que se votaba.'</a:t>
            </a:r>
          </a:p>
          <a:p/>
          <a:p>
            <a:r>
              <a:t>En los procesos constitucionales, más de dos millones de personas emitieron un sufragio nulo — el equivalente de la población de Santiago y Valparaíso juntos.</a:t>
            </a:r>
          </a:p>
          <a:p/>
          <a:p>
            <a:r>
              <a:t>Estos números no son abstractos: son ciudadanos que llegaron a votar pero no pudieron ejercer su derecho de manera informada.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Transición a la segunda parte de esta presentación.</a:t>
            </a:r>
          </a:p>
          <a:p/>
          <a:p>
            <a:r>
              <a:t>Hasta ahora vimos los números nacionales. Ahora vamos a los datos propios: la investigación de campo que el equipo realizó en el contexto del curso de Emprendimiento de la UTFSM.</a:t>
            </a:r>
          </a:p>
          <a:p/>
          <a:p>
            <a:r>
              <a:t>La investigación no fue bibliográfica: fue a la calle, con personas reales, en comunas reales del área metropolitana de Valparaíso.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investigación combinó fuentes secundarias (Ipsos, Activa, SERVEL) con trabajo de campo propio.</a:t>
            </a:r>
          </a:p>
          <a:p/>
          <a:p>
            <a:r>
              <a:t>Las 12 entrevistas en tres comunas con perfiles distintos permitieron triangular los datos nacionales con observación directa.</a:t>
            </a:r>
          </a:p>
          <a:p/>
          <a:p>
            <a:r>
              <a:t>La metodología fue simple e intencional: respuestas dicotómicas para facilitar el análisis comparativo y mantener la coherencia entre entrevistadores.</a:t>
            </a:r>
          </a:p>
          <a:p/>
          <a:p>
            <a:r>
              <a:t>No es una muestra estadísticamente representativa — el equipo fue explícito en ese punto — pero sí un levantamiento de evidencia cualitativa con consistencia interna.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hallazgo más contundente: el 100% de los entrevistados — 12 de 12 — aseguró haber visto o conocer la existencia de fake news electorales.</a:t>
            </a:r>
          </a:p>
          <a:p/>
          <a:p>
            <a:r>
              <a:t>Igualmente, el 100% declaró creer que existe desinformación generalizada en Chile. No hubo ninguna persona que considerara que el fenómeno no existía.</a:t>
            </a:r>
          </a:p>
          <a:p/>
          <a:p>
            <a:r>
              <a:t>El ~83% se informaba por redes sociales vs apenas ~25% por canales oficiales.</a:t>
            </a:r>
          </a:p>
          <a:p/>
          <a:p>
            <a:r>
              <a:t>La mitad de los entrevistados no conocía a los candidatos en competencia para el proceso electoral en curso.</a:t>
            </a:r>
          </a:p>
          <a:p/>
          <a:p>
            <a:r>
              <a:t>Estos datos son coherentes con el panorama nacional: 21% muy informado vs exposición masiva a desinformación.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fue la conclusión literal del primer trabajo de Emprendimiento — el documento que inició el proyecto.</a:t>
            </a:r>
          </a:p>
          <a:p/>
          <a:p>
            <a:r>
              <a:t>Es importante que la audiencia entienda que VotoAFin no comenzó con la decisión de construir una aplicación. Comenzó con la observación de un problema y la articulación de una oportunidad.</a:t>
            </a:r>
          </a:p>
          <a:p/>
          <a:p>
            <a:r>
              <a:t>La tecnología fue el medio; la democracia informada fue siempre el fin.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inicio del proyecto, no existía en Chile ninguna VAA activa con metodología transparente y datos actualizados.</a:t>
            </a:r>
          </a:p>
          <a:p/>
          <a:p>
            <a:r>
              <a:t>Voto Informado permitía comparar perfiles lado a lado pero sin producir un indicador de afinidad basado en las respuestas del usuario.</a:t>
            </a:r>
          </a:p>
          <a:p/>
          <a:p>
            <a:r>
              <a:t>Decide Chile fue la más cercana al concepto de VAA, pero estaba discontinuada y sin mantención.</a:t>
            </a:r>
          </a:p>
          <a:p/>
          <a:p>
            <a:r>
              <a:t>Internacionalmente, las VAAs consolidadas (Wahl-O-Mat, Smartvote, Vote Compass, iSideWith) no tenían cobertura del contexto chileno.</a:t>
            </a:r>
          </a:p>
          <a:p/>
          <a:p>
            <a:r>
              <a:t>La brecha era concreta y el espacio estaba abierto.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tres segmentos comparten una necesidad común: acceso a información confiable, estructurada y procesable en un tiempo razonable.</a:t>
            </a:r>
          </a:p>
          <a:p/>
          <a:p>
            <a:r>
              <a:t>El diseño de VotoAFin debía ser accesible para los tres — sin conocimiento político previo necesario para interpretarlo.</a:t>
            </a:r>
          </a:p>
          <a:p/>
          <a:p>
            <a:r>
              <a:t>El joven es el perfil con mayor potencial de adopción de una solución tecnológica; el adulto mayor y el indeciso son los que más se beneficiarían de la reducción de carga cognitiva.</a:t>
            </a:r>
          </a:p>
          <a:p/>
          <a:p>
            <a:r>
              <a:t>Esta segmentación fue determinante en las decisiones de UX de la plataforma: simplificar, no complejizar. Orientar, no abrumar.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slide es el argumento de justificación técnica del proyecto.</a:t>
            </a:r>
          </a:p>
          <a:p/>
          <a:p>
            <a:r>
              <a:t>Un problema de 'escasez de información' requiere producir más información — eso es periodismo, no ingeniería.</a:t>
            </a:r>
          </a:p>
          <a:p/>
          <a:p>
            <a:r>
              <a:t>Un problema de 'intermediación' requiere un sistema que transforme la información existente en algo utilizable. Eso sí es ingeniería.</a:t>
            </a:r>
          </a:p>
          <a:p/>
          <a:p>
            <a:r>
              <a:t>Las posturas de los candidatos están en sus programas, sus votaciones parlamentarias registradas, sus declaraciones públicas. El problema es que el ciudadano promedio no tiene tiempo ni herramientas para procesar esa información.</a:t>
            </a:r>
          </a:p>
          <a:p/>
          <a:p>
            <a:r>
              <a:t>VotoAFin no produce información nueva: organiza, compara y presenta la información que ya existe.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slide cierra el Acto I de la historia.</a:t>
            </a:r>
          </a:p>
          <a:p/>
          <a:p>
            <a:r>
              <a:t>La audiencia debe llegar a este punto pensando: 'Sí, este problema existe, está documentado, tiene consecuencias medibles, y la tecnología puede hacer algo al respecto.'</a:t>
            </a:r>
          </a:p>
          <a:p/>
          <a:p>
            <a:r>
              <a:t>Las 5 dimensiones de justificación vienen directamente del primer trabajo de Emprendimiento — no fueron construidas retroactivamente para la tesis.</a:t>
            </a:r>
          </a:p>
          <a:p/>
          <a:p>
            <a:r>
              <a:t>El cierre de esta slide prepara la transición a la Presentación 2: cómo evolucionó la respuesta desde esa oportunidad identificada.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de la presentación 1.</a:t>
            </a:r>
          </a:p>
          <a:p/>
          <a:p>
            <a:r>
              <a:t>Tiempo estimado: 10–13 minutos con buena cadencia.</a:t>
            </a:r>
          </a:p>
          <a:p/>
          <a:p>
            <a:r>
              <a:t>Mensaje de salida para la audiencia:</a:t>
            </a:r>
          </a:p>
          <a:p>
            <a:r>
              <a:t>- El problema está documentado con datos primarios y secundarios.</a:t>
            </a:r>
          </a:p>
          <a:p>
            <a:r>
              <a:t>- No es una percepción subjetiva: es un fenómeno medible.</a:t>
            </a:r>
          </a:p>
          <a:p>
            <a:r>
              <a:t>- Las herramientas existentes no lo resolvían.</a:t>
            </a:r>
          </a:p>
          <a:p>
            <a:r>
              <a:t>- La brecha estaba abierta.</a:t>
            </a:r>
          </a:p>
          <a:p/>
          <a:p>
            <a:r>
              <a:t>Pregunta para dejar en el aire antes de la siguiente presentación:</a:t>
            </a:r>
          </a:p>
          <a:p>
            <a:r>
              <a:t>'¿Y cuál fue la primera respuesta que intentamos darle?'</a:t>
            </a:r>
          </a:p>
          <a:p/>
          <a:p>
            <a:r>
              <a:t>Espacio para preguntas breves si el formato lo permite.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3A52"/>
        </a:solidFill>
        <a:effectLst/>
      </p:bgPr>
    </p:bg>
    <p:spTree>
      <p:nvGrpSpPr>
        <p:cNvPr id="1" name=""/>
        <p:cNvGrpSpPr/>
        <p:nvPr/>
      </p:nvGrpSpPr>
      <p:grpSpPr/>
      <p:sp>
        <p:nvSpPr>
          <p:cNvPr id="2" name="Rectangle 1"/>
          <p:cNvSpPr/>
          <p:nvPr/>
        </p:nvSpPr>
        <p:spPr>
          <a:xfrm>
            <a:off x="640080" y="2011680"/>
            <a:ext cx="54864" cy="2286000"/>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911535" cy="457200"/>
          </a:xfrm>
          <a:prstGeom prst="rect">
            <a:avLst/>
          </a:prstGeom>
          <a:noFill/>
        </p:spPr>
        <p:txBody>
          <a:bodyPr wrap="square">
            <a:spAutoFit/>
          </a:bodyPr>
          <a:lstStyle/>
          <a:p>
            <a:pPr algn="l"/>
            <a:r>
              <a:rPr sz="1100" b="1" i="0">
                <a:solidFill>
                  <a:srgbClr val="3A9E7A"/>
                </a:solidFill>
              </a:rPr>
              <a:t>PRESENTACIÓN 1 DE 4  ·  PROBLEMA, INVESTIGACIÓN Y CONTEXTO</a:t>
            </a:r>
          </a:p>
        </p:txBody>
      </p:sp>
      <p:sp>
        <p:nvSpPr>
          <p:cNvPr id="4" name="TextBox 3"/>
          <p:cNvSpPr txBox="1"/>
          <p:nvPr/>
        </p:nvSpPr>
        <p:spPr>
          <a:xfrm>
            <a:off x="640080" y="2194560"/>
            <a:ext cx="10911535" cy="2286000"/>
          </a:xfrm>
          <a:prstGeom prst="rect">
            <a:avLst/>
          </a:prstGeom>
          <a:noFill/>
        </p:spPr>
        <p:txBody>
          <a:bodyPr wrap="square">
            <a:spAutoFit/>
          </a:bodyPr>
          <a:lstStyle/>
          <a:p>
            <a:pPr algn="l"/>
            <a:r>
              <a:rPr sz="4400" b="1">
                <a:solidFill>
                  <a:srgbClr val="FFFFFF"/>
                </a:solidFill>
              </a:rPr>
              <a:t>El Voto Sin Información</a:t>
            </a:r>
          </a:p>
        </p:txBody>
      </p:sp>
      <p:sp>
        <p:nvSpPr>
          <p:cNvPr id="5" name="TextBox 4"/>
          <p:cNvSpPr txBox="1"/>
          <p:nvPr/>
        </p:nvSpPr>
        <p:spPr>
          <a:xfrm>
            <a:off x="640080" y="4480560"/>
            <a:ext cx="10911535" cy="1097280"/>
          </a:xfrm>
          <a:prstGeom prst="rect">
            <a:avLst/>
          </a:prstGeom>
          <a:noFill/>
        </p:spPr>
        <p:txBody>
          <a:bodyPr wrap="square">
            <a:spAutoFit/>
          </a:bodyPr>
          <a:lstStyle/>
          <a:p>
            <a:pPr algn="l"/>
            <a:r>
              <a:rPr sz="1800" b="0">
                <a:solidFill>
                  <a:srgbClr val="4A9BBF"/>
                </a:solidFill>
              </a:rPr>
              <a:t>Desinformación electoral, participación ciudadana y la oportunidad de la tecnología cívica</a:t>
            </a:r>
          </a:p>
        </p:txBody>
      </p:sp>
      <p:sp>
        <p:nvSpPr>
          <p:cNvPr id="6" name="TextBox 5"/>
          <p:cNvSpPr txBox="1"/>
          <p:nvPr/>
        </p:nvSpPr>
        <p:spPr>
          <a:xfrm>
            <a:off x="640080" y="6217920"/>
            <a:ext cx="10911535" cy="365760"/>
          </a:xfrm>
          <a:prstGeom prst="rect">
            <a:avLst/>
          </a:prstGeom>
          <a:noFill/>
        </p:spPr>
        <p:txBody>
          <a:bodyPr wrap="none">
            <a:spAutoFit/>
          </a:bodyPr>
          <a:lstStyle/>
          <a:p>
            <a:pPr algn="r"/>
            <a:r>
              <a:rPr sz="900">
                <a:solidFill>
                  <a:srgbClr val="7BA098"/>
                </a:solidFill>
              </a:rPr>
              <a:t>VotoAFin · UTFSM · Jenifer Castillo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3A5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11535" cy="731520"/>
          </a:xfrm>
          <a:prstGeom prst="rect">
            <a:avLst/>
          </a:prstGeom>
          <a:noFill/>
        </p:spPr>
        <p:txBody>
          <a:bodyPr wrap="square">
            <a:spAutoFit/>
          </a:bodyPr>
          <a:lstStyle/>
          <a:p>
            <a:r>
              <a:rPr sz="2400" b="1">
                <a:solidFill>
                  <a:srgbClr val="4A9BBF"/>
                </a:solidFill>
              </a:rPr>
              <a:t>Chile 2020–2024</a:t>
            </a:r>
          </a:p>
        </p:txBody>
      </p:sp>
      <p:sp>
        <p:nvSpPr>
          <p:cNvPr id="4" name="TextBox 3"/>
          <p:cNvSpPr txBox="1"/>
          <p:nvPr/>
        </p:nvSpPr>
        <p:spPr>
          <a:xfrm>
            <a:off x="640080" y="1188720"/>
            <a:ext cx="10911535" cy="1371600"/>
          </a:xfrm>
          <a:prstGeom prst="rect">
            <a:avLst/>
          </a:prstGeom>
          <a:noFill/>
        </p:spPr>
        <p:txBody>
          <a:bodyPr wrap="square">
            <a:spAutoFit/>
          </a:bodyPr>
          <a:lstStyle/>
          <a:p>
            <a:r>
              <a:rPr sz="3400" b="1">
                <a:solidFill>
                  <a:srgbClr val="FFFFFF"/>
                </a:solidFill>
              </a:rPr>
              <a:t>8 procesos electorales en 4 años</a:t>
            </a:r>
          </a:p>
        </p:txBody>
      </p:sp>
      <p:sp>
        <p:nvSpPr>
          <p:cNvPr id="5" name="TextBox 4"/>
          <p:cNvSpPr txBox="1"/>
          <p:nvPr/>
        </p:nvSpPr>
        <p:spPr>
          <a:xfrm>
            <a:off x="640080" y="2651760"/>
            <a:ext cx="10911535" cy="3840480"/>
          </a:xfrm>
          <a:prstGeom prst="rect">
            <a:avLst/>
          </a:prstGeom>
          <a:noFill/>
        </p:spPr>
        <p:txBody>
          <a:bodyPr wrap="square">
            <a:spAutoFit/>
          </a:bodyPr>
          <a:lstStyle/>
          <a:p>
            <a:pPr>
              <a:spcBef>
                <a:spcPts val="400"/>
              </a:spcBef>
            </a:pPr>
            <a:r>
              <a:rPr sz="1600">
                <a:solidFill>
                  <a:srgbClr val="4A9BBF"/>
                </a:solidFill>
              </a:rPr>
              <a:t>• Plebiscito de entrada (oct 2020)</a:t>
            </a:r>
          </a:p>
          <a:p>
            <a:pPr>
              <a:spcBef>
                <a:spcPts val="400"/>
              </a:spcBef>
            </a:pPr>
            <a:r>
              <a:rPr sz="1600">
                <a:solidFill>
                  <a:srgbClr val="4A9BBF"/>
                </a:solidFill>
              </a:rPr>
              <a:t>• Convencionales + primera vuelta presidencial (nov 2021)</a:t>
            </a:r>
          </a:p>
          <a:p>
            <a:pPr>
              <a:spcBef>
                <a:spcPts val="400"/>
              </a:spcBef>
            </a:pPr>
            <a:r>
              <a:rPr sz="1600">
                <a:solidFill>
                  <a:srgbClr val="4A9BBF"/>
                </a:solidFill>
              </a:rPr>
              <a:t>• Segunda vuelta presidencial (dic 2021)</a:t>
            </a:r>
          </a:p>
          <a:p>
            <a:pPr>
              <a:spcBef>
                <a:spcPts val="400"/>
              </a:spcBef>
            </a:pPr>
            <a:r>
              <a:rPr sz="1600">
                <a:solidFill>
                  <a:srgbClr val="4A9BBF"/>
                </a:solidFill>
              </a:rPr>
              <a:t>• Plebiscito de salida del 1er proceso constitucional (sep 2022)</a:t>
            </a:r>
          </a:p>
          <a:p>
            <a:pPr>
              <a:spcBef>
                <a:spcPts val="400"/>
              </a:spcBef>
            </a:pPr>
            <a:r>
              <a:rPr sz="1600">
                <a:solidFill>
                  <a:srgbClr val="4A9BBF"/>
                </a:solidFill>
              </a:rPr>
              <a:t>• Consejo Constitucional (may 2023)</a:t>
            </a:r>
          </a:p>
          <a:p>
            <a:pPr>
              <a:spcBef>
                <a:spcPts val="400"/>
              </a:spcBef>
            </a:pPr>
            <a:r>
              <a:rPr sz="1600">
                <a:solidFill>
                  <a:srgbClr val="4A9BBF"/>
                </a:solidFill>
              </a:rPr>
              <a:t>• Plebiscito de salida del 2do proceso constitucional (dic 2023)</a:t>
            </a:r>
          </a:p>
          <a:p>
            <a:pPr>
              <a:spcBef>
                <a:spcPts val="400"/>
              </a:spcBef>
            </a:pPr>
            <a:r>
              <a:rPr sz="1600">
                <a:solidFill>
                  <a:srgbClr val="4A9BBF"/>
                </a:solidFill>
              </a:rPr>
              <a:t>• Elecciones municipales y regionales (oct 2024)</a:t>
            </a:r>
          </a:p>
          <a:p>
            <a:pPr>
              <a:spcBef>
                <a:spcPts val="400"/>
              </a:spcBef>
            </a:pPr>
            <a:r>
              <a:rPr sz="1600">
                <a:solidFill>
                  <a:srgbClr val="4A9BBF"/>
                </a:solidFill>
              </a:rPr>
              <a:t>• Segundas vueltas municipales (nov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44A63"/>
        </a:solidFill>
        <a:effectLst/>
      </p:bgPr>
    </p:bg>
    <p:spTree>
      <p:nvGrpSpPr>
        <p:cNvPr id="1" name=""/>
        <p:cNvGrpSpPr/>
        <p:nvPr/>
      </p:nvGrpSpPr>
      <p:grpSpPr/>
      <p:sp>
        <p:nvSpPr>
          <p:cNvPr id="2" name="TextBox 1"/>
          <p:cNvSpPr txBox="1"/>
          <p:nvPr/>
        </p:nvSpPr>
        <p:spPr>
          <a:xfrm>
            <a:off x="640080" y="457200"/>
            <a:ext cx="1371600" cy="1371600"/>
          </a:xfrm>
          <a:prstGeom prst="rect">
            <a:avLst/>
          </a:prstGeom>
          <a:noFill/>
        </p:spPr>
        <p:txBody>
          <a:bodyPr wrap="none">
            <a:spAutoFit/>
          </a:bodyPr>
          <a:lstStyle/>
          <a:p>
            <a:r>
              <a:rPr sz="9600" b="1">
                <a:solidFill>
                  <a:srgbClr val="3A9E7A"/>
                </a:solidFill>
              </a:rPr>
              <a:t>“</a:t>
            </a:r>
          </a:p>
        </p:txBody>
      </p:sp>
      <p:sp>
        <p:nvSpPr>
          <p:cNvPr id="3" name="TextBox 2"/>
          <p:cNvSpPr txBox="1"/>
          <p:nvPr/>
        </p:nvSpPr>
        <p:spPr>
          <a:xfrm>
            <a:off x="640080" y="1371600"/>
            <a:ext cx="10911535" cy="3657600"/>
          </a:xfrm>
          <a:prstGeom prst="rect">
            <a:avLst/>
          </a:prstGeom>
          <a:noFill/>
        </p:spPr>
        <p:txBody>
          <a:bodyPr wrap="square">
            <a:spAutoFit/>
          </a:bodyPr>
          <a:lstStyle/>
          <a:p>
            <a:pPr algn="l"/>
            <a:r>
              <a:rPr sz="2200" b="0" i="1">
                <a:solidFill>
                  <a:srgbClr val="FFFFFF"/>
                </a:solidFill>
              </a:rPr>
              <a:t>Es cierto que se observa una fatiga electoral. Ello tiene como correlato que la gente evita informarse e invertir mucho tiempo en estar expuesto a material de campaña.</a:t>
            </a:r>
          </a:p>
        </p:txBody>
      </p:sp>
      <p:sp>
        <p:nvSpPr>
          <p:cNvPr id="4" name="TextBox 3"/>
          <p:cNvSpPr txBox="1"/>
          <p:nvPr/>
        </p:nvSpPr>
        <p:spPr>
          <a:xfrm>
            <a:off x="640080" y="5120640"/>
            <a:ext cx="10911535" cy="548640"/>
          </a:xfrm>
          <a:prstGeom prst="rect">
            <a:avLst/>
          </a:prstGeom>
          <a:noFill/>
        </p:spPr>
        <p:txBody>
          <a:bodyPr wrap="none">
            <a:spAutoFit/>
          </a:bodyPr>
          <a:lstStyle/>
          <a:p>
            <a:pPr algn="r"/>
            <a:r>
              <a:rPr sz="1300" b="1">
                <a:solidFill>
                  <a:srgbClr val="7BA098"/>
                </a:solidFill>
              </a:rPr>
              <a:t>— Prof. René Jara, Universidad de Santiago de Chile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3A5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28600"/>
            <a:ext cx="10911535" cy="685800"/>
          </a:xfrm>
          <a:prstGeom prst="rect">
            <a:avLst/>
          </a:prstGeom>
          <a:noFill/>
        </p:spPr>
        <p:txBody>
          <a:bodyPr wrap="square">
            <a:spAutoFit/>
          </a:bodyPr>
          <a:lstStyle/>
          <a:p>
            <a:r>
              <a:rPr sz="2400" b="1">
                <a:solidFill>
                  <a:srgbClr val="FFFFFF"/>
                </a:solidFill>
              </a:rPr>
              <a:t>Nivel real de información del electorado — Municipales 2024 (Ipsos)</a:t>
            </a:r>
          </a:p>
        </p:txBody>
      </p:sp>
      <p:sp>
        <p:nvSpPr>
          <p:cNvPr id="4" name="TextBox 3"/>
          <p:cNvSpPr txBox="1"/>
          <p:nvPr/>
        </p:nvSpPr>
        <p:spPr>
          <a:xfrm>
            <a:off x="640080" y="1280160"/>
            <a:ext cx="2727883" cy="2286000"/>
          </a:xfrm>
          <a:prstGeom prst="rect">
            <a:avLst/>
          </a:prstGeom>
          <a:noFill/>
        </p:spPr>
        <p:txBody>
          <a:bodyPr wrap="square">
            <a:spAutoFit/>
          </a:bodyPr>
          <a:lstStyle/>
          <a:p>
            <a:pPr algn="ctr"/>
            <a:r>
              <a:rPr sz="6000" b="1">
                <a:solidFill>
                  <a:srgbClr val="DC2626"/>
                </a:solidFill>
              </a:rPr>
              <a:t>21%</a:t>
            </a:r>
          </a:p>
        </p:txBody>
      </p:sp>
      <p:sp>
        <p:nvSpPr>
          <p:cNvPr id="5" name="TextBox 4"/>
          <p:cNvSpPr txBox="1"/>
          <p:nvPr/>
        </p:nvSpPr>
        <p:spPr>
          <a:xfrm>
            <a:off x="640080" y="3566160"/>
            <a:ext cx="2727883" cy="1645920"/>
          </a:xfrm>
          <a:prstGeom prst="rect">
            <a:avLst/>
          </a:prstGeom>
          <a:noFill/>
        </p:spPr>
        <p:txBody>
          <a:bodyPr wrap="square">
            <a:spAutoFit/>
          </a:bodyPr>
          <a:lstStyle/>
          <a:p>
            <a:pPr algn="ctr"/>
            <a:r>
              <a:rPr sz="1400" b="0">
                <a:solidFill>
                  <a:srgbClr val="4A9BBF"/>
                </a:solidFill>
              </a:rPr>
              <a:t>se reconocía como</a:t>
            </a:r>
            <a:br/>
            <a:r>
              <a:t>'muy informado'</a:t>
            </a:r>
          </a:p>
        </p:txBody>
      </p:sp>
      <p:sp>
        <p:nvSpPr>
          <p:cNvPr id="6" name="TextBox 5"/>
          <p:cNvSpPr txBox="1"/>
          <p:nvPr/>
        </p:nvSpPr>
        <p:spPr>
          <a:xfrm>
            <a:off x="3367963" y="1280160"/>
            <a:ext cx="2727883" cy="2286000"/>
          </a:xfrm>
          <a:prstGeom prst="rect">
            <a:avLst/>
          </a:prstGeom>
          <a:noFill/>
        </p:spPr>
        <p:txBody>
          <a:bodyPr wrap="square">
            <a:spAutoFit/>
          </a:bodyPr>
          <a:lstStyle/>
          <a:p>
            <a:pPr algn="ctr"/>
            <a:r>
              <a:rPr sz="6000" b="1">
                <a:solidFill>
                  <a:srgbClr val="D97706"/>
                </a:solidFill>
              </a:rPr>
              <a:t>42%</a:t>
            </a:r>
          </a:p>
        </p:txBody>
      </p:sp>
      <p:sp>
        <p:nvSpPr>
          <p:cNvPr id="7" name="TextBox 6"/>
          <p:cNvSpPr txBox="1"/>
          <p:nvPr/>
        </p:nvSpPr>
        <p:spPr>
          <a:xfrm>
            <a:off x="3367963" y="3566160"/>
            <a:ext cx="2727883" cy="1645920"/>
          </a:xfrm>
          <a:prstGeom prst="rect">
            <a:avLst/>
          </a:prstGeom>
          <a:noFill/>
        </p:spPr>
        <p:txBody>
          <a:bodyPr wrap="square">
            <a:spAutoFit/>
          </a:bodyPr>
          <a:lstStyle/>
          <a:p>
            <a:pPr algn="ctr"/>
            <a:r>
              <a:rPr sz="1400" b="0">
                <a:solidFill>
                  <a:srgbClr val="4A9BBF"/>
                </a:solidFill>
              </a:rPr>
              <a:t>aún no había decidido</a:t>
            </a:r>
            <a:br/>
            <a:r>
              <a:t>su voto para alcalde</a:t>
            </a:r>
          </a:p>
        </p:txBody>
      </p:sp>
      <p:sp>
        <p:nvSpPr>
          <p:cNvPr id="8" name="TextBox 7"/>
          <p:cNvSpPr txBox="1"/>
          <p:nvPr/>
        </p:nvSpPr>
        <p:spPr>
          <a:xfrm>
            <a:off x="6095847" y="1280160"/>
            <a:ext cx="2727883" cy="2286000"/>
          </a:xfrm>
          <a:prstGeom prst="rect">
            <a:avLst/>
          </a:prstGeom>
          <a:noFill/>
        </p:spPr>
        <p:txBody>
          <a:bodyPr wrap="square">
            <a:spAutoFit/>
          </a:bodyPr>
          <a:lstStyle/>
          <a:p>
            <a:pPr algn="ctr"/>
            <a:r>
              <a:rPr sz="6000" b="1">
                <a:solidFill>
                  <a:srgbClr val="4A9BBF"/>
                </a:solidFill>
              </a:rPr>
              <a:t>55%</a:t>
            </a:r>
          </a:p>
        </p:txBody>
      </p:sp>
      <p:sp>
        <p:nvSpPr>
          <p:cNvPr id="9" name="TextBox 8"/>
          <p:cNvSpPr txBox="1"/>
          <p:nvPr/>
        </p:nvSpPr>
        <p:spPr>
          <a:xfrm>
            <a:off x="6095847" y="3566160"/>
            <a:ext cx="2727883" cy="1645920"/>
          </a:xfrm>
          <a:prstGeom prst="rect">
            <a:avLst/>
          </a:prstGeom>
          <a:noFill/>
        </p:spPr>
        <p:txBody>
          <a:bodyPr wrap="square">
            <a:spAutoFit/>
          </a:bodyPr>
          <a:lstStyle/>
          <a:p>
            <a:pPr algn="ctr"/>
            <a:r>
              <a:rPr sz="1400" b="0">
                <a:solidFill>
                  <a:srgbClr val="4A9BBF"/>
                </a:solidFill>
              </a:rPr>
              <a:t>sabía que se</a:t>
            </a:r>
            <a:br/>
            <a:r>
              <a:t>elegían concejales</a:t>
            </a:r>
          </a:p>
        </p:txBody>
      </p:sp>
      <p:sp>
        <p:nvSpPr>
          <p:cNvPr id="10" name="TextBox 9"/>
          <p:cNvSpPr txBox="1"/>
          <p:nvPr/>
        </p:nvSpPr>
        <p:spPr>
          <a:xfrm>
            <a:off x="8823731" y="1280160"/>
            <a:ext cx="2727883" cy="2286000"/>
          </a:xfrm>
          <a:prstGeom prst="rect">
            <a:avLst/>
          </a:prstGeom>
          <a:noFill/>
        </p:spPr>
        <p:txBody>
          <a:bodyPr wrap="square">
            <a:spAutoFit/>
          </a:bodyPr>
          <a:lstStyle/>
          <a:p>
            <a:pPr algn="ctr"/>
            <a:r>
              <a:rPr sz="6000" b="1">
                <a:solidFill>
                  <a:srgbClr val="7BA098"/>
                </a:solidFill>
              </a:rPr>
              <a:t>45%</a:t>
            </a:r>
          </a:p>
        </p:txBody>
      </p:sp>
      <p:sp>
        <p:nvSpPr>
          <p:cNvPr id="11" name="TextBox 10"/>
          <p:cNvSpPr txBox="1"/>
          <p:nvPr/>
        </p:nvSpPr>
        <p:spPr>
          <a:xfrm>
            <a:off x="8823731" y="3566160"/>
            <a:ext cx="2727883" cy="1645920"/>
          </a:xfrm>
          <a:prstGeom prst="rect">
            <a:avLst/>
          </a:prstGeom>
          <a:noFill/>
        </p:spPr>
        <p:txBody>
          <a:bodyPr wrap="square">
            <a:spAutoFit/>
          </a:bodyPr>
          <a:lstStyle/>
          <a:p>
            <a:pPr algn="ctr"/>
            <a:r>
              <a:rPr sz="1400" b="0">
                <a:solidFill>
                  <a:srgbClr val="4A9BBF"/>
                </a:solidFill>
              </a:rPr>
              <a:t>sabía de la elección</a:t>
            </a:r>
            <a:br/>
            <a:r>
              <a:t>de consejeros regionales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3A5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28600"/>
            <a:ext cx="10911535" cy="685800"/>
          </a:xfrm>
          <a:prstGeom prst="rect">
            <a:avLst/>
          </a:prstGeom>
          <a:noFill/>
        </p:spPr>
        <p:txBody>
          <a:bodyPr wrap="square">
            <a:spAutoFit/>
          </a:bodyPr>
          <a:lstStyle/>
          <a:p>
            <a:r>
              <a:rPr sz="2400" b="1">
                <a:solidFill>
                  <a:srgbClr val="FFFFFF"/>
                </a:solidFill>
              </a:rPr>
              <a:t>La desinformación como factor agravante — Activa Knowledge for Action</a:t>
            </a:r>
          </a:p>
        </p:txBody>
      </p:sp>
      <p:sp>
        <p:nvSpPr>
          <p:cNvPr id="4" name="TextBox 3"/>
          <p:cNvSpPr txBox="1"/>
          <p:nvPr/>
        </p:nvSpPr>
        <p:spPr>
          <a:xfrm>
            <a:off x="640080" y="1280160"/>
            <a:ext cx="2727883" cy="2286000"/>
          </a:xfrm>
          <a:prstGeom prst="rect">
            <a:avLst/>
          </a:prstGeom>
          <a:noFill/>
        </p:spPr>
        <p:txBody>
          <a:bodyPr wrap="square">
            <a:spAutoFit/>
          </a:bodyPr>
          <a:lstStyle/>
          <a:p>
            <a:pPr algn="ctr"/>
            <a:r>
              <a:rPr sz="6000" b="1">
                <a:solidFill>
                  <a:srgbClr val="DC2626"/>
                </a:solidFill>
              </a:rPr>
              <a:t>81%</a:t>
            </a:r>
          </a:p>
        </p:txBody>
      </p:sp>
      <p:sp>
        <p:nvSpPr>
          <p:cNvPr id="5" name="TextBox 4"/>
          <p:cNvSpPr txBox="1"/>
          <p:nvPr/>
        </p:nvSpPr>
        <p:spPr>
          <a:xfrm>
            <a:off x="640080" y="3566160"/>
            <a:ext cx="2727883" cy="1645920"/>
          </a:xfrm>
          <a:prstGeom prst="rect">
            <a:avLst/>
          </a:prstGeom>
          <a:noFill/>
        </p:spPr>
        <p:txBody>
          <a:bodyPr wrap="square">
            <a:spAutoFit/>
          </a:bodyPr>
          <a:lstStyle/>
          <a:p>
            <a:pPr algn="ctr"/>
            <a:r>
              <a:rPr sz="1400" b="0">
                <a:solidFill>
                  <a:srgbClr val="4A9BBF"/>
                </a:solidFill>
              </a:rPr>
              <a:t>del electorado expuesto</a:t>
            </a:r>
            <a:br/>
            <a:r>
              <a:t>a desinformación semanal</a:t>
            </a:r>
          </a:p>
        </p:txBody>
      </p:sp>
      <p:sp>
        <p:nvSpPr>
          <p:cNvPr id="6" name="TextBox 5"/>
          <p:cNvSpPr txBox="1"/>
          <p:nvPr/>
        </p:nvSpPr>
        <p:spPr>
          <a:xfrm>
            <a:off x="3367963" y="1280160"/>
            <a:ext cx="2727883" cy="2286000"/>
          </a:xfrm>
          <a:prstGeom prst="rect">
            <a:avLst/>
          </a:prstGeom>
          <a:noFill/>
        </p:spPr>
        <p:txBody>
          <a:bodyPr wrap="square">
            <a:spAutoFit/>
          </a:bodyPr>
          <a:lstStyle/>
          <a:p>
            <a:pPr algn="ctr"/>
            <a:r>
              <a:rPr sz="6000" b="1">
                <a:solidFill>
                  <a:srgbClr val="D97706"/>
                </a:solidFill>
              </a:rPr>
              <a:t>71%</a:t>
            </a:r>
          </a:p>
        </p:txBody>
      </p:sp>
      <p:sp>
        <p:nvSpPr>
          <p:cNvPr id="7" name="TextBox 6"/>
          <p:cNvSpPr txBox="1"/>
          <p:nvPr/>
        </p:nvSpPr>
        <p:spPr>
          <a:xfrm>
            <a:off x="3367963" y="3566160"/>
            <a:ext cx="2727883" cy="1645920"/>
          </a:xfrm>
          <a:prstGeom prst="rect">
            <a:avLst/>
          </a:prstGeom>
          <a:noFill/>
        </p:spPr>
        <p:txBody>
          <a:bodyPr wrap="square">
            <a:spAutoFit/>
          </a:bodyPr>
          <a:lstStyle/>
          <a:p>
            <a:pPr algn="ctr"/>
            <a:r>
              <a:rPr sz="1400" b="0">
                <a:solidFill>
                  <a:srgbClr val="4A9BBF"/>
                </a:solidFill>
              </a:rPr>
              <a:t>cree que la desinformación</a:t>
            </a:r>
            <a:br/>
            <a:r>
              <a:t>amena la democracia</a:t>
            </a:r>
          </a:p>
        </p:txBody>
      </p:sp>
      <p:sp>
        <p:nvSpPr>
          <p:cNvPr id="8" name="TextBox 7"/>
          <p:cNvSpPr txBox="1"/>
          <p:nvPr/>
        </p:nvSpPr>
        <p:spPr>
          <a:xfrm>
            <a:off x="6095847" y="1280160"/>
            <a:ext cx="2727883" cy="2286000"/>
          </a:xfrm>
          <a:prstGeom prst="rect">
            <a:avLst/>
          </a:prstGeom>
          <a:noFill/>
        </p:spPr>
        <p:txBody>
          <a:bodyPr wrap="square">
            <a:spAutoFit/>
          </a:bodyPr>
          <a:lstStyle/>
          <a:p>
            <a:pPr algn="ctr"/>
            <a:r>
              <a:rPr sz="6000" b="1">
                <a:solidFill>
                  <a:srgbClr val="4A9BBF"/>
                </a:solidFill>
              </a:rPr>
              <a:t>68%</a:t>
            </a:r>
          </a:p>
        </p:txBody>
      </p:sp>
      <p:sp>
        <p:nvSpPr>
          <p:cNvPr id="9" name="TextBox 8"/>
          <p:cNvSpPr txBox="1"/>
          <p:nvPr/>
        </p:nvSpPr>
        <p:spPr>
          <a:xfrm>
            <a:off x="6095847" y="3566160"/>
            <a:ext cx="2727883" cy="1645920"/>
          </a:xfrm>
          <a:prstGeom prst="rect">
            <a:avLst/>
          </a:prstGeom>
          <a:noFill/>
        </p:spPr>
        <p:txBody>
          <a:bodyPr wrap="square">
            <a:spAutoFit/>
          </a:bodyPr>
          <a:lstStyle/>
          <a:p>
            <a:pPr algn="ctr"/>
            <a:r>
              <a:rPr sz="1400" b="0">
                <a:solidFill>
                  <a:srgbClr val="4A9BBF"/>
                </a:solidFill>
              </a:rPr>
              <a:t>dice que debilita</a:t>
            </a:r>
            <a:br/>
            <a:r>
              <a:t>el proceso electoral</a:t>
            </a:r>
          </a:p>
        </p:txBody>
      </p:sp>
      <p:sp>
        <p:nvSpPr>
          <p:cNvPr id="10" name="TextBox 9"/>
          <p:cNvSpPr txBox="1"/>
          <p:nvPr/>
        </p:nvSpPr>
        <p:spPr>
          <a:xfrm>
            <a:off x="8823731" y="1280160"/>
            <a:ext cx="2727883" cy="2286000"/>
          </a:xfrm>
          <a:prstGeom prst="rect">
            <a:avLst/>
          </a:prstGeom>
          <a:noFill/>
        </p:spPr>
        <p:txBody>
          <a:bodyPr wrap="square">
            <a:spAutoFit/>
          </a:bodyPr>
          <a:lstStyle/>
          <a:p>
            <a:pPr algn="ctr"/>
            <a:r>
              <a:rPr sz="6000" b="1">
                <a:solidFill>
                  <a:srgbClr val="7BA098"/>
                </a:solidFill>
              </a:rPr>
              <a:t>79%</a:t>
            </a:r>
          </a:p>
        </p:txBody>
      </p:sp>
      <p:sp>
        <p:nvSpPr>
          <p:cNvPr id="11" name="TextBox 10"/>
          <p:cNvSpPr txBox="1"/>
          <p:nvPr/>
        </p:nvSpPr>
        <p:spPr>
          <a:xfrm>
            <a:off x="8823731" y="3566160"/>
            <a:ext cx="2727883" cy="1645920"/>
          </a:xfrm>
          <a:prstGeom prst="rect">
            <a:avLst/>
          </a:prstGeom>
          <a:noFill/>
        </p:spPr>
        <p:txBody>
          <a:bodyPr wrap="square">
            <a:spAutoFit/>
          </a:bodyPr>
          <a:lstStyle/>
          <a:p>
            <a:pPr algn="ctr"/>
            <a:r>
              <a:rPr sz="1400" b="0">
                <a:solidFill>
                  <a:srgbClr val="4A9BBF"/>
                </a:solidFill>
              </a:rPr>
              <a:t>no confía en los</a:t>
            </a:r>
            <a:br/>
            <a:r>
              <a:t>políticos como fuente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7"/>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E5F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11535" cy="777240"/>
          </a:xfrm>
          <a:prstGeom prst="rect">
            <a:avLst/>
          </a:prstGeom>
          <a:noFill/>
        </p:spPr>
        <p:txBody>
          <a:bodyPr wrap="square">
            <a:spAutoFit/>
          </a:bodyPr>
          <a:lstStyle/>
          <a:p>
            <a:r>
              <a:rPr sz="2800" b="1">
                <a:solidFill>
                  <a:srgbClr val="1C3A52"/>
                </a:solidFill>
              </a:rPr>
              <a:t>El costo visible: votos nulos y en blanco</a:t>
            </a:r>
          </a:p>
        </p:txBody>
      </p:sp>
      <p:sp>
        <p:nvSpPr>
          <p:cNvPr id="4" name="Rectangle 3"/>
          <p:cNvSpPr/>
          <p:nvPr/>
        </p:nvSpPr>
        <p:spPr>
          <a:xfrm>
            <a:off x="640080" y="1143000"/>
            <a:ext cx="1371600" cy="36576"/>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911535" cy="640080"/>
          </a:xfrm>
          <a:prstGeom prst="rect">
            <a:avLst/>
          </a:prstGeom>
          <a:noFill/>
        </p:spPr>
        <p:txBody>
          <a:bodyPr wrap="square">
            <a:spAutoFit/>
          </a:bodyPr>
          <a:lstStyle/>
          <a:p>
            <a:r>
              <a:rPr sz="1700" b="1">
                <a:solidFill>
                  <a:srgbClr val="2E5F7E"/>
                </a:solidFill>
              </a:rPr>
              <a:t>Municipales 2021 → 2024: un salto extraordinario</a:t>
            </a:r>
          </a:p>
        </p:txBody>
      </p:sp>
      <p:sp>
        <p:nvSpPr>
          <p:cNvPr id="6" name="TextBox 5"/>
          <p:cNvSpPr txBox="1"/>
          <p:nvPr/>
        </p:nvSpPr>
        <p:spPr>
          <a:xfrm>
            <a:off x="640080" y="2011680"/>
            <a:ext cx="10911535" cy="4389120"/>
          </a:xfrm>
          <a:prstGeom prst="rect">
            <a:avLst/>
          </a:prstGeom>
          <a:noFill/>
        </p:spPr>
        <p:txBody>
          <a:bodyPr wrap="square">
            <a:spAutoFit/>
          </a:bodyPr>
          <a:lstStyle/>
          <a:p>
            <a:pPr>
              <a:spcBef>
                <a:spcPts val="400"/>
              </a:spcBef>
            </a:pPr>
            <a:r>
              <a:rPr sz="1600">
                <a:solidFill>
                  <a:srgbClr val="1F2A35"/>
                </a:solidFill>
              </a:rPr>
              <a:t>Alcalde:             1,93%  →  10,80%   (+460%)</a:t>
            </a:r>
          </a:p>
          <a:p>
            <a:pPr>
              <a:spcBef>
                <a:spcPts val="400"/>
              </a:spcBef>
            </a:pPr>
            <a:r>
              <a:rPr sz="1600">
                <a:solidFill>
                  <a:srgbClr val="1F2A35"/>
                </a:solidFill>
              </a:rPr>
              <a:t>Gobernador:          6,13%  →  17,80%   (+190%)</a:t>
            </a:r>
          </a:p>
          <a:p>
            <a:pPr>
              <a:spcBef>
                <a:spcPts val="400"/>
              </a:spcBef>
            </a:pPr>
            <a:r>
              <a:rPr sz="1600">
                <a:solidFill>
                  <a:srgbClr val="1F2A35"/>
                </a:solidFill>
              </a:rPr>
              <a:t>Concejal:            5,74%  →  21,46%   (+274%)</a:t>
            </a:r>
          </a:p>
          <a:p>
            <a:pPr>
              <a:spcBef>
                <a:spcPts val="400"/>
              </a:spcBef>
            </a:pPr>
            <a:r>
              <a:rPr sz="1600">
                <a:solidFill>
                  <a:srgbClr val="1F2A35"/>
                </a:solidFill>
              </a:rPr>
              <a:t>Consejero Regional: 13,10%  →  25,78%   (+97%)</a:t>
            </a:r>
          </a:p>
          <a:p>
            <a:pPr>
              <a:spcBef>
                <a:spcPts val="400"/>
              </a:spcBef>
            </a:pPr>
          </a:p>
          <a:p>
            <a:pPr>
              <a:spcBef>
                <a:spcPts val="400"/>
              </a:spcBef>
            </a:pPr>
            <a:r>
              <a:rPr sz="1600">
                <a:solidFill>
                  <a:srgbClr val="1F2A35"/>
                </a:solidFill>
              </a:rPr>
              <a:t>Procesos constitucionales: 2.119.506 votos nulos  =  16,98% del total</a:t>
            </a:r>
          </a:p>
          <a:p>
            <a:pPr>
              <a:spcBef>
                <a:spcPts val="400"/>
              </a:spcBef>
            </a:pPr>
          </a:p>
          <a:p>
            <a:pPr>
              <a:spcBef>
                <a:spcPts val="400"/>
              </a:spcBef>
            </a:pPr>
            <a:r>
              <a:rPr sz="1600">
                <a:solidFill>
                  <a:srgbClr val="1F2A35"/>
                </a:solidFill>
              </a:rPr>
              <a:t>"Los votos blancos normalmente son el resultado de la desinformación."</a:t>
            </a:r>
          </a:p>
          <a:p>
            <a:pPr>
              <a:spcBef>
                <a:spcPts val="400"/>
              </a:spcBef>
            </a:pPr>
            <a:r>
              <a:rPr sz="1600">
                <a:solidFill>
                  <a:srgbClr val="1F2A35"/>
                </a:solidFill>
              </a:rPr>
              <a:t>— Analistas del SERVEL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E5F7E"/>
        </a:solidFill>
        <a:effectLst/>
      </p:bgPr>
    </p:bg>
    <p:spTree>
      <p:nvGrpSpPr>
        <p:cNvPr id="1" name=""/>
        <p:cNvGrpSpPr/>
        <p:nvPr/>
      </p:nvGrpSpPr>
      <p:grpSpPr/>
      <p:sp>
        <p:nvSpPr>
          <p:cNvPr id="2" name="TextBox 1"/>
          <p:cNvSpPr txBox="1"/>
          <p:nvPr/>
        </p:nvSpPr>
        <p:spPr>
          <a:xfrm>
            <a:off x="640080" y="1371600"/>
            <a:ext cx="1828800" cy="1828800"/>
          </a:xfrm>
          <a:prstGeom prst="rect">
            <a:avLst/>
          </a:prstGeom>
          <a:noFill/>
        </p:spPr>
        <p:txBody>
          <a:bodyPr wrap="none">
            <a:spAutoFit/>
          </a:bodyPr>
          <a:lstStyle/>
          <a:p>
            <a:r>
              <a:rPr sz="9600" b="1" i="0">
                <a:solidFill>
                  <a:srgbClr val="6EA2C0"/>
                </a:solidFill>
              </a:rPr>
              <a:t>02</a:t>
            </a:r>
          </a:p>
        </p:txBody>
      </p:sp>
      <p:sp>
        <p:nvSpPr>
          <p:cNvPr id="3" name="TextBox 2"/>
          <p:cNvSpPr txBox="1"/>
          <p:nvPr/>
        </p:nvSpPr>
        <p:spPr>
          <a:xfrm>
            <a:off x="640080" y="3200400"/>
            <a:ext cx="10911535" cy="1371600"/>
          </a:xfrm>
          <a:prstGeom prst="rect">
            <a:avLst/>
          </a:prstGeom>
          <a:noFill/>
        </p:spPr>
        <p:txBody>
          <a:bodyPr wrap="square">
            <a:spAutoFit/>
          </a:bodyPr>
          <a:lstStyle/>
          <a:p>
            <a:r>
              <a:rPr sz="3600" b="1">
                <a:solidFill>
                  <a:srgbClr val="FFFFFF"/>
                </a:solidFill>
              </a:rPr>
              <a:t>La Investigación Empírica</a:t>
            </a:r>
          </a:p>
        </p:txBody>
      </p:sp>
      <p:sp>
        <p:nvSpPr>
          <p:cNvPr id="4" name="TextBox 3"/>
          <p:cNvSpPr txBox="1"/>
          <p:nvPr/>
        </p:nvSpPr>
        <p:spPr>
          <a:xfrm>
            <a:off x="640080" y="4572000"/>
            <a:ext cx="10911535" cy="914400"/>
          </a:xfrm>
          <a:prstGeom prst="rect">
            <a:avLst/>
          </a:prstGeom>
          <a:noFill/>
        </p:spPr>
        <p:txBody>
          <a:bodyPr wrap="square">
            <a:spAutoFit/>
          </a:bodyPr>
          <a:lstStyle/>
          <a:p>
            <a:r>
              <a:rPr sz="1600" b="0">
                <a:solidFill>
                  <a:srgbClr val="4A9BBF"/>
                </a:solidFill>
              </a:rPr>
              <a:t>Cómo se verificó el problema en el terreno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7"/>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E5F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11535" cy="731520"/>
          </a:xfrm>
          <a:prstGeom prst="rect">
            <a:avLst/>
          </a:prstGeom>
          <a:noFill/>
        </p:spPr>
        <p:txBody>
          <a:bodyPr wrap="square">
            <a:spAutoFit/>
          </a:bodyPr>
          <a:lstStyle/>
          <a:p>
            <a:r>
              <a:rPr sz="2600" b="1">
                <a:solidFill>
                  <a:srgbClr val="1C3A52"/>
                </a:solidFill>
              </a:rPr>
              <a:t>Investigación de campo — Emprendimiento I, 2024</a:t>
            </a:r>
          </a:p>
        </p:txBody>
      </p:sp>
      <p:sp>
        <p:nvSpPr>
          <p:cNvPr id="4" name="Rectangle 3"/>
          <p:cNvSpPr/>
          <p:nvPr/>
        </p:nvSpPr>
        <p:spPr>
          <a:xfrm>
            <a:off x="6095847" y="1188720"/>
            <a:ext cx="18288" cy="5303520"/>
          </a:xfrm>
          <a:prstGeom prst="rect">
            <a:avLst/>
          </a:prstGeom>
          <a:solidFill>
            <a:srgbClr val="CBD1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5272887" cy="457200"/>
          </a:xfrm>
          <a:prstGeom prst="rect">
            <a:avLst/>
          </a:prstGeom>
          <a:noFill/>
        </p:spPr>
        <p:txBody>
          <a:bodyPr wrap="none">
            <a:spAutoFit/>
          </a:bodyPr>
          <a:lstStyle/>
          <a:p>
            <a:r>
              <a:rPr sz="1400" b="1">
                <a:solidFill>
                  <a:srgbClr val="2E5F7E"/>
                </a:solidFill>
              </a:rPr>
              <a:t>La metodología</a:t>
            </a:r>
          </a:p>
        </p:txBody>
      </p:sp>
      <p:sp>
        <p:nvSpPr>
          <p:cNvPr id="6" name="Rectangle 5"/>
          <p:cNvSpPr/>
          <p:nvPr/>
        </p:nvSpPr>
        <p:spPr>
          <a:xfrm>
            <a:off x="640080" y="1554480"/>
            <a:ext cx="731520" cy="36576"/>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272887" cy="4663440"/>
          </a:xfrm>
          <a:prstGeom prst="rect">
            <a:avLst/>
          </a:prstGeom>
          <a:noFill/>
        </p:spPr>
        <p:txBody>
          <a:bodyPr wrap="square">
            <a:spAutoFit/>
          </a:bodyPr>
          <a:lstStyle/>
          <a:p>
            <a:pPr>
              <a:spcBef>
                <a:spcPts val="500"/>
              </a:spcBef>
            </a:pPr>
            <a:r>
              <a:rPr sz="1400">
                <a:solidFill>
                  <a:srgbClr val="1F2A35"/>
                </a:solidFill>
              </a:rPr>
              <a:t>• Curso: Emprendimiento — UTFSM</a:t>
            </a:r>
          </a:p>
          <a:p>
            <a:pPr>
              <a:spcBef>
                <a:spcPts val="500"/>
              </a:spcBef>
            </a:pPr>
            <a:r>
              <a:rPr sz="1400">
                <a:solidFill>
                  <a:srgbClr val="1F2A35"/>
                </a:solidFill>
              </a:rPr>
              <a:t>• Equipo: Jenifer Castillo, Patricio De Lima, Alonso Sánchez</a:t>
            </a:r>
          </a:p>
          <a:p>
            <a:pPr>
              <a:spcBef>
                <a:spcPts val="500"/>
              </a:spcBef>
            </a:pPr>
          </a:p>
          <a:p>
            <a:pPr>
              <a:spcBef>
                <a:spcPts val="500"/>
              </a:spcBef>
            </a:pPr>
            <a:r>
              <a:rPr sz="1400">
                <a:solidFill>
                  <a:srgbClr val="1F2A35"/>
                </a:solidFill>
              </a:rPr>
              <a:t>• 12 entrevistas en terreno</a:t>
            </a:r>
          </a:p>
          <a:p>
            <a:pPr>
              <a:spcBef>
                <a:spcPts val="500"/>
              </a:spcBef>
            </a:pPr>
            <a:r>
              <a:rPr sz="1400">
                <a:solidFill>
                  <a:srgbClr val="1F2A35"/>
                </a:solidFill>
              </a:rPr>
              <a:t>• Localidades: Playa Ancha, Viña del Mar y Quilpué</a:t>
            </a:r>
          </a:p>
          <a:p>
            <a:pPr>
              <a:spcBef>
                <a:spcPts val="500"/>
              </a:spcBef>
            </a:pPr>
            <a:r>
              <a:rPr sz="1400">
                <a:solidFill>
                  <a:srgbClr val="1F2A35"/>
                </a:solidFill>
              </a:rPr>
              <a:t>• Perfiles socioeconómicos y etarios distintos</a:t>
            </a:r>
          </a:p>
          <a:p>
            <a:pPr>
              <a:spcBef>
                <a:spcPts val="500"/>
              </a:spcBef>
            </a:pPr>
          </a:p>
          <a:p>
            <a:pPr>
              <a:spcBef>
                <a:spcPts val="500"/>
              </a:spcBef>
            </a:pPr>
            <a:r>
              <a:rPr sz="1400">
                <a:solidFill>
                  <a:srgbClr val="1F2A35"/>
                </a:solidFill>
              </a:rPr>
              <a:t>• 7 dimensiones de análisis</a:t>
            </a:r>
          </a:p>
          <a:p>
            <a:pPr>
              <a:spcBef>
                <a:spcPts val="500"/>
              </a:spcBef>
            </a:pPr>
            <a:r>
              <a:rPr sz="1400">
                <a:solidFill>
                  <a:srgbClr val="1F2A35"/>
                </a:solidFill>
              </a:rPr>
              <a:t>• Respuestas dicotómicas (sí / no)</a:t>
            </a:r>
          </a:p>
        </p:txBody>
      </p:sp>
      <p:sp>
        <p:nvSpPr>
          <p:cNvPr id="8" name="TextBox 7"/>
          <p:cNvSpPr txBox="1"/>
          <p:nvPr/>
        </p:nvSpPr>
        <p:spPr>
          <a:xfrm>
            <a:off x="6297015" y="1097280"/>
            <a:ext cx="5272887" cy="457200"/>
          </a:xfrm>
          <a:prstGeom prst="rect">
            <a:avLst/>
          </a:prstGeom>
          <a:noFill/>
        </p:spPr>
        <p:txBody>
          <a:bodyPr wrap="none">
            <a:spAutoFit/>
          </a:bodyPr>
          <a:lstStyle/>
          <a:p>
            <a:r>
              <a:rPr sz="1400" b="1">
                <a:solidFill>
                  <a:srgbClr val="2E5F7E"/>
                </a:solidFill>
              </a:rPr>
              <a:t>Las dimensiones consultadas</a:t>
            </a:r>
          </a:p>
        </p:txBody>
      </p:sp>
      <p:sp>
        <p:nvSpPr>
          <p:cNvPr id="9" name="Rectangle 8"/>
          <p:cNvSpPr/>
          <p:nvPr/>
        </p:nvSpPr>
        <p:spPr>
          <a:xfrm>
            <a:off x="6297015" y="1554480"/>
            <a:ext cx="731520" cy="36576"/>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7015" y="1691640"/>
            <a:ext cx="5272887" cy="4663440"/>
          </a:xfrm>
          <a:prstGeom prst="rect">
            <a:avLst/>
          </a:prstGeom>
          <a:noFill/>
        </p:spPr>
        <p:txBody>
          <a:bodyPr wrap="square">
            <a:spAutoFit/>
          </a:bodyPr>
          <a:lstStyle/>
          <a:p>
            <a:pPr>
              <a:spcBef>
                <a:spcPts val="500"/>
              </a:spcBef>
            </a:pPr>
            <a:r>
              <a:rPr sz="1400">
                <a:solidFill>
                  <a:srgbClr val="1F2A35"/>
                </a:solidFill>
              </a:rPr>
              <a:t>1. ¿Conocen a los candidatos?</a:t>
            </a:r>
          </a:p>
          <a:p>
            <a:pPr>
              <a:spcBef>
                <a:spcPts val="500"/>
              </a:spcBef>
            </a:pPr>
            <a:r>
              <a:rPr sz="1400">
                <a:solidFill>
                  <a:srgbClr val="1F2A35"/>
                </a:solidFill>
              </a:rPr>
              <a:t>2. ¿Votan de manera informada?</a:t>
            </a:r>
          </a:p>
          <a:p>
            <a:pPr>
              <a:spcBef>
                <a:spcPts val="500"/>
              </a:spcBef>
            </a:pPr>
            <a:r>
              <a:rPr sz="1400">
                <a:solidFill>
                  <a:srgbClr val="1F2A35"/>
                </a:solidFill>
              </a:rPr>
              <a:t>3. ¿Se informan por redes sociales?</a:t>
            </a:r>
          </a:p>
          <a:p>
            <a:pPr>
              <a:spcBef>
                <a:spcPts val="500"/>
              </a:spcBef>
            </a:pPr>
            <a:r>
              <a:rPr sz="1400">
                <a:solidFill>
                  <a:srgbClr val="1F2A35"/>
                </a:solidFill>
              </a:rPr>
              <a:t>4. ¿Se informan por canales oficiales?</a:t>
            </a:r>
          </a:p>
          <a:p>
            <a:pPr>
              <a:spcBef>
                <a:spcPts val="500"/>
              </a:spcBef>
            </a:pPr>
            <a:r>
              <a:rPr sz="1400">
                <a:solidFill>
                  <a:srgbClr val="1F2A35"/>
                </a:solidFill>
              </a:rPr>
              <a:t>5. ¿Saben qué cargos se eligen?</a:t>
            </a:r>
          </a:p>
          <a:p>
            <a:pPr>
              <a:spcBef>
                <a:spcPts val="500"/>
              </a:spcBef>
            </a:pPr>
            <a:r>
              <a:rPr sz="1400">
                <a:solidFill>
                  <a:srgbClr val="1F2A35"/>
                </a:solidFill>
              </a:rPr>
              <a:t>6. ¿Creen que existe desinformación?</a:t>
            </a:r>
          </a:p>
          <a:p>
            <a:pPr>
              <a:spcBef>
                <a:spcPts val="500"/>
              </a:spcBef>
            </a:pPr>
            <a:r>
              <a:rPr sz="1400">
                <a:solidFill>
                  <a:srgbClr val="1F2A35"/>
                </a:solidFill>
              </a:rPr>
              <a:t>7. ¿Han visto fake news electorales?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3A5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28600"/>
            <a:ext cx="10911535" cy="685800"/>
          </a:xfrm>
          <a:prstGeom prst="rect">
            <a:avLst/>
          </a:prstGeom>
          <a:noFill/>
        </p:spPr>
        <p:txBody>
          <a:bodyPr wrap="square">
            <a:spAutoFit/>
          </a:bodyPr>
          <a:lstStyle/>
          <a:p>
            <a:r>
              <a:rPr sz="2400" b="1">
                <a:solidFill>
                  <a:srgbClr val="FFFFFF"/>
                </a:solidFill>
              </a:rPr>
              <a:t>Hallazgos del levantamiento de campo — N=12 entrevistados</a:t>
            </a:r>
          </a:p>
        </p:txBody>
      </p:sp>
      <p:sp>
        <p:nvSpPr>
          <p:cNvPr id="4" name="TextBox 3"/>
          <p:cNvSpPr txBox="1"/>
          <p:nvPr/>
        </p:nvSpPr>
        <p:spPr>
          <a:xfrm>
            <a:off x="640080" y="1280160"/>
            <a:ext cx="2727883" cy="2286000"/>
          </a:xfrm>
          <a:prstGeom prst="rect">
            <a:avLst/>
          </a:prstGeom>
          <a:noFill/>
        </p:spPr>
        <p:txBody>
          <a:bodyPr wrap="square">
            <a:spAutoFit/>
          </a:bodyPr>
          <a:lstStyle/>
          <a:p>
            <a:pPr algn="ctr"/>
            <a:r>
              <a:rPr sz="6000" b="1">
                <a:solidFill>
                  <a:srgbClr val="DC2626"/>
                </a:solidFill>
              </a:rPr>
              <a:t>100%</a:t>
            </a:r>
          </a:p>
        </p:txBody>
      </p:sp>
      <p:sp>
        <p:nvSpPr>
          <p:cNvPr id="5" name="TextBox 4"/>
          <p:cNvSpPr txBox="1"/>
          <p:nvPr/>
        </p:nvSpPr>
        <p:spPr>
          <a:xfrm>
            <a:off x="640080" y="3566160"/>
            <a:ext cx="2727883" cy="1645920"/>
          </a:xfrm>
          <a:prstGeom prst="rect">
            <a:avLst/>
          </a:prstGeom>
          <a:noFill/>
        </p:spPr>
        <p:txBody>
          <a:bodyPr wrap="square">
            <a:spAutoFit/>
          </a:bodyPr>
          <a:lstStyle/>
          <a:p>
            <a:pPr algn="ctr"/>
            <a:r>
              <a:rPr sz="1400" b="0">
                <a:solidFill>
                  <a:srgbClr val="4A9BBF"/>
                </a:solidFill>
              </a:rPr>
              <a:t>vio o conoce</a:t>
            </a:r>
            <a:br/>
            <a:r>
              <a:t>fake news electorales</a:t>
            </a:r>
          </a:p>
        </p:txBody>
      </p:sp>
      <p:sp>
        <p:nvSpPr>
          <p:cNvPr id="6" name="TextBox 5"/>
          <p:cNvSpPr txBox="1"/>
          <p:nvPr/>
        </p:nvSpPr>
        <p:spPr>
          <a:xfrm>
            <a:off x="3367963" y="1280160"/>
            <a:ext cx="2727883" cy="2286000"/>
          </a:xfrm>
          <a:prstGeom prst="rect">
            <a:avLst/>
          </a:prstGeom>
          <a:noFill/>
        </p:spPr>
        <p:txBody>
          <a:bodyPr wrap="square">
            <a:spAutoFit/>
          </a:bodyPr>
          <a:lstStyle/>
          <a:p>
            <a:pPr algn="ctr"/>
            <a:r>
              <a:rPr sz="6000" b="1">
                <a:solidFill>
                  <a:srgbClr val="3A9E7A"/>
                </a:solidFill>
              </a:rPr>
              <a:t>100%</a:t>
            </a:r>
          </a:p>
        </p:txBody>
      </p:sp>
      <p:sp>
        <p:nvSpPr>
          <p:cNvPr id="7" name="TextBox 6"/>
          <p:cNvSpPr txBox="1"/>
          <p:nvPr/>
        </p:nvSpPr>
        <p:spPr>
          <a:xfrm>
            <a:off x="3367963" y="3566160"/>
            <a:ext cx="2727883" cy="1645920"/>
          </a:xfrm>
          <a:prstGeom prst="rect">
            <a:avLst/>
          </a:prstGeom>
          <a:noFill/>
        </p:spPr>
        <p:txBody>
          <a:bodyPr wrap="square">
            <a:spAutoFit/>
          </a:bodyPr>
          <a:lstStyle/>
          <a:p>
            <a:pPr algn="ctr"/>
            <a:r>
              <a:rPr sz="1400" b="0">
                <a:solidFill>
                  <a:srgbClr val="4A9BBF"/>
                </a:solidFill>
              </a:rPr>
              <a:t>cree que existe</a:t>
            </a:r>
            <a:br/>
            <a:r>
              <a:t>desinformación en Chile</a:t>
            </a:r>
          </a:p>
        </p:txBody>
      </p:sp>
      <p:sp>
        <p:nvSpPr>
          <p:cNvPr id="8" name="TextBox 7"/>
          <p:cNvSpPr txBox="1"/>
          <p:nvPr/>
        </p:nvSpPr>
        <p:spPr>
          <a:xfrm>
            <a:off x="6095847" y="1280160"/>
            <a:ext cx="2727883" cy="2286000"/>
          </a:xfrm>
          <a:prstGeom prst="rect">
            <a:avLst/>
          </a:prstGeom>
          <a:noFill/>
        </p:spPr>
        <p:txBody>
          <a:bodyPr wrap="square">
            <a:spAutoFit/>
          </a:bodyPr>
          <a:lstStyle/>
          <a:p>
            <a:pPr algn="ctr"/>
            <a:r>
              <a:rPr sz="6000" b="1">
                <a:solidFill>
                  <a:srgbClr val="D97706"/>
                </a:solidFill>
              </a:rPr>
              <a:t>~83%</a:t>
            </a:r>
          </a:p>
        </p:txBody>
      </p:sp>
      <p:sp>
        <p:nvSpPr>
          <p:cNvPr id="9" name="TextBox 8"/>
          <p:cNvSpPr txBox="1"/>
          <p:nvPr/>
        </p:nvSpPr>
        <p:spPr>
          <a:xfrm>
            <a:off x="6095847" y="3566160"/>
            <a:ext cx="2727883" cy="1645920"/>
          </a:xfrm>
          <a:prstGeom prst="rect">
            <a:avLst/>
          </a:prstGeom>
          <a:noFill/>
        </p:spPr>
        <p:txBody>
          <a:bodyPr wrap="square">
            <a:spAutoFit/>
          </a:bodyPr>
          <a:lstStyle/>
          <a:p>
            <a:pPr algn="ctr"/>
            <a:r>
              <a:rPr sz="1400" b="0">
                <a:solidFill>
                  <a:srgbClr val="4A9BBF"/>
                </a:solidFill>
              </a:rPr>
              <a:t>se informa por</a:t>
            </a:r>
            <a:br/>
            <a:r>
              <a:t>redes sociales</a:t>
            </a:r>
          </a:p>
        </p:txBody>
      </p:sp>
      <p:sp>
        <p:nvSpPr>
          <p:cNvPr id="10" name="TextBox 9"/>
          <p:cNvSpPr txBox="1"/>
          <p:nvPr/>
        </p:nvSpPr>
        <p:spPr>
          <a:xfrm>
            <a:off x="8823731" y="1280160"/>
            <a:ext cx="2727883" cy="2286000"/>
          </a:xfrm>
          <a:prstGeom prst="rect">
            <a:avLst/>
          </a:prstGeom>
          <a:noFill/>
        </p:spPr>
        <p:txBody>
          <a:bodyPr wrap="square">
            <a:spAutoFit/>
          </a:bodyPr>
          <a:lstStyle/>
          <a:p>
            <a:pPr algn="ctr"/>
            <a:r>
              <a:rPr sz="6000" b="1">
                <a:solidFill>
                  <a:srgbClr val="4A9BBF"/>
                </a:solidFill>
              </a:rPr>
              <a:t>~25%</a:t>
            </a:r>
          </a:p>
        </p:txBody>
      </p:sp>
      <p:sp>
        <p:nvSpPr>
          <p:cNvPr id="11" name="TextBox 10"/>
          <p:cNvSpPr txBox="1"/>
          <p:nvPr/>
        </p:nvSpPr>
        <p:spPr>
          <a:xfrm>
            <a:off x="8823731" y="3566160"/>
            <a:ext cx="2727883" cy="1645920"/>
          </a:xfrm>
          <a:prstGeom prst="rect">
            <a:avLst/>
          </a:prstGeom>
          <a:noFill/>
        </p:spPr>
        <p:txBody>
          <a:bodyPr wrap="square">
            <a:spAutoFit/>
          </a:bodyPr>
          <a:lstStyle/>
          <a:p>
            <a:pPr algn="ctr"/>
            <a:r>
              <a:rPr sz="1400" b="0">
                <a:solidFill>
                  <a:srgbClr val="4A9BBF"/>
                </a:solidFill>
              </a:rPr>
              <a:t>usa canales</a:t>
            </a:r>
            <a:br/>
            <a:r>
              <a:t>oficiales (SERVEL)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44A63"/>
        </a:solidFill>
        <a:effectLst/>
      </p:bgPr>
    </p:bg>
    <p:spTree>
      <p:nvGrpSpPr>
        <p:cNvPr id="1" name=""/>
        <p:cNvGrpSpPr/>
        <p:nvPr/>
      </p:nvGrpSpPr>
      <p:grpSpPr/>
      <p:sp>
        <p:nvSpPr>
          <p:cNvPr id="2" name="TextBox 1"/>
          <p:cNvSpPr txBox="1"/>
          <p:nvPr/>
        </p:nvSpPr>
        <p:spPr>
          <a:xfrm>
            <a:off x="640080" y="457200"/>
            <a:ext cx="1371600" cy="1371600"/>
          </a:xfrm>
          <a:prstGeom prst="rect">
            <a:avLst/>
          </a:prstGeom>
          <a:noFill/>
        </p:spPr>
        <p:txBody>
          <a:bodyPr wrap="none">
            <a:spAutoFit/>
          </a:bodyPr>
          <a:lstStyle/>
          <a:p>
            <a:r>
              <a:rPr sz="9600" b="1">
                <a:solidFill>
                  <a:srgbClr val="3A9E7A"/>
                </a:solidFill>
              </a:rPr>
              <a:t>“</a:t>
            </a:r>
          </a:p>
        </p:txBody>
      </p:sp>
      <p:sp>
        <p:nvSpPr>
          <p:cNvPr id="3" name="TextBox 2"/>
          <p:cNvSpPr txBox="1"/>
          <p:nvPr/>
        </p:nvSpPr>
        <p:spPr>
          <a:xfrm>
            <a:off x="640080" y="1371600"/>
            <a:ext cx="10911535" cy="3657600"/>
          </a:xfrm>
          <a:prstGeom prst="rect">
            <a:avLst/>
          </a:prstGeom>
          <a:noFill/>
        </p:spPr>
        <p:txBody>
          <a:bodyPr wrap="square">
            <a:spAutoFit/>
          </a:bodyPr>
          <a:lstStyle/>
          <a:p>
            <a:pPr algn="l"/>
            <a:r>
              <a:rPr sz="2200" b="0" i="1">
                <a:solidFill>
                  <a:srgbClr val="FFFFFF"/>
                </a:solidFill>
              </a:rPr>
              <a:t>Solo un 21% de las personas se siente realmente informado y con la presencia de las fake news este número está en crecimiento. Dejando un espacio de oportunidad para encontrar una solución que reúna información confiable sobre candidatos y elecciones, accesible para todos.</a:t>
            </a:r>
          </a:p>
        </p:txBody>
      </p:sp>
      <p:sp>
        <p:nvSpPr>
          <p:cNvPr id="4" name="TextBox 3"/>
          <p:cNvSpPr txBox="1"/>
          <p:nvPr/>
        </p:nvSpPr>
        <p:spPr>
          <a:xfrm>
            <a:off x="640080" y="5120640"/>
            <a:ext cx="10911535" cy="548640"/>
          </a:xfrm>
          <a:prstGeom prst="rect">
            <a:avLst/>
          </a:prstGeom>
          <a:noFill/>
        </p:spPr>
        <p:txBody>
          <a:bodyPr wrap="none">
            <a:spAutoFit/>
          </a:bodyPr>
          <a:lstStyle/>
          <a:p>
            <a:pPr algn="r"/>
            <a:r>
              <a:rPr sz="1300" b="1">
                <a:solidFill>
                  <a:srgbClr val="7BA098"/>
                </a:solidFill>
              </a:rPr>
              <a:t>— Castillo, De Lima y Sánchez — Emprendimiento I, UTFSM,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7"/>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E5F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11535" cy="731520"/>
          </a:xfrm>
          <a:prstGeom prst="rect">
            <a:avLst/>
          </a:prstGeom>
          <a:noFill/>
        </p:spPr>
        <p:txBody>
          <a:bodyPr wrap="square">
            <a:spAutoFit/>
          </a:bodyPr>
          <a:lstStyle/>
          <a:p>
            <a:r>
              <a:rPr sz="2600" b="1">
                <a:solidFill>
                  <a:srgbClr val="1C3A52"/>
                </a:solidFill>
              </a:rPr>
              <a:t>Las herramientas existentes — y por qué fallaban</a:t>
            </a:r>
          </a:p>
        </p:txBody>
      </p:sp>
      <p:sp>
        <p:nvSpPr>
          <p:cNvPr id="4" name="Rectangle 3"/>
          <p:cNvSpPr/>
          <p:nvPr/>
        </p:nvSpPr>
        <p:spPr>
          <a:xfrm>
            <a:off x="6095847" y="1188720"/>
            <a:ext cx="18288" cy="5303520"/>
          </a:xfrm>
          <a:prstGeom prst="rect">
            <a:avLst/>
          </a:prstGeom>
          <a:solidFill>
            <a:srgbClr val="CBD1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5272887" cy="457200"/>
          </a:xfrm>
          <a:prstGeom prst="rect">
            <a:avLst/>
          </a:prstGeom>
          <a:noFill/>
        </p:spPr>
        <p:txBody>
          <a:bodyPr wrap="none">
            <a:spAutoFit/>
          </a:bodyPr>
          <a:lstStyle/>
          <a:p>
            <a:r>
              <a:rPr sz="1400" b="1">
                <a:solidFill>
                  <a:srgbClr val="2E5F7E"/>
                </a:solidFill>
              </a:rPr>
              <a:t>Lo que existía en Chile</a:t>
            </a:r>
          </a:p>
        </p:txBody>
      </p:sp>
      <p:sp>
        <p:nvSpPr>
          <p:cNvPr id="6" name="Rectangle 5"/>
          <p:cNvSpPr/>
          <p:nvPr/>
        </p:nvSpPr>
        <p:spPr>
          <a:xfrm>
            <a:off x="640080" y="1554480"/>
            <a:ext cx="731520" cy="36576"/>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272887" cy="4663440"/>
          </a:xfrm>
          <a:prstGeom prst="rect">
            <a:avLst/>
          </a:prstGeom>
          <a:noFill/>
        </p:spPr>
        <p:txBody>
          <a:bodyPr wrap="square">
            <a:spAutoFit/>
          </a:bodyPr>
          <a:lstStyle/>
          <a:p>
            <a:pPr>
              <a:spcBef>
                <a:spcPts val="500"/>
              </a:spcBef>
            </a:pPr>
            <a:r>
              <a:rPr sz="1400">
                <a:solidFill>
                  <a:srgbClr val="1F2A35"/>
                </a:solidFill>
              </a:rPr>
              <a:t>• Guías SERVEL</a:t>
            </a:r>
          </a:p>
          <a:p>
            <a:pPr>
              <a:spcBef>
                <a:spcPts val="500"/>
              </a:spcBef>
            </a:pPr>
            <a:r>
              <a:rPr sz="1400">
                <a:solidFill>
                  <a:srgbClr val="1F2A35"/>
                </a:solidFill>
              </a:rPr>
              <a:t>  → Extensas, pasivas, sin comparación</a:t>
            </a:r>
          </a:p>
          <a:p>
            <a:pPr>
              <a:spcBef>
                <a:spcPts val="500"/>
              </a:spcBef>
            </a:pPr>
          </a:p>
          <a:p>
            <a:pPr>
              <a:spcBef>
                <a:spcPts val="500"/>
              </a:spcBef>
            </a:pPr>
            <a:r>
              <a:rPr sz="1400">
                <a:solidFill>
                  <a:srgbClr val="1F2A35"/>
                </a:solidFill>
              </a:rPr>
              <a:t>• Voto Informado (SERVEL + PNUD)</a:t>
            </a:r>
          </a:p>
          <a:p>
            <a:pPr>
              <a:spcBef>
                <a:spcPts val="500"/>
              </a:spcBef>
            </a:pPr>
            <a:r>
              <a:rPr sz="1400">
                <a:solidFill>
                  <a:srgbClr val="1F2A35"/>
                </a:solidFill>
              </a:rPr>
              <a:t>  → Sin algoritmo de matching</a:t>
            </a:r>
          </a:p>
          <a:p>
            <a:pPr>
              <a:spcBef>
                <a:spcPts val="500"/>
              </a:spcBef>
            </a:pPr>
            <a:r>
              <a:rPr sz="1400">
                <a:solidFill>
                  <a:srgbClr val="1F2A35"/>
                </a:solidFill>
              </a:rPr>
              <a:t>  → Operación intermitente</a:t>
            </a:r>
          </a:p>
          <a:p>
            <a:pPr>
              <a:spcBef>
                <a:spcPts val="500"/>
              </a:spcBef>
            </a:pPr>
          </a:p>
          <a:p>
            <a:pPr>
              <a:spcBef>
                <a:spcPts val="500"/>
              </a:spcBef>
            </a:pPr>
            <a:r>
              <a:rPr sz="1400">
                <a:solidFill>
                  <a:srgbClr val="1F2A35"/>
                </a:solidFill>
              </a:rPr>
              <a:t>• Decide Chile</a:t>
            </a:r>
          </a:p>
          <a:p>
            <a:pPr>
              <a:spcBef>
                <a:spcPts val="500"/>
              </a:spcBef>
            </a:pPr>
            <a:r>
              <a:rPr sz="1400">
                <a:solidFill>
                  <a:srgbClr val="1F2A35"/>
                </a:solidFill>
              </a:rPr>
              <a:t>  → Discontinuada, sin datos actualizados</a:t>
            </a:r>
          </a:p>
          <a:p>
            <a:pPr>
              <a:spcBef>
                <a:spcPts val="500"/>
              </a:spcBef>
            </a:pPr>
            <a:r>
              <a:rPr sz="1400">
                <a:solidFill>
                  <a:srgbClr val="1F2A35"/>
                </a:solidFill>
              </a:rPr>
              <a:t>  → Inactiva al inicio del proyecto</a:t>
            </a:r>
          </a:p>
        </p:txBody>
      </p:sp>
      <p:sp>
        <p:nvSpPr>
          <p:cNvPr id="8" name="TextBox 7"/>
          <p:cNvSpPr txBox="1"/>
          <p:nvPr/>
        </p:nvSpPr>
        <p:spPr>
          <a:xfrm>
            <a:off x="6297015" y="1097280"/>
            <a:ext cx="5272887" cy="457200"/>
          </a:xfrm>
          <a:prstGeom prst="rect">
            <a:avLst/>
          </a:prstGeom>
          <a:noFill/>
        </p:spPr>
        <p:txBody>
          <a:bodyPr wrap="none">
            <a:spAutoFit/>
          </a:bodyPr>
          <a:lstStyle/>
          <a:p>
            <a:r>
              <a:rPr sz="1400" b="1">
                <a:solidFill>
                  <a:srgbClr val="2E5F7E"/>
                </a:solidFill>
              </a:rPr>
              <a:t>Lo que faltaba</a:t>
            </a:r>
          </a:p>
        </p:txBody>
      </p:sp>
      <p:sp>
        <p:nvSpPr>
          <p:cNvPr id="9" name="Rectangle 8"/>
          <p:cNvSpPr/>
          <p:nvPr/>
        </p:nvSpPr>
        <p:spPr>
          <a:xfrm>
            <a:off x="6297015" y="1554480"/>
            <a:ext cx="731520" cy="36576"/>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7015" y="1691640"/>
            <a:ext cx="5272887" cy="4663440"/>
          </a:xfrm>
          <a:prstGeom prst="rect">
            <a:avLst/>
          </a:prstGeom>
          <a:noFill/>
        </p:spPr>
        <p:txBody>
          <a:bodyPr wrap="square">
            <a:spAutoFit/>
          </a:bodyPr>
          <a:lstStyle/>
          <a:p>
            <a:pPr>
              <a:spcBef>
                <a:spcPts val="500"/>
              </a:spcBef>
            </a:pPr>
            <a:r>
              <a:rPr sz="1400">
                <a:solidFill>
                  <a:srgbClr val="1F2A35"/>
                </a:solidFill>
              </a:rPr>
              <a:t> VAA activa con metodología transparente</a:t>
            </a:r>
          </a:p>
          <a:p>
            <a:pPr>
              <a:spcBef>
                <a:spcPts val="500"/>
              </a:spcBef>
            </a:pPr>
            <a:r>
              <a:rPr sz="1400">
                <a:solidFill>
                  <a:srgbClr val="1F2A35"/>
                </a:solidFill>
              </a:rPr>
              <a:t> Algoritmo de matching auditable</a:t>
            </a:r>
          </a:p>
          <a:p>
            <a:pPr>
              <a:spcBef>
                <a:spcPts val="500"/>
              </a:spcBef>
            </a:pPr>
            <a:r>
              <a:rPr sz="1400">
                <a:solidFill>
                  <a:srgbClr val="1F2A35"/>
                </a:solidFill>
              </a:rPr>
              <a:t> Datos verificados y trazables</a:t>
            </a:r>
          </a:p>
          <a:p>
            <a:pPr>
              <a:spcBef>
                <a:spcPts val="500"/>
              </a:spcBef>
            </a:pPr>
            <a:r>
              <a:rPr sz="1400">
                <a:solidFill>
                  <a:srgbClr val="1F2A35"/>
                </a:solidFill>
              </a:rPr>
              <a:t> Diseño mobile-first</a:t>
            </a:r>
          </a:p>
          <a:p>
            <a:pPr>
              <a:spcBef>
                <a:spcPts val="500"/>
              </a:spcBef>
            </a:pPr>
            <a:r>
              <a:rPr sz="1400">
                <a:solidFill>
                  <a:srgbClr val="1F2A35"/>
                </a:solidFill>
              </a:rPr>
              <a:t> Código abierto</a:t>
            </a:r>
          </a:p>
          <a:p>
            <a:pPr>
              <a:spcBef>
                <a:spcPts val="500"/>
              </a:spcBef>
            </a:pPr>
          </a:p>
          <a:p>
            <a:pPr>
              <a:spcBef>
                <a:spcPts val="500"/>
              </a:spcBef>
            </a:pPr>
            <a:r>
              <a:rPr sz="1400">
                <a:solidFill>
                  <a:srgbClr val="1F2A35"/>
                </a:solidFill>
              </a:rPr>
              <a:t>→ La brecha estaba vacante.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7"/>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E5F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11535" cy="777240"/>
          </a:xfrm>
          <a:prstGeom prst="rect">
            <a:avLst/>
          </a:prstGeom>
          <a:noFill/>
        </p:spPr>
        <p:txBody>
          <a:bodyPr wrap="square">
            <a:spAutoFit/>
          </a:bodyPr>
          <a:lstStyle/>
          <a:p>
            <a:r>
              <a:rPr sz="2800" b="1">
                <a:solidFill>
                  <a:srgbClr val="1C3A52"/>
                </a:solidFill>
              </a:rPr>
              <a:t>¿Quiénes son más vulnerables?</a:t>
            </a:r>
          </a:p>
        </p:txBody>
      </p:sp>
      <p:sp>
        <p:nvSpPr>
          <p:cNvPr id="4" name="Rectangle 3"/>
          <p:cNvSpPr/>
          <p:nvPr/>
        </p:nvSpPr>
        <p:spPr>
          <a:xfrm>
            <a:off x="640080" y="1143000"/>
            <a:ext cx="1371600" cy="36576"/>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911535" cy="640080"/>
          </a:xfrm>
          <a:prstGeom prst="rect">
            <a:avLst/>
          </a:prstGeom>
          <a:noFill/>
        </p:spPr>
        <p:txBody>
          <a:bodyPr wrap="square">
            <a:spAutoFit/>
          </a:bodyPr>
          <a:lstStyle/>
          <a:p>
            <a:r>
              <a:rPr sz="1700" b="1">
                <a:solidFill>
                  <a:srgbClr val="2E5F7E"/>
                </a:solidFill>
              </a:rPr>
              <a:t>Tres segmentos identificados con mayor déficit informativo</a:t>
            </a:r>
          </a:p>
        </p:txBody>
      </p:sp>
      <p:sp>
        <p:nvSpPr>
          <p:cNvPr id="6" name="TextBox 5"/>
          <p:cNvSpPr txBox="1"/>
          <p:nvPr/>
        </p:nvSpPr>
        <p:spPr>
          <a:xfrm>
            <a:off x="640080" y="2011680"/>
            <a:ext cx="10911535" cy="4389120"/>
          </a:xfrm>
          <a:prstGeom prst="rect">
            <a:avLst/>
          </a:prstGeom>
          <a:noFill/>
        </p:spPr>
        <p:txBody>
          <a:bodyPr wrap="square">
            <a:spAutoFit/>
          </a:bodyPr>
          <a:lstStyle/>
          <a:p>
            <a:pPr>
              <a:spcBef>
                <a:spcPts val="400"/>
              </a:spcBef>
            </a:pPr>
            <a:r>
              <a:rPr sz="1600">
                <a:solidFill>
                  <a:srgbClr val="1F2A35"/>
                </a:solidFill>
              </a:rPr>
              <a:t> JÓVENES VOTANTES</a:t>
            </a:r>
          </a:p>
          <a:p>
            <a:pPr>
              <a:spcBef>
                <a:spcPts val="400"/>
              </a:spcBef>
            </a:pPr>
            <a:r>
              <a:rPr sz="1600">
                <a:solidFill>
                  <a:srgbClr val="1F2A35"/>
                </a:solidFill>
              </a:rPr>
              <a:t>  Alta exposición a redes sociales · Bajo consumo de medios verificados</a:t>
            </a:r>
          </a:p>
          <a:p>
            <a:pPr>
              <a:spcBef>
                <a:spcPts val="400"/>
              </a:spcBef>
            </a:pPr>
            <a:r>
              <a:rPr sz="1600">
                <a:solidFill>
                  <a:srgbClr val="1F2A35"/>
                </a:solidFill>
              </a:rPr>
              <a:t>  Mayor potencial de adopción de una solución tecnológica mobile-first</a:t>
            </a:r>
          </a:p>
          <a:p>
            <a:pPr>
              <a:spcBef>
                <a:spcPts val="400"/>
              </a:spcBef>
            </a:pPr>
          </a:p>
          <a:p>
            <a:pPr>
              <a:spcBef>
                <a:spcPts val="400"/>
              </a:spcBef>
            </a:pPr>
            <a:r>
              <a:rPr sz="1600">
                <a:solidFill>
                  <a:srgbClr val="1F2A35"/>
                </a:solidFill>
              </a:rPr>
              <a:t> ADULTOS MAYORES</a:t>
            </a:r>
          </a:p>
          <a:p>
            <a:pPr>
              <a:spcBef>
                <a:spcPts val="400"/>
              </a:spcBef>
            </a:pPr>
            <a:r>
              <a:rPr sz="1600">
                <a:solidFill>
                  <a:srgbClr val="1F2A35"/>
                </a:solidFill>
              </a:rPr>
              <a:t>  Dificultad para evaluar confiabilidad en plataformas digitales</a:t>
            </a:r>
          </a:p>
          <a:p>
            <a:pPr>
              <a:spcBef>
                <a:spcPts val="400"/>
              </a:spcBef>
            </a:pPr>
            <a:r>
              <a:rPr sz="1600">
                <a:solidFill>
                  <a:srgbClr val="1F2A35"/>
                </a:solidFill>
              </a:rPr>
              <a:t>  Alta exposición + menor capacidad de verificación independiente</a:t>
            </a:r>
          </a:p>
          <a:p>
            <a:pPr>
              <a:spcBef>
                <a:spcPts val="400"/>
              </a:spcBef>
            </a:pPr>
          </a:p>
          <a:p>
            <a:pPr>
              <a:spcBef>
                <a:spcPts val="400"/>
              </a:spcBef>
            </a:pPr>
            <a:r>
              <a:rPr sz="1600">
                <a:solidFill>
                  <a:srgbClr val="1F2A35"/>
                </a:solidFill>
              </a:rPr>
              <a:t> VOTANTES INDECISOS</a:t>
            </a:r>
          </a:p>
          <a:p>
            <a:pPr>
              <a:spcBef>
                <a:spcPts val="400"/>
              </a:spcBef>
            </a:pPr>
            <a:r>
              <a:rPr sz="1600">
                <a:solidFill>
                  <a:srgbClr val="1F2A35"/>
                </a:solidFill>
              </a:rPr>
              <a:t>  Buscan información en el período previo inmediato a la elección</a:t>
            </a:r>
          </a:p>
          <a:p>
            <a:pPr>
              <a:spcBef>
                <a:spcPts val="400"/>
              </a:spcBef>
            </a:pPr>
            <a:r>
              <a:rPr sz="1600">
                <a:solidFill>
                  <a:srgbClr val="1F2A35"/>
                </a:solidFill>
              </a:rPr>
              <a:t>  Momento de mayor flujo de contenido partidario y desinformativo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3A5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11535" cy="731520"/>
          </a:xfrm>
          <a:prstGeom prst="rect">
            <a:avLst/>
          </a:prstGeom>
          <a:noFill/>
        </p:spPr>
        <p:txBody>
          <a:bodyPr wrap="square">
            <a:spAutoFit/>
          </a:bodyPr>
          <a:lstStyle/>
          <a:p>
            <a:r>
              <a:rPr sz="2400" b="1">
                <a:solidFill>
                  <a:srgbClr val="4A9BBF"/>
                </a:solidFill>
              </a:rPr>
              <a:t>¿Por qué el problema merece ser abordado desde la ingeniería?</a:t>
            </a:r>
          </a:p>
        </p:txBody>
      </p:sp>
      <p:sp>
        <p:nvSpPr>
          <p:cNvPr id="4" name="TextBox 3"/>
          <p:cNvSpPr txBox="1"/>
          <p:nvPr/>
        </p:nvSpPr>
        <p:spPr>
          <a:xfrm>
            <a:off x="640080" y="1188720"/>
            <a:ext cx="10911535" cy="1371600"/>
          </a:xfrm>
          <a:prstGeom prst="rect">
            <a:avLst/>
          </a:prstGeom>
          <a:noFill/>
        </p:spPr>
        <p:txBody>
          <a:bodyPr wrap="square">
            <a:spAutoFit/>
          </a:bodyPr>
          <a:lstStyle/>
          <a:p>
            <a:r>
              <a:rPr sz="3400" b="1">
                <a:solidFill>
                  <a:srgbClr val="FFFFFF"/>
                </a:solidFill>
              </a:rPr>
              <a:t>Es un problema de intermediación, no de escasez.</a:t>
            </a:r>
          </a:p>
        </p:txBody>
      </p:sp>
      <p:sp>
        <p:nvSpPr>
          <p:cNvPr id="5" name="TextBox 4"/>
          <p:cNvSpPr txBox="1"/>
          <p:nvPr/>
        </p:nvSpPr>
        <p:spPr>
          <a:xfrm>
            <a:off x="640080" y="2651760"/>
            <a:ext cx="10911535" cy="3840480"/>
          </a:xfrm>
          <a:prstGeom prst="rect">
            <a:avLst/>
          </a:prstGeom>
          <a:noFill/>
        </p:spPr>
        <p:txBody>
          <a:bodyPr wrap="square">
            <a:spAutoFit/>
          </a:bodyPr>
          <a:lstStyle/>
          <a:p>
            <a:pPr>
              <a:spcBef>
                <a:spcPts val="400"/>
              </a:spcBef>
            </a:pPr>
            <a:r>
              <a:rPr sz="1600">
                <a:solidFill>
                  <a:srgbClr val="4A9BBF"/>
                </a:solidFill>
              </a:rPr>
              <a:t>Las posturas de los candidatos existen en el registro público.</a:t>
            </a:r>
          </a:p>
          <a:p>
            <a:pPr>
              <a:spcBef>
                <a:spcPts val="400"/>
              </a:spcBef>
            </a:pPr>
            <a:r>
              <a:rPr sz="1600">
                <a:solidFill>
                  <a:srgbClr val="4A9BBF"/>
                </a:solidFill>
              </a:rPr>
              <a:t>La información electoral primaria está disponible.</a:t>
            </a:r>
          </a:p>
          <a:p>
            <a:pPr>
              <a:spcBef>
                <a:spcPts val="400"/>
              </a:spcBef>
            </a:pPr>
            <a:r>
              <a:rPr sz="1600">
                <a:solidFill>
                  <a:srgbClr val="4A9BBF"/>
                </a:solidFill>
              </a:rPr>
              <a:t>El problema no es la ausencia de datos.</a:t>
            </a:r>
          </a:p>
          <a:p>
            <a:pPr>
              <a:spcBef>
                <a:spcPts val="400"/>
              </a:spcBef>
            </a:pPr>
          </a:p>
          <a:p>
            <a:pPr>
              <a:spcBef>
                <a:spcPts val="400"/>
              </a:spcBef>
            </a:pPr>
            <a:r>
              <a:rPr sz="1600">
                <a:solidFill>
                  <a:srgbClr val="4A9BBF"/>
                </a:solidFill>
              </a:rPr>
              <a:t>El problema es la transformación:</a:t>
            </a:r>
          </a:p>
          <a:p>
            <a:pPr>
              <a:spcBef>
                <a:spcPts val="400"/>
              </a:spcBef>
            </a:pPr>
            <a:r>
              <a:rPr sz="1600">
                <a:solidFill>
                  <a:srgbClr val="4A9BBF"/>
                </a:solidFill>
              </a:rPr>
              <a:t>  Información bruta  →  Conocimiento accionable para el votante promedio.</a:t>
            </a:r>
          </a:p>
          <a:p>
            <a:pPr>
              <a:spcBef>
                <a:spcPts val="400"/>
              </a:spcBef>
            </a:pPr>
          </a:p>
          <a:p>
            <a:pPr>
              <a:spcBef>
                <a:spcPts val="400"/>
              </a:spcBef>
            </a:pPr>
            <a:r>
              <a:rPr sz="1600">
                <a:solidFill>
                  <a:srgbClr val="4A9BBF"/>
                </a:solidFill>
              </a:rPr>
              <a:t>Este es exactamente el tipo de problema que la ingeniería de software puede resolver:</a:t>
            </a:r>
          </a:p>
          <a:p>
            <a:pPr>
              <a:spcBef>
                <a:spcPts val="400"/>
              </a:spcBef>
            </a:pPr>
            <a:r>
              <a:rPr sz="1600">
                <a:solidFill>
                  <a:srgbClr val="4A9BBF"/>
                </a:solidFill>
              </a:rPr>
              <a:t>  Acceso · Procesamiento · Presentación.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7"/>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2E5F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11535" cy="777240"/>
          </a:xfrm>
          <a:prstGeom prst="rect">
            <a:avLst/>
          </a:prstGeom>
          <a:noFill/>
        </p:spPr>
        <p:txBody>
          <a:bodyPr wrap="square">
            <a:spAutoFit/>
          </a:bodyPr>
          <a:lstStyle/>
          <a:p>
            <a:r>
              <a:rPr sz="2800" b="1">
                <a:solidFill>
                  <a:srgbClr val="1C3A52"/>
                </a:solidFill>
              </a:rPr>
              <a:t>La oportunidad identificada</a:t>
            </a:r>
          </a:p>
        </p:txBody>
      </p:sp>
      <p:sp>
        <p:nvSpPr>
          <p:cNvPr id="4" name="Rectangle 3"/>
          <p:cNvSpPr/>
          <p:nvPr/>
        </p:nvSpPr>
        <p:spPr>
          <a:xfrm>
            <a:off x="640080" y="1143000"/>
            <a:ext cx="1371600" cy="36576"/>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911535" cy="640080"/>
          </a:xfrm>
          <a:prstGeom prst="rect">
            <a:avLst/>
          </a:prstGeom>
          <a:noFill/>
        </p:spPr>
        <p:txBody>
          <a:bodyPr wrap="square">
            <a:spAutoFit/>
          </a:bodyPr>
          <a:lstStyle/>
          <a:p>
            <a:r>
              <a:rPr sz="1700" b="1">
                <a:solidFill>
                  <a:srgbClr val="2E5F7E"/>
                </a:solidFill>
              </a:rPr>
              <a:t>"Diseñar una herramienta que permita a los ciudadanos acceder a información confiable, clara y oportuna."</a:t>
            </a:r>
          </a:p>
        </p:txBody>
      </p:sp>
      <p:sp>
        <p:nvSpPr>
          <p:cNvPr id="6" name="TextBox 5"/>
          <p:cNvSpPr txBox="1"/>
          <p:nvPr/>
        </p:nvSpPr>
        <p:spPr>
          <a:xfrm>
            <a:off x="640080" y="2011680"/>
            <a:ext cx="10911535" cy="4389120"/>
          </a:xfrm>
          <a:prstGeom prst="rect">
            <a:avLst/>
          </a:prstGeom>
          <a:noFill/>
        </p:spPr>
        <p:txBody>
          <a:bodyPr wrap="square">
            <a:spAutoFit/>
          </a:bodyPr>
          <a:lstStyle/>
          <a:p>
            <a:pPr>
              <a:spcBef>
                <a:spcPts val="400"/>
              </a:spcBef>
            </a:pPr>
            <a:r>
              <a:rPr sz="1600">
                <a:solidFill>
                  <a:srgbClr val="1F2A35"/>
                </a:solidFill>
              </a:rPr>
              <a:t>La justificación emerge en 5 dimensiones:</a:t>
            </a:r>
          </a:p>
          <a:p>
            <a:pPr>
              <a:spcBef>
                <a:spcPts val="400"/>
              </a:spcBef>
            </a:pPr>
          </a:p>
          <a:p>
            <a:pPr>
              <a:spcBef>
                <a:spcPts val="400"/>
              </a:spcBef>
            </a:pPr>
            <a:r>
              <a:rPr sz="1600">
                <a:solidFill>
                  <a:srgbClr val="1F2A35"/>
                </a:solidFill>
              </a:rPr>
              <a:t>  1. Preservar la integridad de la democracia</a:t>
            </a:r>
          </a:p>
          <a:p>
            <a:pPr>
              <a:spcBef>
                <a:spcPts val="400"/>
              </a:spcBef>
            </a:pPr>
            <a:r>
              <a:rPr sz="1600">
                <a:solidFill>
                  <a:srgbClr val="1F2A35"/>
                </a:solidFill>
              </a:rPr>
              <a:t>  2. Fomentar el voto informado</a:t>
            </a:r>
          </a:p>
          <a:p>
            <a:pPr>
              <a:spcBef>
                <a:spcPts val="400"/>
              </a:spcBef>
            </a:pPr>
            <a:r>
              <a:rPr sz="1600">
                <a:solidFill>
                  <a:srgbClr val="1F2A35"/>
                </a:solidFill>
              </a:rPr>
              <a:t>  3. Fortalecer la confianza en las instituciones</a:t>
            </a:r>
          </a:p>
          <a:p>
            <a:pPr>
              <a:spcBef>
                <a:spcPts val="400"/>
              </a:spcBef>
            </a:pPr>
            <a:r>
              <a:rPr sz="1600">
                <a:solidFill>
                  <a:srgbClr val="1F2A35"/>
                </a:solidFill>
              </a:rPr>
              <a:t>  4. Evitar impactos negativos en la participación electoral</a:t>
            </a:r>
          </a:p>
          <a:p>
            <a:pPr>
              <a:spcBef>
                <a:spcPts val="400"/>
              </a:spcBef>
            </a:pPr>
            <a:r>
              <a:rPr sz="1600">
                <a:solidFill>
                  <a:srgbClr val="1F2A35"/>
                </a:solidFill>
              </a:rPr>
              <a:t>  5. Adaptarse a un entorno digital cambiante</a:t>
            </a:r>
          </a:p>
          <a:p>
            <a:pPr>
              <a:spcBef>
                <a:spcPts val="400"/>
              </a:spcBef>
            </a:pPr>
          </a:p>
          <a:p>
            <a:pPr>
              <a:spcBef>
                <a:spcPts val="400"/>
              </a:spcBef>
            </a:pPr>
            <a:r>
              <a:rPr sz="1600">
                <a:solidFill>
                  <a:srgbClr val="1F2A35"/>
                </a:solidFill>
              </a:rPr>
              <a:t>→ Un espacio vacante · Una necesidad real · Un problema abordable.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3A52"/>
        </a:solidFill>
        <a:effectLst/>
      </p:bgPr>
    </p:bg>
    <p:spTree>
      <p:nvGrpSpPr>
        <p:cNvPr id="1" name=""/>
        <p:cNvGrpSpPr/>
        <p:nvPr/>
      </p:nvGrpSpPr>
      <p:grpSpPr/>
      <p:sp>
        <p:nvSpPr>
          <p:cNvPr id="2" name="Rectangle 1"/>
          <p:cNvSpPr/>
          <p:nvPr/>
        </p:nvSpPr>
        <p:spPr>
          <a:xfrm>
            <a:off x="640080" y="2011680"/>
            <a:ext cx="54864" cy="2286000"/>
          </a:xfrm>
          <a:prstGeom prst="rect">
            <a:avLst/>
          </a:prstGeom>
          <a:solidFill>
            <a:srgbClr val="3A9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911535" cy="457200"/>
          </a:xfrm>
          <a:prstGeom prst="rect">
            <a:avLst/>
          </a:prstGeom>
          <a:noFill/>
        </p:spPr>
        <p:txBody>
          <a:bodyPr wrap="square">
            <a:spAutoFit/>
          </a:bodyPr>
          <a:lstStyle/>
          <a:p>
            <a:pPr algn="l"/>
            <a:r>
              <a:rPr sz="1100" b="1" i="0">
                <a:solidFill>
                  <a:srgbClr val="3A9E7A"/>
                </a:solidFill>
              </a:rPr>
              <a:t>CIERRE — PRESENTACIÓN 1 DE 4</a:t>
            </a:r>
          </a:p>
        </p:txBody>
      </p:sp>
      <p:sp>
        <p:nvSpPr>
          <p:cNvPr id="4" name="TextBox 3"/>
          <p:cNvSpPr txBox="1"/>
          <p:nvPr/>
        </p:nvSpPr>
        <p:spPr>
          <a:xfrm>
            <a:off x="640080" y="2194560"/>
            <a:ext cx="10911535" cy="2286000"/>
          </a:xfrm>
          <a:prstGeom prst="rect">
            <a:avLst/>
          </a:prstGeom>
          <a:noFill/>
        </p:spPr>
        <p:txBody>
          <a:bodyPr wrap="square">
            <a:spAutoFit/>
          </a:bodyPr>
          <a:lstStyle/>
          <a:p>
            <a:pPr algn="l"/>
            <a:r>
              <a:rPr sz="4400" b="1">
                <a:solidFill>
                  <a:srgbClr val="FFFFFF"/>
                </a:solidFill>
              </a:rPr>
              <a:t>Un problema real. Una brecha concreta. Una oportunidad verificada.</a:t>
            </a:r>
          </a:p>
        </p:txBody>
      </p:sp>
      <p:sp>
        <p:nvSpPr>
          <p:cNvPr id="5" name="TextBox 4"/>
          <p:cNvSpPr txBox="1"/>
          <p:nvPr/>
        </p:nvSpPr>
        <p:spPr>
          <a:xfrm>
            <a:off x="640080" y="4480560"/>
            <a:ext cx="10911535" cy="1097280"/>
          </a:xfrm>
          <a:prstGeom prst="rect">
            <a:avLst/>
          </a:prstGeom>
          <a:noFill/>
        </p:spPr>
        <p:txBody>
          <a:bodyPr wrap="square">
            <a:spAutoFit/>
          </a:bodyPr>
          <a:lstStyle/>
          <a:p>
            <a:pPr algn="l"/>
            <a:r>
              <a:rPr sz="1800" b="0">
                <a:solidFill>
                  <a:srgbClr val="4A9BBF"/>
                </a:solidFill>
              </a:rPr>
              <a:t>Continuación → Presentación 2: La Evolución de la Idea</a:t>
            </a:r>
            <a:br/>
            <a:r>
              <a:t>Cómo una observación empírica se transformó en un sistema.</a:t>
            </a:r>
          </a:p>
        </p:txBody>
      </p:sp>
      <p:sp>
        <p:nvSpPr>
          <p:cNvPr id="6" name="TextBox 5"/>
          <p:cNvSpPr txBox="1"/>
          <p:nvPr/>
        </p:nvSpPr>
        <p:spPr>
          <a:xfrm>
            <a:off x="640080" y="6217920"/>
            <a:ext cx="10911535" cy="365760"/>
          </a:xfrm>
          <a:prstGeom prst="rect">
            <a:avLst/>
          </a:prstGeom>
          <a:noFill/>
        </p:spPr>
        <p:txBody>
          <a:bodyPr wrap="none">
            <a:spAutoFit/>
          </a:bodyPr>
          <a:lstStyle/>
          <a:p>
            <a:pPr algn="r"/>
            <a:r>
              <a:rPr sz="900">
                <a:solidFill>
                  <a:srgbClr val="7BA098"/>
                </a:solidFill>
              </a:rPr>
              <a:t>VotoAFin · UTFSM · Jenifer Castillo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