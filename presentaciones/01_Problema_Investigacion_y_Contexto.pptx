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APERTURA -- 10 a 15 minutos</a:t>
            </a:r>
          </a:p>
          <a:p/>
          <a:p>
            <a:r>
              <a:t>Comenzar con una pregunta directa a la audiencia:</a:t>
            </a:r>
          </a:p>
          <a:p>
            <a:r>
              <a:t>  '?Cuantos saben el nombre de al menos un candidato a diputado de su distrito?'</a:t>
            </a:r>
          </a:p>
          <a:p/>
          <a:p>
            <a:r>
              <a:t>Esta presentacion responde DOS preguntas:</a:t>
            </a:r>
          </a:p>
          <a:p>
            <a:r>
              <a:t>  1. ?Por que existe el problema?</a:t>
            </a:r>
          </a:p>
          <a:p>
            <a:r>
              <a:t>  2. ?Por que merece ser resuelto?</a:t>
            </a:r>
          </a:p>
          <a:p/>
          <a:p>
            <a:r>
              <a:t>No se habla de la aplicacion todavia. Solo del problema y la investigacion.</a:t>
            </a:r>
          </a:p>
          <a:p>
            <a:r>
              <a:t>El objetivo es que la audiencia termine pensando: 'Si, este problema existe.'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Chile tuvo entre 2020 y 2024 una densidad electoral sin precedentes.</a:t>
            </a:r>
          </a:p>
          <a:p>
            <a:r>
              <a:t>Ningun otro periodo de cuatro anos en la historia chilena tuvo tantos procesos consecutivos.</a:t>
            </a:r>
          </a:p>
          <a:p/>
          <a:p>
            <a:r>
              <a:t>Los analistas comenzaron a documentar la 'fatiga electoral':</a:t>
            </a:r>
          </a:p>
          <a:p>
            <a:r>
              <a:t>a medida que se sucedian los procesos, los ciudadanos invertian menos atencion en informarse.</a:t>
            </a:r>
          </a:p>
          <a:p/>
          <a:p>
            <a:r>
              <a:t>Este contexto es el escenario donde nace el problema que VotoAfin busca resolver.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cita encapsula la consecuencia de la densidad electoral: no es solo cansancio, es una reduccion activa en la disposicion a informarse.</a:t>
            </a:r>
          </a:p>
          <a:p/>
          <a:p>
            <a:r>
              <a:t>Claudio Fuentes (UDP) identifico tres causas: desinformacion, desinteres, desconfianza.</a:t>
            </a:r>
          </a:p>
          <a:p>
            <a:r>
              <a:t>Las tres 'D' sintetizan el problema que VotoAfin busca abordar.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Fuente: Informe Claves Ipsos N33 -- Municipales octubre 2024.</a:t>
            </a:r>
          </a:p>
          <a:p/>
          <a:p>
            <a:r>
              <a:t>Solo el 21% 'muy informado' -- y eso en el cargo de MAYOR visibilidad.</a:t>
            </a:r>
          </a:p>
          <a:p>
            <a:r>
              <a:t>Para concejales: 60% indeciso. Para gobernadores: 64%. Para consejeros: 68%.</a:t>
            </a:r>
          </a:p>
          <a:p/>
          <a:p>
            <a:r>
              <a:t>Conclusion: una proporcion significativa del electorado voto sin informacion</a:t>
            </a:r>
          </a:p>
          <a:p>
            <a:r>
              <a:t>adecuada sobre los candidatos. El voto se convirtio en una decision bajo incertidumbre.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Fuente: Activa Knowledge for Action -- 'Fake News y Desinformacion en Chile y LatAm'.</a:t>
            </a:r>
          </a:p>
          <a:p/>
          <a:p>
            <a:r>
              <a:t>El 52% encuentra desinformacion TODOS LOS DIAS. 29% al menos una vez por semana.</a:t>
            </a:r>
          </a:p>
          <a:p>
            <a:r>
              <a:t>Suma semanal o mas: 81% del electorado.</a:t>
            </a:r>
          </a:p>
          <a:p/>
          <a:p>
            <a:r>
              <a:t>Paradoja: las tres fuentes mas usadas (TV 35%, noticias online 14%, Facebook 12%)</a:t>
            </a:r>
          </a:p>
          <a:p>
            <a:r>
              <a:t>son exactamente aquellas en que menos confian.</a:t>
            </a:r>
          </a:p>
          <a:p/>
          <a:p>
            <a:r>
              <a:t>El dato del 100% proviene del levantamiento de campo propio (12 entrevistas en Valparaiso).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+460% en votos nulos para alcalde es el indicador mas dramatico:</a:t>
            </a:r>
          </a:p>
          <a:p>
            <a:r>
              <a:t>mismo cargo, mismo electorado, cuatro anos despues.</a:t>
            </a:r>
          </a:p>
          <a:p/>
          <a:p>
            <a:r>
              <a:t>Los expertos del SERVEL fueron explícitos:</a:t>
            </a:r>
          </a:p>
          <a:p>
            <a:r>
              <a:t>'Los votos blancos normalmente son el resultado de la desinformacion.</a:t>
            </a:r>
          </a:p>
          <a:p>
            <a:r>
              <a:t>En este proceso hubo poca informacion. Poca gente sabia lo que se votaba.'</a:t>
            </a:r>
          </a:p>
          <a:p/>
          <a:p>
            <a:r>
              <a:t>2,1 millones de sufragios nulos en los procesos constitucionales =</a:t>
            </a:r>
          </a:p>
          <a:p>
            <a:r>
              <a:t>el equivalente a la poblacion de Santiago y Valparaiso juntos.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sobrecarga informativa no es solo 'mucha informacion':</a:t>
            </a:r>
          </a:p>
          <a:p>
            <a:r>
              <a:t>es la combinacion de volumen + falta de estructura + desinformacion activa.</a:t>
            </a:r>
          </a:p>
          <a:p/>
          <a:p>
            <a:r>
              <a:t>El votante promedio no tiene tiempo de leer los programas de cada candidato</a:t>
            </a:r>
          </a:p>
          <a:p>
            <a:r>
              <a:t>para cada uno de los multiples cargos en disputa.</a:t>
            </a:r>
          </a:p>
          <a:p/>
          <a:p>
            <a:r>
              <a:t>Las herramientas que existian eran pasivas: el usuario debia saber que buscar</a:t>
            </a:r>
          </a:p>
          <a:p>
            <a:r>
              <a:t>y tener disposicion a leer extensamente. Ese es el punto de quiebre.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investigacion combino fuentes secundarias (Ipsos, Activa, SERVEL)</a:t>
            </a:r>
          </a:p>
          <a:p>
            <a:r>
              <a:t>con trabajo de campo propio en tres comunas del Gran Valparaiso.</a:t>
            </a:r>
          </a:p>
          <a:p/>
          <a:p>
            <a:r>
              <a:t>Las 12 entrevistas no son estadisticamente representativas -- el equipo</a:t>
            </a:r>
          </a:p>
          <a:p>
            <a:r>
              <a:t>fue explícito en ese punto -- pero si ofrecen triangulacion cualitativa</a:t>
            </a:r>
          </a:p>
          <a:p>
            <a:r>
              <a:t>de los datos nacionales.</a:t>
            </a:r>
          </a:p>
          <a:p/>
          <a:p>
            <a:r>
              <a:t>El hallazgo mas contundente: 12 de 12 entrevistados habian visto fake news</a:t>
            </a:r>
          </a:p>
          <a:p>
            <a:r>
              <a:t>electorales. No hubo ninguna excepcion.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Estos datos son coherentes con el panorama nacional:</a:t>
            </a:r>
          </a:p>
          <a:p>
            <a:r>
              <a:t>  - 83% redes sociales (vs 35% TV + 14% online a nivel nacional)</a:t>
            </a:r>
          </a:p>
          <a:p>
            <a:r>
              <a:t>  - 50% no conocia candidatos (vs 21% 'muy informado' a nivel nacional)</a:t>
            </a:r>
          </a:p>
          <a:p/>
          <a:p>
            <a:r>
              <a:t>La investigacion de campo no contradijo los datos secundarios;</a:t>
            </a:r>
          </a:p>
          <a:p>
            <a:r>
              <a:t>los confirmo con observacion directa en el territorio.</a:t>
            </a:r>
          </a:p>
          <a:p/>
          <a:p>
            <a:r>
              <a:t>Esto le da solidez empirica a la hipotesis de que el problema es real,</a:t>
            </a:r>
          </a:p>
          <a:p>
            <a:r>
              <a:t>medible y consistente entre fuentes.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Transicion al diagnóstico de la oportunidad de producto.</a:t>
            </a:r>
          </a:p>
          <a:p/>
          <a:p>
            <a:r>
              <a:t>El problema esta documentado. El ecosistema de herramientas falla.</a:t>
            </a:r>
          </a:p>
          <a:p>
            <a:r>
              <a:t>El espacio esta abierto. ?Por que nadie lo habia llenado?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 inicio del proyecto, Chile no tenia ninguna VAA activa con metodologia</a:t>
            </a:r>
          </a:p>
          <a:p>
            <a:r>
              <a:t>transparente y datos actualizados.</a:t>
            </a:r>
          </a:p>
          <a:p/>
          <a:p>
            <a:r>
              <a:t>Voto Informado (SERVEL+PNUD): comparaba perfiles lado a lado pero sin</a:t>
            </a:r>
          </a:p>
          <a:p>
            <a:r>
              <a:t>producir un indicador de afinidad. Sin algoritmo de matching.</a:t>
            </a:r>
          </a:p>
          <a:p/>
          <a:p>
            <a:r>
              <a:t>Decide Chile: era la mas cercana al concepto de VAA, pero estaba</a:t>
            </a:r>
          </a:p>
          <a:p>
            <a:r>
              <a:t>discontinuada y sin datos actualizados. Falta de sostenibilidad.</a:t>
            </a:r>
          </a:p>
          <a:p/>
          <a:p>
            <a:r>
              <a:t>La brecha era concreta. El espacio estaba abierto.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 tres segmentos comparten una necesidad comun:</a:t>
            </a:r>
          </a:p>
          <a:p>
            <a:r>
              <a:t>informacion confiable, estructurada y procesable en tiempo razonable.</a:t>
            </a:r>
          </a:p>
          <a:p/>
          <a:p>
            <a:r>
              <a:t>Esta segmentacion fue determinante en las decisiones de UX:</a:t>
            </a:r>
          </a:p>
          <a:p>
            <a:r>
              <a:t>sin conocimiento politico previo necesario para usar la herramienta.</a:t>
            </a:r>
          </a:p>
          <a:p/>
          <a:p>
            <a:r>
              <a:t>El joven es el perfil con mayor potencial de adopcion.</a:t>
            </a:r>
          </a:p>
          <a:p>
            <a:r>
              <a:t>El adulto mayor y el indeciso son quienes mas se beneficiarian de</a:t>
            </a:r>
          </a:p>
          <a:p>
            <a:r>
              <a:t>la reduccion de carga cognitiva.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fue la hipotesis de oportunidad articulada al cierre del primer</a:t>
            </a:r>
          </a:p>
          <a:p>
            <a:r>
              <a:t>trabajo de Emprendimiento -- el documento que dio origen al proyecto.</a:t>
            </a:r>
          </a:p>
          <a:p/>
          <a:p>
            <a:r>
              <a:t>Es importante que la audiencia entienda:</a:t>
            </a:r>
          </a:p>
          <a:p>
            <a:r>
              <a:t>  - El proyecto NO comenzo con la decision de construir una app.</a:t>
            </a:r>
          </a:p>
          <a:p>
            <a:r>
              <a:t>  - Comenzo con la OBSERVACION de un problema y la ARTICULACION de una oportunidad.</a:t>
            </a:r>
          </a:p>
          <a:p/>
          <a:p>
            <a:r>
              <a:t>La tecnologia fue el medio. La democracia informada fue siempre el fin.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slide es el argumento central de justificacion tecnica del proyecto.</a:t>
            </a:r>
          </a:p>
          <a:p/>
          <a:p>
            <a:r>
              <a:t>Un problema de escasez requiere producir mas informacion -- eso es periodismo.</a:t>
            </a:r>
          </a:p>
          <a:p>
            <a:r>
              <a:t>Un problema de intermediacion requiere un sistema que transforme la informacion</a:t>
            </a:r>
          </a:p>
          <a:p>
            <a:r>
              <a:t>existente en algo utilizable para el votante promedio. Eso es ingenieria.</a:t>
            </a:r>
          </a:p>
          <a:p/>
          <a:p>
            <a:r>
              <a:t>VotoAfin no produce informacion nueva. Organiza, compara y presenta</a:t>
            </a:r>
          </a:p>
          <a:p>
            <a:r>
              <a:t>la informacion que ya existe en el registro publico.</a:t>
            </a:r>
          </a:p>
          <a:p/>
          <a:p>
            <a:r>
              <a:t>Este argumento es el que justifica el proyecto desde la ingenieria de software.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CIERRE -- Tiempo estimado: 10-13 minutos con buena cadencia.</a:t>
            </a:r>
          </a:p>
          <a:p/>
          <a:p>
            <a:r>
              <a:t>Mensajes de salida:</a:t>
            </a:r>
          </a:p>
          <a:p>
            <a:r>
              <a:t>  -- El problema esta documentado con datos primarios y secundarios.</a:t>
            </a:r>
          </a:p>
          <a:p>
            <a:r>
              <a:t>  -- El 21% informado y el +460% en votos nulos son el punto de partida.</a:t>
            </a:r>
          </a:p>
          <a:p>
            <a:r>
              <a:t>  -- Las herramientas existentes no lo resolvian.</a:t>
            </a:r>
          </a:p>
          <a:p>
            <a:r>
              <a:t>  -- La brecha estaba abierta.</a:t>
            </a:r>
          </a:p>
          <a:p/>
          <a:p>
            <a:r>
              <a:t>Pregunta para dejar en el aire:</a:t>
            </a:r>
          </a:p>
          <a:p>
            <a:r>
              <a:t>'?Y cual fue la primera respuesta que intentamos darle al problema?'</a:t>
            </a:r>
          </a:p>
          <a:p/>
          <a:p>
            <a:r>
              <a:t>Espacio para preguntas si el formato lo permite.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3A9E7A"/>
                </a:solidFill>
              </a:rPr>
              <a:t>PRESENTACION 1 DE 4  --  PROBLEMA, INVESTIGACION Y CONTEXTO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74519"/>
            <a:ext cx="45720" cy="256032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72865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>
                <a:solidFill>
                  <a:srgbClr val="FFFFFF"/>
                </a:solidFill>
              </a:rPr>
              <a:t>El Voto Sin Informacion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8056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4A9BBF"/>
                </a:solidFill>
              </a:rPr>
              <a:t>Desinformacion, apatia y la oportunidad de la tecnologia civica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263640"/>
            <a:ext cx="109115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BA098"/>
                </a:solidFill>
              </a:rPr>
              <a:t>VotoAfin  --  UTFSM  --  Jenifer Castillo  --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1153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C3A52"/>
                </a:solidFill>
              </a:rPr>
              <a:t>Chile 2020-2024 -- 8 procesos electorales en 4 anos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3172968"/>
            <a:ext cx="10911535" cy="54864"/>
          </a:xfrm>
          <a:prstGeom prst="rect">
            <a:avLst/>
          </a:prstGeom>
          <a:solidFill>
            <a:srgbClr val="CBD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75785" y="3044952"/>
            <a:ext cx="310896" cy="310896"/>
          </a:xfrm>
          <a:prstGeom prst="ellipse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1153" y="2377440"/>
            <a:ext cx="1280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2E5F7E"/>
                </a:solidFill>
              </a:rPr>
              <a:t>Oct 2020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2553" y="356616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A5568"/>
                </a:solidFill>
              </a:rPr>
              <a:t>Plebiscito</a:t>
            </a:r>
            <a:br/>
            <a:r>
              <a:t>de entrada</a:t>
            </a:r>
          </a:p>
        </p:txBody>
      </p:sp>
      <p:sp>
        <p:nvSpPr>
          <p:cNvPr id="8" name="Oval 7"/>
          <p:cNvSpPr/>
          <p:nvPr/>
        </p:nvSpPr>
        <p:spPr>
          <a:xfrm>
            <a:off x="3758092" y="3044952"/>
            <a:ext cx="310896" cy="310896"/>
          </a:xfrm>
          <a:prstGeom prst="ellipse">
            <a:avLst/>
          </a:prstGeom>
          <a:solidFill>
            <a:srgbClr val="244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73460" y="2377440"/>
            <a:ext cx="1280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244A63"/>
                </a:solidFill>
              </a:rPr>
              <a:t>Nov 2021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44860" y="356616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A5568"/>
                </a:solidFill>
              </a:rPr>
              <a:t>Presidencial</a:t>
            </a:r>
            <a:br/>
            <a:r>
              <a:t>+ Convencionales</a:t>
            </a:r>
          </a:p>
        </p:txBody>
      </p:sp>
      <p:sp>
        <p:nvSpPr>
          <p:cNvPr id="11" name="Oval 10"/>
          <p:cNvSpPr/>
          <p:nvPr/>
        </p:nvSpPr>
        <p:spPr>
          <a:xfrm>
            <a:off x="5940399" y="3044952"/>
            <a:ext cx="310896" cy="310896"/>
          </a:xfrm>
          <a:prstGeom prst="ellipse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55767" y="2377440"/>
            <a:ext cx="1280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3A9E7A"/>
                </a:solidFill>
              </a:rPr>
              <a:t>Sep 2022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27167" y="356616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A5568"/>
                </a:solidFill>
              </a:rPr>
              <a:t>Plebiscito</a:t>
            </a:r>
            <a:br/>
            <a:r>
              <a:t>constitucional</a:t>
            </a:r>
          </a:p>
        </p:txBody>
      </p:sp>
      <p:sp>
        <p:nvSpPr>
          <p:cNvPr id="14" name="Oval 13"/>
          <p:cNvSpPr/>
          <p:nvPr/>
        </p:nvSpPr>
        <p:spPr>
          <a:xfrm>
            <a:off x="8122706" y="3044952"/>
            <a:ext cx="310896" cy="310896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38074" y="2377440"/>
            <a:ext cx="1280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D97706"/>
                </a:solidFill>
              </a:rPr>
              <a:t>May-Dic 2023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9474" y="356616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A5568"/>
                </a:solidFill>
              </a:rPr>
              <a:t>Consejo</a:t>
            </a:r>
            <a:br/>
            <a:r>
              <a:t>Constitucional</a:t>
            </a:r>
          </a:p>
        </p:txBody>
      </p:sp>
      <p:sp>
        <p:nvSpPr>
          <p:cNvPr id="17" name="Oval 16"/>
          <p:cNvSpPr/>
          <p:nvPr/>
        </p:nvSpPr>
        <p:spPr>
          <a:xfrm>
            <a:off x="10305013" y="3044952"/>
            <a:ext cx="310896" cy="310896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20381" y="2377440"/>
            <a:ext cx="1280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DC2626"/>
                </a:solidFill>
              </a:rPr>
              <a:t>Oct 2024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1781" y="356616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A5568"/>
                </a:solidFill>
              </a:rPr>
              <a:t>Municipales</a:t>
            </a:r>
            <a:br/>
            <a:r>
              <a:t>y Regionales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4A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0" b="1">
                <a:solidFill>
                  <a:srgbClr val="3A9E7A"/>
                </a:solidFill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1153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i="1">
                <a:solidFill>
                  <a:srgbClr val="FFFFFF"/>
                </a:solidFill>
              </a:rPr>
              <a:t>Es cierto que se observa una fatiga electoral. Ello tiene como correlato que la gente evita informarse e invertir mucho tiempo en estar expuesto a material de campana.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257800"/>
            <a:ext cx="1828800" cy="36576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394960"/>
            <a:ext cx="1091153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7BA098"/>
                </a:solidFill>
              </a:rPr>
              <a:t>-- Prof. Rene Jara, Universidad de Santiago de Chile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91153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4A9BBF"/>
                </a:solidFill>
              </a:rPr>
              <a:t>?Que tan informado esta el electorado chileno?  (Ipsos, Municipales 2024)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545003" cy="5303520"/>
          </a:xfrm>
          <a:prstGeom prst="rect">
            <a:avLst/>
          </a:prstGeom>
          <a:solidFill>
            <a:srgbClr val="244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2545003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400" b="1">
                <a:solidFill>
                  <a:srgbClr val="DC2626"/>
                </a:solidFill>
              </a:rPr>
              <a:t>21%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931920"/>
            <a:ext cx="2453563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A9BBF"/>
                </a:solidFill>
              </a:rPr>
              <a:t>se sentia</a:t>
            </a:r>
            <a:br/>
            <a:r>
              <a:t>'muy informado'</a:t>
            </a:r>
          </a:p>
        </p:txBody>
      </p:sp>
      <p:sp>
        <p:nvSpPr>
          <p:cNvPr id="7" name="Rectangle 6"/>
          <p:cNvSpPr/>
          <p:nvPr/>
        </p:nvSpPr>
        <p:spPr>
          <a:xfrm>
            <a:off x="3459403" y="1051560"/>
            <a:ext cx="2545003" cy="5303520"/>
          </a:xfrm>
          <a:prstGeom prst="rect">
            <a:avLst/>
          </a:prstGeom>
          <a:solidFill>
            <a:srgbClr val="244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59403" y="1371600"/>
            <a:ext cx="2545003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400" b="1">
                <a:solidFill>
                  <a:srgbClr val="D97706"/>
                </a:solidFill>
              </a:rPr>
              <a:t>42%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05123" y="3931920"/>
            <a:ext cx="2453563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A9BBF"/>
                </a:solidFill>
              </a:rPr>
              <a:t>no habia decidido</a:t>
            </a:r>
            <a:br/>
            <a:r>
              <a:t>su voto para alcalde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87287" y="1051560"/>
            <a:ext cx="2545003" cy="5303520"/>
          </a:xfrm>
          <a:prstGeom prst="rect">
            <a:avLst/>
          </a:prstGeom>
          <a:solidFill>
            <a:srgbClr val="244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87287" y="1371600"/>
            <a:ext cx="2545003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400" b="1">
                <a:solidFill>
                  <a:srgbClr val="4A9BBF"/>
                </a:solidFill>
              </a:rPr>
              <a:t>45%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3007" y="3931920"/>
            <a:ext cx="2453563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A9BBF"/>
                </a:solidFill>
              </a:rPr>
              <a:t>sabia que se</a:t>
            </a:r>
            <a:br/>
            <a:r>
              <a:t>elegian consejeros</a:t>
            </a:r>
            <a:br/>
            <a:r>
              <a:t>regionales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15171" y="1051560"/>
            <a:ext cx="2545003" cy="5303520"/>
          </a:xfrm>
          <a:prstGeom prst="rect">
            <a:avLst/>
          </a:prstGeom>
          <a:solidFill>
            <a:srgbClr val="244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5171" y="1371600"/>
            <a:ext cx="2545003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400" b="1">
                <a:solidFill>
                  <a:srgbClr val="7BA098"/>
                </a:solidFill>
              </a:rPr>
              <a:t>16%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0891" y="3931920"/>
            <a:ext cx="2453563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A9BBF"/>
                </a:solidFill>
              </a:rPr>
              <a:t>se declaraba</a:t>
            </a:r>
            <a:br/>
            <a:r>
              <a:t>'nada informado'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91153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4A9BBF"/>
                </a:solidFill>
              </a:rPr>
              <a:t>La desinformacion como amplificador del deficit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545003" cy="5303520"/>
          </a:xfrm>
          <a:prstGeom prst="rect">
            <a:avLst/>
          </a:prstGeom>
          <a:solidFill>
            <a:srgbClr val="244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2545003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400" b="1">
                <a:solidFill>
                  <a:srgbClr val="DC2626"/>
                </a:solidFill>
              </a:rPr>
              <a:t>81%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931920"/>
            <a:ext cx="2453563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A9BBF"/>
                </a:solidFill>
              </a:rPr>
              <a:t>expuesto a desinformacion</a:t>
            </a:r>
            <a:br/>
            <a:r>
              <a:t>con frecuencia semanal</a:t>
            </a:r>
            <a:br/>
            <a:r>
              <a:t>o mayor</a:t>
            </a:r>
          </a:p>
        </p:txBody>
      </p:sp>
      <p:sp>
        <p:nvSpPr>
          <p:cNvPr id="7" name="Rectangle 6"/>
          <p:cNvSpPr/>
          <p:nvPr/>
        </p:nvSpPr>
        <p:spPr>
          <a:xfrm>
            <a:off x="3459403" y="1051560"/>
            <a:ext cx="2545003" cy="5303520"/>
          </a:xfrm>
          <a:prstGeom prst="rect">
            <a:avLst/>
          </a:prstGeom>
          <a:solidFill>
            <a:srgbClr val="244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59403" y="1371600"/>
            <a:ext cx="2545003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400" b="1">
                <a:solidFill>
                  <a:srgbClr val="D97706"/>
                </a:solidFill>
              </a:rPr>
              <a:t>71%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05123" y="3931920"/>
            <a:ext cx="2453563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A9BBF"/>
                </a:solidFill>
              </a:rPr>
              <a:t>cree que la</a:t>
            </a:r>
            <a:br/>
            <a:r>
              <a:t>desinformacion amenaza</a:t>
            </a:r>
            <a:br/>
            <a:r>
              <a:t>la democracia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87287" y="1051560"/>
            <a:ext cx="2545003" cy="5303520"/>
          </a:xfrm>
          <a:prstGeom prst="rect">
            <a:avLst/>
          </a:prstGeom>
          <a:solidFill>
            <a:srgbClr val="244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87287" y="1371600"/>
            <a:ext cx="2545003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400" b="1">
                <a:solidFill>
                  <a:srgbClr val="4A9BBF"/>
                </a:solidFill>
              </a:rPr>
              <a:t>79%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3007" y="3931920"/>
            <a:ext cx="2453563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A9BBF"/>
                </a:solidFill>
              </a:rPr>
              <a:t>no confia en</a:t>
            </a:r>
            <a:br/>
            <a:r>
              <a:t>los politicos como</a:t>
            </a:r>
            <a:br/>
            <a:r>
              <a:t>fuente de informacion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15171" y="1051560"/>
            <a:ext cx="2545003" cy="5303520"/>
          </a:xfrm>
          <a:prstGeom prst="rect">
            <a:avLst/>
          </a:prstGeom>
          <a:solidFill>
            <a:srgbClr val="244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5171" y="1371600"/>
            <a:ext cx="2545003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400" b="1">
                <a:solidFill>
                  <a:srgbClr val="3A9E7A"/>
                </a:solidFill>
              </a:rP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0891" y="3931920"/>
            <a:ext cx="2453563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A9BBF"/>
                </a:solidFill>
              </a:rPr>
              <a:t>de los entrevistados</a:t>
            </a:r>
            <a:br/>
            <a:r>
              <a:t>en terreno habia</a:t>
            </a:r>
            <a:br/>
            <a:r>
              <a:t>visto fake news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91153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4A9BBF"/>
                </a:solidFill>
              </a:rPr>
              <a:t>El costo visible -- votos nulos Municipales 2021 vs 2024 (SERVEL)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545003" cy="5303520"/>
          </a:xfrm>
          <a:prstGeom prst="rect">
            <a:avLst/>
          </a:prstGeom>
          <a:solidFill>
            <a:srgbClr val="244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2545003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400" b="1">
                <a:solidFill>
                  <a:srgbClr val="DC2626"/>
                </a:solidFill>
              </a:rPr>
              <a:t>+460%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931920"/>
            <a:ext cx="2453563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A9BBF"/>
                </a:solidFill>
              </a:rPr>
              <a:t>votos nulos</a:t>
            </a:r>
            <a:br/>
            <a:r>
              <a:t>para alcalde</a:t>
            </a:r>
            <a:br/>
            <a:r>
              <a:t>1,93% -&gt; 10,80%</a:t>
            </a:r>
          </a:p>
        </p:txBody>
      </p:sp>
      <p:sp>
        <p:nvSpPr>
          <p:cNvPr id="7" name="Rectangle 6"/>
          <p:cNvSpPr/>
          <p:nvPr/>
        </p:nvSpPr>
        <p:spPr>
          <a:xfrm>
            <a:off x="3459403" y="1051560"/>
            <a:ext cx="2545003" cy="5303520"/>
          </a:xfrm>
          <a:prstGeom prst="rect">
            <a:avLst/>
          </a:prstGeom>
          <a:solidFill>
            <a:srgbClr val="244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59403" y="1371600"/>
            <a:ext cx="2545003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400" b="1">
                <a:solidFill>
                  <a:srgbClr val="D97706"/>
                </a:solidFill>
              </a:rPr>
              <a:t>+274%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05123" y="3931920"/>
            <a:ext cx="2453563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A9BBF"/>
                </a:solidFill>
              </a:rPr>
              <a:t>votos nulos</a:t>
            </a:r>
            <a:br/>
            <a:r>
              <a:t>para concejal</a:t>
            </a:r>
            <a:br/>
            <a:r>
              <a:t>5,74% -&gt; 21,46%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87287" y="1051560"/>
            <a:ext cx="2545003" cy="5303520"/>
          </a:xfrm>
          <a:prstGeom prst="rect">
            <a:avLst/>
          </a:prstGeom>
          <a:solidFill>
            <a:srgbClr val="244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87287" y="1371600"/>
            <a:ext cx="2545003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400" b="1">
                <a:solidFill>
                  <a:srgbClr val="4A9BBF"/>
                </a:solidFill>
              </a:rPr>
              <a:t>+190%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3007" y="3931920"/>
            <a:ext cx="2453563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A9BBF"/>
                </a:solidFill>
              </a:rPr>
              <a:t>votos nulos</a:t>
            </a:r>
            <a:br/>
            <a:r>
              <a:t>para gobernador</a:t>
            </a:r>
            <a:br/>
            <a:r>
              <a:t>6,13% -&gt; 17,80%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15171" y="1051560"/>
            <a:ext cx="2545003" cy="5303520"/>
          </a:xfrm>
          <a:prstGeom prst="rect">
            <a:avLst/>
          </a:prstGeom>
          <a:solidFill>
            <a:srgbClr val="244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5171" y="1371600"/>
            <a:ext cx="2545003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400" b="1">
                <a:solidFill>
                  <a:srgbClr val="7BA098"/>
                </a:solidFill>
              </a:rPr>
              <a:t>2,1M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0891" y="3931920"/>
            <a:ext cx="2453563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A9BBF"/>
                </a:solidFill>
              </a:rPr>
              <a:t>votos nulos en</a:t>
            </a:r>
            <a:br/>
            <a:r>
              <a:t>procesos</a:t>
            </a:r>
            <a:br/>
            <a:r>
              <a:t>constitucionales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115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C3A52"/>
                </a:solidFill>
              </a:rPr>
              <a:t>La sobrecarga: demasiada informacion, poca estructura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7280" cy="36576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1463040"/>
            <a:ext cx="164592" cy="164592"/>
          </a:xfrm>
          <a:prstGeom prst="ellipse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325880"/>
            <a:ext cx="105914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1F2A35"/>
                </a:solidFill>
              </a:rPr>
              <a:t>8 procesos en 4 anos = fatiga cognitiva acumulada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468880"/>
            <a:ext cx="164592" cy="164592"/>
          </a:xfrm>
          <a:prstGeom prst="ellipse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331720"/>
            <a:ext cx="105914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1F2A35"/>
                </a:solidFill>
              </a:rPr>
              <a:t>Cada eleccion tiene multiples cargos con decenas de candidatos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474720"/>
            <a:ext cx="164592" cy="164592"/>
          </a:xfrm>
          <a:prstGeom prst="ellipse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337560"/>
            <a:ext cx="105914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1F2A35"/>
                </a:solidFill>
              </a:rPr>
              <a:t>Las fuentes verificadas son extensas y de dificil acceso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4480560"/>
            <a:ext cx="164592" cy="164592"/>
          </a:xfrm>
          <a:prstGeom prst="ellipse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343400"/>
            <a:ext cx="105914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1F2A35"/>
                </a:solidFill>
              </a:rPr>
              <a:t>Las redes sociales simplifican pero desinforman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5486400"/>
            <a:ext cx="164592" cy="164592"/>
          </a:xfrm>
          <a:prstGeom prst="ellipse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5349240"/>
            <a:ext cx="105914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1F2A35"/>
                </a:solidFill>
              </a:rPr>
              <a:t>No existia herramienta que estructurara la comparacion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1153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C3A52"/>
                </a:solidFill>
              </a:rPr>
              <a:t>Investigacion de campo -- Emprendimiento I, UTFSM 2024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3515258" cy="1188720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325880"/>
            <a:ext cx="329580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Equipo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377440"/>
            <a:ext cx="3515258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60320"/>
            <a:ext cx="324093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A35"/>
                </a:solidFill>
              </a:rPr>
              <a:t>Jenifer Castillo</a:t>
            </a:r>
            <a:br/>
            <a:r>
              <a:t>Patricio De Lima</a:t>
            </a:r>
            <a:br/>
            <a:r>
              <a:t>Alonso Sanchez</a:t>
            </a:r>
            <a:br/>
            <a:br/>
            <a:r>
              <a:t>Curso:</a:t>
            </a:r>
            <a:br/>
            <a:r>
              <a:t>Emprendimiento -- UTFSM</a:t>
            </a:r>
          </a:p>
        </p:txBody>
      </p:sp>
      <p:sp>
        <p:nvSpPr>
          <p:cNvPr id="8" name="Rectangle 7"/>
          <p:cNvSpPr/>
          <p:nvPr/>
        </p:nvSpPr>
        <p:spPr>
          <a:xfrm>
            <a:off x="4338218" y="1188720"/>
            <a:ext cx="3515258" cy="1188720"/>
          </a:xfrm>
          <a:prstGeom prst="rect">
            <a:avLst/>
          </a:prstGeom>
          <a:solidFill>
            <a:srgbClr val="244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47946" y="1325880"/>
            <a:ext cx="329580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Metodologia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38218" y="2377440"/>
            <a:ext cx="3515258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75378" y="2560320"/>
            <a:ext cx="324093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A35"/>
                </a:solidFill>
              </a:rPr>
              <a:t>12 entrevistas en terreno</a:t>
            </a:r>
            <a:br/>
            <a:br/>
            <a:r>
              <a:t>Localidades:</a:t>
            </a:r>
            <a:br/>
            <a:r>
              <a:t>Playa Ancha</a:t>
            </a:r>
            <a:br/>
            <a:r>
              <a:t>Vina del Mar</a:t>
            </a:r>
            <a:br/>
            <a:r>
              <a:t>Quilpue</a:t>
            </a:r>
            <a:br/>
            <a:br/>
            <a:r>
              <a:t>7 dimensiones / respuestas Si-No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36356" y="1188720"/>
            <a:ext cx="3515258" cy="1188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46084" y="1325880"/>
            <a:ext cx="329580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Hallazgo central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36356" y="2377440"/>
            <a:ext cx="3515258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73516" y="2560320"/>
            <a:ext cx="324093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A35"/>
                </a:solidFill>
              </a:rPr>
              <a:t>100% de los entrevistados</a:t>
            </a:r>
            <a:br/>
            <a:r>
              <a:t>habia tenido contacto</a:t>
            </a:r>
            <a:br/>
            <a:r>
              <a:t>con fake news electorales.</a:t>
            </a:r>
            <a:br/>
            <a:br/>
            <a:r>
              <a:t>100% creia que existe</a:t>
            </a:r>
            <a:br/>
            <a:r>
              <a:t>desinformacion generalizada.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91153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4A9BBF"/>
                </a:solidFill>
              </a:rPr>
              <a:t>Hallazgos del levantamiento de campo -- N=12 entrevistados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545003" cy="5303520"/>
          </a:xfrm>
          <a:prstGeom prst="rect">
            <a:avLst/>
          </a:prstGeom>
          <a:solidFill>
            <a:srgbClr val="244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2545003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400" b="1">
                <a:solidFill>
                  <a:srgbClr val="D97706"/>
                </a:solidFill>
              </a:rPr>
              <a:t>~83%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931920"/>
            <a:ext cx="2453563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A9BBF"/>
                </a:solidFill>
              </a:rPr>
              <a:t>se informa por</a:t>
            </a:r>
            <a:br/>
            <a:r>
              <a:t>redes sociales</a:t>
            </a:r>
            <a:br/>
            <a:r>
              <a:t>(no medios verificados)</a:t>
            </a:r>
          </a:p>
        </p:txBody>
      </p:sp>
      <p:sp>
        <p:nvSpPr>
          <p:cNvPr id="7" name="Rectangle 6"/>
          <p:cNvSpPr/>
          <p:nvPr/>
        </p:nvSpPr>
        <p:spPr>
          <a:xfrm>
            <a:off x="3459403" y="1051560"/>
            <a:ext cx="2545003" cy="5303520"/>
          </a:xfrm>
          <a:prstGeom prst="rect">
            <a:avLst/>
          </a:prstGeom>
          <a:solidFill>
            <a:srgbClr val="244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59403" y="1371600"/>
            <a:ext cx="2545003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400" b="1">
                <a:solidFill>
                  <a:srgbClr val="DC2626"/>
                </a:solidFill>
              </a:rPr>
              <a:t>~50%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05123" y="3931920"/>
            <a:ext cx="2453563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A9BBF"/>
                </a:solidFill>
              </a:rPr>
              <a:t>no conocia a los</a:t>
            </a:r>
            <a:br/>
            <a:r>
              <a:t>candidatos en</a:t>
            </a:r>
            <a:br/>
            <a:r>
              <a:t>competencia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87287" y="1051560"/>
            <a:ext cx="2545003" cy="5303520"/>
          </a:xfrm>
          <a:prstGeom prst="rect">
            <a:avLst/>
          </a:prstGeom>
          <a:solidFill>
            <a:srgbClr val="244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87287" y="1371600"/>
            <a:ext cx="2545003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400" b="1">
                <a:solidFill>
                  <a:srgbClr val="4A9BBF"/>
                </a:solidFill>
              </a:rPr>
              <a:t>~25%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3007" y="3931920"/>
            <a:ext cx="2453563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A9BBF"/>
                </a:solidFill>
              </a:rPr>
              <a:t>usaba canales</a:t>
            </a:r>
            <a:br/>
            <a:r>
              <a:t>oficiales como</a:t>
            </a:r>
            <a:br/>
            <a:r>
              <a:t>fuente principal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15171" y="1051560"/>
            <a:ext cx="2545003" cy="5303520"/>
          </a:xfrm>
          <a:prstGeom prst="rect">
            <a:avLst/>
          </a:prstGeom>
          <a:solidFill>
            <a:srgbClr val="244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5171" y="1371600"/>
            <a:ext cx="2545003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400" b="1">
                <a:solidFill>
                  <a:srgbClr val="3A9E7A"/>
                </a:solidFill>
              </a:rP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0891" y="3931920"/>
            <a:ext cx="2453563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A9BBF"/>
                </a:solidFill>
              </a:rPr>
              <a:t>creia que existe</a:t>
            </a:r>
            <a:br/>
            <a:r>
              <a:t>desinformacion</a:t>
            </a:r>
            <a:br/>
            <a:r>
              <a:t>generalizada en Chile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5F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457200"/>
            <a:ext cx="3200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0" b="1">
                <a:solidFill>
                  <a:srgbClr val="244A63"/>
                </a:solidFill>
              </a:rPr>
              <a:t>!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560320"/>
            <a:ext cx="54864" cy="164592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560320"/>
            <a:ext cx="7772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</a:rPr>
              <a:t>La Oportunidad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9BBF"/>
                </a:solidFill>
              </a:rPr>
              <a:t>Un espacio vacio. Una necesidad real. Un problema abordable.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1153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C3A52"/>
                </a:solidFill>
              </a:rPr>
              <a:t>El ecosistema existente -- y por que no era suficiente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5341467" cy="502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506714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Lo que existia en Chile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5341467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1984247"/>
            <a:ext cx="146304" cy="146304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1874519"/>
            <a:ext cx="482940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F2A35"/>
                </a:solidFill>
              </a:rPr>
              <a:t>Guias SERVEL: extensas, pasivas, sin matching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761487"/>
            <a:ext cx="146304" cy="146304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" y="2651759"/>
            <a:ext cx="482940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F2A35"/>
                </a:solidFill>
              </a:rPr>
              <a:t>Voto Informado (SERVEL+PNUD): sin algoritmo de afinidad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538727"/>
            <a:ext cx="146304" cy="146304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3428999"/>
            <a:ext cx="482940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F2A35"/>
                </a:solidFill>
              </a:rPr>
              <a:t>Decide Chile: discontinuada, sin datos actualizados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4315967"/>
            <a:ext cx="146304" cy="146304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0704" y="4206239"/>
            <a:ext cx="482940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F2A35"/>
                </a:solidFill>
              </a:rPr>
              <a:t>Plataformas globales: sin contexto electoral chileno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5093207"/>
            <a:ext cx="146304" cy="146304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0704" y="4983479"/>
            <a:ext cx="482940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F2A35"/>
                </a:solidFill>
              </a:rPr>
              <a:t>Redes sociales: ruido &gt; informacion verificada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0147" y="1188720"/>
            <a:ext cx="5341467" cy="50292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47307" y="1234440"/>
            <a:ext cx="506714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Lo que faltaba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0147" y="1691640"/>
            <a:ext cx="5341467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93027" y="1984247"/>
            <a:ext cx="146304" cy="146304"/>
          </a:xfrm>
          <a:prstGeom prst="ellipse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30771" y="1874519"/>
            <a:ext cx="482940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F2A35"/>
                </a:solidFill>
              </a:rPr>
              <a:t>VAA activa con metodologia transparente</a:t>
            </a:r>
          </a:p>
        </p:txBody>
      </p:sp>
      <p:sp>
        <p:nvSpPr>
          <p:cNvPr id="22" name="Oval 21"/>
          <p:cNvSpPr/>
          <p:nvPr/>
        </p:nvSpPr>
        <p:spPr>
          <a:xfrm>
            <a:off x="6393027" y="2761487"/>
            <a:ext cx="146304" cy="146304"/>
          </a:xfrm>
          <a:prstGeom prst="ellipse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30771" y="2651759"/>
            <a:ext cx="482940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F2A35"/>
                </a:solidFill>
              </a:rPr>
              <a:t>Algoritmo de matching auditable</a:t>
            </a:r>
          </a:p>
        </p:txBody>
      </p:sp>
      <p:sp>
        <p:nvSpPr>
          <p:cNvPr id="24" name="Oval 23"/>
          <p:cNvSpPr/>
          <p:nvPr/>
        </p:nvSpPr>
        <p:spPr>
          <a:xfrm>
            <a:off x="6393027" y="3538727"/>
            <a:ext cx="146304" cy="146304"/>
          </a:xfrm>
          <a:prstGeom prst="ellipse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30771" y="3428999"/>
            <a:ext cx="482940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F2A35"/>
                </a:solidFill>
              </a:rPr>
              <a:t>Datos verificados con fuentes primarias</a:t>
            </a:r>
          </a:p>
        </p:txBody>
      </p:sp>
      <p:sp>
        <p:nvSpPr>
          <p:cNvPr id="26" name="Oval 25"/>
          <p:cNvSpPr/>
          <p:nvPr/>
        </p:nvSpPr>
        <p:spPr>
          <a:xfrm>
            <a:off x="6393027" y="4315967"/>
            <a:ext cx="146304" cy="146304"/>
          </a:xfrm>
          <a:prstGeom prst="ellipse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30771" y="4206239"/>
            <a:ext cx="482940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F2A35"/>
                </a:solidFill>
              </a:rPr>
              <a:t>Diseno mobile-first para el usuario chileno</a:t>
            </a:r>
          </a:p>
        </p:txBody>
      </p:sp>
      <p:sp>
        <p:nvSpPr>
          <p:cNvPr id="28" name="Oval 27"/>
          <p:cNvSpPr/>
          <p:nvPr/>
        </p:nvSpPr>
        <p:spPr>
          <a:xfrm>
            <a:off x="6393027" y="5093207"/>
            <a:ext cx="146304" cy="146304"/>
          </a:xfrm>
          <a:prstGeom prst="ellipse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30771" y="4983479"/>
            <a:ext cx="482940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F2A35"/>
                </a:solidFill>
              </a:rPr>
              <a:t>Codigo abierto y sostenible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1153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C3A52"/>
                </a:solidFill>
              </a:rPr>
              <a:t>?Quienes son mas vulnerables al deficit informativo?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3515258" cy="11887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325880"/>
            <a:ext cx="329580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Jovenes Votantes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377440"/>
            <a:ext cx="3515258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60320"/>
            <a:ext cx="324093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A35"/>
                </a:solidFill>
              </a:rPr>
              <a:t>Alta exposicion a redes sociales.</a:t>
            </a:r>
            <a:br/>
            <a:r>
              <a:t>Bajo consumo de medios verificados.</a:t>
            </a:r>
            <a:br/>
            <a:br/>
            <a:r>
              <a:t>Mayor potencial de adopcion</a:t>
            </a:r>
            <a:br/>
            <a:r>
              <a:t>de una solucion tecnologica</a:t>
            </a:r>
            <a:br/>
            <a:r>
              <a:t>mobile-first.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38218" y="1188720"/>
            <a:ext cx="3515258" cy="1188720"/>
          </a:xfrm>
          <a:prstGeom prst="rect">
            <a:avLst/>
          </a:prstGeom>
          <a:solidFill>
            <a:srgbClr val="244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47946" y="1325880"/>
            <a:ext cx="329580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Adultos Mayores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38218" y="2377440"/>
            <a:ext cx="3515258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75378" y="2560320"/>
            <a:ext cx="324093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A35"/>
                </a:solidFill>
              </a:rPr>
              <a:t>Dificultad para evaluar</a:t>
            </a:r>
            <a:br/>
            <a:r>
              <a:t>confiabilidad en plataformas digitales.</a:t>
            </a:r>
            <a:br/>
            <a:br/>
            <a:r>
              <a:t>Alta exposicion a fake news +</a:t>
            </a:r>
            <a:br/>
            <a:r>
              <a:t>menor capacidad de verificacion</a:t>
            </a:r>
            <a:br/>
            <a:r>
              <a:t>independiente.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36356" y="1188720"/>
            <a:ext cx="3515258" cy="1188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46084" y="1325880"/>
            <a:ext cx="329580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Votantes Indecisos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36356" y="2377440"/>
            <a:ext cx="3515258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73516" y="2560320"/>
            <a:ext cx="324093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A35"/>
                </a:solidFill>
              </a:rPr>
              <a:t>Buscan informacion en el</a:t>
            </a:r>
            <a:br/>
            <a:r>
              <a:t>periodo previo inmediato.</a:t>
            </a:r>
            <a:br/>
            <a:br/>
            <a:r>
              <a:t>Moment de mayor flujo de</a:t>
            </a:r>
            <a:br/>
            <a:r>
              <a:t>contenido desinformativo.</a:t>
            </a:r>
            <a:br/>
            <a:br/>
            <a:r>
              <a:t>42% no decidido para alcalde.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0" y="1645920"/>
            <a:ext cx="5760720" cy="36576"/>
          </a:xfrm>
          <a:prstGeom prst="rect">
            <a:avLst/>
          </a:prstGeom>
          <a:solidFill>
            <a:srgbClr val="4A9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11535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?Existe espacio para una herramienta que reuna informacion confiable</a:t>
            </a:r>
            <a:br/>
            <a:r>
              <a:t>sobre candidatos y elecciones, accesible para todos?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4480560"/>
            <a:ext cx="5760720" cy="36576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663440"/>
            <a:ext cx="1091153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3A9E7A"/>
                </a:solidFill>
              </a:rPr>
              <a:t>Emprendimiento I, UTFSM 2024 -- Conclusion del levantamiento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920240"/>
            <a:ext cx="10911535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No es un problema de escasez de informacion.</a:t>
            </a:r>
            <a:br/>
            <a:r>
              <a:t>Es un problema de intermediacion.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297680"/>
            <a:ext cx="1091153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4A9BBF"/>
                </a:solidFill>
              </a:rPr>
              <a:t>Las posturas de los candidatos existen en el registro publico.</a:t>
            </a:r>
            <a:br/>
            <a:r>
              <a:t>El problema es transformar esa informacion bruta en conocimiento accionable.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3A9E7A"/>
                </a:solidFill>
              </a:rPr>
              <a:t>CIERRE -- PRESENTACION 1 DE 4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74519"/>
            <a:ext cx="45720" cy="256032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72865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>
                <a:solidFill>
                  <a:srgbClr val="FFFFFF"/>
                </a:solidFill>
              </a:rPr>
              <a:t>Un problema real. Una brecha concreta. Una hipotesis verificada.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8056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4A9BBF"/>
                </a:solidFill>
              </a:rPr>
              <a:t>Continuacion -&gt; P2: Como evoluciono la idea hacia la solucion actual.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263640"/>
            <a:ext cx="109115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BA098"/>
                </a:solidFill>
              </a:rPr>
              <a:t>VotoAfin  --  UTFSM  --  Jenifer Castillo  --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