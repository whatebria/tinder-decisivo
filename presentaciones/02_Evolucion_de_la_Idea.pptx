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-- 10 a 15 minutos</a:t>
            </a:r>
          </a:p>
          <a:p/>
          <a:p>
            <a:r>
              <a:t>Esta presentacion cuenta la historia de la ITERACION real del proyecto.</a:t>
            </a:r>
          </a:p>
          <a:p>
            <a:r>
              <a:t>No es una historia lineal de exito. Es una historia de hipotesis, experimentos y</a:t>
            </a:r>
          </a:p>
          <a:p>
            <a:r>
              <a:t>aprendizajes que llevaron a un cambio de paradigma.</a:t>
            </a:r>
          </a:p>
          <a:p/>
          <a:p>
            <a:r>
              <a:t>Tres hipotesis:</a:t>
            </a:r>
          </a:p>
          <a:p>
            <a:r>
              <a:t>  H1: gamificacion civica resuelve el desinteres.</a:t>
            </a:r>
          </a:p>
          <a:p>
            <a:r>
              <a:t>  H2: el swipe binario reduce la friccion de explorar candidatos.</a:t>
            </a:r>
          </a:p>
          <a:p>
            <a:r>
              <a:t>  H3 (la correcta): medir coincidencia programatica reduce la carga cognitiva.</a:t>
            </a:r>
          </a:p>
          <a:p/>
          <a:p>
            <a:r>
              <a:t>Cada hipotesis fue razonable en su momento. Cada una tenia un problema oculto.</a:t>
            </a:r>
          </a:p>
          <a:p>
            <a:r>
              <a:t>La audiencia debe percibir la evolucion como real, no como presentacion retroactiva.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es el mapa de toda la historia.</a:t>
            </a:r>
          </a:p>
          <a:p/>
          <a:p>
            <a:r>
              <a:t>Cuatro etapas, dos cursos universitarios, una tesis.</a:t>
            </a:r>
          </a:p>
          <a:p>
            <a:r>
              <a:t>Cada etapa construyo sobre los aprendizajes de la anterior.</a:t>
            </a:r>
          </a:p>
          <a:p/>
          <a:p>
            <a:r>
              <a:t>La Etapa III (Tinder Electoral) no fue un fracaso -- fue el experimento</a:t>
            </a:r>
          </a:p>
          <a:p>
            <a:r>
              <a:t>que revelo la pregunta correcta de diseno.</a:t>
            </a:r>
          </a:p>
          <a:p/>
          <a:p>
            <a:r>
              <a:t>Este tipo de recorrido iterativo es lo que distingue la ingenieria</a:t>
            </a:r>
          </a:p>
          <a:p>
            <a:r>
              <a:t>de producto de la simple construccion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no comenzo con la decision de construir una app.</a:t>
            </a:r>
          </a:p>
          <a:p>
            <a:r>
              <a:t>Comenzo con la decision de ENTENDER un problema.</a:t>
            </a:r>
          </a:p>
          <a:p/>
          <a:p>
            <a:r>
              <a:t>Este orden -- investigacion antes de solucion -- es clave para</a:t>
            </a:r>
          </a:p>
          <a:p>
            <a:r>
              <a:t>entender por que las decisiones del proyecto tienen sentido.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de investigacion fue amplia y correcta:</a:t>
            </a:r>
          </a:p>
          <a:p>
            <a:r>
              <a:t>No asumio una solucion. Busco entender el fenomeno primero.</a:t>
            </a:r>
          </a:p>
          <a:p/>
          <a:p>
            <a:r>
              <a:t>El equipo identifico 5 circunstancias estructurales de la desinformacion:</a:t>
            </a:r>
          </a:p>
          <a:p>
            <a:r>
              <a:t>  1. Aumento de fuentes no reguladas</a:t>
            </a:r>
          </a:p>
          <a:p>
            <a:r>
              <a:t>  2. Desconfianza en medios tradicionales</a:t>
            </a:r>
          </a:p>
          <a:p>
            <a:r>
              <a:t>  3. Complejidad de la informacion electoral</a:t>
            </a:r>
          </a:p>
          <a:p>
            <a:r>
              <a:t>  4. Polarizacion politica creciente</a:t>
            </a:r>
          </a:p>
          <a:p>
            <a:r>
              <a:t>  5. Ausencia de educacion civica sistematica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cuatro indicadores son los que justificaron pasar de la investigacion</a:t>
            </a:r>
          </a:p>
          <a:p>
            <a:r>
              <a:t>a la propuesta de solucion.</a:t>
            </a:r>
          </a:p>
          <a:p/>
          <a:p>
            <a:r>
              <a:t>La 'Brecha' no es un numero pero es el hallazgo de producto mas importante:</a:t>
            </a:r>
          </a:p>
          <a:p>
            <a:r>
              <a:t>al inicio del proyecto no existia en Chile ninguna herramienta activa</a:t>
            </a:r>
          </a:p>
          <a:p>
            <a:r>
              <a:t>con metodologia transparente y matching algoritmico.</a:t>
            </a:r>
          </a:p>
          <a:p/>
          <a:p>
            <a:r>
              <a:t>Con estos datos, el equipo tenia la justificacion empirica</a:t>
            </a:r>
          </a:p>
          <a:p>
            <a:r>
              <a:t>para proponer una solucion.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el problema caracterizado, la primera respuesta fue intuitiva:</a:t>
            </a:r>
          </a:p>
          <a:p>
            <a:r>
              <a:t>si el problema es el desinteres, una solucion gamificada que haga</a:t>
            </a:r>
          </a:p>
          <a:p>
            <a:r>
              <a:t>el proceso entretenido deberia funcionar.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hipotesis de gamificacion era coherente con el diagnostico de desinteres.</a:t>
            </a:r>
          </a:p>
          <a:p/>
          <a:p>
            <a:r>
              <a:t>La propuesta incluia:</a:t>
            </a:r>
          </a:p>
          <a:p>
            <a:r>
              <a:t>  -- Autenticacion con RUT + Clave Unica (vinculo con institucionalidad)</a:t>
            </a:r>
          </a:p>
          <a:p>
            <a:r>
              <a:t>  -- Directorio de partidos y candidatos</a:t>
            </a:r>
          </a:p>
          <a:p>
            <a:r>
              <a:t>  -- Preguntas tipo quiz sobre candidatos (aprendizaje interactivo)</a:t>
            </a:r>
          </a:p>
          <a:p>
            <a:r>
              <a:t>  -- Sistema de puntos y recompensas tangibles</a:t>
            </a:r>
          </a:p>
          <a:p/>
          <a:p>
            <a:r>
              <a:t>El prototipo fue construido en Visily AI y presentado con propuesta de negocio.</a:t>
            </a:r>
          </a:p>
          <a:p>
            <a:r>
              <a:t>Modelo: patrocinios, publicidad in-app, licencias a gobiernos, datos agregados.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evaluacion fue honesta y critica.</a:t>
            </a:r>
          </a:p>
          <a:p/>
          <a:p>
            <a:r>
              <a:t>La hipotesis identifico correctamente que el DESINTERES es una causa,</a:t>
            </a:r>
          </a:p>
          <a:p>
            <a:r>
              <a:t>pero su solucion no atacaba el problema central:</a:t>
            </a:r>
          </a:p>
          <a:p>
            <a:r>
              <a:t>la falta de informacion de calidad y estructurada sobre candidatos.</a:t>
            </a:r>
          </a:p>
          <a:p/>
          <a:p>
            <a:r>
              <a:t>El punto mas importante: sin mecanismo de matching, la app informaba</a:t>
            </a:r>
          </a:p>
          <a:p>
            <a:r>
              <a:t>pero NO orientaba. Y orientar la decision con minima carga cognitiva</a:t>
            </a:r>
          </a:p>
          <a:p>
            <a:r>
              <a:t>era exactamente lo que el votante promedio necesitaba.</a:t>
            </a:r>
          </a:p>
          <a:p/>
          <a:p>
            <a:r>
              <a:t>Esta limitacion genero la siguiente iteracion.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siguiente hipotesis nacio de otra observacion:</a:t>
            </a:r>
          </a:p>
          <a:p>
            <a:r>
              <a:t>el problema no era solo el desinteres, sino la FRICCION COGNITIVA</a:t>
            </a:r>
          </a:p>
          <a:p>
            <a:r>
              <a:t>de explorar candidatos mediante listas y textos.</a:t>
            </a:r>
          </a:p>
          <a:p/>
          <a:p>
            <a:r>
              <a:t>La pregunta fue: podemos hacer ese proceso casi instantaneo?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inspiracion en Tinder era tecnica y concepcionalmente solida:</a:t>
            </a:r>
          </a:p>
          <a:p>
            <a:r>
              <a:t>la mecanica es conocida por millones de usuarios.</a:t>
            </a:r>
          </a:p>
          <a:p/>
          <a:p>
            <a:r>
              <a:t>La hipotesis: si explorar candidatos mediante listas resulta tedioso,</a:t>
            </a:r>
          </a:p>
          <a:p>
            <a:r>
              <a:t>hacer ese proceso casi instantaneo con un gesto familiar</a:t>
            </a:r>
          </a:p>
          <a:p>
            <a:r>
              <a:t>deberia reducir la barrera de entrada.</a:t>
            </a:r>
          </a:p>
          <a:p/>
          <a:p>
            <a:r>
              <a:t>El prototipo se construyo en el ramo de Desarrollo de Aplicaciones Moviles.</a:t>
            </a:r>
          </a:p>
          <a:p>
            <a:r>
              <a:t>Incluia candidatos ficticios y posiciones simplificadas.</a:t>
            </a:r>
          </a:p>
          <a:p/>
          <a:p>
            <a:r>
              <a:t>Pero contenia una contradiccion estructural...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limitacion fundamental del modelo de swipe.</a:t>
            </a:r>
          </a:p>
          <a:p/>
          <a:p>
            <a:r>
              <a:t>La posicion de un votante sobre, por ejemplo, 'el aumento del salario minimo'</a:t>
            </a:r>
          </a:p>
          <a:p>
            <a:r>
              <a:t>no puede ser binaria: exige matiz.</a:t>
            </a:r>
          </a:p>
          <a:p>
            <a:r>
              <a:t>?Cuanto aumento? ?En que plazo? ?Con que compensacion para las empresas?</a:t>
            </a:r>
          </a:p>
          <a:p/>
          <a:p>
            <a:r>
              <a:t>La escala Likert de 5 puntos captura esa gradacion:</a:t>
            </a:r>
          </a:p>
          <a:p>
            <a:r>
              <a:t>  Muy de acuerdo / De acuerdo / Neutral / En desacuerdo / Muy en desacuerdo</a:t>
            </a:r>
          </a:p>
          <a:p/>
          <a:p>
            <a:r>
              <a:t>El swipe binario pierde la mitad de la informacion relevante para el matching.</a:t>
            </a:r>
          </a:p>
          <a:p>
            <a:r>
              <a:t>Sin esa informacion, el porcentaje de afinidad no refleja preferencias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fue el segundo problema critico del prototipo.</a:t>
            </a:r>
          </a:p>
          <a:p/>
          <a:p>
            <a:r>
              <a:t>Las posturas eran generadas por estereotipos ideologicos sin verificacion:</a:t>
            </a:r>
          </a:p>
          <a:p>
            <a:r>
              <a:t>ningun candidato real, ninguna fuente primaria, ninguna trazabilidad.</a:t>
            </a:r>
          </a:p>
          <a:p/>
          <a:p>
            <a:r>
              <a:t>Un sistema que genera recomendaciones electorales basadas en datos fabricados</a:t>
            </a:r>
          </a:p>
          <a:p>
            <a:r>
              <a:t>no asesora al votante: lo DESINFORMA de manera mas sofisticada.</a:t>
            </a:r>
          </a:p>
          <a:p>
            <a:r>
              <a:t>La presentacion algoritmica genera una ilusion de rigor que el contenido no respalda.</a:t>
            </a:r>
          </a:p>
          <a:p/>
          <a:p>
            <a:r>
              <a:t>Este episodio genero el principio que organizo todo el proyecto:</a:t>
            </a:r>
          </a:p>
          <a:p>
            <a:r>
              <a:t>NUNCA INVENTAR DATOS ELECTORALES.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limitaciones del Tinder Electoral no eran problemas a parchear.</a:t>
            </a:r>
          </a:p>
          <a:p>
            <a:r>
              <a:t>Eran senales de que la PREGUNTA DE DISENO era incorrecta.</a:t>
            </a:r>
          </a:p>
          <a:p/>
          <a:p>
            <a:r>
              <a:t>Cambiar la pregunta fue el movimiento mas importante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cambio no fue de funcionalidad: fue EPISTEMOLOGICO.</a:t>
            </a:r>
          </a:p>
          <a:p/>
          <a:p>
            <a:r>
              <a:t>La pregunta anterior asumia que el problema era la PRESENTACION del candidato.</a:t>
            </a:r>
          </a:p>
          <a:p>
            <a:r>
              <a:t>La nueva pregunta asumia que el problema era la MEDICION DE AFINIDAD entre</a:t>
            </a:r>
          </a:p>
          <a:p>
            <a:r>
              <a:t>las preferencias del votante y las posiciones del candidato.</a:t>
            </a:r>
          </a:p>
          <a:p/>
          <a:p>
            <a:r>
              <a:t>Esa diferencia lo cambio todo:</a:t>
            </a:r>
          </a:p>
          <a:p>
            <a:r>
              <a:t>  -- El algoritmo (escala Likert en vez de conteo de swipes)</a:t>
            </a:r>
          </a:p>
          <a:p>
            <a:r>
              <a:t>  -- El flujo de usuario (cuestionario antes de ver candidatos)</a:t>
            </a:r>
          </a:p>
          <a:p>
            <a:r>
              <a:t>  -- El modelo de datos (posturas verificadas con fuentes)</a:t>
            </a:r>
          </a:p>
          <a:p>
            <a:r>
              <a:t>  -- El indicador de confianza (nueva para el campo de VAAs)</a:t>
            </a:r>
          </a:p>
          <a:p/>
          <a:p>
            <a:r>
              <a:t>Invertir en precisar la pregunta correcta antes de construir es</a:t>
            </a:r>
          </a:p>
          <a:p>
            <a:r>
              <a:t>la decision con mayor retorno del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VAA no fue inventado para VotoAfin. Tiene 30 anos de historia</a:t>
            </a:r>
          </a:p>
          <a:p>
            <a:r>
              <a:t>y literatura academica propia.</a:t>
            </a:r>
          </a:p>
          <a:p/>
          <a:p>
            <a:r>
              <a:t>La investigacion del estado del arte en VAAs fue parte formal de la Fase 0.</a:t>
            </a:r>
          </a:p>
          <a:p/>
          <a:p>
            <a:r>
              <a:t>Los principios clave que emergieron:</a:t>
            </a:r>
          </a:p>
          <a:p>
            <a:r>
              <a:t>  -- Escala Likert de 5 puntos (no binaria, no mas larga por fatiga)</a:t>
            </a:r>
          </a:p>
          <a:p>
            <a:r>
              <a:t>  -- Ponderacion por importancia declarada</a:t>
            </a:r>
          </a:p>
          <a:p>
            <a:r>
              <a:t>  -- Exclusion de 'No se' del calculo (no asignar posicion neutral)</a:t>
            </a:r>
          </a:p>
          <a:p>
            <a:r>
              <a:t>  -- Indicador de confianza segun cobertura de respuestas</a:t>
            </a:r>
          </a:p>
          <a:p/>
          <a:p>
            <a:r>
              <a:t>Estos principios no son opiniones: son conclusiones de investigacion empirica.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distincion -- eficiencia vs entretenimiento -- es la esencia del cambio.</a:t>
            </a:r>
          </a:p>
          <a:p/>
          <a:p>
            <a:r>
              <a:t>H2 (swipe): buscaba reducir la carga cognitiva haciendola casi imperceptible.</a:t>
            </a:r>
          </a:p>
          <a:p>
            <a:r>
              <a:t>El precio era perder la calidad del resultado.</a:t>
            </a:r>
          </a:p>
          <a:p/>
          <a:p>
            <a:r>
              <a:t>H3 (VAA): acepta que el proceso requiere atencion del usuario,</a:t>
            </a:r>
          </a:p>
          <a:p>
            <a:r>
              <a:t>pero lo estructura de manera que esa atencion se invierta en 5-10 minutos</a:t>
            </a:r>
          </a:p>
          <a:p>
            <a:r>
              <a:t>y produzca un resultado de calidad.</a:t>
            </a:r>
          </a:p>
          <a:p/>
          <a:p>
            <a:r>
              <a:t>Esta hipotesis guio la construccion de VotoAfin.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sintetiza toda la historia de evolucion.</a:t>
            </a:r>
          </a:p>
          <a:p/>
          <a:p>
            <a:r>
              <a:t>El mensaje clave:</a:t>
            </a:r>
          </a:p>
          <a:p>
            <a:r>
              <a:t>  -- Hubo iteracion real. No fue un camino recto.</a:t>
            </a:r>
          </a:p>
          <a:p>
            <a:r>
              <a:t>  -- Cada hipotesis fue razonable en su momento.</a:t>
            </a:r>
          </a:p>
          <a:p>
            <a:r>
              <a:t>  -- Las limitaciones no fueron fracasos: fueron aprendizajes.</a:t>
            </a:r>
          </a:p>
          <a:p>
            <a:r>
              <a:t>  -- La hipotesis correcta llego PORQUE se experimentaron las incorrectas.</a:t>
            </a:r>
          </a:p>
          <a:p/>
          <a:p>
            <a:r>
              <a:t>Tiempo estimado presentacion 2: 12-15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audiencia debe salir habiendo entendido:</a:t>
            </a:r>
          </a:p>
          <a:p>
            <a:r>
              <a:t>  -- El proyecto no nacio como una app: nacio como una investigacion.</a:t>
            </a:r>
          </a:p>
          <a:p>
            <a:r>
              <a:t>  -- La evolucion fue real, no presentada retroactivamente.</a:t>
            </a:r>
          </a:p>
          <a:p>
            <a:r>
              <a:t>  -- Cambiar la pregunta fue el movimiento mas importante.</a:t>
            </a:r>
          </a:p>
          <a:p>
            <a:r>
              <a:t>  -- Las VAAs como modelo tienen decadas de respaldo academico.</a:t>
            </a:r>
          </a:p>
          <a:p/>
          <a:p>
            <a:r>
              <a:t>Si hay tiempo para preguntas: preguntar que hipotesis habrian intentado ellos.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9E7A"/>
                </a:solidFill>
              </a:rPr>
              <a:t>PRESENTACION 2 DE 4  --  EVOLUCION DE LA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5720" cy="2560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De la Observacion al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9BBF"/>
                </a:solidFill>
              </a:rPr>
              <a:t>Como 3 hipotesis erradas llevaron a la solucion correcta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 --  UTFSM  --  Jenifer Castillo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El recorrido completo -- 4 etapas, 2 cursos, 1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172968"/>
            <a:ext cx="10911535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48573" y="3044952"/>
            <a:ext cx="310896" cy="310896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63941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E5F7E"/>
                </a:solidFill>
              </a:rPr>
              <a:t>2024</a:t>
            </a:r>
            <a:br/>
            <a:r>
              <a:t>Emprendimiento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341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Investigacion del problema.</a:t>
            </a:r>
            <a:br/>
            <a:r>
              <a:t>12 entrevistas.</a:t>
            </a:r>
            <a:br/>
            <a:r>
              <a:t>Hipotesis de oportunidad.</a:t>
            </a:r>
          </a:p>
        </p:txBody>
      </p:sp>
      <p:sp>
        <p:nvSpPr>
          <p:cNvPr id="8" name="Oval 7"/>
          <p:cNvSpPr/>
          <p:nvPr/>
        </p:nvSpPr>
        <p:spPr>
          <a:xfrm>
            <a:off x="4576457" y="3044952"/>
            <a:ext cx="310896" cy="310896"/>
          </a:xfrm>
          <a:prstGeom prst="ellipse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1825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44A63"/>
                </a:solidFill>
              </a:rPr>
              <a:t>2024</a:t>
            </a:r>
            <a:br/>
            <a:r>
              <a:t>Emprendimiento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3225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H1: Gamificacion civica.</a:t>
            </a:r>
            <a:br/>
            <a:r>
              <a:t>Prototipo Visily AI.</a:t>
            </a:r>
            <a:br/>
            <a:r>
              <a:t>Limitaciones detectadas.</a:t>
            </a:r>
          </a:p>
        </p:txBody>
      </p:sp>
      <p:sp>
        <p:nvSpPr>
          <p:cNvPr id="11" name="Oval 10"/>
          <p:cNvSpPr/>
          <p:nvPr/>
        </p:nvSpPr>
        <p:spPr>
          <a:xfrm>
            <a:off x="7304341" y="304495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9709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</a:rPr>
              <a:t>2024-2025</a:t>
            </a:r>
            <a:br/>
            <a:r>
              <a:t>Apl. Moviles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109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H2: Tinder Electoral.</a:t>
            </a:r>
            <a:br/>
            <a:r>
              <a:t>Swipe + candidatos ficticios.</a:t>
            </a:r>
            <a:br/>
            <a:r>
              <a:t>Limitacion estructural.</a:t>
            </a:r>
          </a:p>
        </p:txBody>
      </p:sp>
      <p:sp>
        <p:nvSpPr>
          <p:cNvPr id="14" name="Oval 13"/>
          <p:cNvSpPr/>
          <p:nvPr/>
        </p:nvSpPr>
        <p:spPr>
          <a:xfrm>
            <a:off x="10032225" y="3044952"/>
            <a:ext cx="310896" cy="310896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7593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A9E7A"/>
                </a:solidFill>
              </a:rPr>
              <a:t>2025-2026</a:t>
            </a:r>
            <a:br/>
            <a:r>
              <a:t>Tesis UTFSM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8993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H3: VAA con matching.</a:t>
            </a:r>
            <a:br/>
            <a:r>
              <a:t>Sistema real, datos</a:t>
            </a:r>
            <a:br/>
            <a:r>
              <a:t>verificados, open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Emprendimiento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El punto de partida: investigar antes de disenar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36576"/>
          </a:xfrm>
          <a:prstGeom prst="rect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?Como influye la desinformacion</a:t>
            </a:r>
            <a:br/>
            <a:r>
              <a:t>en el comportamiento electoral de los chilenos?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480560"/>
            <a:ext cx="57607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A9E7A"/>
                </a:solidFill>
              </a:rPr>
              <a:t>Equipo: Jenifer Castillo, Patricio De Lima, Alonso Sanchez</a:t>
            </a:r>
            <a:br/>
            <a:r>
              <a:t>Objetivo: Mejorar la calidad de la informacion disponible para los votantes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A9BBF"/>
                </a:solidFill>
              </a:rPr>
              <a:t>Los hadefinieron la oportunidad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C2626"/>
                </a:solidFill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entrevistados con</a:t>
            </a:r>
            <a:br/>
            <a:r>
              <a:t>fake news electorales</a:t>
            </a:r>
            <a:br/>
            <a:r>
              <a:t>(N=12)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9403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9403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4A9BBF"/>
                </a:solidFill>
              </a:rPr>
              <a:t>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nivel nacional de</a:t>
            </a:r>
            <a:br/>
            <a:r>
              <a:t>votantes 'muy informados'</a:t>
            </a:r>
            <a:br/>
            <a:r>
              <a:t>(Ipsos)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97706"/>
                </a:solidFill>
              </a:rPr>
              <a:t>+460%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incremento en</a:t>
            </a:r>
            <a:br/>
            <a:r>
              <a:t>votos nulos 2021-2024</a:t>
            </a:r>
            <a:br/>
            <a:r>
              <a:t>(SERVEL)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171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171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3A9E7A"/>
                </a:solidFill>
              </a:rPr>
              <a:t>Brecha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891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no existia VAA activa</a:t>
            </a:r>
            <a:br/>
            <a:r>
              <a:t>con datos verificados</a:t>
            </a:r>
            <a:br/>
            <a:r>
              <a:t>en Chile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Emprendimiento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H1: ?Y si hacemos que informarse sea divertido?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H1: Si informarse es divertido y recompensado,</a:t>
            </a:r>
            <a:br/>
            <a:r>
              <a:t>el ciudadano lo hara.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9BBF"/>
                </a:solidFill>
              </a:rPr>
              <a:t>Propuesta: gamificacion civica + RUT y Clave Unica + puntos y recompensas tangibles</a:t>
            </a:r>
            <a:br/>
            <a:r>
              <a:t>Prototipo en Visily AI. Propuesta a inversionistas: $120M CLP.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Hipotesis 1 -- Lo que funcionaba y lo que faltaba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41467" cy="502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 que identifico bien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8424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El desinteres es una barrera real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6148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La experiencia del usuario importa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3872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La escalabilidad es posible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1596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El vinculo con la institucionalidad tiene valor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1188720"/>
            <a:ext cx="5341467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307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 que no resolvia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3027" y="198424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0771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Clave Unica requeria integracion con el Estado</a:t>
            </a:r>
          </a:p>
        </p:txBody>
      </p:sp>
      <p:sp>
        <p:nvSpPr>
          <p:cNvPr id="20" name="Oval 19"/>
          <p:cNvSpPr/>
          <p:nvPr/>
        </p:nvSpPr>
        <p:spPr>
          <a:xfrm>
            <a:off x="6393027" y="276148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0771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La gamificacion desplazaba el problema de datos</a:t>
            </a:r>
          </a:p>
        </p:txBody>
      </p:sp>
      <p:sp>
        <p:nvSpPr>
          <p:cNvPr id="22" name="Oval 21"/>
          <p:cNvSpPr/>
          <p:nvPr/>
        </p:nvSpPr>
        <p:spPr>
          <a:xfrm>
            <a:off x="6393027" y="353872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0771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Sin matching: informar != orientar la decision</a:t>
            </a:r>
          </a:p>
        </p:txBody>
      </p:sp>
      <p:sp>
        <p:nvSpPr>
          <p:cNvPr id="24" name="Oval 23"/>
          <p:cNvSpPr/>
          <p:nvPr/>
        </p:nvSpPr>
        <p:spPr>
          <a:xfrm>
            <a:off x="6393027" y="431596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0771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Sin fuentes: la app podia reproducir desinformacion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Desarrollo de Aplicaciones Moviles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H2: El experimento del Tinder Electoral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H2: El swipe reduce la friccion al minimo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164592" cy="164592"/>
          </a:xfrm>
          <a:prstGeom prst="ellipse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A9BBF"/>
                </a:solidFill>
              </a:rPr>
              <a:t>Tarjeta del candidato: foto, nombre, partido, propuestas clave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164592" cy="164592"/>
          </a:xfrm>
          <a:prstGeom prst="ellipse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A9BBF"/>
                </a:solidFill>
              </a:rPr>
              <a:t>Swipe derecha = me interesa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74720"/>
            <a:ext cx="164592" cy="164592"/>
          </a:xfrm>
          <a:prstGeom prst="ellipse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A9BBF"/>
                </a:solidFill>
              </a:rPr>
              <a:t>Swipe izquierda = no me interesa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A9BBF"/>
                </a:solidFill>
              </a:rPr>
              <a:t>Interaccion conocida: cero curva de aprendizaje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86400"/>
            <a:ext cx="164592" cy="164592"/>
          </a:xfrm>
          <a:prstGeom prst="ellipse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A9BBF"/>
                </a:solidFill>
              </a:rPr>
              <a:t>Evaluacion rapida, inmediata, sin friccin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36576"/>
          </a:xfrm>
          <a:prstGeom prst="rect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El swipe es binario.</a:t>
            </a:r>
            <a:br/>
            <a:r>
              <a:t>La politica publica no lo 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480560"/>
            <a:ext cx="57607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A9E7A"/>
                </a:solidFill>
              </a:rPr>
              <a:t>La posicion de un votante sobre un tema rara vez es: me gusta / no me gusta.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Los datos eran fabricados.</a:t>
            </a:r>
            <a:br/>
            <a:r>
              <a:t>Eso convierte la herramienta en otra fuente de desinformacion.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9BBF"/>
                </a:solidFill>
              </a:rPr>
              <a:t>Los candidatos ficticios tenian posturas asignadas por inferencia ideologica, sin verificacion.</a:t>
            </a:r>
            <a:br/>
            <a:r>
              <a:t>'Si el candidato X es de derecha, su postura sobre el aborto es Y.' -- Inaceptable.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-&gt;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El Cambio de Paradigma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Cuando cambiar la pregunta cambia todo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La pregunta que cambio 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41467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Pregunta ANTERIOR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8424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?Como hacer mas entretenido el proceso de conocer candidatos?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6148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Foco: presentacion del candidato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3872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Metafora: Tinder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1596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Resultado: experiencia atractiva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9320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Problema: no captura preferencias reales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188720"/>
            <a:ext cx="5341467" cy="502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Pregunta NUEVA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147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3027" y="198424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0771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?Como medir la coincidencia entre las posturas del votante y el candidato?</a:t>
            </a:r>
          </a:p>
        </p:txBody>
      </p:sp>
      <p:sp>
        <p:nvSpPr>
          <p:cNvPr id="22" name="Oval 21"/>
          <p:cNvSpPr/>
          <p:nvPr/>
        </p:nvSpPr>
        <p:spPr>
          <a:xfrm>
            <a:off x="6393027" y="276148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0771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Foco: coincidencia programatica</a:t>
            </a:r>
          </a:p>
        </p:txBody>
      </p:sp>
      <p:sp>
        <p:nvSpPr>
          <p:cNvPr id="24" name="Oval 23"/>
          <p:cNvSpPr/>
          <p:nvPr/>
        </p:nvSpPr>
        <p:spPr>
          <a:xfrm>
            <a:off x="6393027" y="353872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0771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Metafora: herramienta de orientacion</a:t>
            </a:r>
          </a:p>
        </p:txBody>
      </p:sp>
      <p:sp>
        <p:nvSpPr>
          <p:cNvPr id="26" name="Oval 25"/>
          <p:cNvSpPr/>
          <p:nvPr/>
        </p:nvSpPr>
        <p:spPr>
          <a:xfrm>
            <a:off x="6393027" y="431596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0771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Resultado: decision mas informada</a:t>
            </a:r>
          </a:p>
        </p:txBody>
      </p:sp>
      <p:sp>
        <p:nvSpPr>
          <p:cNvPr id="28" name="Oval 27"/>
          <p:cNvSpPr/>
          <p:nvPr/>
        </p:nvSpPr>
        <p:spPr>
          <a:xfrm>
            <a:off x="6393027" y="509320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0771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Modelo: Voting Advice Application (VAA)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El referente: 30+ anos de VAAs validadas academicamente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515258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StemWijzer (NL, 1989)</a:t>
            </a:r>
            <a:br/>
            <a:r>
              <a:t>Wahl-O-Mat (DE, 2002)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Los mas usados en Europa.</a:t>
            </a:r>
            <a:br/>
            <a:r>
              <a:t>Millones de usuarios por proceso.</a:t>
            </a:r>
            <a:br/>
            <a:br/>
            <a:r>
              <a:t>Principio validado:</a:t>
            </a:r>
            <a:br/>
            <a:r>
              <a:t>escala Likert + ponderacion</a:t>
            </a:r>
            <a:br/>
            <a:r>
              <a:t>produce resultados utiles.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188720"/>
            <a:ext cx="3515258" cy="11887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946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Smartvote (CH, 2003)</a:t>
            </a:r>
            <a:br/>
            <a:r>
              <a:t>Vote Compass (CA, 2011)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Mas sofisticados.</a:t>
            </a:r>
            <a:br/>
            <a:r>
              <a:t>Visualizacion en ejes multidimensionales.</a:t>
            </a:r>
            <a:br/>
            <a:br/>
            <a:r>
              <a:t>Leccion: la distribucion importa</a:t>
            </a:r>
            <a:br/>
            <a:r>
              <a:t>tanto como el algoritmo.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1188720"/>
            <a:ext cx="3515258" cy="11887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iSideWith (Global, 2012)</a:t>
            </a:r>
            <a:br/>
            <a:r>
              <a:t>Decide Chile (CL, disc.)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516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Alcance global pero sin profundidad local.</a:t>
            </a:r>
            <a:br/>
            <a:r>
              <a:t>Decide Chile fue discontinuada.</a:t>
            </a:r>
            <a:br/>
            <a:br/>
            <a:r>
              <a:t>Leccion: sostenibilidad es</a:t>
            </a:r>
            <a:br/>
            <a:r>
              <a:t>un desafio central.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H3: Si el proceso es EFICIENTE (no entretenido),</a:t>
            </a:r>
            <a:br/>
            <a:r>
              <a:t>el resultado sera UTIL.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9BBF"/>
                </a:solidFill>
              </a:rPr>
              <a:t>Reducir la carga cognitiva haciendo el proceso mas eficiente</a:t>
            </a:r>
            <a:br/>
            <a:r>
              <a:t>es radicalmente distinto de hacerlo mas entretenido.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La evolucion completa: hipotesis, aprendizajes, pivotes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172968"/>
            <a:ext cx="10911535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5785" y="3044952"/>
            <a:ext cx="310896" cy="310896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E5F7E"/>
                </a:solidFill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Gamificacion civica</a:t>
            </a:r>
            <a:br/>
            <a:r>
              <a:t>Desinteres como</a:t>
            </a:r>
            <a:br/>
            <a:r>
              <a:t>barrera central</a:t>
            </a:r>
          </a:p>
        </p:txBody>
      </p:sp>
      <p:sp>
        <p:nvSpPr>
          <p:cNvPr id="8" name="Oval 7"/>
          <p:cNvSpPr/>
          <p:nvPr/>
        </p:nvSpPr>
        <p:spPr>
          <a:xfrm>
            <a:off x="3758092" y="304495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460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</a:rPr>
              <a:t>Limite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860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No resuelve la</a:t>
            </a:r>
            <a:br/>
            <a:r>
              <a:t>calidad de datos.</a:t>
            </a:r>
            <a:br/>
            <a:r>
              <a:t>Sin matching.</a:t>
            </a:r>
          </a:p>
        </p:txBody>
      </p:sp>
      <p:sp>
        <p:nvSpPr>
          <p:cNvPr id="11" name="Oval 10"/>
          <p:cNvSpPr/>
          <p:nvPr/>
        </p:nvSpPr>
        <p:spPr>
          <a:xfrm>
            <a:off x="5940399" y="304495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5767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7167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Tinder Electoral</a:t>
            </a:r>
            <a:br/>
            <a:r>
              <a:t>Reducir friccion</a:t>
            </a:r>
            <a:br/>
            <a:r>
              <a:t>al minimo</a:t>
            </a:r>
          </a:p>
        </p:txBody>
      </p:sp>
      <p:sp>
        <p:nvSpPr>
          <p:cNvPr id="14" name="Oval 13"/>
          <p:cNvSpPr/>
          <p:nvPr/>
        </p:nvSpPr>
        <p:spPr>
          <a:xfrm>
            <a:off x="8122706" y="304495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8074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</a:rPr>
              <a:t>Limite 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9474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Binario vs matiz.</a:t>
            </a:r>
            <a:br/>
            <a:r>
              <a:t>Datos fabricados</a:t>
            </a:r>
            <a:br/>
            <a:r>
              <a:t>= desinformacion.</a:t>
            </a:r>
          </a:p>
        </p:txBody>
      </p:sp>
      <p:sp>
        <p:nvSpPr>
          <p:cNvPr id="17" name="Oval 16"/>
          <p:cNvSpPr/>
          <p:nvPr/>
        </p:nvSpPr>
        <p:spPr>
          <a:xfrm>
            <a:off x="10305013" y="3044952"/>
            <a:ext cx="310896" cy="310896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381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A9E7A"/>
                </a:solidFill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1781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VAA: medir</a:t>
            </a:r>
            <a:br/>
            <a:r>
              <a:t>coincidencia</a:t>
            </a:r>
            <a:br/>
            <a:r>
              <a:t>programatica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9E7A"/>
                </a:solidFill>
              </a:rPr>
              <a:t>CIERRE -- PRESENTACION 2 DE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5720" cy="2560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Tres hipotesis. Tres aprendizajes. Un cambio de pregunta.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9BBF"/>
                </a:solidFill>
              </a:rPr>
              <a:t>Continuacion -&gt; P3: La solucion, el diseno y el producto.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 --  UTFSM  --  Jenifer Castillo  --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