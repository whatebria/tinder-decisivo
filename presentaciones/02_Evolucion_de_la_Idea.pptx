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APERTURA -- 10 a 15 minutos</a:t>
            </a:r>
          </a:p>
          <a:p/>
          <a:p>
            <a:r>
              <a:t>Esta presentacion cuenta la historia de como evolucionaron las HIPOTESIS.</a:t>
            </a:r>
          </a:p>
          <a:p>
            <a:r>
              <a:t>No es una historia lineal de exito: es una historia de iteracion real.</a:t>
            </a:r>
          </a:p>
          <a:p/>
          <a:p>
            <a:r>
              <a:t>Hipotesis 1: gamificacion civica resuelve el desinteres.</a:t>
            </a:r>
          </a:p>
          <a:p>
            <a:r>
              <a:t>Hipotesis 2: el swipe elimina la friccion de explorar candidatos.</a:t>
            </a:r>
          </a:p>
          <a:p>
            <a:r>
              <a:t>Hipotesis 3 (correcta): medir coincidencia programatica reduce la carga cognitiva.</a:t>
            </a:r>
          </a:p>
          <a:p/>
          <a:p>
            <a:r>
              <a:t>Cada hipotesis fue razonable en su momento. Cada una tenia un problema.</a:t>
            </a:r>
          </a:p>
          <a:p>
            <a:r>
              <a:t>El aprendizaje real viene de identificar esos problemas.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es el mapa de la historia completa.</a:t>
            </a:r>
          </a:p>
          <a:p/>
          <a:p>
            <a:r>
              <a:t>Es importante que la audiencia entienda que no hubo un 'error' que corregir: hubo una evolucion natural de hipotesis, cada una construida sobre los aprendizajes de la anterior.</a:t>
            </a:r>
          </a:p>
          <a:p/>
          <a:p>
            <a:r>
              <a:t>La Etapa III (Tinder Electoral) no fue un fracaso — fue el experimento que revelo la pregunta correcta.</a:t>
            </a:r>
          </a:p>
          <a:p/>
          <a:p>
            <a:r>
              <a:t>Este recorrido de 4 etapas a lo largo de 2 cursos universitarios es exact tipo de proceso de investigacion iterativa que distingue la ingenieria de producto de la simple construccion de 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Transicion a la Etapa I.</a:t>
            </a:r>
          </a:p>
          <a:p/>
          <a:p>
            <a:r>
              <a:t>El proyecto no comenzo con la decision de construir una app. Comenzo con la decision de entender un problema.</a:t>
            </a:r>
          </a:p>
          <a:p/>
          <a:p>
            <a:r>
              <a:t>Este orden es importante para la audiencia: la investigacion precedio a la solucion, no al reves.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equipo de Emprendimiento I identifico cinco circunstancias estructurales en las que opera la desinformacion electoral.</a:t>
            </a:r>
          </a:p>
          <a:p/>
          <a:p>
            <a:r>
              <a:t>Esta segmentacion del problema es importante: no es solo 'hay mucha fake news', sino que hay un ecosistema de condiciones que la facilitan y amplifican.</a:t>
            </a:r>
          </a:p>
          <a:p/>
          <a:p>
            <a:r>
              <a:t>El resultado de esta etapa fue una oportunidad de diseno articulada, no una solucion. El siguiente paso seria disenar la respuesta.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hallazgo mas contundente del trabajo de campo: el 100% de los entrevistados habia tenido contacto con fake news electorales.</a:t>
            </a:r>
          </a:p>
          <a:p/>
          <a:p>
            <a:r>
              <a:t>Esto fue consistente con el dato nacional: 81% del electorado expuesto a desinformacion semanal (Activa Knowledge for Action).</a:t>
            </a:r>
          </a:p>
          <a:p/>
          <a:p>
            <a:r>
              <a:t>Solo el 21% se sentia 'muy informado' -- este numero se convirtio en la metrica central del problema que VotoAfin buscaria mover.</a:t>
            </a:r>
          </a:p>
          <a:p/>
          <a:p>
            <a:r>
              <a:t>Conclusion de Etapa I: existe una brecha concreta entre la informacion disponible y la informacion procesada por el votante promedio.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Transicion a la Etapa II.</a:t>
            </a:r>
          </a:p>
          <a:p/>
          <a:p>
            <a:r>
              <a:t>Con el problema caracterizado, el equipo se pregunto: como disenar una solucion que supere la barrera del desinteres?</a:t>
            </a:r>
          </a:p>
          <a:p/>
          <a:p>
            <a:r>
              <a:t>La respuesta inicial fue: gamificacion. Hacer informarse divertido.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propuesta era coherente con la hipotesis: si el problema es el desinteres, una solucion gamificada que haga el proceso entretenido deberia funcionar.</a:t>
            </a:r>
          </a:p>
          <a:p/>
          <a:p>
            <a:r>
              <a:t>La propuesta tenia valor: identifico que la barrera principal no era la falta de informacion, sino la disposicion a procesarla.</a:t>
            </a:r>
          </a:p>
          <a:p/>
          <a:p>
            <a:r>
              <a:t>El modelo de negocio incluia patrocinios, publicidad in-app, licencias a gobiernos y datos agregados anonimizados.</a:t>
            </a:r>
          </a:p>
          <a:p/>
          <a:p>
            <a:r>
              <a:t>Pero habia tres limitaciones estructurales que el equipo identifico posteriormente...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evaluacion fue honesta y critica.</a:t>
            </a:r>
          </a:p>
          <a:p/>
          <a:p>
            <a:r>
              <a:t>La hipotesis de gamificacion identifico correctamente una causa (desinteres), pero su solucion no atacaba directamente el problema central (deficit de informacion de calidad sobre candidatos).</a:t>
            </a:r>
          </a:p>
          <a:p/>
          <a:p>
            <a:r>
              <a:t>El punto mas importante: sin mecanismo de matching, la app informaba pero no orientaba. Y orientar la decision con minima carga cognitiva era exactamente lo que el votante promedio necesitaba.</a:t>
            </a:r>
          </a:p>
          <a:p/>
          <a:p>
            <a:r>
              <a:t>Esta limitacion llevo a la siguiente etapa experimental.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Transicion a la Etapa III.</a:t>
            </a:r>
          </a:p>
          <a:p/>
          <a:p>
            <a:r>
              <a:t>La siguiente hipotesis nacio de una observacion diferente: el problema no era solo el desinteres, sino la friccion cognitiva de explorar candidatos.</a:t>
            </a:r>
          </a:p>
          <a:p/>
          <a:p>
            <a:r>
              <a:t>La pregunta fue: podemos hacer ese proceso casi instantaneo?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hipotesis era tecnicamente solida: reducir la friccion de interaccion es un objetivo de diseno valido.</a:t>
            </a:r>
          </a:p>
          <a:p/>
          <a:p>
            <a:r>
              <a:t>La inspiracion en Tinder tenia sentido: la mecanica es conocida, intuitiva y sin curva de aprendizaje.</a:t>
            </a:r>
          </a:p>
          <a:p/>
          <a:p>
            <a:r>
              <a:t>El prototipo se construyo en el ramo de Desarrollo de Aplicaciones Moviles.</a:t>
            </a:r>
          </a:p>
          <a:p/>
          <a:p>
            <a:r>
              <a:t>Pero tenia una contradiccion estructural que se hizo evidente durante el desarrollo...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momento bisagra de la historia.</a:t>
            </a:r>
          </a:p>
          <a:p/>
          <a:p>
            <a:r>
              <a:t>La limitacion del swipe no era de interfaz — era algorítmlca.</a:t>
            </a:r>
          </a:p>
          <a:p/>
          <a:p>
            <a:r>
              <a:t>Si las respuestas son binarias, el unico calculo de matching posible es contar coincidencias. Ese calculo no captura:</a:t>
            </a:r>
          </a:p>
          <a:p>
            <a:r>
              <a:t>  - La intensidad del acuerdo/desacuerdo</a:t>
            </a:r>
          </a:p>
          <a:p>
            <a:r>
              <a:t>  - La importancia relativa que el votante asigna a cada tema</a:t>
            </a:r>
          </a:p>
          <a:p>
            <a:r>
              <a:t>  - La diferencia entre un desacuerdo leve y uno absoluto</a:t>
            </a:r>
          </a:p>
          <a:p/>
          <a:p>
            <a:r>
              <a:t>Para capturar esas dimensiones se necesita una escala ordinal de al menos 5 puntos y un mecanismo de ponderacion por importancia. Ningun componente de eso es compatible con una interfaz de swipe binario.</a:t>
            </a:r>
          </a:p>
          <a:p/>
          <a:p>
            <a:r>
              <a:t>El swipe no solo limitaba la interfaz: limitaba el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episodio fue uno de los momentos mas importantes del proyecto.</a:t>
            </a:r>
          </a:p>
          <a:p/>
          <a:p>
            <a:r>
              <a:t>El asistente de desarrollo intento inferir posturas de candidatos a partir de estereotipos ideologicos. La autora del proyecto lo identifico de inmediato.</a:t>
            </a:r>
          </a:p>
          <a:p/>
          <a:p>
            <a:r>
              <a:t>La decision resultante fue estructurante para todo el proyecto:</a:t>
            </a:r>
          </a:p>
          <a:p>
            <a:r>
              <a:t>nunca inventar datos electorales.</a:t>
            </a:r>
          </a:p>
          <a:p/>
          <a:p>
            <a:r>
              <a:t>Cada postura en el sistema debe incluir:</a:t>
            </a:r>
          </a:p>
          <a:p>
            <a:r>
              <a:t>  - Justificacion textual minima verificable</a:t>
            </a:r>
          </a:p>
          <a:p>
            <a:r>
              <a:t>  - URL de fuente primaria (declaracion publica, votacion parlamentaria, programa oficial)</a:t>
            </a:r>
          </a:p>
          <a:p>
            <a:r>
              <a:t>El sistema rechaza automaticamente entradas sin esos campos.</a:t>
            </a:r>
          </a:p>
          <a:p/>
          <a:p>
            <a:r>
              <a:t>Este principio -- la integridad de los datos sobre el atractivo del resultado -- es lo que distingue una VAA de un juego electoral.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Transicion al momento central de la historia.</a:t>
            </a:r>
          </a:p>
          <a:p/>
          <a:p>
            <a:r>
              <a:t>Las limitaciones del Tinder Electoral no eran problemas a parchear.</a:t>
            </a:r>
          </a:p>
          <a:p>
            <a:r>
              <a:t>Eran senales de que la pregunta de diseno era incorrecta desde el inicio.</a:t>
            </a:r>
          </a:p>
          <a:p/>
          <a:p>
            <a:r>
              <a:t>Cambiar la pregunta fue el movimiento mas importante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punto de inflexion de la historia. La audiencia debe percibirlo como tal.</a:t>
            </a:r>
          </a:p>
          <a:p/>
          <a:p>
            <a:r>
              <a:t>El cambio no fue solo de funcionalidad: fue epistemologico.</a:t>
            </a:r>
          </a:p>
          <a:p/>
          <a:p>
            <a:r>
              <a:t>La pregunta anterior asumia que el problema era la PRESENTACION del candidato.</a:t>
            </a:r>
          </a:p>
          <a:p>
            <a:r>
              <a:t>La nueva pregunta asumia que el problema era la MEDICION DE AFINIDAD entre las preferencias del votante y las posiciones del candidato.</a:t>
            </a:r>
          </a:p>
          <a:p/>
          <a:p>
            <a:r>
              <a:t>Esa diferencia lo cambio todo: el algoritmo, el flujo de usuario, el modelo de datos, la escala de respuesta, el indicador de confianza.</a:t>
            </a:r>
          </a:p>
          <a:p/>
          <a:p>
            <a:r>
              <a:t>La inversion en precisar la pregunta correcta antes de construir es la decision con mayor retorno del proceso.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modelo VAA no fue inventado para VotoAfin. Tiene 30 anos de historia y literatura academica propia.</a:t>
            </a:r>
          </a:p>
          <a:p/>
          <a:p>
            <a:r>
              <a:t>La investigacion del estado del arte en VAAs internacionales fue parte formal de la Fase 0 del proyecto -- identificar que ya funcionaba.</a:t>
            </a:r>
          </a:p>
          <a:p/>
          <a:p>
            <a:r>
              <a:t>Los principios clave que emergieron de ese analisis:</a:t>
            </a:r>
          </a:p>
          <a:p>
            <a:r>
              <a:t>  - Escala Likert de 5 puntos (no binaria, no mas larga por fatiga)</a:t>
            </a:r>
          </a:p>
          <a:p>
            <a:r>
              <a:t>  - Ponderacion por importancia declarada</a:t>
            </a:r>
          </a:p>
          <a:p>
            <a:r>
              <a:t>  - Exclusion de 'no se' del calculo (no asignar posicion neutral)</a:t>
            </a:r>
          </a:p>
          <a:p>
            <a:r>
              <a:t>  - Indicador de confianza segun cobertura de respuestas</a:t>
            </a:r>
          </a:p>
          <a:p/>
          <a:p>
            <a:r>
              <a:t>Estos principios no son opiniones: son conclusiones de investigacion empirica con decadas de validacion.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distincion -- eficiencia vs entretenimiento -- es la esencia del cambio de paradigma.</a:t>
            </a:r>
          </a:p>
          <a:p/>
          <a:p>
            <a:r>
              <a:t>La Hipotesis 2 (swipe) buscaba reducir la carga cognitiva haciendola casi imperceptible. El precio era perder la calidad del resultado.</a:t>
            </a:r>
          </a:p>
          <a:p/>
          <a:p>
            <a:r>
              <a:t>La Hipotesis 3 (VAA) acepta que el proceso requiere atencion del usuario, pero lo estructura de manera que esa atencion se invierta en 5-10 minutos y produzca un resultado de calidad.</a:t>
            </a:r>
          </a:p>
          <a:p/>
          <a:p>
            <a:r>
              <a:t>Esta hipotesis fue la que guio la construccion de VotoAfin.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de la presentacion 2.</a:t>
            </a:r>
          </a:p>
          <a:p/>
          <a:p>
            <a:r>
              <a:t>Este slide sintetiza toda la historia de evolucion.</a:t>
            </a:r>
          </a:p>
          <a:p/>
          <a:p>
            <a:r>
              <a:t>El mensaje clave para la audiencia:</a:t>
            </a:r>
          </a:p>
          <a:p>
            <a:r>
              <a:t>  - Hubo iteracion real. No fue un camino recto.</a:t>
            </a:r>
          </a:p>
          <a:p>
            <a:r>
              <a:t>  - Cada hipotesis fue razonable en su momento.</a:t>
            </a:r>
          </a:p>
          <a:p>
            <a:r>
              <a:t>  - Las limitaciones no fueron fracasos: fueron aprendizajes estructurantes.</a:t>
            </a:r>
          </a:p>
          <a:p>
            <a:r>
              <a:t>  - La hipotesis correcta llego PORQUE se experimentaron las incorrectas.</a:t>
            </a:r>
          </a:p>
          <a:p/>
          <a:p>
            <a:r>
              <a:t>Tiempo estimado: 12-15 minutos.</a:t>
            </a:r>
          </a:p>
          <a:p/>
          <a:p>
            <a:r>
              <a:t>Transicion a la Presentacion 3: la solucion en detalle.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audiencia debe salir de esta presentacion habiendo entendido:</a:t>
            </a:r>
          </a:p>
          <a:p>
            <a:r>
              <a:t>  - El proyecto no nacio como una app: nacio como una investigacion.</a:t>
            </a:r>
          </a:p>
          <a:p>
            <a:r>
              <a:t>  - La evolucion fue real, no presentada retroactivamente.</a:t>
            </a:r>
          </a:p>
          <a:p>
            <a:r>
              <a:t>  - El cambio de pregunta fue el movimiento mas importante.</a:t>
            </a:r>
          </a:p>
          <a:p>
            <a:r>
              <a:t>  - Las VAAs como modelo tienen decadas de respaldo academico.</a:t>
            </a:r>
          </a:p>
          <a:p/>
          <a:p>
            <a:r>
              <a:t>Si hay tiempo para preguntas: preguntar que hipotesis habrian intentado ellos.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011680"/>
            <a:ext cx="54864" cy="228600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A9E7A"/>
                </a:solidFill>
              </a:rPr>
              <a:t>PRESENTACION 2 DE 4  --  EVOLUCION DE LA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De la Observacion al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8056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A9BBF"/>
                </a:solidFill>
              </a:rPr>
              <a:t>Como una idea evoluciono desde Emprendimiento hasta una VAA funcional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1792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BA098"/>
                </a:solidFill>
              </a:rPr>
              <a:t>VotoAFin · UTFSM · Jenifer Castillo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C3A52"/>
                </a:solidFill>
              </a:rPr>
              <a:t>El recorrido completo — 4 etapas, 2 cursos, 1 sistema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43000"/>
            <a:ext cx="1371600" cy="365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E5F7E"/>
                </a:solidFill>
              </a:rPr>
              <a:t>Desde la observacion del problema hasta el MVP funcional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1153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ETAPA I — 2024  |  Emprendimiento I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Investigacion del problema. 12 entrevistas en Valparaiso.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Hipotesis: la desinformacion es un problema abordable.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ETAPA II — 2024  |  Emprendimiento II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Primera propuesta de solucion: gamificacion civica.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Prototipo en Visily AI. Propuesta a inversionistas.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ETAPA III — 2024/2025  |  Desarrollo de Aplicaciones Moviles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'Tinder Electoral'. Swipe + candidatos ficticios.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Descubrimiento: la metafora tiene limitaciones estructurales.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ETAPA IV — 2025/2026  |  Proyecto de Tesis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Reformulacion hacia VAA. Construccion del sistema real.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VotoAfin: cuestionario + matching + algoritmo verificable.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5F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600" b="1" i="0">
                <a:solidFill>
                  <a:srgbClr val="6EA2C0"/>
                </a:solidFill>
              </a:rPr>
              <a:t>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0"/>
            <a:ext cx="109115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Emprendimiento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57200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4A9BBF"/>
                </a:solidFill>
              </a:rPr>
              <a:t>El punto de partida: investigar el problema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3A52"/>
                </a:solidFill>
              </a:rPr>
              <a:t>Emprendimiento I — El problema como punto de partida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7" y="1188720"/>
            <a:ext cx="18288" cy="5303520"/>
          </a:xfrm>
          <a:prstGeom prst="rect">
            <a:avLst/>
          </a:prstGeom>
          <a:solidFill>
            <a:srgbClr val="CBD1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2728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5F7E"/>
                </a:solidFill>
              </a:rPr>
              <a:t>La pregunta de investigacion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731520" cy="365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72887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Como influye la desinformacion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en el comportamiento electoral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de los chilenos?</a:t>
            </a:r>
          </a:p>
          <a:p>
            <a:pPr>
              <a:spcBef>
                <a:spcPts val="500"/>
              </a:spcBef>
            </a:pP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Objetivo declarado: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Mejorar la calidad de la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informacion disponible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para los votantes.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7015" y="1097280"/>
            <a:ext cx="52728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5F7E"/>
                </a:solidFill>
              </a:rPr>
              <a:t>5 circunstancias estructurales identificadas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97015" y="1554480"/>
            <a:ext cx="731520" cy="365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7015" y="1691640"/>
            <a:ext cx="5272887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1. Aumento de fuentes no reguladas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2. Desconfianza en medios tradicionales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3. Complejida informacion electoral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4. Polarizacion politica creciente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5. Ausencia de educacion civica sistematica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9115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Los hallazgos que guiaron 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2727883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DC2626"/>
                </a:solidFill>
              </a:rPr>
              <a:t>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66160"/>
            <a:ext cx="2727883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A9BBF"/>
                </a:solidFill>
              </a:rPr>
              <a:t>entrevistados con</a:t>
            </a:r>
            <a:br/>
            <a:r>
              <a:t>fake news electorales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67963" y="1280160"/>
            <a:ext cx="2727883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3A9E7A"/>
                </a:solidFill>
              </a:rPr>
              <a:t>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67963" y="3566160"/>
            <a:ext cx="2727883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A9BBF"/>
                </a:solidFill>
              </a:rPr>
              <a:t>creen que existe</a:t>
            </a:r>
            <a:br/>
            <a:r>
              <a:t>desinformacion en Chile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7" y="1280160"/>
            <a:ext cx="2727883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D97706"/>
                </a:solidFill>
              </a:rPr>
              <a:t>50%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3566160"/>
            <a:ext cx="2727883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A9BBF"/>
                </a:solidFill>
              </a:rPr>
              <a:t>no conocia a</a:t>
            </a:r>
            <a:br/>
            <a:r>
              <a:t>los candidatos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731" y="1280160"/>
            <a:ext cx="2727883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4A9BBF"/>
                </a:solidFill>
              </a:rPr>
              <a:t>21%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731" y="3566160"/>
            <a:ext cx="2727883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A9BBF"/>
                </a:solidFill>
              </a:rPr>
              <a:t>nivel nacional de</a:t>
            </a:r>
            <a:br/>
            <a:r>
              <a:t>votantes 'muy informados'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5F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600" b="1" i="0">
                <a:solidFill>
                  <a:srgbClr val="6EA2C0"/>
                </a:solidFill>
              </a:rPr>
              <a:t>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0"/>
            <a:ext cx="109115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Emprendimiento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57200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4A9BBF"/>
                </a:solidFill>
              </a:rPr>
              <a:t>La primera hipotesis: gamificacion civica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C3A52"/>
                </a:solidFill>
              </a:rPr>
              <a:t>Hipotesis 1 — Gamificacion civica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43000"/>
            <a:ext cx="1371600" cy="365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E5F7E"/>
                </a:solidFill>
              </a:rPr>
              <a:t>Si hacemos que informarse sea divertido y recompensado, el ciudadano lo hara.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1153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La propuesta incluia: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-- Autenticacion con RUT + Clave Unica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   (reducir friccion, crear vinculo simbolico con la institucionalidad)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-- Directorio de partidos politicos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   (punto de entrada al conocimiento de la oferta electoral)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-- Preguntas tipo quiz sobre candidatos y elecciones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   (aprendizaje interactivo)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-- Sistema de puntos y recompensas tangibles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   (motivacion extrinseca para la participacion)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Prototipo construido en Visily AI.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Propuesta a inversionistas: $120 millones CLP.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3A52"/>
                </a:solidFill>
              </a:rPr>
              <a:t>Por que la hipotesis de gamificacion no era suficiente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7" y="1188720"/>
            <a:ext cx="18288" cy="5303520"/>
          </a:xfrm>
          <a:prstGeom prst="rect">
            <a:avLst/>
          </a:prstGeom>
          <a:solidFill>
            <a:srgbClr val="CBD1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2728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5F7E"/>
                </a:solidFill>
              </a:rPr>
              <a:t>Lo que funcionaba bien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731520" cy="365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72887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+ Identifico correctamente la barrera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  del desinteres como problema real</a:t>
            </a:r>
          </a:p>
          <a:p>
            <a:pPr>
              <a:spcBef>
                <a:spcPts val="500"/>
              </a:spcBef>
            </a:pP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+ Propuso un modelo de distribucion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  escalable a otras regiones</a:t>
            </a:r>
          </a:p>
          <a:p>
            <a:pPr>
              <a:spcBef>
                <a:spcPts val="500"/>
              </a:spcBef>
            </a:pP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+ Vinculo con Clave Unica era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  una idea de friccion reducida</a:t>
            </a:r>
          </a:p>
          <a:p>
            <a:pPr>
              <a:spcBef>
                <a:spcPts val="500"/>
              </a:spcBef>
            </a:pP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+ Puso el foco en la experiencia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  del usuario, no en el contenido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7015" y="1097280"/>
            <a:ext cx="52728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5F7E"/>
                </a:solidFill>
              </a:rPr>
              <a:t>Lo que faltaba resolver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97015" y="1554480"/>
            <a:ext cx="731520" cy="365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7015" y="1691640"/>
            <a:ext cx="5272887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-- Clave Unica requeria integracion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   con infraestructura del Estado</a:t>
            </a:r>
          </a:p>
          <a:p>
            <a:pPr>
              <a:spcBef>
                <a:spcPts val="500"/>
              </a:spcBef>
            </a:pP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-- La gamificacion desplazaba el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   problema central: calidad de datos</a:t>
            </a:r>
          </a:p>
          <a:p>
            <a:pPr>
              <a:spcBef>
                <a:spcPts val="500"/>
              </a:spcBef>
            </a:pP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-- No habia mecanismo de matching: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   informar != orientar la decision</a:t>
            </a:r>
          </a:p>
          <a:p>
            <a:pPr>
              <a:spcBef>
                <a:spcPts val="500"/>
              </a:spcBef>
            </a:pP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-- Sin fuentes verificadas, la app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   reproducia desinformacion con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   formato de credibilidad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5F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600" b="1" i="0">
                <a:solidFill>
                  <a:srgbClr val="6EA2C0"/>
                </a:solidFill>
              </a:rPr>
              <a:t>III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0"/>
            <a:ext cx="109115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El Prototipo de Swipe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57200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4A9BBF"/>
                </a:solidFill>
              </a:rPr>
              <a:t>El experimento del 'Tinder Electoral'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C3A52"/>
                </a:solidFill>
              </a:rPr>
              <a:t>Hipotesis 2 — El swipe elimina la friccion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43000"/>
            <a:ext cx="1371600" cy="365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E5F7E"/>
                </a:solidFill>
              </a:rPr>
              <a:t>Si el usuario puede evaluar candidatos con un gesto, la carga cognitiva cae al minimo.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1153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La mecanica: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-- Tarjeta visual del candidato: foto, nombre, partido, propuestas clave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-- Swipe derecha = me interesa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-- Swipe izquierda = no me interesa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-- Construccion progresiva de preferencias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La inspiracion: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-- Mecanica de Tinder: conocida por millones de usuarios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-- Zero learning curve: el usuario ya sabe como funciona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-- Evaluacion rapida, inmediata, sin friccion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Estado del prototipo: candidatos ficticios, posiciones simplificadas.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4A9BBF"/>
                </a:solidFill>
              </a:rPr>
              <a:t>La contradiccion estructural del swipe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El swipe es binario. La politica publica no lo 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1153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La posicion de un votante sobre una politica publica rara vez es binaria.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Aborto: estoy de acuerdo / estoy en desacuerdo?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Salario minimo: subirlo o no subirlo?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Estas preguntas no tienen respuestas binarias. Tienen matices: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  Muy de acuerdo   De acuerdo   Neutral   En desacuerdo   Muy en desacuerdo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La escala Likert de 5 puntos captura esa gradacion.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El swipe binario pierde la mitad de la informacion relevante para el matching.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Sin esa informacion, el porcentaje de afinidad no refleja las preferencias reales.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4A9BBF"/>
                </a:solidFill>
              </a:rPr>
              <a:t>El segundo problema: los datos fabricados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Candidatos ficticios con posturas inventadas.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1153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Las posturas asignadas a los candidatos de prueba fueron generadas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por inferencia ideologica estereopitica: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  'Si el candidato X es de derecha, su postura sobre el aborto es Y.'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No habia verificacion. No habia fuentes. No habia trazabilidad.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Esto es inaceptable para un sistema electoral.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Un sistema que genera recomendaciones basadas en datos fabricados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no asesora al votante: lo DESINFORMA de una manera mas sofisticada.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La presentacion algoritmica genera una ilusion de rigor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que el contenido no respalda.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5F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600" b="1" i="0">
                <a:solidFill>
                  <a:srgbClr val="6EA2C0"/>
                </a:solidFill>
              </a:rPr>
              <a:t>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0"/>
            <a:ext cx="109115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El Cambio de Paradigma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57200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4A9BBF"/>
                </a:solidFill>
              </a:rPr>
              <a:t>Cuando la pregunta correcta genera la solucion correcta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4A9BBF"/>
                </a:solidFill>
              </a:rPr>
              <a:t>La pregunta que lo cambio 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La pregunta correcta genera la solucion correcta.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1153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PREGUNTA ANTERIOR: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  Como hacer mas entretenido el proceso de conocer candidatos?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NUEVA PREGUNTA: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  Como medir la coincidencia entre las posturas declaradas del votante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  y las posiciones documentadas del candidato,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  con la menor carga cognitiva posible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  y la mayor precision que los datos permitan?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Este desplazamiento de pregunta produjo un desplazamiento de paradigma: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De una app de EXPLORACION DE CANDIDATOS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a una VOTING ADVICE APPLICATION (VAA).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3A52"/>
                </a:solidFill>
              </a:rPr>
              <a:t>De la intuicion al referente: las VAAs como modelo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7" y="1188720"/>
            <a:ext cx="18288" cy="5303520"/>
          </a:xfrm>
          <a:prstGeom prst="rect">
            <a:avLst/>
          </a:prstGeom>
          <a:solidFill>
            <a:srgbClr val="CBD1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2728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5F7E"/>
                </a:solidFill>
              </a:rPr>
              <a:t>Que es una Voting Advice Application?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731520" cy="365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72887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Una herramienta digital que:</a:t>
            </a:r>
          </a:p>
          <a:p>
            <a:pPr>
              <a:spcBef>
                <a:spcPts val="500"/>
              </a:spcBef>
            </a:pP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1. Presenta preguntas sobre temas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   de politica publica</a:t>
            </a:r>
          </a:p>
          <a:p>
            <a:pPr>
              <a:spcBef>
                <a:spcPts val="500"/>
              </a:spcBef>
            </a:pP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2. Captura las preferencias del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   usuario (escala Likert 5 puntos)</a:t>
            </a:r>
          </a:p>
          <a:p>
            <a:pPr>
              <a:spcBef>
                <a:spcPts val="500"/>
              </a:spcBef>
            </a:pP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3. Compara con las posturas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   documentadas de los candidatos</a:t>
            </a:r>
          </a:p>
          <a:p>
            <a:pPr>
              <a:spcBef>
                <a:spcPts val="500"/>
              </a:spcBef>
            </a:pP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4. Produce un ranking de afinidad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   expresado en porcentaje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7015" y="1097280"/>
            <a:ext cx="52728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5F7E"/>
                </a:solidFill>
              </a:rPr>
              <a:t>30+ anos de desarrollo y validacion academica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6297015" y="1554480"/>
            <a:ext cx="731520" cy="365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7015" y="1691640"/>
            <a:ext cx="5272887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StemWijzer (NL, 1989)     -- primer VAA del mundo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Wahl-O-Mat (DE, 2002)     -- referencia europea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Smartvote (CH, 2003)      -- mas sofisticado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Vote Compass (CA, 2011)   -- modelo de distribucion masiva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iSideWith (Global, 2012)  -- mayor alcance geografico</a:t>
            </a:r>
          </a:p>
          <a:p>
            <a:pPr>
              <a:spcBef>
                <a:spcPts val="500"/>
              </a:spcBef>
            </a:pP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Decadas de investigacion academica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convergieron en principios de diseno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F2A35"/>
                </a:solidFill>
              </a:rPr>
              <a:t>razonablemente bien establecidos.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C3A52"/>
                </a:solidFill>
              </a:rPr>
              <a:t>Hipotesis 3 — La que funciono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43000"/>
            <a:ext cx="1371600" cy="365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E5F7E"/>
                </a:solidFill>
              </a:rPr>
              <a:t>Si el proceso es eficiente (no entretenido), el resultado sera util.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1153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La hipotesis reformulada: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'Si se reduce la carga cognitiva del proceso informativo --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no haciendo la interfaz mas entretenida, sino estructurando las preguntas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de manera que el usuario revele sus preferencias en 5 a 10 minutos --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y si el resultado entrega un ranking con criterios explicitos y verificables,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entonces la herramienta puede ser percibida como util y confiable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  por votantes de perfiles muy distintos.'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La diferencia con H2 no es estetica. Es epistemologica.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Reducir la carga cognitiva HACIENDO EL PROCESO MAS EFICIENTE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F2A35"/>
                </a:solidFill>
              </a:rPr>
              <a:t>es radicalmente distinto de reducirla HACIENDOLO MAS ENTRETENIDO.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4A9BBF"/>
                </a:solidFill>
              </a:rPr>
              <a:t>La evolucion completa: de la idea al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4 hipotesis. 2 cursos. 1 sistema que funciona.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1153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2024 -- Emprendimiento I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  Problema identificado y cuantificado. Oportunidad articulada.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2024 -- Emprendimiento II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  H1: Gamificacion civica. Prototipo en Visily AI.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  Limitacion: desplaza el problema de datos sin resolverlo.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2024/2025 -- Aplicaciones Moviles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  H2: Swipe electoral. Prototipo funcional.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  Limitacion: binario vs. matiz. Datos fabricados = desinformacion.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2025/2026 -- Tesis UTFSM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  H3: VAA con cuestionario Likert + matching + ponderacion.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A9BBF"/>
                </a:solidFill>
              </a:rPr>
              <a:t>  Resultado: sistema funcional, auditable, datos verificados.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011680"/>
            <a:ext cx="54864" cy="228600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A9E7A"/>
                </a:solidFill>
              </a:rPr>
              <a:t>CIERRE -- PRESENTACION 2 DE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Tres hipotesis. Tres aprendizajes. Una solucion.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8056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A9BBF"/>
                </a:solidFill>
              </a:rPr>
              <a:t>Continuacion -&gt; Presentacion 3: La Solucion, el Diseno y el Producto</a:t>
            </a:r>
            <a:br/>
            <a:r>
              <a:t>Que es VotoAfin, como funciona, y que valor genera.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1792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BA098"/>
                </a:solidFill>
              </a:rPr>
              <a:t>VotoAFin · UTFSM · Jenifer Castillo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