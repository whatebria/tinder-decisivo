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-- 15 a 20 minutos</a:t>
            </a:r>
          </a:p>
          <a:p/>
          <a:p>
            <a:r>
              <a:t>Esta presentacion responde: como se construyo el sistema?</a:t>
            </a:r>
          </a:p>
          <a:p/>
          <a:p>
            <a:r>
              <a:t>La audiencia tecnica (comision evaluadora de ingenieria) puede encontrar aqui el trabajo real de ingenieria detras de la propuesta.</a:t>
            </a:r>
          </a:p>
          <a:p/>
          <a:p>
            <a:r>
              <a:t>Tres mensajes centrales:</a:t>
            </a:r>
          </a:p>
          <a:p>
            <a:r>
              <a:t>  1. Las decisiones tecnologicas tuvieron justificacion explicita.</a:t>
            </a:r>
          </a:p>
          <a:p>
            <a:r>
              <a:t>  2. La ingenieria estuvo al servicio del problema civico, no al reves.</a:t>
            </a:r>
          </a:p>
          <a:p>
            <a:r>
              <a:t>  3. El sistema produce conocimiento reutilizable, no solo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7 objetivos especificos cubren el ciclo completo:</a:t>
            </a:r>
          </a:p>
          <a:p>
            <a:r>
              <a:t>investigacion -&gt; analisis -&gt; diseno -&gt; algoritmo -&gt; implementacion -&gt; datos -&gt; documentacion.</a:t>
            </a:r>
          </a:p>
          <a:p/>
          <a:p>
            <a:r>
              <a:t>Al cierre del proyecto:</a:t>
            </a:r>
          </a:p>
          <a:p>
            <a:r>
              <a:t>  - Objetivos 1-6: alcanzados completamente.</a:t>
            </a:r>
          </a:p>
          <a:p>
            <a:r>
              <a:t>  - Objetivo 7 (documentacion para contribuidores): alcanzado parcialmente.</a:t>
            </a:r>
          </a:p>
          <a:p>
            <a:r>
              <a:t>    La documentacion existe pero requiere ampliacion.</a:t>
            </a:r>
          </a:p>
          <a:p/>
          <a:p>
            <a:r>
              <a:t>Esta honestidad sobre el estado de los objetivos es parte del modelo de transparencia que atraviesa todo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Fase 5 (Simplificacion YAGNI) merece atencion especial:</a:t>
            </a:r>
          </a:p>
          <a:p>
            <a:r>
              <a:t>Se eliminaron features que habian sido implementadas porque no resolvian el problema central del usuario. YAGNI = You Aren't Gonna Need It.</a:t>
            </a:r>
          </a:p>
          <a:p/>
          <a:p>
            <a:r>
              <a:t>Esta decision requirio disciplina: mas facil es mantener el codigo existente que decidir que no pertenece al sistema.</a:t>
            </a:r>
          </a:p>
          <a:p/>
          <a:p>
            <a:r>
              <a:t>La Fase 3 (Auditoria de seguridad) fue un momento honesto: el codigo del prototipo de Aplicaciones Moviles tenia deuda tecnica de seguridad que habia que resolver antes de continuar.</a:t>
            </a:r>
          </a:p>
          <a:p/>
          <a:p>
            <a:r>
              <a:t>La metodologia fue iterativa pero disciplinada: cada fase tenia un objetivo claro y entregables verificables.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Transicion a la arquitectura.</a:t>
            </a:r>
          </a:p>
          <a:p/>
          <a:p>
            <a:r>
              <a:t>La decision arquitectonica mas importante del proyecto no fue que tecnologia usar. Fue DONDE vive el algoritmo.</a:t>
            </a:r>
          </a:p>
          <a:p/>
          <a:p>
            <a:r>
              <a:t>La respuesta a esa pregunta determina si el sistema puede ser auditado o si opera como una caja negra.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separacion es critica para la auditabilidad electoral.</a:t>
            </a:r>
          </a:p>
          <a:p/>
          <a:p>
            <a:r>
              <a:t>Si el algoritmo de calculo estuviera en el cliente (frontend), seria posible que distintos usuarios recibieran calculos distintos segun la version del cliente que ejecutaran.</a:t>
            </a:r>
          </a:p>
          <a:p/>
          <a:p>
            <a:r>
              <a:t>Al vivir exclusivamente en el servidor, el algoritmo es unico, auditable de manera independiente y no puede ser alterado por el cliente.</a:t>
            </a:r>
          </a:p>
          <a:p/>
          <a:p>
            <a:r>
              <a:t>El contrato OpenAPI 3.1 genera tipos TypeScript automaticamente.</a:t>
            </a:r>
          </a:p>
          <a:p>
            <a:r>
              <a:t>Cuando el backend cambia, el compilador señala exactamente donde</a:t>
            </a:r>
          </a:p>
          <a:p>
            <a:r>
              <a:t>el frontend debe actualizar. Esto elimina errores de integracion que de otro modo solo aparecerian en tiempo de ejecucion.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modelos Django que cubren el dominio completo del problema electoral.</a:t>
            </a:r>
          </a:p>
          <a:p/>
          <a:p>
            <a:r>
              <a:t>El modelo territorial polimorfico es una decision arquitectonica interesante:</a:t>
            </a:r>
          </a:p>
          <a:p>
            <a:r>
              <a:t>  16 regiones, 28 distritos electorales, 346 comunas</a:t>
            </a:r>
          </a:p>
          <a:p>
            <a:r>
              <a:t>  representados como jerarquia auto-recursiva.</a:t>
            </a:r>
          </a:p>
          <a:p>
            <a:r>
              <a:t>  Permite que el filtrado de candidatos por usuario sea un algoritmo</a:t>
            </a:r>
          </a:p>
          <a:p>
            <a:r>
              <a:t>  generico extensible a cualquier profundidad de jerarquia territorial.</a:t>
            </a:r>
          </a:p>
          <a:p/>
          <a:p>
            <a:r>
              <a:t>PosturaCandidato con nivel de confianza (ALTA/MEDIA/BAJA) es la implementacion tecnica del principio de transparencia:</a:t>
            </a:r>
          </a:p>
          <a:p>
            <a:r>
              <a:t>  No se puede ocultar la incertidumbre. Si no se sabe con certeza,   se debe declarar. El sistema lo muestra explicitamente al usuario.</a:t>
            </a:r>
          </a:p>
          <a:p/>
          <a:p>
            <a:r>
              <a:t>42 migraciones documentan la evolucion del schema desde el dia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decisiones tecnologicas siguieron el mismo criterio:</a:t>
            </a:r>
          </a:p>
          <a:p>
            <a:r>
              <a:t>'Elegir herramientas probadas en produccion, con comunidades activas, que resuelvan el problema actual sin anadir complejidad que no sea necesaria hoy.'</a:t>
            </a:r>
          </a:p>
          <a:p/>
          <a:p>
            <a:r>
              <a:t>Este criterio refleja YAGNI aplicado a la eleccion de stack.</a:t>
            </a:r>
          </a:p>
          <a:p>
            <a:r>
              <a:t>No se eligio lo mas moderno ni lo mas popular: se eligio lo mas adecuado.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decision de Django sobre FastAPI es un ejemplo canonico de YAGNI:</a:t>
            </a:r>
          </a:p>
          <a:p/>
          <a:p>
            <a:r>
              <a:t>FastAPI es mas moderno y tecnicamente mas eficiente para APIs puras.</a:t>
            </a:r>
          </a:p>
          <a:p>
            <a:r>
              <a:t>Pero el proyecto tenia un requerimiento especifico: el equipo de curacion de posturas necesitaba una interfaz de administracion sin escribir codigo.</a:t>
            </a:r>
          </a:p>
          <a:p/>
          <a:p>
            <a:r>
              <a:t>Django incluye eso por defecto. FastAPI no.</a:t>
            </a:r>
          </a:p>
          <a:p/>
          <a:p>
            <a:r>
              <a:t>Agregar FastAPI + una interfaz de admin custom habria sido mas complejo que usar Django que resuelve ambos problemas con una sola herramienta.</a:t>
            </a:r>
          </a:p>
          <a:p/>
          <a:p>
            <a:r>
              <a:t>Esta transparencia sobre las alternativas consideradas es parte del modelo de documentacion del proyecto: cada decision registra que se evaluo y por que no se eligio.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requerimiento de cobertura multiplataforma es un argumento civico:</a:t>
            </a:r>
          </a:p>
          <a:p>
            <a:r>
              <a:t>una plataforma electoral que solo funciona en web excluye a los usuarios que consumen contenido principalmente desde dispositivos moviles.</a:t>
            </a:r>
          </a:p>
          <a:p/>
          <a:p>
            <a:r>
              <a:t>TanStack Query resolvio un problema real: sin cache automatica, cada navegacion entre pantallas hacia un request nuevo al servidor. Con TQ, los datos se cachean y el tiempo percibido de respuesta cae.</a:t>
            </a:r>
          </a:p>
          <a:p/>
          <a:p>
            <a:r>
              <a:t>Zustand sobre Redux fue otra decision YAGNI:</a:t>
            </a:r>
          </a:p>
          <a:p>
            <a:r>
              <a:t>Redux tiene capacidades que VotoAfin no necesita y complejidad que encarece el mantenimiento sin agregar valor.</a:t>
            </a:r>
          </a:p>
          <a:p/>
          <a:p>
            <a:r>
              <a:t>TypeScript strict modo: cada error de tipo se detecta en compilacion, no en ejecucion. En un contexto de contribuidores externos, esto reduce drasticamente los bugs de integracion.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fue una de las decisiones mas reflexivas del proyecto.</a:t>
            </a:r>
          </a:p>
          <a:p/>
          <a:p>
            <a:r>
              <a:t>En un producto comercial, la eleccion de licencia es una decision de negocio.</a:t>
            </a:r>
          </a:p>
          <a:p>
            <a:r>
              <a:t>En un producto electoral, es una decision etica.</a:t>
            </a:r>
          </a:p>
          <a:p/>
          <a:p>
            <a:r>
              <a:t>La AGPL es la licencia libre mas restrictiva en terminos de copyleft.</a:t>
            </a:r>
          </a:p>
          <a:p>
            <a:r>
              <a:t>Fue elegida deliberadamente porque el sistema procesa posiciones politicas de ciudadanos y produce recomendaciones de voto.</a:t>
            </a:r>
          </a:p>
          <a:p/>
          <a:p>
            <a:r>
              <a:t>Una herramienta de esas caracteristicas tiene la obligacion de ser auditable por cualquier persona, organismo de observacion electoral o investigador academico.</a:t>
            </a:r>
          </a:p>
          <a:p/>
          <a:p>
            <a:r>
              <a:t>Si cualquier actor (gobierno, partido, ONG) despliega una version modificada, los cambios al algoritmo son publicos. No puede haber manipulacion oculta.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episodio fue uno de los momentos mas importantes del proyecto y merece narrarse con honestidad.</a:t>
            </a:r>
          </a:p>
          <a:p/>
          <a:p>
            <a:r>
              <a:t>La respuesta intuitiva seria ocultar el episodio o minimizarlo.</a:t>
            </a:r>
          </a:p>
          <a:p>
            <a:r>
              <a:t>La respuesta correcta -- la que el proyecto tomo -- fue convertirlo en</a:t>
            </a:r>
          </a:p>
          <a:p>
            <a:r>
              <a:t>un principio de diseno que atraviesa todo el sistema.</a:t>
            </a:r>
          </a:p>
          <a:p/>
          <a:p>
            <a:r>
              <a:t>El principio 'nunca inventar datos electorales' no es solo una regla de datos:</a:t>
            </a:r>
          </a:p>
          <a:p>
            <a:r>
              <a:t>es la implementacion tecnica de la etica del sistema.</a:t>
            </a:r>
          </a:p>
          <a:p/>
          <a:p>
            <a:r>
              <a:t>Un sistema electoral que genera recomendaciones basadas en datos fabricados</a:t>
            </a:r>
          </a:p>
          <a:p>
            <a:r>
              <a:t>no asesora al votante: lo desinforma con formato de credibilidad.</a:t>
            </a:r>
          </a:p>
          <a:p/>
          <a:p>
            <a:r>
              <a:t>Esa distincion -- entre desinformacion con y sin formato de credibilidad --</a:t>
            </a:r>
          </a:p>
          <a:p>
            <a:r>
              <a:t>es exactamente la que el problema original identifico como danina para la</a:t>
            </a:r>
          </a:p>
          <a:p>
            <a:r>
              <a:t>democracia.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autenticacion sigue el principio de 'la solucion mas simple que</a:t>
            </a:r>
          </a:p>
          <a:p>
            <a:r>
              <a:t>resuelve el problema real'.</a:t>
            </a:r>
          </a:p>
          <a:p/>
          <a:p>
            <a:r>
              <a:t>El dual-mode authentication (cookie en web, almacenamiento seguro en nativo)</a:t>
            </a:r>
          </a:p>
          <a:p>
            <a:r>
              <a:t>responde a que los vectores de ataque son distintos en cada contexto:</a:t>
            </a:r>
          </a:p>
          <a:p>
            <a:r>
              <a:t>  - En web: XSS es el principal riesgo para tokens en localStorage.</a:t>
            </a:r>
          </a:p>
          <a:p>
            <a:r>
              <a:t>  - En nativo: otras apps no pueden acceder al Keychain ni a EncryptedSharedPrefs.</a:t>
            </a:r>
          </a:p>
          <a:p/>
          <a:p>
            <a:r>
              <a:t>Los 17 hallazgos de seguridad fueron identificados durante la auditoria formal.</a:t>
            </a:r>
          </a:p>
          <a:p>
            <a:r>
              <a:t>15 resueltos, 2 documentados con razon explicita de aceptacion.</a:t>
            </a:r>
          </a:p>
          <a:p/>
          <a:p>
            <a:r>
              <a:t>Este nivel de transparencia sobre deuda de seguridad es parte del mismo</a:t>
            </a:r>
          </a:p>
          <a:p>
            <a:r>
              <a:t>principio de honestidad que aplica a los datos de candidatos.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metricas representan la magnitud del trabajo de ingenieria</a:t>
            </a:r>
          </a:p>
          <a:p>
            <a:r>
              <a:t>entre el prototipo de Aplicaciones Moviles y el sistema de tesis.</a:t>
            </a:r>
          </a:p>
          <a:p/>
          <a:p>
            <a:r>
              <a:t>212 commits no son solo cambios de codigo: son decisiones documentadas,</a:t>
            </a:r>
          </a:p>
          <a:p>
            <a:r>
              <a:t>refactorizaciones argumentadas, y evidencia de un proceso de desarrollo</a:t>
            </a:r>
          </a:p>
          <a:p>
            <a:r>
              <a:t>con revision continua.</a:t>
            </a:r>
          </a:p>
          <a:p/>
          <a:p>
            <a:r>
              <a:t>370 tests automatizados: la relacion test/codigo aumento a lo largo</a:t>
            </a:r>
          </a:p>
          <a:p>
            <a:r>
              <a:t>del proyecto. La suite cubre servicios de negocio y endpoints de API.</a:t>
            </a:r>
          </a:p>
          <a:p/>
          <a:p>
            <a:r>
              <a:t>89 componentes UI reutilizables: el crecimiento desde 7 refleja la</a:t>
            </a:r>
          </a:p>
          <a:p>
            <a:r>
              <a:t>aplicacion de Atomic Design -- la UI crece por composicion, no por</a:t>
            </a:r>
          </a:p>
          <a:p>
            <a:r>
              <a:t>duplicacion.</a:t>
            </a:r>
          </a:p>
          <a:p/>
          <a:p>
            <a:r>
              <a:t>17/17 hallazgos de seguridad resueltos o documentados: cero sin accion.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es la fotografia del estado real del sistema al cierre.</a:t>
            </a:r>
          </a:p>
          <a:p/>
          <a:p>
            <a:r>
              <a:t>Los 37 documentos tecnicos auditados contra codigo real es un punto</a:t>
            </a:r>
          </a:p>
          <a:p>
            <a:r>
              <a:t>importante: la documentacion no fue escrita a priori ni copiada de otra fuente.</a:t>
            </a:r>
          </a:p>
          <a:p>
            <a:r>
              <a:t>Fue verificada linea a linea contra el codigo fuente para garantizar que</a:t>
            </a:r>
          </a:p>
          <a:p>
            <a:r>
              <a:t>refleja la realidad del sistema, no una version idealizada.</a:t>
            </a:r>
          </a:p>
          <a:p/>
          <a:p>
            <a:r>
              <a:t>El contrato OpenAPI 3.1 generado automaticamente significa que la</a:t>
            </a:r>
          </a:p>
          <a:p>
            <a:r>
              <a:t>documentacion de la API se actualiza con el codigo: nunca puede quedar desincronizada.</a:t>
            </a:r>
          </a:p>
          <a:p/>
          <a:p>
            <a:r>
              <a:t>El repositorio publico bajo AGPL-3.0 es la entrega que va mas alla</a:t>
            </a:r>
          </a:p>
          <a:p>
            <a:r>
              <a:t>del proyecto academico: es infraestructura reutilizable.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Transicion a los desafios.</a:t>
            </a:r>
          </a:p>
          <a:p/>
          <a:p>
            <a:r>
              <a:t>Todo proyecto de ingenieria enfrenta desafios que no aparecen en el</a:t>
            </a:r>
          </a:p>
          <a:p>
            <a:r>
              <a:t>curriculum de la carrera. VotoAfin tuvo tres principales.</a:t>
            </a:r>
          </a:p>
          <a:p/>
          <a:p>
            <a:r>
              <a:t>Narrarlos con honestidad es parte del valor academico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tres desafios no son de ingenieria pura: son de contexto civico.</a:t>
            </a:r>
          </a:p>
          <a:p/>
          <a:p>
            <a:r>
              <a:t>DESAFIO 1 (Datos): la curaduría de posturas no se puede automatizar sin</a:t>
            </a:r>
          </a:p>
          <a:p>
            <a:r>
              <a:t>riesgo de reproducir sesgos. Un LLM que 'infiere' posturas a partir de la</a:t>
            </a:r>
          </a:p>
          <a:p>
            <a:r>
              <a:t>ideologia del partido seria mas rapido pero completamente inaceptable.</a:t>
            </a:r>
          </a:p>
          <a:p/>
          <a:p>
            <a:r>
              <a:t>DESAFIO 2 (Neutralidad): la investigacion politologica sobre formulacion</a:t>
            </a:r>
          </a:p>
          <a:p>
            <a:r>
              <a:t>de encuestas muestra que el orden de las opciones, los terminos elegidos</a:t>
            </a:r>
          </a:p>
          <a:p>
            <a:r>
              <a:t>y el encuadre de la pregunta afectan las respuestas. Resolver esto</a:t>
            </a:r>
          </a:p>
          <a:p>
            <a:r>
              <a:t>correctamente requiere revision con especialistas en metodologia de encuestas.</a:t>
            </a:r>
          </a:p>
          <a:p/>
          <a:p>
            <a:r>
              <a:t>DESAFIO 3 (Sostenibilidad): el problema de fondo es que la informacion</a:t>
            </a:r>
          </a:p>
          <a:p>
            <a:r>
              <a:t>electoral tiene maxima relevancia dos semanas por ano y es cara de mantener</a:t>
            </a:r>
          </a:p>
          <a:p>
            <a:r>
              <a:t>el resto del tiempo. Sin modelo de financiamiento estable, las VAAs mueren.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lecciones son el aporte academico mas transferible del proyecto.</a:t>
            </a:r>
          </a:p>
          <a:p/>
          <a:p>
            <a:r>
              <a:t>LECCION 1 (pregunta de diseno): el cambio de 'como hacer atractivo el</a:t>
            </a:r>
          </a:p>
          <a:p>
            <a:r>
              <a:t>candidato' a 'como medir la coincidencia programatica' genero una solucion</a:t>
            </a:r>
          </a:p>
          <a:p>
            <a:r>
              <a:t>fundamentalmente distinta. Esta leccion trasciende las VAAs.</a:t>
            </a:r>
          </a:p>
          <a:p/>
          <a:p>
            <a:r>
              <a:t>LECCION 2 (datos &gt; algoritmo): un sistema de recomendacion es tan bueno</a:t>
            </a:r>
          </a:p>
          <a:p>
            <a:r>
              <a:t>como sus datos. En sistemas electorales, la calidad de los datos no es</a:t>
            </a:r>
          </a:p>
          <a:p>
            <a:r>
              <a:t>una opcion: es una obligacion etica.</a:t>
            </a:r>
          </a:p>
          <a:p/>
          <a:p>
            <a:r>
              <a:t>LECCION 3 (separacion de responsabilidades): la extraccion de logica de</a:t>
            </a:r>
          </a:p>
          <a:p>
            <a:r>
              <a:t>negocio a servicios puros no fue una decision estetica. Los tests unitarios</a:t>
            </a:r>
          </a:p>
          <a:p>
            <a:r>
              <a:t>que no requieren BD ni HTTP corren 30x mas rapido. Eso es valor medible.</a:t>
            </a:r>
          </a:p>
          <a:p/>
          <a:p>
            <a:r>
              <a:t>LECCION 4 (deuda documentada): el proyecto adopto la practica de declarar</a:t>
            </a:r>
          </a:p>
          <a:p>
            <a:r>
              <a:t>explicitamente que deuda acepta y por que. Eso permite priorizar</a:t>
            </a:r>
          </a:p>
          <a:p>
            <a:r>
              <a:t>deliberadamente en lugar de reaccionar ante los problemas.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roadmap no es una lista de deseos: es el resultado de una evaluacion</a:t>
            </a:r>
          </a:p>
          <a:p>
            <a:r>
              <a:t>explicita de que falta para que el sistema este listo para impacto real.</a:t>
            </a:r>
          </a:p>
          <a:p/>
          <a:p>
            <a:r>
              <a:t>v0.2 es la prioridad mas alta: sin datos verificados completos, el MVP</a:t>
            </a:r>
          </a:p>
          <a:p>
            <a:r>
              <a:t>comunica incertidumbre de manera honesta pero no puede garantizar la</a:t>
            </a:r>
          </a:p>
          <a:p>
            <a:r>
              <a:t>calidad que una herramienta electoral requiere para ser util.</a:t>
            </a:r>
          </a:p>
          <a:p/>
          <a:p>
            <a:r>
              <a:t>v0.3 (explicabilidad) es la feature mas demandada academicamente:</a:t>
            </a:r>
          </a:p>
          <a:p>
            <a:r>
              <a:t>los investigadores de ciencia politica quieren entender no solo el</a:t>
            </a:r>
          </a:p>
          <a:p>
            <a:r>
              <a:t>resultado sino las preguntas que lo determinaron.</a:t>
            </a:r>
          </a:p>
          <a:p/>
          <a:p>
            <a:r>
              <a:t>v0.4 (cobertura municipal) ataca directamente el mayor problema identificado:</a:t>
            </a:r>
          </a:p>
          <a:p>
            <a:r>
              <a:t>los +460% de votos nulos para alcalde ocurrieron en esas elecciones,</a:t>
            </a:r>
          </a:p>
          <a:p>
            <a:r>
              <a:t>y VotoAfin no las cubre todavia.</a:t>
            </a:r>
          </a:p>
          <a:p/>
          <a:p>
            <a:r>
              <a:t>v1.0 requiere alianzas institucionales para el hosting y la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es el cierre del argumento de impacto.</a:t>
            </a:r>
          </a:p>
          <a:p/>
          <a:p>
            <a:r>
              <a:t>VotoAfin no termina cuando se entrega la tesis: es una base tecnica</a:t>
            </a:r>
          </a:p>
          <a:p>
            <a:r>
              <a:t>que puede evolucionar en multiples direcciones.</a:t>
            </a:r>
          </a:p>
          <a:p/>
          <a:p>
            <a:r>
              <a:t>El modelo de Vote Compass (alianza con CBC en Canada) es el referente:</a:t>
            </a:r>
          </a:p>
          <a:p>
            <a:r>
              <a:t>una VAA con algoritmo estandar alcanzo millones de usuarios gracias a</a:t>
            </a:r>
          </a:p>
          <a:p>
            <a:r>
              <a:t>su modelo de distribucion. VotoAfin tiene mejores especificaciones</a:t>
            </a:r>
          </a:p>
          <a:p>
            <a:r>
              <a:t>tecnicas que Vote Compass -- lo que le falta es la alianza de distribucion.</a:t>
            </a:r>
          </a:p>
          <a:p/>
          <a:p>
            <a:r>
              <a:t>La apertura del codigo bajo AGPL-3.0 es la decision que hace posibles</a:t>
            </a:r>
          </a:p>
          <a:p>
            <a:r>
              <a:t>estas tres dimensiones de evolucion. Una VAA propietaria no puede</a:t>
            </a:r>
          </a:p>
          <a:p>
            <a:r>
              <a:t>ser usada por investigadores ni adaptada por otros paises sin negociacion.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la Presentacion 4 y de la exposicion completa.</a:t>
            </a:r>
          </a:p>
          <a:p/>
          <a:p>
            <a:r>
              <a:t>Esta cita final viene de la seccion de reflexion final de la tesis.</a:t>
            </a:r>
          </a:p>
          <a:p/>
          <a:p>
            <a:r>
              <a:t>Sintetiza el argumento central de todo el proyecto:</a:t>
            </a:r>
          </a:p>
          <a:p>
            <a:r>
              <a:t>  - La tecnologia fue el medio, la democracia fue el fin.</a:t>
            </a:r>
          </a:p>
          <a:p>
            <a:r>
              <a:t>  - El estandar etico para tecnologia electoral es mas alto que para</a:t>
            </a:r>
          </a:p>
          <a:p>
            <a:r>
              <a:t>    tecnologia comercial.</a:t>
            </a:r>
          </a:p>
          <a:p>
            <a:r>
              <a:t>  - El proyecto es pequeno en escala pero coherente en valores.</a:t>
            </a:r>
          </a:p>
          <a:p/>
          <a:p>
            <a:r>
              <a:t>Tiempo estimado para la Presentacion 4: 18-22 minutos.</a:t>
            </a:r>
          </a:p>
          <a:p/>
          <a:p>
            <a:r>
              <a:t>Defensa completa (4 presentaciones): 55-70 minutos + preguntas.</a:t>
            </a:r>
          </a:p>
          <a:p/>
          <a:p>
            <a:r>
              <a:t>Para la sesion de preguntas: las preguntas mas probables son sobre</a:t>
            </a:r>
          </a:p>
          <a:p>
            <a:r>
              <a:t>el algoritmo (que funcion de penalizacion se uso y por que),</a:t>
            </a:r>
          </a:p>
          <a:p>
            <a:r>
              <a:t>la neutralidad de las preguntas, y el modelo de sostenibilidad.</a:t>
            </a:r>
          </a:p>
          <a:p>
            <a:r>
              <a:t>Las 3 estan documentadas en la tesis con respuestas desarrolladas.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cierre final.</a:t>
            </a:r>
          </a:p>
          <a:p/>
          <a:p>
            <a:r>
              <a:t>No es necesario decir mucho aqui. La historia ya fue contada.</a:t>
            </a:r>
          </a:p>
          <a:p/>
          <a:p>
            <a:r>
              <a:t>La URL del repositorio permite que cualquier miembro de la comision</a:t>
            </a:r>
          </a:p>
          <a:p>
            <a:r>
              <a:t>acceda al codigo, la documentacion y los datos en cualquier momento.</a:t>
            </a:r>
          </a:p>
          <a:p/>
          <a:p>
            <a:r>
              <a:t>Si hay tiempo para preguntas, dejar la pantalla en este slide</a:t>
            </a:r>
          </a:p>
          <a:p>
            <a:r>
              <a:t>mientras se responden.</a:t>
            </a:r>
          </a:p>
          <a:p/>
          <a:p>
            <a:r>
              <a:t>GUION PARA DEFENSA DE 45-60 MINUTOS:</a:t>
            </a:r>
          </a:p>
          <a:p>
            <a:r>
              <a:t>  P1 (Problema):   10-12 min</a:t>
            </a:r>
          </a:p>
          <a:p>
            <a:r>
              <a:t>  P2 (Evolucion):  10-13 min</a:t>
            </a:r>
          </a:p>
          <a:p>
            <a:r>
              <a:t>  P3 (Solucion):   13-16 min</a:t>
            </a:r>
          </a:p>
          <a:p>
            <a:r>
              <a:t>  P4 (Ingenieria): 15-18 min</a:t>
            </a:r>
          </a:p>
          <a:p>
            <a:r>
              <a:t>  Preguntas:        7-15 min</a:t>
            </a:r>
          </a:p>
          <a:p>
            <a:r>
              <a:t>  Total:           55-74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54864" cy="22860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E7A"/>
                </a:solidFill>
              </a:rPr>
              <a:t>PRESENTACION 4 DE 4  --  INGENIERIA, ARQUITECTURA Y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Ingenieria para la Democracia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BBF"/>
                </a:solidFill>
              </a:rPr>
              <a:t>Arquitectura, decisiones tecnologicas, resultados y lecciones aprendidas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· UTFSM · Jenifer Castillo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Los objetivos del proyecto de tesis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E5F7E"/>
                </a:solidFill>
              </a:rPr>
              <a:t>1 objetivo general. 7 especificos.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115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OBJETIVO GENERAL: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Disenar e implementar una Voting Advice Application de codigo abierto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orientada al contexto electoral chileno.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OBJETIVOS ESPECIFICOS: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1. Investigar el problema del deficit informativo electoral en Chile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2. Analizar el estado del arte en VAAs internacionales y nacionales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3. Disenar una experiencia de usuario centrada en la reduccion de carga cognitiva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4. Definir un algoritmo de matching con ponderacion e indicador de confianza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5. Implementar el sistema completo con arquitectura cliente-servidor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6. Establecer un modelo de verificacion de datos con fuentes trazables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7. Documentar el sistema para facilitar contribuciones externas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Metodologia: 8 fases iterativas en ~32 semanas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0  Investigacion del estado del arte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Analisis comparativo: 9 VAAs + 4 iniciativas chilenas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1  Diseno de arquitectura y contrato API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Modelo de dominio + primer schema OpenAPI 3.1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2  MVP end-to-end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Flujo funcional desde registro hasta resultados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3  Auditoria y refactorizacion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4 hallazgos criticos de seguridad resueltos + DRY aplicado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4  Expansion territorial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Modelo polimorfico + preguntas base transversales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5  Simplificacion YAGNI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Swipe eliminado + DecisionFinal eliminado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6  Sistema de diseno y accesibilidad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Atomic Design + WCAG 2.2 AA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Fase 7  Documentacion y tesis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      37 documentos auditados contra el codigo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 i="0">
                <a:solidFill>
                  <a:srgbClr val="6EA2C0"/>
                </a:solidFill>
              </a:rPr>
              <a:t>ARQ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9BBF"/>
                </a:solidFill>
              </a:rPr>
              <a:t>Separacion de responsabilidades como garantia de auditabilidad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Arquitectura cliente-servidor: la separacion que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1188720"/>
            <a:ext cx="18288" cy="53035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Backend (servidor)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Django 5.2 + DRF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Persistencia de datos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Logica del algoritmo de matching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Autenticacion y autorizacion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API REST con contrato OpenAPI 3.1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Es la fuente de verdad del sistema.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El algoritmo SOLO vive aqui.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Auditable de manera independiente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del frontend.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7015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Frontend (cliente)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7015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Expo + React Native + TypeScript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Presentacion de informacion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Captura de respuestas del usuario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Navegacion entre pantallas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-- Comunicacion con el servidor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NO contiene logica de negocio critica.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Su funcion: mediar entre el usuario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y el servidor.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Multiplataforma: web + iOS + Android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4 dominios del modelo de datos — 19 modelos en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CATALOGO ELECTORAL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TipoEleccion, Candidato, Partido, ListaElectoral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Pregunta (organizada por eje), Eje, OpcionRespuesta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INTERACCION DEL USUARIO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Respuesta, ResultadoCandidato, ResultadoEje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Guardado (favoritos), Descartado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TERRITORIO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Region, Distrito, Comuna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Modelo polimorfico auto-recursivo para jerarquia electoral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PERFIL Y CONTENIDO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Perfil de usuario, Noticia, MarcadorNoticia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PosturaCandidato (con nivel de confianza: ALTA / MEDIA / BAJA)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 i="0">
                <a:solidFill>
                  <a:srgbClr val="6EA2C0"/>
                </a:solidFill>
              </a:rPr>
              <a:t>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Decisiones Tecnologicas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9BBF"/>
                </a:solidFill>
              </a:rPr>
              <a:t>YAGNI aplicado: herramientas probadas que resuelven el problema actual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Backend: Django y Django REST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1188720"/>
            <a:ext cx="18288" cy="53035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Por que Django?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1. Madurez y estabilidad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Django 5.2 — 20 anos en produccion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2. Panel de administracion incluido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Interfaz de gestion de candidatos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y posturas sin construir una custom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3. DRF como extension natural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Serializacion, validacion 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autenticacion integradas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4. ORM maduro y predecible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Consultas legibles, migraciones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versionadas automaticamente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7015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Alternativa considerada y razon de no eleccion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7015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FastAPI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+ Mas moderno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+ Mayor rendimiento asintotico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-- Sin panel de administracion integrado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  (requerimiento funcional critico: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  el equipo necesitaba gestionar datos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   sin acceso directo a la BD)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La razon de no elegirla: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YAGNI + el admin de Django resuelve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el problema real sin costo adicional.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Frontend: Expo + React Native + TypeScript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1188720"/>
            <a:ext cx="18288" cy="53035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Por que Expo + React Native?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Una sola base de codigo para: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Web + iOS + Android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Cobertura maxima de usuarios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para una plataforma civica.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Expo: ecosistema de herramientas,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simplifica compilacion multi-plataforma.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TypeScript strict: contrato de tipos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consistente en todo el frontend.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7015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Estado / cache y alternativas evaluadas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7015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TanStack Query v5 (estado servidor)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Cache automatica, deduplicacion,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retry, estados de carga/error.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Zustand (estado cliente)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Auth y cuestionario. Minimo boilerplate.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Redux: descartado (YAGNI).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Context+useReducer: descartado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(dificultad de debugging en estados complejos).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PWA: descartada por limitaciones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en acceso a capacidades nativas.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A9BBF"/>
                </a:solidFill>
              </a:rPr>
              <a:t>La decision de licencia: AGPL-3.0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La tecnologia electoral no deberia ser propiedad de nadie.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La AGPL (Affero General Public License) v3.0 establece: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Cualquier version modificada del software que sea desplegada publicamente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debe publicar su codigo fuente con la misma licencia.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Por que AGPL y no MIT o Apache?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MIT / Apache: cualquiera puede hacer una version cerrada y privada.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Un gobierno o empresa podria modificar el algoritmo y no compartir esos cambios.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AGPL: cualquier version modificada DEBE publicar su codigo.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Ningun actor puede hacer opaca la logica de una herramienta electoral.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Impacto adicional: habilita reutilizacion para otros paises de LatAm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sin permitir que los reutilizadores cierren el codigo.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A9BBF"/>
                </a:solidFill>
              </a:rPr>
              <a:t>El principio que organizo todos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Nunca inventar datos electorales.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El momento que establecio el principio: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El asistente de desarrollo intento inferir posturas de candidatos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a partir de estereotipos ideologicos generales.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'El candidato X es de derecha, por tanto su postura sobre el aborto es Y.'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La autora del proyecto lo identifico de inmediato: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las inferencias no son posturas verificadas. Pueden ser incorrectas Y sesgadas.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Protocolo implementado como consecuencia: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-- Cada fila de datos requiere justificacion textual minima (20 caracteres)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-- URL de fuente primaria verificable obligatoria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-- El sistema RECHAZA automaticamente entradas sin esos campos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-- Posturas con incertidumbre: nivel de confianza BAJA, visible al usuario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Seguridad: la solucion mas simple que resuelve el problema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1188720"/>
            <a:ext cx="18288" cy="53035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Contexto web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Token en cookie httpOnly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Atributos: SameSite=Lax, Secure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JavaScript NUNCA accede al token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Mitiga XSS (Cross-Site Scripting)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PBKDF2 para contrasenas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Estandar por defecto de Django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TOKEN_TTL_DAYS = 7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Token expira en 7 dias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Re-autenticacion requerida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7015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Contexto nativo (iOS / Android)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7015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Token en almacenamiento seguro del SO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Keychain (iOS)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EncryptedSharedPreferences (Android)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Inaccesible para otras apps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17 hallazgos de seguridad: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15 resueltos durante la auditoria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2 aceptados como deuda documentada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  0 sin accion ni documentacion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Evolucion del sistema: Sprint 8 inicial vs. estado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7278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3A9E7A"/>
                </a:solidFill>
              </a:rPr>
              <a:t>212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272788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BBF"/>
                </a:solidFill>
              </a:rPr>
              <a:t>commits en main</a:t>
            </a:r>
            <a:br/>
            <a:r>
              <a:t>(inicio: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7963" y="1280160"/>
            <a:ext cx="27278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A9BBF"/>
                </a:solidFill>
              </a:rPr>
              <a:t>370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67963" y="3566160"/>
            <a:ext cx="272788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BBF"/>
                </a:solidFill>
              </a:rPr>
              <a:t>tests automatizados</a:t>
            </a:r>
            <a:br/>
            <a:r>
              <a:t>(inicio: 46)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7" y="1280160"/>
            <a:ext cx="27278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3A9E7A"/>
                </a:solidFill>
              </a:rPr>
              <a:t>17/17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3566160"/>
            <a:ext cx="272788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BBF"/>
                </a:solidFill>
              </a:rPr>
              <a:t>hallazgos de seguridad</a:t>
            </a:r>
            <a:br/>
            <a:r>
              <a:t>resueltos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731" y="1280160"/>
            <a:ext cx="2727883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7BA098"/>
                </a:solidFill>
              </a:rPr>
              <a:t>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731" y="3566160"/>
            <a:ext cx="2727883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A9BBF"/>
                </a:solidFill>
              </a:rPr>
              <a:t>componentes UI</a:t>
            </a:r>
            <a:br/>
            <a:r>
              <a:t>reutilizables (inicio: 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El sistema al cierre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DATOS CARGADOS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Candidatos presidenciales 2025-2026 con posturas en 12 preguntas base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140 diputados 2025, asignados a sus 28 distritos electorales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12 preguntas con contexto educativo en 5 dimensiones cada una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CODIGO Y ARQUITECTURA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19 modelos de datos  --  42 migraciones  --  ~31 endpoints REST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17 pantallas frontend  --  30 hooks de datos  --  4 servicios puros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Contrato OpenAPI 3.1 generado automaticamente desde el backend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DOCUMENTACION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37 documentos tecnicos auditados contra el codigo fuente real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Cero referencias a datos obsoletos o features eliminadas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DISTRIBUCION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Repositorio publico GitHub (whatebria/tinder-decisivo)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Licencia AGPL-3.0  --  Listo para contribuidores externos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F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 i="0">
                <a:solidFill>
                  <a:srgbClr val="6EA2C0"/>
                </a:solidFill>
              </a:rPr>
              <a:t>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Los 3 Grandes Desafios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A9BBF"/>
                </a:solidFill>
              </a:rPr>
              <a:t>Los problemas que no estaban en el curriculum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Los tres desafios principales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DESAFIO 1 -- LOS DATOS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Las posturas de candidatos chilenos no estan sistematizadas en ninguna BD abierta.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Requiere consulta de multiples fuentes primarias por cada postura.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Es trabajo intensivo en tiempo humano. No automatizable de manera confiable.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Solucion adoptada: importar con nivel de confianza declarado, documentar verificacion pendiente.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DESAFIO 2 -- LA NEUTRALIDAD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Disenar preguntas de politica publica que no favorezcan ninguna posicion ideologica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es mas dificil de lo que parece. El lenguaje mismo es un campo politico.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Solucion adoptada: revision para eliminar sesgos evidentes, lenguaje positivo,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presentacion de multiples perspectivas. Revision con especialistas pendiente.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DESAFIO 3 -- LA SOSTENIBILIDAD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Las VAAs ciudadanas en Chile han sido discontinuadas por falta de financiamiento.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Decide Chile fue el ejemplo mas reciente.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Solucion adoptada: codigo abierto (AGPL-3.0) + importacion via CSV para voluntarios.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Camino largo: alianzas institucionales con universidades u organizaciones civicas.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C3A52"/>
                </a:solidFill>
              </a:rPr>
              <a:t>Lecciones aprendidas — las que perduran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1188720"/>
            <a:ext cx="18288" cy="5303520"/>
          </a:xfrm>
          <a:prstGeom prst="rect">
            <a:avLst/>
          </a:prstGeom>
          <a:solidFill>
            <a:srgbClr val="CBD1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Lecciones de producto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La pregunta de diseno determina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la solucion. Invertir en precisar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la pregunta correcta tiene el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mayor retorno del proceso.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Los datos son el producto.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El algoritmo es el envoltorio.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Un algoritmo perfecto sobre datos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inventados produce recomendaciones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inutiles.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La transparencia es un requerimiento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funcional, no una caracteristica.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7015" y="1097280"/>
            <a:ext cx="52728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F7E"/>
                </a:solidFill>
              </a:rPr>
              <a:t>Lecciones de ingenieria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73152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7015" y="1691640"/>
            <a:ext cx="5272887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La separacion de responsabilidades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tiene valor medible: tests 30x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mas rapidos, cero duplicacion.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El contrato de API como disciplina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de integracion: el compilador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detecta incompatibilidades antes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de llegar a produccion.</a:t>
            </a:r>
          </a:p>
          <a:p>
            <a:pPr>
              <a:spcBef>
                <a:spcPts val="500"/>
              </a:spcBef>
            </a:pP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La deuda tecnica documentada es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manejable. La no documentada no.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Declarar lo que se acepta 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F2A35"/>
                </a:solidFill>
              </a:rPr>
              <a:t>por que es parte del diseño.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C3A52"/>
                </a:solidFill>
              </a:rPr>
              <a:t>Roadmap: 4 releases hacia el lanzamiento publico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43000"/>
            <a:ext cx="1371600" cy="36576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v0.2  --  DATOS VERIFICADOS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Verificacion completa de posturas con fuentes primarias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Expansion del cuestionario (mas de 12 preguntas)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Changelog publico de verificaciones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v0.3  --  EXPLICABILIDAD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Que preguntas causaron que un candidato rankeara alto o bajo?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Simulador interactivo de sensibilidad del resultado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v0.4  --  EXPANSION DE COBERTURA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Elecciones municipales y regionales (donde ocurrio el +460% de nulos)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Notificaciones personalizadas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Onboarding del lado del candidato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v1.0  --  LANZAMIENTO PUBLICO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1F2A35"/>
                </a:solidFill>
              </a:rPr>
              <a:t>  Hosting en produccion  --  Pruebas de carga  --  Internacionalizacion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4A9BBF"/>
                </a:solidFill>
              </a:rPr>
              <a:t>Potencial de evolucion: tres dimensiones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Una base tecnica que va mas alla de una tesis.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115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INVESTIGACION ACADEMICA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La plataforma puede ser utilizada por equipos de ciencia politica para: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estudiar el comportamiento electoral frente a informacion estructurada,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la relacion entre ponderacion de temas y resultado del matching.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MODELO PARA OTROS PAISES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Arquitectura modular + AGPL-3.0 + importacion via CSV verificado.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Un fork para Argentina, Colombia o Mexico requiere actualizar datos,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no reconstruir la infraestructura tecnica.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ALIANZAS INSTITUCIONALES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Modelo de Vote Compass: alianza con medios de comunicacion.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Vote Compass + CBC (Canada) = millones de usuarios.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VotoAfin + un medio chileno + SERVEL = escala masiva.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A9BBF"/>
                </a:solidFill>
              </a:rPr>
              <a:t>  El codigo esta listo. El camino institucional esta documentado.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A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37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600" b="1">
                <a:solidFill>
                  <a:srgbClr val="3A9E7A"/>
                </a:solidFill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La tecnologia electoral no deberia ser propiedad de nadie. Deberia ser infraestructura publica, auditable, y construida con los mismos estandares de rigor y transparencia que esperamos de cualquier otro proceso de interes democratico. VotoAfin es un paso pequeno pero concreto en esa direccion.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0"/>
            <a:ext cx="109115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7BA098"/>
                </a:solidFill>
              </a:rPr>
              <a:t>— Jenifer Castillo -- Tesis UTFSM,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A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54864" cy="2286000"/>
          </a:xfrm>
          <a:prstGeom prst="rect">
            <a:avLst/>
          </a:prstGeom>
          <a:solidFill>
            <a:srgbClr val="3A9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E7A"/>
                </a:solidFill>
              </a:rPr>
              <a:t>CIERRE -- PRESENTACION 4 DE 4  --  FIN DE LA EXPOSICION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Un problema real. Una investigacion real. Una solucion construida.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9BBF"/>
                </a:solidFill>
              </a:rPr>
              <a:t>VotoAfin  --  Sistema de asistencia al voto informado  --  Chile, 2026</a:t>
            </a:r>
            <a:br/>
            <a:r>
              <a:t>Codigo abierto bajo AGPL-3.0  --  github.com/whatebria/tinder-decisivo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BA098"/>
                </a:solidFill>
              </a:rPr>
              <a:t>VotoAFin · UTFSM · Jenifer Castillo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