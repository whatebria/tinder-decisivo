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Presentacion Presentacion 04 de 04: Proceso de Ingenieria. y Conclusiones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de 7 objetivos especificos cumplidos. OE7 parcial: la documentacion existe pero necesita expansion para onboarding real de contribuidores externos. Honestidad academica.</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principio clave de la metodologia: cada ciclo entregaba algo funcional. No habia fase de 'preparacion' que durara semanas antes de escribir codigo. La documentacion era auditada contra el codigo real, no generada de manera especulativa.</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fase tenia un objetivo unico y un entregable verificable. F5 (YAGNI) fue una de las mas importantes: eliminar features que habian sido construidas pero que no aportaban al proposito central. La simpleza como acto deliberado.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contrato OpenAPI no es documentacion: es una restriccion de diseno. Cuando el backend cambia, el compilador del frontend falla. Esto elimino una categoria completa de errores de integracion. Tests unitarios 30 veces mas rapidos que tests de integracion.</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Cada decision tecnica tiene una alternativa considerada y una razon. No usamos React Native porque estaba de moda. Lo usamos porque resuelve la cobertura multiplataforma con una sola base de codigo.</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trabajo de curaduria de datos es intensivo en tiempo humano y no puede ser automatizado. Para el MVP se adopto un enfoque pragmatico: importar posturas disponibles con nivel de confianza explicito, y documentar la verificacion pendiente como deuda del roadmap (Sprint 9).</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honestidad sobre la limitacion de neutralidad es parte del diseno. El aviso 'en revision con especialistas' no debilita al sistema: lo hace mas confiable porque reconoce que la produccion de texto realmente neutral requiere validacion academica.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validacion del contrato de API fue la decision de ingenieria con mayor impacto en la calidad del sistema. Elimino una categoria completa de errores de integracion que de otro modo habrian aparecido en produccion.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crecimiento de metricas desde el Sprint 8 inicial: 2 commits -&gt; 212, 46 tests -&gt; 370, 7 pantallas -&gt; 17, 8 modelos -&gt; 19. No es solo acumulacion: refleja maduracion de la arquitectura.</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leccion mas importante es transversal a las tres categorias: la ingenieria de productos de interes publico exige un estandar diferente. En un producto comercial, ocultar incertidumbre es un problema de UX. En un producto electoral, es un problema de integridad democratica.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limitaciones honestas son parte del rigor academico. El MVP funciona. No esta completo. Eso es correcto. Decide Chile murio exactamente por el problema de sostenibilidad. Reconocerlo es el primer paso para no repetirlo.</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roadmap esta documentado en el repositorio. No es aspiracional. El modelo Vote Compass + CBC es el referente de sostenibilidad: una alianza institucional que garantiza continuidad entre ciclos electorales.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El objetivo general fue cumplido en su dimension tecnica. El valor no solo es tecnologico: es epistemologico e infraestructural. Este proyecto demostrara que la ingenieria puede contribuir concretamente a la calidad de la democracia.</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de reflexion. Pausa. Deja que el mensaje sea leido. Esta es la razon de existir del proyecto, mas alla de los commits y los tests.</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Sonrie. Respira. Estas lista. Algoritmo: funcion cuadratica con ponderacion en 4 niveles. Sostenibilidad: AGPL-3.0 + alianzas institucionales tipo Vote Compass/CBC. Neutralidad: niveles de confianza + fuentes verificadas + aviso al usuario.</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640080" y="777240"/>
            <a:ext cx="3657600" cy="548640"/>
          </a:xfrm>
          <a:prstGeom prst="rect">
            <a:avLst/>
          </a:prstGeom>
          <a:noFill/>
        </p:spPr>
        <p:txBody>
          <a:bodyPr wrap="square">
            <a:spAutoFit/>
          </a:bodyPr>
          <a:lstStyle/>
          <a:p>
            <a:pPr algn="l"/>
            <a:r>
              <a:rPr sz="1300" b="1">
                <a:solidFill>
                  <a:srgbClr val="2E5F7E"/>
                </a:solidFill>
                <a:latin typeface="Calibri"/>
              </a:rPr>
              <a:t>Presentacion 04 de 04</a:t>
            </a:r>
          </a:p>
        </p:txBody>
      </p:sp>
      <p:sp>
        <p:nvSpPr>
          <p:cNvPr id="5" name="TextBox 4"/>
          <p:cNvSpPr txBox="1"/>
          <p:nvPr/>
        </p:nvSpPr>
        <p:spPr>
          <a:xfrm>
            <a:off x="640080" y="1325880"/>
            <a:ext cx="10058400" cy="1463040"/>
          </a:xfrm>
          <a:prstGeom prst="rect">
            <a:avLst/>
          </a:prstGeom>
          <a:noFill/>
        </p:spPr>
        <p:txBody>
          <a:bodyPr wrap="square">
            <a:spAutoFit/>
          </a:bodyPr>
          <a:lstStyle/>
          <a:p>
            <a:pPr algn="l"/>
            <a:r>
              <a:rPr sz="6000" b="1">
                <a:solidFill>
                  <a:srgbClr val="FFFFFF"/>
                </a:solidFill>
                <a:latin typeface="Calibri"/>
              </a:rPr>
              <a:t>Proceso de Ingenieria</a:t>
            </a:r>
          </a:p>
        </p:txBody>
      </p:sp>
      <p:sp>
        <p:nvSpPr>
          <p:cNvPr id="6" name="TextBox 5"/>
          <p:cNvSpPr txBox="1"/>
          <p:nvPr/>
        </p:nvSpPr>
        <p:spPr>
          <a:xfrm>
            <a:off x="640080" y="2880360"/>
            <a:ext cx="9144000" cy="640080"/>
          </a:xfrm>
          <a:prstGeom prst="rect">
            <a:avLst/>
          </a:prstGeom>
          <a:noFill/>
        </p:spPr>
        <p:txBody>
          <a:bodyPr wrap="square">
            <a:spAutoFit/>
          </a:bodyPr>
          <a:lstStyle/>
          <a:p>
            <a:pPr algn="l"/>
            <a:r>
              <a:rPr sz="2200" b="0">
                <a:solidFill>
                  <a:srgbClr val="CBD1CD"/>
                </a:solidFill>
                <a:latin typeface="Calibri"/>
              </a:rPr>
              <a:t>y Conclusiones</a:t>
            </a:r>
          </a:p>
        </p:txBody>
      </p:sp>
      <p:sp>
        <p:nvSpPr>
          <p:cNvPr id="7" name="Rectangle 6"/>
          <p:cNvSpPr/>
          <p:nvPr/>
        </p:nvSpPr>
        <p:spPr>
          <a:xfrm>
            <a:off x="640080" y="3657600"/>
            <a:ext cx="4114800" cy="36576"/>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840480"/>
            <a:ext cx="9144000" cy="502920"/>
          </a:xfrm>
          <a:prstGeom prst="rect">
            <a:avLst/>
          </a:prstGeom>
          <a:noFill/>
        </p:spPr>
        <p:txBody>
          <a:bodyPr wrap="square">
            <a:spAutoFit/>
          </a:bodyPr>
          <a:lstStyle/>
          <a:p>
            <a:pPr algn="l"/>
            <a:r>
              <a:rPr sz="1600" b="0">
                <a:solidFill>
                  <a:srgbClr val="CBD1CD"/>
                </a:solidFill>
                <a:latin typeface="Calibri"/>
              </a:rPr>
              <a:t>Como se construyo. Que aprendimos. Que sigue despues.</a:t>
            </a:r>
          </a:p>
        </p:txBody>
      </p:sp>
      <p:sp>
        <p:nvSpPr>
          <p:cNvPr id="9" name="TextBox 8"/>
          <p:cNvSpPr txBox="1"/>
          <p:nvPr/>
        </p:nvSpPr>
        <p:spPr>
          <a:xfrm>
            <a:off x="640080" y="6309360"/>
            <a:ext cx="10972800" cy="365760"/>
          </a:xfrm>
          <a:prstGeom prst="rect">
            <a:avLst/>
          </a:prstGeom>
          <a:noFill/>
        </p:spPr>
        <p:txBody>
          <a:bodyPr wrap="square">
            <a:spAutoFit/>
          </a:bodyPr>
          <a:lstStyle/>
          <a:p>
            <a:pPr algn="l"/>
            <a:r>
              <a:rPr sz="1100" b="0">
                <a:solidFill>
                  <a:srgbClr val="8A9199"/>
                </a:solidFill>
                <a:latin typeface="Calibri"/>
              </a:rPr>
              <a:t>Jenifer Castillo  --  Universidad Tecnica Federico Santa Maria  --  Agosto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LOS OBJETIVOS DEL PROYECTO</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4000" b="1">
                <a:solidFill>
                  <a:srgbClr val="FFFFFF"/>
                </a:solidFill>
                <a:latin typeface="Calibri"/>
              </a:rPr>
              <a:t>Que nos propusimos lograr</a:t>
            </a:r>
          </a:p>
        </p:txBody>
      </p:sp>
      <p:sp>
        <p:nvSpPr>
          <p:cNvPr id="5" name="Rectangle 4"/>
          <p:cNvSpPr/>
          <p:nvPr/>
        </p:nvSpPr>
        <p:spPr>
          <a:xfrm>
            <a:off x="457200" y="1261872"/>
            <a:ext cx="11247120" cy="89611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371600"/>
            <a:ext cx="3200400" cy="292608"/>
          </a:xfrm>
          <a:prstGeom prst="rect">
            <a:avLst/>
          </a:prstGeom>
          <a:noFill/>
        </p:spPr>
        <p:txBody>
          <a:bodyPr wrap="square">
            <a:spAutoFit/>
          </a:bodyPr>
          <a:lstStyle/>
          <a:p>
            <a:pPr algn="l"/>
            <a:r>
              <a:rPr sz="1000" b="1">
                <a:solidFill>
                  <a:srgbClr val="3A9E7A"/>
                </a:solidFill>
                <a:latin typeface="Calibri"/>
              </a:rPr>
              <a:t>OBJETIVO GENERAL</a:t>
            </a:r>
          </a:p>
        </p:txBody>
      </p:sp>
      <p:sp>
        <p:nvSpPr>
          <p:cNvPr id="7" name="TextBox 6"/>
          <p:cNvSpPr txBox="1"/>
          <p:nvPr/>
        </p:nvSpPr>
        <p:spPr>
          <a:xfrm>
            <a:off x="640080" y="1664208"/>
            <a:ext cx="10698480" cy="411480"/>
          </a:xfrm>
          <a:prstGeom prst="rect">
            <a:avLst/>
          </a:prstGeom>
          <a:noFill/>
        </p:spPr>
        <p:txBody>
          <a:bodyPr wrap="square">
            <a:spAutoFit/>
          </a:bodyPr>
          <a:lstStyle/>
          <a:p>
            <a:pPr algn="l"/>
            <a:r>
              <a:rPr sz="1300" b="0">
                <a:solidFill>
                  <a:srgbClr val="FFFFFF"/>
                </a:solidFill>
                <a:latin typeface="Calibri"/>
              </a:rPr>
              <a:t>Disenar e implementar una VAA de codigo abierto para Chile, con algoritmo transparente, ponderacion por preferencias e indicador de confianza.</a:t>
            </a:r>
          </a:p>
        </p:txBody>
      </p:sp>
      <p:sp>
        <p:nvSpPr>
          <p:cNvPr id="8" name="Rectangle 7"/>
          <p:cNvSpPr/>
          <p:nvPr/>
        </p:nvSpPr>
        <p:spPr>
          <a:xfrm>
            <a:off x="457200" y="2331720"/>
            <a:ext cx="11247120" cy="539496"/>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386584"/>
            <a:ext cx="713232" cy="411480"/>
          </a:xfrm>
          <a:prstGeom prst="rect">
            <a:avLst/>
          </a:prstGeom>
          <a:noFill/>
        </p:spPr>
        <p:txBody>
          <a:bodyPr wrap="square">
            <a:spAutoFit/>
          </a:bodyPr>
          <a:lstStyle/>
          <a:p>
            <a:pPr algn="l"/>
            <a:r>
              <a:rPr sz="1100" b="1">
                <a:solidFill>
                  <a:srgbClr val="3A9E7A"/>
                </a:solidFill>
                <a:latin typeface="Calibri"/>
              </a:rPr>
              <a:t>OE1</a:t>
            </a:r>
          </a:p>
        </p:txBody>
      </p:sp>
      <p:sp>
        <p:nvSpPr>
          <p:cNvPr id="10" name="TextBox 9"/>
          <p:cNvSpPr txBox="1"/>
          <p:nvPr/>
        </p:nvSpPr>
        <p:spPr>
          <a:xfrm>
            <a:off x="1463040" y="2386584"/>
            <a:ext cx="9144000" cy="411480"/>
          </a:xfrm>
          <a:prstGeom prst="rect">
            <a:avLst/>
          </a:prstGeom>
          <a:noFill/>
        </p:spPr>
        <p:txBody>
          <a:bodyPr wrap="square">
            <a:spAutoFit/>
          </a:bodyPr>
          <a:lstStyle/>
          <a:p>
            <a:pPr algn="l"/>
            <a:r>
              <a:rPr sz="1200" b="0">
                <a:solidFill>
                  <a:srgbClr val="FFFFFF"/>
                </a:solidFill>
                <a:latin typeface="Calibri"/>
              </a:rPr>
              <a:t>Investigar el deficit informativo electoral con evidencia empirica</a:t>
            </a:r>
          </a:p>
        </p:txBody>
      </p:sp>
      <p:sp>
        <p:nvSpPr>
          <p:cNvPr id="11" name="TextBox 10"/>
          <p:cNvSpPr txBox="1"/>
          <p:nvPr/>
        </p:nvSpPr>
        <p:spPr>
          <a:xfrm>
            <a:off x="10515600" y="2386584"/>
            <a:ext cx="1097280" cy="411480"/>
          </a:xfrm>
          <a:prstGeom prst="rect">
            <a:avLst/>
          </a:prstGeom>
          <a:noFill/>
        </p:spPr>
        <p:txBody>
          <a:bodyPr wrap="square">
            <a:spAutoFit/>
          </a:bodyPr>
          <a:lstStyle/>
          <a:p>
            <a:pPr algn="r"/>
            <a:r>
              <a:rPr sz="900" b="1">
                <a:solidFill>
                  <a:srgbClr val="3A9E7A"/>
                </a:solidFill>
                <a:latin typeface="Calibri"/>
              </a:rPr>
              <a:t>CUMPLIDO</a:t>
            </a:r>
          </a:p>
        </p:txBody>
      </p:sp>
      <p:sp>
        <p:nvSpPr>
          <p:cNvPr id="12" name="Rectangle 11"/>
          <p:cNvSpPr/>
          <p:nvPr/>
        </p:nvSpPr>
        <p:spPr>
          <a:xfrm>
            <a:off x="457200" y="2898648"/>
            <a:ext cx="11247120" cy="539496"/>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40080" y="2953512"/>
            <a:ext cx="713232" cy="411480"/>
          </a:xfrm>
          <a:prstGeom prst="rect">
            <a:avLst/>
          </a:prstGeom>
          <a:noFill/>
        </p:spPr>
        <p:txBody>
          <a:bodyPr wrap="square">
            <a:spAutoFit/>
          </a:bodyPr>
          <a:lstStyle/>
          <a:p>
            <a:pPr algn="l"/>
            <a:r>
              <a:rPr sz="1100" b="1">
                <a:solidFill>
                  <a:srgbClr val="3A9E7A"/>
                </a:solidFill>
                <a:latin typeface="Calibri"/>
              </a:rPr>
              <a:t>OE2</a:t>
            </a:r>
          </a:p>
        </p:txBody>
      </p:sp>
      <p:sp>
        <p:nvSpPr>
          <p:cNvPr id="14" name="TextBox 13"/>
          <p:cNvSpPr txBox="1"/>
          <p:nvPr/>
        </p:nvSpPr>
        <p:spPr>
          <a:xfrm>
            <a:off x="1463040" y="2953512"/>
            <a:ext cx="9144000" cy="411480"/>
          </a:xfrm>
          <a:prstGeom prst="rect">
            <a:avLst/>
          </a:prstGeom>
          <a:noFill/>
        </p:spPr>
        <p:txBody>
          <a:bodyPr wrap="square">
            <a:spAutoFit/>
          </a:bodyPr>
          <a:lstStyle/>
          <a:p>
            <a:pPr algn="l"/>
            <a:r>
              <a:rPr sz="1200" b="0">
                <a:solidFill>
                  <a:srgbClr val="FFFFFF"/>
                </a:solidFill>
                <a:latin typeface="Calibri"/>
              </a:rPr>
              <a:t>Analizar el estado del arte en VAAs e identificar brechas locales</a:t>
            </a:r>
          </a:p>
        </p:txBody>
      </p:sp>
      <p:sp>
        <p:nvSpPr>
          <p:cNvPr id="15" name="TextBox 14"/>
          <p:cNvSpPr txBox="1"/>
          <p:nvPr/>
        </p:nvSpPr>
        <p:spPr>
          <a:xfrm>
            <a:off x="10515600" y="2953512"/>
            <a:ext cx="1097280" cy="411480"/>
          </a:xfrm>
          <a:prstGeom prst="rect">
            <a:avLst/>
          </a:prstGeom>
          <a:noFill/>
        </p:spPr>
        <p:txBody>
          <a:bodyPr wrap="square">
            <a:spAutoFit/>
          </a:bodyPr>
          <a:lstStyle/>
          <a:p>
            <a:pPr algn="r"/>
            <a:r>
              <a:rPr sz="900" b="1">
                <a:solidFill>
                  <a:srgbClr val="3A9E7A"/>
                </a:solidFill>
                <a:latin typeface="Calibri"/>
              </a:rPr>
              <a:t>CUMPLIDO</a:t>
            </a:r>
          </a:p>
        </p:txBody>
      </p:sp>
      <p:sp>
        <p:nvSpPr>
          <p:cNvPr id="16" name="Rectangle 15"/>
          <p:cNvSpPr/>
          <p:nvPr/>
        </p:nvSpPr>
        <p:spPr>
          <a:xfrm>
            <a:off x="457200" y="3465576"/>
            <a:ext cx="11247120" cy="539496"/>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40080" y="3520439"/>
            <a:ext cx="713232" cy="411480"/>
          </a:xfrm>
          <a:prstGeom prst="rect">
            <a:avLst/>
          </a:prstGeom>
          <a:noFill/>
        </p:spPr>
        <p:txBody>
          <a:bodyPr wrap="square">
            <a:spAutoFit/>
          </a:bodyPr>
          <a:lstStyle/>
          <a:p>
            <a:pPr algn="l"/>
            <a:r>
              <a:rPr sz="1100" b="1">
                <a:solidFill>
                  <a:srgbClr val="3A9E7A"/>
                </a:solidFill>
                <a:latin typeface="Calibri"/>
              </a:rPr>
              <a:t>OE3</a:t>
            </a:r>
          </a:p>
        </p:txBody>
      </p:sp>
      <p:sp>
        <p:nvSpPr>
          <p:cNvPr id="18" name="TextBox 17"/>
          <p:cNvSpPr txBox="1"/>
          <p:nvPr/>
        </p:nvSpPr>
        <p:spPr>
          <a:xfrm>
            <a:off x="1463040" y="3520439"/>
            <a:ext cx="9144000" cy="411480"/>
          </a:xfrm>
          <a:prstGeom prst="rect">
            <a:avLst/>
          </a:prstGeom>
          <a:noFill/>
        </p:spPr>
        <p:txBody>
          <a:bodyPr wrap="square">
            <a:spAutoFit/>
          </a:bodyPr>
          <a:lstStyle/>
          <a:p>
            <a:pPr algn="l"/>
            <a:r>
              <a:rPr sz="1200" b="0">
                <a:solidFill>
                  <a:srgbClr val="FFFFFF"/>
                </a:solidFill>
                <a:latin typeface="Calibri"/>
              </a:rPr>
              <a:t>Disenar la UX para votantes sin conocimiento politico especializado</a:t>
            </a:r>
          </a:p>
        </p:txBody>
      </p:sp>
      <p:sp>
        <p:nvSpPr>
          <p:cNvPr id="19" name="TextBox 18"/>
          <p:cNvSpPr txBox="1"/>
          <p:nvPr/>
        </p:nvSpPr>
        <p:spPr>
          <a:xfrm>
            <a:off x="10515600" y="3520439"/>
            <a:ext cx="1097280" cy="411480"/>
          </a:xfrm>
          <a:prstGeom prst="rect">
            <a:avLst/>
          </a:prstGeom>
          <a:noFill/>
        </p:spPr>
        <p:txBody>
          <a:bodyPr wrap="square">
            <a:spAutoFit/>
          </a:bodyPr>
          <a:lstStyle/>
          <a:p>
            <a:pPr algn="r"/>
            <a:r>
              <a:rPr sz="900" b="1">
                <a:solidFill>
                  <a:srgbClr val="3A9E7A"/>
                </a:solidFill>
                <a:latin typeface="Calibri"/>
              </a:rPr>
              <a:t>CUMPLIDO</a:t>
            </a:r>
          </a:p>
        </p:txBody>
      </p:sp>
      <p:sp>
        <p:nvSpPr>
          <p:cNvPr id="20" name="Rectangle 19"/>
          <p:cNvSpPr/>
          <p:nvPr/>
        </p:nvSpPr>
        <p:spPr>
          <a:xfrm>
            <a:off x="457200" y="4032504"/>
            <a:ext cx="11247120" cy="539496"/>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4087368"/>
            <a:ext cx="713232" cy="411480"/>
          </a:xfrm>
          <a:prstGeom prst="rect">
            <a:avLst/>
          </a:prstGeom>
          <a:noFill/>
        </p:spPr>
        <p:txBody>
          <a:bodyPr wrap="square">
            <a:spAutoFit/>
          </a:bodyPr>
          <a:lstStyle/>
          <a:p>
            <a:pPr algn="l"/>
            <a:r>
              <a:rPr sz="1100" b="1">
                <a:solidFill>
                  <a:srgbClr val="3A9E7A"/>
                </a:solidFill>
                <a:latin typeface="Calibri"/>
              </a:rPr>
              <a:t>OE4</a:t>
            </a:r>
          </a:p>
        </p:txBody>
      </p:sp>
      <p:sp>
        <p:nvSpPr>
          <p:cNvPr id="22" name="TextBox 21"/>
          <p:cNvSpPr txBox="1"/>
          <p:nvPr/>
        </p:nvSpPr>
        <p:spPr>
          <a:xfrm>
            <a:off x="1463040" y="4087368"/>
            <a:ext cx="9144000" cy="411480"/>
          </a:xfrm>
          <a:prstGeom prst="rect">
            <a:avLst/>
          </a:prstGeom>
          <a:noFill/>
        </p:spPr>
        <p:txBody>
          <a:bodyPr wrap="square">
            <a:spAutoFit/>
          </a:bodyPr>
          <a:lstStyle/>
          <a:p>
            <a:pPr algn="l"/>
            <a:r>
              <a:rPr sz="1200" b="0">
                <a:solidFill>
                  <a:srgbClr val="FFFFFF"/>
                </a:solidFill>
                <a:latin typeface="Calibri"/>
              </a:rPr>
              <a:t>Definir algoritmo con ponderacion e indicador de confianza</a:t>
            </a:r>
          </a:p>
        </p:txBody>
      </p:sp>
      <p:sp>
        <p:nvSpPr>
          <p:cNvPr id="23" name="TextBox 22"/>
          <p:cNvSpPr txBox="1"/>
          <p:nvPr/>
        </p:nvSpPr>
        <p:spPr>
          <a:xfrm>
            <a:off x="10515600" y="4087368"/>
            <a:ext cx="1097280" cy="411480"/>
          </a:xfrm>
          <a:prstGeom prst="rect">
            <a:avLst/>
          </a:prstGeom>
          <a:noFill/>
        </p:spPr>
        <p:txBody>
          <a:bodyPr wrap="square">
            <a:spAutoFit/>
          </a:bodyPr>
          <a:lstStyle/>
          <a:p>
            <a:pPr algn="r"/>
            <a:r>
              <a:rPr sz="900" b="1">
                <a:solidFill>
                  <a:srgbClr val="3A9E7A"/>
                </a:solidFill>
                <a:latin typeface="Calibri"/>
              </a:rPr>
              <a:t>CUMPLIDO</a:t>
            </a:r>
          </a:p>
        </p:txBody>
      </p:sp>
      <p:sp>
        <p:nvSpPr>
          <p:cNvPr id="24" name="Rectangle 23"/>
          <p:cNvSpPr/>
          <p:nvPr/>
        </p:nvSpPr>
        <p:spPr>
          <a:xfrm>
            <a:off x="457200" y="4599431"/>
            <a:ext cx="11247120" cy="539496"/>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4654296"/>
            <a:ext cx="713232" cy="411480"/>
          </a:xfrm>
          <a:prstGeom prst="rect">
            <a:avLst/>
          </a:prstGeom>
          <a:noFill/>
        </p:spPr>
        <p:txBody>
          <a:bodyPr wrap="square">
            <a:spAutoFit/>
          </a:bodyPr>
          <a:lstStyle/>
          <a:p>
            <a:pPr algn="l"/>
            <a:r>
              <a:rPr sz="1100" b="1">
                <a:solidFill>
                  <a:srgbClr val="3A9E7A"/>
                </a:solidFill>
                <a:latin typeface="Calibri"/>
              </a:rPr>
              <a:t>OE5</a:t>
            </a:r>
          </a:p>
        </p:txBody>
      </p:sp>
      <p:sp>
        <p:nvSpPr>
          <p:cNvPr id="26" name="TextBox 25"/>
          <p:cNvSpPr txBox="1"/>
          <p:nvPr/>
        </p:nvSpPr>
        <p:spPr>
          <a:xfrm>
            <a:off x="1463040" y="4654296"/>
            <a:ext cx="9144000" cy="411480"/>
          </a:xfrm>
          <a:prstGeom prst="rect">
            <a:avLst/>
          </a:prstGeom>
          <a:noFill/>
        </p:spPr>
        <p:txBody>
          <a:bodyPr wrap="square">
            <a:spAutoFit/>
          </a:bodyPr>
          <a:lstStyle/>
          <a:p>
            <a:pPr algn="l"/>
            <a:r>
              <a:rPr sz="1200" b="0">
                <a:solidFill>
                  <a:srgbClr val="FFFFFF"/>
                </a:solidFill>
                <a:latin typeface="Calibri"/>
              </a:rPr>
              <a:t>Implementar arquitectura cliente-servidor con contrato OpenAPI 3.1</a:t>
            </a:r>
          </a:p>
        </p:txBody>
      </p:sp>
      <p:sp>
        <p:nvSpPr>
          <p:cNvPr id="27" name="TextBox 26"/>
          <p:cNvSpPr txBox="1"/>
          <p:nvPr/>
        </p:nvSpPr>
        <p:spPr>
          <a:xfrm>
            <a:off x="10515600" y="4654296"/>
            <a:ext cx="1097280" cy="411480"/>
          </a:xfrm>
          <a:prstGeom prst="rect">
            <a:avLst/>
          </a:prstGeom>
          <a:noFill/>
        </p:spPr>
        <p:txBody>
          <a:bodyPr wrap="square">
            <a:spAutoFit/>
          </a:bodyPr>
          <a:lstStyle/>
          <a:p>
            <a:pPr algn="r"/>
            <a:r>
              <a:rPr sz="900" b="1">
                <a:solidFill>
                  <a:srgbClr val="3A9E7A"/>
                </a:solidFill>
                <a:latin typeface="Calibri"/>
              </a:rPr>
              <a:t>CUMPLIDO</a:t>
            </a:r>
          </a:p>
        </p:txBody>
      </p:sp>
      <p:sp>
        <p:nvSpPr>
          <p:cNvPr id="28" name="Rectangle 27"/>
          <p:cNvSpPr/>
          <p:nvPr/>
        </p:nvSpPr>
        <p:spPr>
          <a:xfrm>
            <a:off x="457200" y="5166360"/>
            <a:ext cx="11247120" cy="539496"/>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0080" y="5221224"/>
            <a:ext cx="713232" cy="411480"/>
          </a:xfrm>
          <a:prstGeom prst="rect">
            <a:avLst/>
          </a:prstGeom>
          <a:noFill/>
        </p:spPr>
        <p:txBody>
          <a:bodyPr wrap="square">
            <a:spAutoFit/>
          </a:bodyPr>
          <a:lstStyle/>
          <a:p>
            <a:pPr algn="l"/>
            <a:r>
              <a:rPr sz="1100" b="1">
                <a:solidFill>
                  <a:srgbClr val="3A9E7A"/>
                </a:solidFill>
                <a:latin typeface="Calibri"/>
              </a:rPr>
              <a:t>OE6</a:t>
            </a:r>
          </a:p>
        </p:txBody>
      </p:sp>
      <p:sp>
        <p:nvSpPr>
          <p:cNvPr id="30" name="TextBox 29"/>
          <p:cNvSpPr txBox="1"/>
          <p:nvPr/>
        </p:nvSpPr>
        <p:spPr>
          <a:xfrm>
            <a:off x="1463040" y="5221224"/>
            <a:ext cx="9144000" cy="411480"/>
          </a:xfrm>
          <a:prstGeom prst="rect">
            <a:avLst/>
          </a:prstGeom>
          <a:noFill/>
        </p:spPr>
        <p:txBody>
          <a:bodyPr wrap="square">
            <a:spAutoFit/>
          </a:bodyPr>
          <a:lstStyle/>
          <a:p>
            <a:pPr algn="l"/>
            <a:r>
              <a:rPr sz="1200" b="0">
                <a:solidFill>
                  <a:srgbClr val="FFFFFF"/>
                </a:solidFill>
                <a:latin typeface="Calibri"/>
              </a:rPr>
              <a:t>Modelo de datos con verificacion obligatoria de fuentes primarias</a:t>
            </a:r>
          </a:p>
        </p:txBody>
      </p:sp>
      <p:sp>
        <p:nvSpPr>
          <p:cNvPr id="31" name="TextBox 30"/>
          <p:cNvSpPr txBox="1"/>
          <p:nvPr/>
        </p:nvSpPr>
        <p:spPr>
          <a:xfrm>
            <a:off x="10515600" y="5221224"/>
            <a:ext cx="1097280" cy="411480"/>
          </a:xfrm>
          <a:prstGeom prst="rect">
            <a:avLst/>
          </a:prstGeom>
          <a:noFill/>
        </p:spPr>
        <p:txBody>
          <a:bodyPr wrap="square">
            <a:spAutoFit/>
          </a:bodyPr>
          <a:lstStyle/>
          <a:p>
            <a:pPr algn="r"/>
            <a:r>
              <a:rPr sz="900" b="1">
                <a:solidFill>
                  <a:srgbClr val="3A9E7A"/>
                </a:solidFill>
                <a:latin typeface="Calibri"/>
              </a:rPr>
              <a:t>CUMPLIDO</a:t>
            </a:r>
          </a:p>
        </p:txBody>
      </p:sp>
      <p:sp>
        <p:nvSpPr>
          <p:cNvPr id="32" name="Rectangle 31"/>
          <p:cNvSpPr/>
          <p:nvPr/>
        </p:nvSpPr>
        <p:spPr>
          <a:xfrm>
            <a:off x="457200" y="5733288"/>
            <a:ext cx="11247120" cy="539496"/>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40080" y="5788152"/>
            <a:ext cx="713232" cy="411480"/>
          </a:xfrm>
          <a:prstGeom prst="rect">
            <a:avLst/>
          </a:prstGeom>
          <a:noFill/>
        </p:spPr>
        <p:txBody>
          <a:bodyPr wrap="square">
            <a:spAutoFit/>
          </a:bodyPr>
          <a:lstStyle/>
          <a:p>
            <a:pPr algn="l"/>
            <a:r>
              <a:rPr sz="1100" b="1">
                <a:solidFill>
                  <a:srgbClr val="C89B5C"/>
                </a:solidFill>
                <a:latin typeface="Calibri"/>
              </a:rPr>
              <a:t>OE7</a:t>
            </a:r>
          </a:p>
        </p:txBody>
      </p:sp>
      <p:sp>
        <p:nvSpPr>
          <p:cNvPr id="34" name="TextBox 33"/>
          <p:cNvSpPr txBox="1"/>
          <p:nvPr/>
        </p:nvSpPr>
        <p:spPr>
          <a:xfrm>
            <a:off x="1463040" y="5788152"/>
            <a:ext cx="9144000" cy="411480"/>
          </a:xfrm>
          <a:prstGeom prst="rect">
            <a:avLst/>
          </a:prstGeom>
          <a:noFill/>
        </p:spPr>
        <p:txBody>
          <a:bodyPr wrap="square">
            <a:spAutoFit/>
          </a:bodyPr>
          <a:lstStyle/>
          <a:p>
            <a:pPr algn="l"/>
            <a:r>
              <a:rPr sz="1200" b="0">
                <a:solidFill>
                  <a:srgbClr val="FFFFFF"/>
                </a:solidFill>
                <a:latin typeface="Calibri"/>
              </a:rPr>
              <a:t>Documentar el sistema para contribuidores externos</a:t>
            </a:r>
          </a:p>
        </p:txBody>
      </p:sp>
      <p:sp>
        <p:nvSpPr>
          <p:cNvPr id="35" name="TextBox 34"/>
          <p:cNvSpPr txBox="1"/>
          <p:nvPr/>
        </p:nvSpPr>
        <p:spPr>
          <a:xfrm>
            <a:off x="10515600" y="5788152"/>
            <a:ext cx="1097280" cy="411480"/>
          </a:xfrm>
          <a:prstGeom prst="rect">
            <a:avLst/>
          </a:prstGeom>
          <a:noFill/>
        </p:spPr>
        <p:txBody>
          <a:bodyPr wrap="square">
            <a:spAutoFit/>
          </a:bodyPr>
          <a:lstStyle/>
          <a:p>
            <a:pPr algn="r"/>
            <a:r>
              <a:rPr sz="900" b="1">
                <a:solidFill>
                  <a:srgbClr val="C89B5C"/>
                </a:solidFill>
                <a:latin typeface="Calibri"/>
              </a:rPr>
              <a:t>PARCIAL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METODOLOGIA</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3800" b="1">
                <a:solidFill>
                  <a:srgbClr val="1C3A52"/>
                </a:solidFill>
                <a:latin typeface="Calibri"/>
              </a:rPr>
              <a:t>Iterativo e incremental desde el dia 1</a:t>
            </a:r>
          </a:p>
        </p:txBody>
      </p:sp>
      <p:sp>
        <p:nvSpPr>
          <p:cNvPr id="5" name="TextBox 4"/>
          <p:cNvSpPr txBox="1"/>
          <p:nvPr/>
        </p:nvSpPr>
        <p:spPr>
          <a:xfrm>
            <a:off x="548640" y="1143000"/>
            <a:ext cx="10972800" cy="411480"/>
          </a:xfrm>
          <a:prstGeom prst="rect">
            <a:avLst/>
          </a:prstGeom>
          <a:noFill/>
        </p:spPr>
        <p:txBody>
          <a:bodyPr wrap="square">
            <a:spAutoFit/>
          </a:bodyPr>
          <a:lstStyle/>
          <a:p>
            <a:pPr algn="l"/>
            <a:r>
              <a:rPr sz="1500" b="0">
                <a:solidFill>
                  <a:srgbClr val="5A6B73"/>
                </a:solidFill>
                <a:latin typeface="Calibri"/>
              </a:rPr>
              <a:t>Sin Scrum estricto. Sin ceremonias. Sin velocidad estimada. Con valor entregado en cada ciclo.</a:t>
            </a:r>
          </a:p>
        </p:txBody>
      </p:sp>
      <p:sp>
        <p:nvSpPr>
          <p:cNvPr id="6" name="Rectangle 5"/>
          <p:cNvSpPr/>
          <p:nvPr/>
        </p:nvSpPr>
        <p:spPr>
          <a:xfrm>
            <a:off x="457200" y="1828800"/>
            <a:ext cx="2743200" cy="182880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94360" y="1938528"/>
            <a:ext cx="2487168" cy="594360"/>
          </a:xfrm>
          <a:prstGeom prst="rect">
            <a:avLst/>
          </a:prstGeom>
          <a:noFill/>
        </p:spPr>
        <p:txBody>
          <a:bodyPr wrap="square">
            <a:spAutoFit/>
          </a:bodyPr>
          <a:lstStyle/>
          <a:p>
            <a:pPr algn="l"/>
            <a:r>
              <a:rPr sz="2600" b="1">
                <a:solidFill>
                  <a:srgbClr val="FFFFFF"/>
                </a:solidFill>
                <a:latin typeface="Calibri"/>
              </a:rPr>
              <a:t>DRY</a:t>
            </a:r>
          </a:p>
        </p:txBody>
      </p:sp>
      <p:sp>
        <p:nvSpPr>
          <p:cNvPr id="8" name="TextBox 7"/>
          <p:cNvSpPr txBox="1"/>
          <p:nvPr/>
        </p:nvSpPr>
        <p:spPr>
          <a:xfrm>
            <a:off x="594360" y="2560320"/>
            <a:ext cx="2487168" cy="384048"/>
          </a:xfrm>
          <a:prstGeom prst="rect">
            <a:avLst/>
          </a:prstGeom>
          <a:noFill/>
        </p:spPr>
        <p:txBody>
          <a:bodyPr wrap="square">
            <a:spAutoFit/>
          </a:bodyPr>
          <a:lstStyle/>
          <a:p>
            <a:pPr algn="l"/>
            <a:r>
              <a:rPr sz="1000" b="0">
                <a:solidFill>
                  <a:srgbClr val="FFFFFF"/>
                </a:solidFill>
                <a:latin typeface="Calibri"/>
              </a:rPr>
              <a:t>Dont Repeat Yourself</a:t>
            </a:r>
          </a:p>
        </p:txBody>
      </p:sp>
      <p:sp>
        <p:nvSpPr>
          <p:cNvPr id="9" name="TextBox 8"/>
          <p:cNvSpPr txBox="1"/>
          <p:nvPr/>
        </p:nvSpPr>
        <p:spPr>
          <a:xfrm>
            <a:off x="594360" y="2999232"/>
            <a:ext cx="2487168" cy="548640"/>
          </a:xfrm>
          <a:prstGeom prst="rect">
            <a:avLst/>
          </a:prstGeom>
          <a:noFill/>
        </p:spPr>
        <p:txBody>
          <a:bodyPr wrap="square">
            <a:spAutoFit/>
          </a:bodyPr>
          <a:lstStyle/>
          <a:p>
            <a:pPr algn="l"/>
            <a:r>
              <a:rPr sz="1100" b="0">
                <a:solidFill>
                  <a:srgbClr val="FFFFFF"/>
                </a:solidFill>
                <a:latin typeface="Calibri"/>
              </a:rPr>
              <a:t>Cero duplicacion de logica
entre componentes o servicios.</a:t>
            </a:r>
          </a:p>
        </p:txBody>
      </p:sp>
      <p:sp>
        <p:nvSpPr>
          <p:cNvPr id="10" name="Rectangle 9"/>
          <p:cNvSpPr/>
          <p:nvPr/>
        </p:nvSpPr>
        <p:spPr>
          <a:xfrm>
            <a:off x="3337560" y="1828800"/>
            <a:ext cx="2743200" cy="182880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1938528"/>
            <a:ext cx="2487168" cy="594360"/>
          </a:xfrm>
          <a:prstGeom prst="rect">
            <a:avLst/>
          </a:prstGeom>
          <a:noFill/>
        </p:spPr>
        <p:txBody>
          <a:bodyPr wrap="square">
            <a:spAutoFit/>
          </a:bodyPr>
          <a:lstStyle/>
          <a:p>
            <a:pPr algn="l"/>
            <a:r>
              <a:rPr sz="2600" b="1">
                <a:solidFill>
                  <a:srgbClr val="FFFFFF"/>
                </a:solidFill>
                <a:latin typeface="Calibri"/>
              </a:rPr>
              <a:t>YAGNI</a:t>
            </a:r>
          </a:p>
        </p:txBody>
      </p:sp>
      <p:sp>
        <p:nvSpPr>
          <p:cNvPr id="12" name="TextBox 11"/>
          <p:cNvSpPr txBox="1"/>
          <p:nvPr/>
        </p:nvSpPr>
        <p:spPr>
          <a:xfrm>
            <a:off x="3474720" y="2560320"/>
            <a:ext cx="2487168" cy="384048"/>
          </a:xfrm>
          <a:prstGeom prst="rect">
            <a:avLst/>
          </a:prstGeom>
          <a:noFill/>
        </p:spPr>
        <p:txBody>
          <a:bodyPr wrap="square">
            <a:spAutoFit/>
          </a:bodyPr>
          <a:lstStyle/>
          <a:p>
            <a:pPr algn="l"/>
            <a:r>
              <a:rPr sz="1000" b="0">
                <a:solidFill>
                  <a:srgbClr val="FFFFFF"/>
                </a:solidFill>
                <a:latin typeface="Calibri"/>
              </a:rPr>
              <a:t>You Arent Gonna Need It</a:t>
            </a:r>
          </a:p>
        </p:txBody>
      </p:sp>
      <p:sp>
        <p:nvSpPr>
          <p:cNvPr id="13" name="TextBox 12"/>
          <p:cNvSpPr txBox="1"/>
          <p:nvPr/>
        </p:nvSpPr>
        <p:spPr>
          <a:xfrm>
            <a:off x="3474720" y="2999232"/>
            <a:ext cx="2487168" cy="548640"/>
          </a:xfrm>
          <a:prstGeom prst="rect">
            <a:avLst/>
          </a:prstGeom>
          <a:noFill/>
        </p:spPr>
        <p:txBody>
          <a:bodyPr wrap="square">
            <a:spAutoFit/>
          </a:bodyPr>
          <a:lstStyle/>
          <a:p>
            <a:pPr algn="l"/>
            <a:r>
              <a:rPr sz="1100" b="0">
                <a:solidFill>
                  <a:srgbClr val="FFFFFF"/>
                </a:solidFill>
                <a:latin typeface="Calibri"/>
              </a:rPr>
              <a:t>No construir lo que no se
necesita demostrar ahora.</a:t>
            </a:r>
          </a:p>
        </p:txBody>
      </p:sp>
      <p:sp>
        <p:nvSpPr>
          <p:cNvPr id="14" name="Rectangle 13"/>
          <p:cNvSpPr/>
          <p:nvPr/>
        </p:nvSpPr>
        <p:spPr>
          <a:xfrm>
            <a:off x="6217920" y="1828800"/>
            <a:ext cx="2743200" cy="182880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55080" y="1938528"/>
            <a:ext cx="2487168" cy="594360"/>
          </a:xfrm>
          <a:prstGeom prst="rect">
            <a:avLst/>
          </a:prstGeom>
          <a:noFill/>
        </p:spPr>
        <p:txBody>
          <a:bodyPr wrap="square">
            <a:spAutoFit/>
          </a:bodyPr>
          <a:lstStyle/>
          <a:p>
            <a:pPr algn="l"/>
            <a:r>
              <a:rPr sz="2600" b="1">
                <a:solidFill>
                  <a:srgbClr val="FFFFFF"/>
                </a:solidFill>
                <a:latin typeface="Calibri"/>
              </a:rPr>
              <a:t>KISS</a:t>
            </a:r>
          </a:p>
        </p:txBody>
      </p:sp>
      <p:sp>
        <p:nvSpPr>
          <p:cNvPr id="16" name="TextBox 15"/>
          <p:cNvSpPr txBox="1"/>
          <p:nvPr/>
        </p:nvSpPr>
        <p:spPr>
          <a:xfrm>
            <a:off x="6355080" y="2560320"/>
            <a:ext cx="2487168" cy="384048"/>
          </a:xfrm>
          <a:prstGeom prst="rect">
            <a:avLst/>
          </a:prstGeom>
          <a:noFill/>
        </p:spPr>
        <p:txBody>
          <a:bodyPr wrap="square">
            <a:spAutoFit/>
          </a:bodyPr>
          <a:lstStyle/>
          <a:p>
            <a:pPr algn="l"/>
            <a:r>
              <a:rPr sz="1000" b="0">
                <a:solidFill>
                  <a:srgbClr val="FFFFFF"/>
                </a:solidFill>
                <a:latin typeface="Calibri"/>
              </a:rPr>
              <a:t>Keep It Simple</a:t>
            </a:r>
          </a:p>
        </p:txBody>
      </p:sp>
      <p:sp>
        <p:nvSpPr>
          <p:cNvPr id="17" name="TextBox 16"/>
          <p:cNvSpPr txBox="1"/>
          <p:nvPr/>
        </p:nvSpPr>
        <p:spPr>
          <a:xfrm>
            <a:off x="6355080" y="2999232"/>
            <a:ext cx="2487168" cy="548640"/>
          </a:xfrm>
          <a:prstGeom prst="rect">
            <a:avLst/>
          </a:prstGeom>
          <a:noFill/>
        </p:spPr>
        <p:txBody>
          <a:bodyPr wrap="square">
            <a:spAutoFit/>
          </a:bodyPr>
          <a:lstStyle/>
          <a:p>
            <a:pPr algn="l"/>
            <a:r>
              <a:rPr sz="1100" b="0">
                <a:solidFill>
                  <a:srgbClr val="FFFFFF"/>
                </a:solidFill>
                <a:latin typeface="Calibri"/>
              </a:rPr>
              <a:t>La solucion mas simple
que resuelve el problema real.</a:t>
            </a:r>
          </a:p>
        </p:txBody>
      </p:sp>
      <p:sp>
        <p:nvSpPr>
          <p:cNvPr id="18" name="Rectangle 17"/>
          <p:cNvSpPr/>
          <p:nvPr/>
        </p:nvSpPr>
        <p:spPr>
          <a:xfrm>
            <a:off x="9098280" y="1828800"/>
            <a:ext cx="2743200" cy="182880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9235440" y="1938528"/>
            <a:ext cx="2487168" cy="594360"/>
          </a:xfrm>
          <a:prstGeom prst="rect">
            <a:avLst/>
          </a:prstGeom>
          <a:noFill/>
        </p:spPr>
        <p:txBody>
          <a:bodyPr wrap="square">
            <a:spAutoFit/>
          </a:bodyPr>
          <a:lstStyle/>
          <a:p>
            <a:pPr algn="l"/>
            <a:r>
              <a:rPr sz="2600" b="1">
                <a:solidFill>
                  <a:srgbClr val="FFFFFF"/>
                </a:solidFill>
                <a:latin typeface="Calibri"/>
              </a:rPr>
              <a:t>SOLID</a:t>
            </a:r>
          </a:p>
        </p:txBody>
      </p:sp>
      <p:sp>
        <p:nvSpPr>
          <p:cNvPr id="20" name="TextBox 19"/>
          <p:cNvSpPr txBox="1"/>
          <p:nvPr/>
        </p:nvSpPr>
        <p:spPr>
          <a:xfrm>
            <a:off x="9235440" y="2560320"/>
            <a:ext cx="2487168" cy="384048"/>
          </a:xfrm>
          <a:prstGeom prst="rect">
            <a:avLst/>
          </a:prstGeom>
          <a:noFill/>
        </p:spPr>
        <p:txBody>
          <a:bodyPr wrap="square">
            <a:spAutoFit/>
          </a:bodyPr>
          <a:lstStyle/>
          <a:p>
            <a:pPr algn="l"/>
            <a:r>
              <a:rPr sz="1000" b="0">
                <a:solidFill>
                  <a:srgbClr val="FFFFFF"/>
                </a:solidFill>
                <a:latin typeface="Calibri"/>
              </a:rPr>
              <a:t>Principios de OO</a:t>
            </a:r>
          </a:p>
        </p:txBody>
      </p:sp>
      <p:sp>
        <p:nvSpPr>
          <p:cNvPr id="21" name="TextBox 20"/>
          <p:cNvSpPr txBox="1"/>
          <p:nvPr/>
        </p:nvSpPr>
        <p:spPr>
          <a:xfrm>
            <a:off x="9235440" y="2999232"/>
            <a:ext cx="2487168" cy="548640"/>
          </a:xfrm>
          <a:prstGeom prst="rect">
            <a:avLst/>
          </a:prstGeom>
          <a:noFill/>
        </p:spPr>
        <p:txBody>
          <a:bodyPr wrap="square">
            <a:spAutoFit/>
          </a:bodyPr>
          <a:lstStyle/>
          <a:p>
            <a:pPr algn="l"/>
            <a:r>
              <a:rPr sz="1100" b="0">
                <a:solidFill>
                  <a:srgbClr val="FFFFFF"/>
                </a:solidFill>
                <a:latin typeface="Calibri"/>
              </a:rPr>
              <a:t>Responsabilidad unica, extension
abierta, inversion de dependencias.</a:t>
            </a:r>
          </a:p>
        </p:txBody>
      </p:sp>
      <p:sp>
        <p:nvSpPr>
          <p:cNvPr id="22" name="TextBox 21"/>
          <p:cNvSpPr txBox="1"/>
          <p:nvPr/>
        </p:nvSpPr>
        <p:spPr>
          <a:xfrm>
            <a:off x="548640" y="3858768"/>
            <a:ext cx="10972800" cy="320040"/>
          </a:xfrm>
          <a:prstGeom prst="rect">
            <a:avLst/>
          </a:prstGeom>
          <a:noFill/>
        </p:spPr>
        <p:txBody>
          <a:bodyPr wrap="square">
            <a:spAutoFit/>
          </a:bodyPr>
          <a:lstStyle/>
          <a:p>
            <a:pPr algn="l"/>
            <a:r>
              <a:rPr sz="1100" b="1">
                <a:solidFill>
                  <a:srgbClr val="2E5F7E"/>
                </a:solidFill>
                <a:latin typeface="Calibri"/>
              </a:rPr>
              <a:t>LAS 4 FASES MACRO</a:t>
            </a:r>
          </a:p>
        </p:txBody>
      </p:sp>
      <p:sp>
        <p:nvSpPr>
          <p:cNvPr id="23" name="Rectangle 22"/>
          <p:cNvSpPr/>
          <p:nvPr/>
        </p:nvSpPr>
        <p:spPr>
          <a:xfrm>
            <a:off x="457200" y="4251960"/>
            <a:ext cx="2743200" cy="246888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94360" y="4370832"/>
            <a:ext cx="2487168" cy="347472"/>
          </a:xfrm>
          <a:prstGeom prst="rect">
            <a:avLst/>
          </a:prstGeom>
          <a:noFill/>
        </p:spPr>
        <p:txBody>
          <a:bodyPr wrap="square">
            <a:spAutoFit/>
          </a:bodyPr>
          <a:lstStyle/>
          <a:p>
            <a:pPr algn="l"/>
            <a:r>
              <a:rPr sz="1100" b="1">
                <a:solidFill>
                  <a:srgbClr val="FFFFFF"/>
                </a:solidFill>
                <a:latin typeface="Calibri"/>
              </a:rPr>
              <a:t>F1 — 2024</a:t>
            </a:r>
          </a:p>
        </p:txBody>
      </p:sp>
      <p:sp>
        <p:nvSpPr>
          <p:cNvPr id="25" name="TextBox 24"/>
          <p:cNvSpPr txBox="1"/>
          <p:nvPr/>
        </p:nvSpPr>
        <p:spPr>
          <a:xfrm>
            <a:off x="594360" y="4736592"/>
            <a:ext cx="2487168" cy="347472"/>
          </a:xfrm>
          <a:prstGeom prst="rect">
            <a:avLst/>
          </a:prstGeom>
          <a:noFill/>
        </p:spPr>
        <p:txBody>
          <a:bodyPr wrap="square">
            <a:spAutoFit/>
          </a:bodyPr>
          <a:lstStyle/>
          <a:p>
            <a:pPr algn="l"/>
            <a:r>
              <a:rPr sz="1200" b="1">
                <a:solidFill>
                  <a:srgbClr val="FFFFFF"/>
                </a:solidFill>
                <a:latin typeface="Calibri"/>
              </a:rPr>
              <a:t>INVESTIGACION</a:t>
            </a:r>
          </a:p>
        </p:txBody>
      </p:sp>
      <p:sp>
        <p:nvSpPr>
          <p:cNvPr id="26" name="TextBox 25"/>
          <p:cNvSpPr txBox="1"/>
          <p:nvPr/>
        </p:nvSpPr>
        <p:spPr>
          <a:xfrm>
            <a:off x="594360" y="5166360"/>
            <a:ext cx="2487168" cy="1417320"/>
          </a:xfrm>
          <a:prstGeom prst="rect">
            <a:avLst/>
          </a:prstGeom>
          <a:noFill/>
        </p:spPr>
        <p:txBody>
          <a:bodyPr wrap="square">
            <a:spAutoFit/>
          </a:bodyPr>
          <a:lstStyle/>
          <a:p>
            <a:pPr algn="l"/>
            <a:r>
              <a:rPr sz="1100" b="0">
                <a:solidFill>
                  <a:srgbClr val="FFFFFF"/>
                </a:solidFill>
                <a:latin typeface="Calibri"/>
              </a:rPr>
              <a:t>Investigacion empirica
Levantamiento campo
Definicion del problema</a:t>
            </a:r>
          </a:p>
        </p:txBody>
      </p:sp>
      <p:sp>
        <p:nvSpPr>
          <p:cNvPr id="27" name="Rectangle 26"/>
          <p:cNvSpPr/>
          <p:nvPr/>
        </p:nvSpPr>
        <p:spPr>
          <a:xfrm>
            <a:off x="3337560" y="4251960"/>
            <a:ext cx="2743200" cy="246888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474720" y="4370832"/>
            <a:ext cx="2487168" cy="347472"/>
          </a:xfrm>
          <a:prstGeom prst="rect">
            <a:avLst/>
          </a:prstGeom>
          <a:noFill/>
        </p:spPr>
        <p:txBody>
          <a:bodyPr wrap="square">
            <a:spAutoFit/>
          </a:bodyPr>
          <a:lstStyle/>
          <a:p>
            <a:pPr algn="l"/>
            <a:r>
              <a:rPr sz="1100" b="1">
                <a:solidFill>
                  <a:srgbClr val="FFFFFF"/>
                </a:solidFill>
                <a:latin typeface="Calibri"/>
              </a:rPr>
              <a:t>F2 — 2025 S1</a:t>
            </a:r>
          </a:p>
        </p:txBody>
      </p:sp>
      <p:sp>
        <p:nvSpPr>
          <p:cNvPr id="29" name="TextBox 28"/>
          <p:cNvSpPr txBox="1"/>
          <p:nvPr/>
        </p:nvSpPr>
        <p:spPr>
          <a:xfrm>
            <a:off x="3474720" y="4736592"/>
            <a:ext cx="2487168" cy="347472"/>
          </a:xfrm>
          <a:prstGeom prst="rect">
            <a:avLst/>
          </a:prstGeom>
          <a:noFill/>
        </p:spPr>
        <p:txBody>
          <a:bodyPr wrap="square">
            <a:spAutoFit/>
          </a:bodyPr>
          <a:lstStyle/>
          <a:p>
            <a:pPr algn="l"/>
            <a:r>
              <a:rPr sz="1200" b="1">
                <a:solidFill>
                  <a:srgbClr val="FFFFFF"/>
                </a:solidFill>
                <a:latin typeface="Calibri"/>
              </a:rPr>
              <a:t>DISENO</a:t>
            </a:r>
          </a:p>
        </p:txBody>
      </p:sp>
      <p:sp>
        <p:nvSpPr>
          <p:cNvPr id="30" name="TextBox 29"/>
          <p:cNvSpPr txBox="1"/>
          <p:nvPr/>
        </p:nvSpPr>
        <p:spPr>
          <a:xfrm>
            <a:off x="3474720" y="5166360"/>
            <a:ext cx="2487168" cy="1417320"/>
          </a:xfrm>
          <a:prstGeom prst="rect">
            <a:avLst/>
          </a:prstGeom>
          <a:noFill/>
        </p:spPr>
        <p:txBody>
          <a:bodyPr wrap="square">
            <a:spAutoFit/>
          </a:bodyPr>
          <a:lstStyle/>
          <a:p>
            <a:pPr algn="l"/>
            <a:r>
              <a:rPr sz="1100" b="0">
                <a:solidFill>
                  <a:srgbClr val="FFFFFF"/>
                </a:solidFill>
                <a:latin typeface="Calibri"/>
              </a:rPr>
              <a:t>Prototipo de experiencia
Evaluacion del swipe
Reformulacion hacia VAA</a:t>
            </a:r>
          </a:p>
        </p:txBody>
      </p:sp>
      <p:sp>
        <p:nvSpPr>
          <p:cNvPr id="31" name="Rectangle 30"/>
          <p:cNvSpPr/>
          <p:nvPr/>
        </p:nvSpPr>
        <p:spPr>
          <a:xfrm>
            <a:off x="6217920" y="4251960"/>
            <a:ext cx="2743200" cy="246888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355080" y="4370832"/>
            <a:ext cx="2487168" cy="347472"/>
          </a:xfrm>
          <a:prstGeom prst="rect">
            <a:avLst/>
          </a:prstGeom>
          <a:noFill/>
        </p:spPr>
        <p:txBody>
          <a:bodyPr wrap="square">
            <a:spAutoFit/>
          </a:bodyPr>
          <a:lstStyle/>
          <a:p>
            <a:pPr algn="l"/>
            <a:r>
              <a:rPr sz="1100" b="1">
                <a:solidFill>
                  <a:srgbClr val="FFFFFF"/>
                </a:solidFill>
                <a:latin typeface="Calibri"/>
              </a:rPr>
              <a:t>F3 — 2025-2026</a:t>
            </a:r>
          </a:p>
        </p:txBody>
      </p:sp>
      <p:sp>
        <p:nvSpPr>
          <p:cNvPr id="33" name="TextBox 32"/>
          <p:cNvSpPr txBox="1"/>
          <p:nvPr/>
        </p:nvSpPr>
        <p:spPr>
          <a:xfrm>
            <a:off x="6355080" y="4736592"/>
            <a:ext cx="2487168" cy="347472"/>
          </a:xfrm>
          <a:prstGeom prst="rect">
            <a:avLst/>
          </a:prstGeom>
          <a:noFill/>
        </p:spPr>
        <p:txBody>
          <a:bodyPr wrap="square">
            <a:spAutoFit/>
          </a:bodyPr>
          <a:lstStyle/>
          <a:p>
            <a:pPr algn="l"/>
            <a:r>
              <a:rPr sz="1200" b="1">
                <a:solidFill>
                  <a:srgbClr val="FFFFFF"/>
                </a:solidFill>
                <a:latin typeface="Calibri"/>
              </a:rPr>
              <a:t>CONSTRUCCION</a:t>
            </a:r>
          </a:p>
        </p:txBody>
      </p:sp>
      <p:sp>
        <p:nvSpPr>
          <p:cNvPr id="34" name="TextBox 33"/>
          <p:cNvSpPr txBox="1"/>
          <p:nvPr/>
        </p:nvSpPr>
        <p:spPr>
          <a:xfrm>
            <a:off x="6355080" y="5166360"/>
            <a:ext cx="2487168" cy="1417320"/>
          </a:xfrm>
          <a:prstGeom prst="rect">
            <a:avLst/>
          </a:prstGeom>
          <a:noFill/>
        </p:spPr>
        <p:txBody>
          <a:bodyPr wrap="square">
            <a:spAutoFit/>
          </a:bodyPr>
          <a:lstStyle/>
          <a:p>
            <a:pPr algn="l"/>
            <a:r>
              <a:rPr sz="1100" b="0">
                <a:solidFill>
                  <a:srgbClr val="FFFFFF"/>
                </a:solidFill>
                <a:latin typeface="Calibri"/>
              </a:rPr>
              <a:t>8 fases de desarrollo
370 tests
17 pantallas</a:t>
            </a:r>
          </a:p>
        </p:txBody>
      </p:sp>
      <p:sp>
        <p:nvSpPr>
          <p:cNvPr id="35" name="Rectangle 34"/>
          <p:cNvSpPr/>
          <p:nvPr/>
        </p:nvSpPr>
        <p:spPr>
          <a:xfrm>
            <a:off x="9098280" y="4251960"/>
            <a:ext cx="2743200" cy="246888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9235440" y="4370832"/>
            <a:ext cx="2487168" cy="347472"/>
          </a:xfrm>
          <a:prstGeom prst="rect">
            <a:avLst/>
          </a:prstGeom>
          <a:noFill/>
        </p:spPr>
        <p:txBody>
          <a:bodyPr wrap="square">
            <a:spAutoFit/>
          </a:bodyPr>
          <a:lstStyle/>
          <a:p>
            <a:pPr algn="l"/>
            <a:r>
              <a:rPr sz="1100" b="1">
                <a:solidFill>
                  <a:srgbClr val="FFFFFF"/>
                </a:solidFill>
                <a:latin typeface="Calibri"/>
              </a:rPr>
              <a:t>F4 — Ago 2026</a:t>
            </a:r>
          </a:p>
        </p:txBody>
      </p:sp>
      <p:sp>
        <p:nvSpPr>
          <p:cNvPr id="37" name="TextBox 36"/>
          <p:cNvSpPr txBox="1"/>
          <p:nvPr/>
        </p:nvSpPr>
        <p:spPr>
          <a:xfrm>
            <a:off x="9235440" y="4736592"/>
            <a:ext cx="2487168" cy="347472"/>
          </a:xfrm>
          <a:prstGeom prst="rect">
            <a:avLst/>
          </a:prstGeom>
          <a:noFill/>
        </p:spPr>
        <p:txBody>
          <a:bodyPr wrap="square">
            <a:spAutoFit/>
          </a:bodyPr>
          <a:lstStyle/>
          <a:p>
            <a:pPr algn="l"/>
            <a:r>
              <a:rPr sz="1200" b="1">
                <a:solidFill>
                  <a:srgbClr val="FFFFFF"/>
                </a:solidFill>
                <a:latin typeface="Calibri"/>
              </a:rPr>
              <a:t>AUDITORIA</a:t>
            </a:r>
          </a:p>
        </p:txBody>
      </p:sp>
      <p:sp>
        <p:nvSpPr>
          <p:cNvPr id="38" name="TextBox 37"/>
          <p:cNvSpPr txBox="1"/>
          <p:nvPr/>
        </p:nvSpPr>
        <p:spPr>
          <a:xfrm>
            <a:off x="9235440" y="5166360"/>
            <a:ext cx="2487168" cy="1417320"/>
          </a:xfrm>
          <a:prstGeom prst="rect">
            <a:avLst/>
          </a:prstGeom>
          <a:noFill/>
        </p:spPr>
        <p:txBody>
          <a:bodyPr wrap="square">
            <a:spAutoFit/>
          </a:bodyPr>
          <a:lstStyle/>
          <a:p>
            <a:pPr algn="l"/>
            <a:r>
              <a:rPr sz="1100" b="0">
                <a:solidFill>
                  <a:srgbClr val="FFFFFF"/>
                </a:solidFill>
                <a:latin typeface="Calibri"/>
              </a:rPr>
              <a:t>37 documentos auditados
Codigo como fuente de verdad
Tesis</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LAS 8 FASES DE CONSTRUCCION</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4000" b="1">
                <a:solidFill>
                  <a:srgbClr val="FFFFFF"/>
                </a:solidFill>
                <a:latin typeface="Calibri"/>
              </a:rPr>
              <a:t>Como se construyo el sistema</a:t>
            </a:r>
          </a:p>
        </p:txBody>
      </p:sp>
      <p:sp>
        <p:nvSpPr>
          <p:cNvPr id="5" name="Rectangle 4"/>
          <p:cNvSpPr/>
          <p:nvPr/>
        </p:nvSpPr>
        <p:spPr>
          <a:xfrm>
            <a:off x="457200" y="1417320"/>
            <a:ext cx="5577840" cy="117043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527048"/>
            <a:ext cx="594360" cy="411480"/>
          </a:xfrm>
          <a:prstGeom prst="rect">
            <a:avLst/>
          </a:prstGeom>
          <a:noFill/>
        </p:spPr>
        <p:txBody>
          <a:bodyPr wrap="square">
            <a:spAutoFit/>
          </a:bodyPr>
          <a:lstStyle/>
          <a:p>
            <a:pPr algn="l"/>
            <a:r>
              <a:rPr sz="1400" b="1">
                <a:solidFill>
                  <a:srgbClr val="3A9E7A"/>
                </a:solidFill>
                <a:latin typeface="Calibri"/>
              </a:rPr>
              <a:t>F0</a:t>
            </a:r>
          </a:p>
        </p:txBody>
      </p:sp>
      <p:sp>
        <p:nvSpPr>
          <p:cNvPr id="7" name="TextBox 6"/>
          <p:cNvSpPr txBox="1"/>
          <p:nvPr/>
        </p:nvSpPr>
        <p:spPr>
          <a:xfrm>
            <a:off x="1261872" y="1527048"/>
            <a:ext cx="4389120" cy="384048"/>
          </a:xfrm>
          <a:prstGeom prst="rect">
            <a:avLst/>
          </a:prstGeom>
          <a:noFill/>
        </p:spPr>
        <p:txBody>
          <a:bodyPr wrap="square">
            <a:spAutoFit/>
          </a:bodyPr>
          <a:lstStyle/>
          <a:p>
            <a:pPr algn="l"/>
            <a:r>
              <a:rPr sz="1300" b="1">
                <a:solidFill>
                  <a:srgbClr val="FFFFFF"/>
                </a:solidFill>
                <a:latin typeface="Calibri"/>
              </a:rPr>
              <a:t>Investigacion del estado del arte</a:t>
            </a:r>
          </a:p>
        </p:txBody>
      </p:sp>
      <p:sp>
        <p:nvSpPr>
          <p:cNvPr id="8" name="TextBox 7"/>
          <p:cNvSpPr txBox="1"/>
          <p:nvPr/>
        </p:nvSpPr>
        <p:spPr>
          <a:xfrm>
            <a:off x="1261872" y="1984248"/>
            <a:ext cx="4389120" cy="475488"/>
          </a:xfrm>
          <a:prstGeom prst="rect">
            <a:avLst/>
          </a:prstGeom>
          <a:noFill/>
        </p:spPr>
        <p:txBody>
          <a:bodyPr wrap="square">
            <a:spAutoFit/>
          </a:bodyPr>
          <a:lstStyle/>
          <a:p>
            <a:pPr algn="l"/>
            <a:r>
              <a:rPr sz="1100" b="0">
                <a:solidFill>
                  <a:srgbClr val="CBD1CD"/>
                </a:solidFill>
                <a:latin typeface="Calibri"/>
              </a:rPr>
              <a:t>9 VAAs analizadas + 4 iniciativas chilenas</a:t>
            </a:r>
          </a:p>
        </p:txBody>
      </p:sp>
      <p:sp>
        <p:nvSpPr>
          <p:cNvPr id="9" name="Rectangle 8"/>
          <p:cNvSpPr/>
          <p:nvPr/>
        </p:nvSpPr>
        <p:spPr>
          <a:xfrm>
            <a:off x="6309360" y="1417320"/>
            <a:ext cx="5577840" cy="117043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46520" y="1527048"/>
            <a:ext cx="594360" cy="411480"/>
          </a:xfrm>
          <a:prstGeom prst="rect">
            <a:avLst/>
          </a:prstGeom>
          <a:noFill/>
        </p:spPr>
        <p:txBody>
          <a:bodyPr wrap="square">
            <a:spAutoFit/>
          </a:bodyPr>
          <a:lstStyle/>
          <a:p>
            <a:pPr algn="l"/>
            <a:r>
              <a:rPr sz="1400" b="1">
                <a:solidFill>
                  <a:srgbClr val="3A9E7A"/>
                </a:solidFill>
                <a:latin typeface="Calibri"/>
              </a:rPr>
              <a:t>F1</a:t>
            </a:r>
          </a:p>
        </p:txBody>
      </p:sp>
      <p:sp>
        <p:nvSpPr>
          <p:cNvPr id="11" name="TextBox 10"/>
          <p:cNvSpPr txBox="1"/>
          <p:nvPr/>
        </p:nvSpPr>
        <p:spPr>
          <a:xfrm>
            <a:off x="7114032" y="1527048"/>
            <a:ext cx="4389120" cy="384048"/>
          </a:xfrm>
          <a:prstGeom prst="rect">
            <a:avLst/>
          </a:prstGeom>
          <a:noFill/>
        </p:spPr>
        <p:txBody>
          <a:bodyPr wrap="square">
            <a:spAutoFit/>
          </a:bodyPr>
          <a:lstStyle/>
          <a:p>
            <a:pPr algn="l"/>
            <a:r>
              <a:rPr sz="1300" b="1">
                <a:solidFill>
                  <a:srgbClr val="FFFFFF"/>
                </a:solidFill>
                <a:latin typeface="Calibri"/>
              </a:rPr>
              <a:t>Diseno de arquitectura y contrato API</a:t>
            </a:r>
          </a:p>
        </p:txBody>
      </p:sp>
      <p:sp>
        <p:nvSpPr>
          <p:cNvPr id="12" name="TextBox 11"/>
          <p:cNvSpPr txBox="1"/>
          <p:nvPr/>
        </p:nvSpPr>
        <p:spPr>
          <a:xfrm>
            <a:off x="7114032" y="1984248"/>
            <a:ext cx="4389120" cy="475488"/>
          </a:xfrm>
          <a:prstGeom prst="rect">
            <a:avLst/>
          </a:prstGeom>
          <a:noFill/>
        </p:spPr>
        <p:txBody>
          <a:bodyPr wrap="square">
            <a:spAutoFit/>
          </a:bodyPr>
          <a:lstStyle/>
          <a:p>
            <a:pPr algn="l"/>
            <a:r>
              <a:rPr sz="1100" b="0">
                <a:solidFill>
                  <a:srgbClr val="CBD1CD"/>
                </a:solidFill>
                <a:latin typeface="Calibri"/>
              </a:rPr>
              <a:t>Modelo de dominio + primer schema OpenAPI</a:t>
            </a:r>
          </a:p>
        </p:txBody>
      </p:sp>
      <p:sp>
        <p:nvSpPr>
          <p:cNvPr id="13" name="Rectangle 12"/>
          <p:cNvSpPr/>
          <p:nvPr/>
        </p:nvSpPr>
        <p:spPr>
          <a:xfrm>
            <a:off x="457200" y="2679191"/>
            <a:ext cx="5577840" cy="117043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94360" y="2788920"/>
            <a:ext cx="594360" cy="411480"/>
          </a:xfrm>
          <a:prstGeom prst="rect">
            <a:avLst/>
          </a:prstGeom>
          <a:noFill/>
        </p:spPr>
        <p:txBody>
          <a:bodyPr wrap="square">
            <a:spAutoFit/>
          </a:bodyPr>
          <a:lstStyle/>
          <a:p>
            <a:pPr algn="l"/>
            <a:r>
              <a:rPr sz="1400" b="1">
                <a:solidFill>
                  <a:srgbClr val="3A9E7A"/>
                </a:solidFill>
                <a:latin typeface="Calibri"/>
              </a:rPr>
              <a:t>F2</a:t>
            </a:r>
          </a:p>
        </p:txBody>
      </p:sp>
      <p:sp>
        <p:nvSpPr>
          <p:cNvPr id="15" name="TextBox 14"/>
          <p:cNvSpPr txBox="1"/>
          <p:nvPr/>
        </p:nvSpPr>
        <p:spPr>
          <a:xfrm>
            <a:off x="1261872" y="2788920"/>
            <a:ext cx="4389120" cy="384048"/>
          </a:xfrm>
          <a:prstGeom prst="rect">
            <a:avLst/>
          </a:prstGeom>
          <a:noFill/>
        </p:spPr>
        <p:txBody>
          <a:bodyPr wrap="square">
            <a:spAutoFit/>
          </a:bodyPr>
          <a:lstStyle/>
          <a:p>
            <a:pPr algn="l"/>
            <a:r>
              <a:rPr sz="1300" b="1">
                <a:solidFill>
                  <a:srgbClr val="FFFFFF"/>
                </a:solidFill>
                <a:latin typeface="Calibri"/>
              </a:rPr>
              <a:t>MVP end-to-end</a:t>
            </a:r>
          </a:p>
        </p:txBody>
      </p:sp>
      <p:sp>
        <p:nvSpPr>
          <p:cNvPr id="16" name="TextBox 15"/>
          <p:cNvSpPr txBox="1"/>
          <p:nvPr/>
        </p:nvSpPr>
        <p:spPr>
          <a:xfrm>
            <a:off x="1261872" y="3246120"/>
            <a:ext cx="4389120" cy="475488"/>
          </a:xfrm>
          <a:prstGeom prst="rect">
            <a:avLst/>
          </a:prstGeom>
          <a:noFill/>
        </p:spPr>
        <p:txBody>
          <a:bodyPr wrap="square">
            <a:spAutoFit/>
          </a:bodyPr>
          <a:lstStyle/>
          <a:p>
            <a:pPr algn="l"/>
            <a:r>
              <a:rPr sz="1100" b="0">
                <a:solidFill>
                  <a:srgbClr val="CBD1CD"/>
                </a:solidFill>
                <a:latin typeface="Calibri"/>
              </a:rPr>
              <a:t>Flujo funcional desde registro hasta resultados</a:t>
            </a:r>
          </a:p>
        </p:txBody>
      </p:sp>
      <p:sp>
        <p:nvSpPr>
          <p:cNvPr id="17" name="Rectangle 16"/>
          <p:cNvSpPr/>
          <p:nvPr/>
        </p:nvSpPr>
        <p:spPr>
          <a:xfrm>
            <a:off x="6309360" y="2679191"/>
            <a:ext cx="5577840" cy="117043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46520" y="2788920"/>
            <a:ext cx="594360" cy="411480"/>
          </a:xfrm>
          <a:prstGeom prst="rect">
            <a:avLst/>
          </a:prstGeom>
          <a:noFill/>
        </p:spPr>
        <p:txBody>
          <a:bodyPr wrap="square">
            <a:spAutoFit/>
          </a:bodyPr>
          <a:lstStyle/>
          <a:p>
            <a:pPr algn="l"/>
            <a:r>
              <a:rPr sz="1400" b="1">
                <a:solidFill>
                  <a:srgbClr val="3A9E7A"/>
                </a:solidFill>
                <a:latin typeface="Calibri"/>
              </a:rPr>
              <a:t>F3</a:t>
            </a:r>
          </a:p>
        </p:txBody>
      </p:sp>
      <p:sp>
        <p:nvSpPr>
          <p:cNvPr id="19" name="TextBox 18"/>
          <p:cNvSpPr txBox="1"/>
          <p:nvPr/>
        </p:nvSpPr>
        <p:spPr>
          <a:xfrm>
            <a:off x="7114032" y="2788920"/>
            <a:ext cx="4389120" cy="384048"/>
          </a:xfrm>
          <a:prstGeom prst="rect">
            <a:avLst/>
          </a:prstGeom>
          <a:noFill/>
        </p:spPr>
        <p:txBody>
          <a:bodyPr wrap="square">
            <a:spAutoFit/>
          </a:bodyPr>
          <a:lstStyle/>
          <a:p>
            <a:pPr algn="l"/>
            <a:r>
              <a:rPr sz="1300" b="1">
                <a:solidFill>
                  <a:srgbClr val="FFFFFF"/>
                </a:solidFill>
                <a:latin typeface="Calibri"/>
              </a:rPr>
              <a:t>Auditoria y refactorizacion</a:t>
            </a:r>
          </a:p>
        </p:txBody>
      </p:sp>
      <p:sp>
        <p:nvSpPr>
          <p:cNvPr id="20" name="TextBox 19"/>
          <p:cNvSpPr txBox="1"/>
          <p:nvPr/>
        </p:nvSpPr>
        <p:spPr>
          <a:xfrm>
            <a:off x="7114032" y="3246120"/>
            <a:ext cx="4389120" cy="475488"/>
          </a:xfrm>
          <a:prstGeom prst="rect">
            <a:avLst/>
          </a:prstGeom>
          <a:noFill/>
        </p:spPr>
        <p:txBody>
          <a:bodyPr wrap="square">
            <a:spAutoFit/>
          </a:bodyPr>
          <a:lstStyle/>
          <a:p>
            <a:pPr algn="l"/>
            <a:r>
              <a:rPr sz="1100" b="0">
                <a:solidFill>
                  <a:srgbClr val="CBD1CD"/>
                </a:solidFill>
                <a:latin typeface="Calibri"/>
              </a:rPr>
              <a:t>4 hallazgos de seguridad + DRY aplicado</a:t>
            </a:r>
          </a:p>
        </p:txBody>
      </p:sp>
      <p:sp>
        <p:nvSpPr>
          <p:cNvPr id="21" name="Rectangle 20"/>
          <p:cNvSpPr/>
          <p:nvPr/>
        </p:nvSpPr>
        <p:spPr>
          <a:xfrm>
            <a:off x="457200" y="3941063"/>
            <a:ext cx="5577840" cy="117043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050791"/>
            <a:ext cx="594360" cy="411480"/>
          </a:xfrm>
          <a:prstGeom prst="rect">
            <a:avLst/>
          </a:prstGeom>
          <a:noFill/>
        </p:spPr>
        <p:txBody>
          <a:bodyPr wrap="square">
            <a:spAutoFit/>
          </a:bodyPr>
          <a:lstStyle/>
          <a:p>
            <a:pPr algn="l"/>
            <a:r>
              <a:rPr sz="1400" b="1">
                <a:solidFill>
                  <a:srgbClr val="3A9E7A"/>
                </a:solidFill>
                <a:latin typeface="Calibri"/>
              </a:rPr>
              <a:t>F4</a:t>
            </a:r>
          </a:p>
        </p:txBody>
      </p:sp>
      <p:sp>
        <p:nvSpPr>
          <p:cNvPr id="23" name="TextBox 22"/>
          <p:cNvSpPr txBox="1"/>
          <p:nvPr/>
        </p:nvSpPr>
        <p:spPr>
          <a:xfrm>
            <a:off x="1261872" y="4050791"/>
            <a:ext cx="4389120" cy="384048"/>
          </a:xfrm>
          <a:prstGeom prst="rect">
            <a:avLst/>
          </a:prstGeom>
          <a:noFill/>
        </p:spPr>
        <p:txBody>
          <a:bodyPr wrap="square">
            <a:spAutoFit/>
          </a:bodyPr>
          <a:lstStyle/>
          <a:p>
            <a:pPr algn="l"/>
            <a:r>
              <a:rPr sz="1300" b="1">
                <a:solidFill>
                  <a:srgbClr val="FFFFFF"/>
                </a:solidFill>
                <a:latin typeface="Calibri"/>
              </a:rPr>
              <a:t>Expansion territorial</a:t>
            </a:r>
          </a:p>
        </p:txBody>
      </p:sp>
      <p:sp>
        <p:nvSpPr>
          <p:cNvPr id="24" name="TextBox 23"/>
          <p:cNvSpPr txBox="1"/>
          <p:nvPr/>
        </p:nvSpPr>
        <p:spPr>
          <a:xfrm>
            <a:off x="1261872" y="4507992"/>
            <a:ext cx="4389120" cy="475488"/>
          </a:xfrm>
          <a:prstGeom prst="rect">
            <a:avLst/>
          </a:prstGeom>
          <a:noFill/>
        </p:spPr>
        <p:txBody>
          <a:bodyPr wrap="square">
            <a:spAutoFit/>
          </a:bodyPr>
          <a:lstStyle/>
          <a:p>
            <a:pPr algn="l"/>
            <a:r>
              <a:rPr sz="1100" b="0">
                <a:solidFill>
                  <a:srgbClr val="CBD1CD"/>
                </a:solidFill>
                <a:latin typeface="Calibri"/>
              </a:rPr>
              <a:t>Modelo polimorfico + preguntas transversales</a:t>
            </a:r>
          </a:p>
        </p:txBody>
      </p:sp>
      <p:sp>
        <p:nvSpPr>
          <p:cNvPr id="25" name="Rectangle 24"/>
          <p:cNvSpPr/>
          <p:nvPr/>
        </p:nvSpPr>
        <p:spPr>
          <a:xfrm>
            <a:off x="6309360" y="3941063"/>
            <a:ext cx="5577840" cy="117043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46520" y="4050791"/>
            <a:ext cx="594360" cy="411480"/>
          </a:xfrm>
          <a:prstGeom prst="rect">
            <a:avLst/>
          </a:prstGeom>
          <a:noFill/>
        </p:spPr>
        <p:txBody>
          <a:bodyPr wrap="square">
            <a:spAutoFit/>
          </a:bodyPr>
          <a:lstStyle/>
          <a:p>
            <a:pPr algn="l"/>
            <a:r>
              <a:rPr sz="1400" b="1">
                <a:solidFill>
                  <a:srgbClr val="3A9E7A"/>
                </a:solidFill>
                <a:latin typeface="Calibri"/>
              </a:rPr>
              <a:t>F5</a:t>
            </a:r>
          </a:p>
        </p:txBody>
      </p:sp>
      <p:sp>
        <p:nvSpPr>
          <p:cNvPr id="27" name="TextBox 26"/>
          <p:cNvSpPr txBox="1"/>
          <p:nvPr/>
        </p:nvSpPr>
        <p:spPr>
          <a:xfrm>
            <a:off x="7114032" y="4050791"/>
            <a:ext cx="4389120" cy="384048"/>
          </a:xfrm>
          <a:prstGeom prst="rect">
            <a:avLst/>
          </a:prstGeom>
          <a:noFill/>
        </p:spPr>
        <p:txBody>
          <a:bodyPr wrap="square">
            <a:spAutoFit/>
          </a:bodyPr>
          <a:lstStyle/>
          <a:p>
            <a:pPr algn="l"/>
            <a:r>
              <a:rPr sz="1300" b="1">
                <a:solidFill>
                  <a:srgbClr val="FFFFFF"/>
                </a:solidFill>
                <a:latin typeface="Calibri"/>
              </a:rPr>
              <a:t>Simplificacion YAGNI</a:t>
            </a:r>
          </a:p>
        </p:txBody>
      </p:sp>
      <p:sp>
        <p:nvSpPr>
          <p:cNvPr id="28" name="TextBox 27"/>
          <p:cNvSpPr txBox="1"/>
          <p:nvPr/>
        </p:nvSpPr>
        <p:spPr>
          <a:xfrm>
            <a:off x="7114032" y="4507992"/>
            <a:ext cx="4389120" cy="475488"/>
          </a:xfrm>
          <a:prstGeom prst="rect">
            <a:avLst/>
          </a:prstGeom>
          <a:noFill/>
        </p:spPr>
        <p:txBody>
          <a:bodyPr wrap="square">
            <a:spAutoFit/>
          </a:bodyPr>
          <a:lstStyle/>
          <a:p>
            <a:pPr algn="l"/>
            <a:r>
              <a:rPr sz="1100" b="0">
                <a:solidFill>
                  <a:srgbClr val="CBD1CD"/>
                </a:solidFill>
                <a:latin typeface="Calibri"/>
              </a:rPr>
              <a:t>Swipe eliminado + DecisionFinal eliminado</a:t>
            </a:r>
          </a:p>
        </p:txBody>
      </p:sp>
      <p:sp>
        <p:nvSpPr>
          <p:cNvPr id="29" name="Rectangle 28"/>
          <p:cNvSpPr/>
          <p:nvPr/>
        </p:nvSpPr>
        <p:spPr>
          <a:xfrm>
            <a:off x="457200" y="5202936"/>
            <a:ext cx="5577840" cy="117043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594360" y="5312664"/>
            <a:ext cx="594360" cy="411480"/>
          </a:xfrm>
          <a:prstGeom prst="rect">
            <a:avLst/>
          </a:prstGeom>
          <a:noFill/>
        </p:spPr>
        <p:txBody>
          <a:bodyPr wrap="square">
            <a:spAutoFit/>
          </a:bodyPr>
          <a:lstStyle/>
          <a:p>
            <a:pPr algn="l"/>
            <a:r>
              <a:rPr sz="1400" b="1">
                <a:solidFill>
                  <a:srgbClr val="3A9E7A"/>
                </a:solidFill>
                <a:latin typeface="Calibri"/>
              </a:rPr>
              <a:t>F6</a:t>
            </a:r>
          </a:p>
        </p:txBody>
      </p:sp>
      <p:sp>
        <p:nvSpPr>
          <p:cNvPr id="31" name="TextBox 30"/>
          <p:cNvSpPr txBox="1"/>
          <p:nvPr/>
        </p:nvSpPr>
        <p:spPr>
          <a:xfrm>
            <a:off x="1261872" y="5312664"/>
            <a:ext cx="4389120" cy="384048"/>
          </a:xfrm>
          <a:prstGeom prst="rect">
            <a:avLst/>
          </a:prstGeom>
          <a:noFill/>
        </p:spPr>
        <p:txBody>
          <a:bodyPr wrap="square">
            <a:spAutoFit/>
          </a:bodyPr>
          <a:lstStyle/>
          <a:p>
            <a:pPr algn="l"/>
            <a:r>
              <a:rPr sz="1300" b="1">
                <a:solidFill>
                  <a:srgbClr val="FFFFFF"/>
                </a:solidFill>
                <a:latin typeface="Calibri"/>
              </a:rPr>
              <a:t>Sistema de diseno y accesibilidad</a:t>
            </a:r>
          </a:p>
        </p:txBody>
      </p:sp>
      <p:sp>
        <p:nvSpPr>
          <p:cNvPr id="32" name="TextBox 31"/>
          <p:cNvSpPr txBox="1"/>
          <p:nvPr/>
        </p:nvSpPr>
        <p:spPr>
          <a:xfrm>
            <a:off x="1261872" y="5769864"/>
            <a:ext cx="4389120" cy="475488"/>
          </a:xfrm>
          <a:prstGeom prst="rect">
            <a:avLst/>
          </a:prstGeom>
          <a:noFill/>
        </p:spPr>
        <p:txBody>
          <a:bodyPr wrap="square">
            <a:spAutoFit/>
          </a:bodyPr>
          <a:lstStyle/>
          <a:p>
            <a:pPr algn="l"/>
            <a:r>
              <a:rPr sz="1100" b="0">
                <a:solidFill>
                  <a:srgbClr val="CBD1CD"/>
                </a:solidFill>
                <a:latin typeface="Calibri"/>
              </a:rPr>
              <a:t>Atomic Design + WCAG 2.2 AA</a:t>
            </a:r>
          </a:p>
        </p:txBody>
      </p:sp>
      <p:sp>
        <p:nvSpPr>
          <p:cNvPr id="33" name="Rectangle 32"/>
          <p:cNvSpPr/>
          <p:nvPr/>
        </p:nvSpPr>
        <p:spPr>
          <a:xfrm>
            <a:off x="6309360" y="5202936"/>
            <a:ext cx="5577840" cy="1170432"/>
          </a:xfrm>
          <a:prstGeom prst="rect">
            <a:avLst/>
          </a:prstGeom>
          <a:solidFill>
            <a:srgbClr val="243C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46520" y="5312664"/>
            <a:ext cx="594360" cy="411480"/>
          </a:xfrm>
          <a:prstGeom prst="rect">
            <a:avLst/>
          </a:prstGeom>
          <a:noFill/>
        </p:spPr>
        <p:txBody>
          <a:bodyPr wrap="square">
            <a:spAutoFit/>
          </a:bodyPr>
          <a:lstStyle/>
          <a:p>
            <a:pPr algn="l"/>
            <a:r>
              <a:rPr sz="1400" b="1">
                <a:solidFill>
                  <a:srgbClr val="3A9E7A"/>
                </a:solidFill>
                <a:latin typeface="Calibri"/>
              </a:rPr>
              <a:t>F7</a:t>
            </a:r>
          </a:p>
        </p:txBody>
      </p:sp>
      <p:sp>
        <p:nvSpPr>
          <p:cNvPr id="35" name="TextBox 34"/>
          <p:cNvSpPr txBox="1"/>
          <p:nvPr/>
        </p:nvSpPr>
        <p:spPr>
          <a:xfrm>
            <a:off x="7114032" y="5312664"/>
            <a:ext cx="4389120" cy="384048"/>
          </a:xfrm>
          <a:prstGeom prst="rect">
            <a:avLst/>
          </a:prstGeom>
          <a:noFill/>
        </p:spPr>
        <p:txBody>
          <a:bodyPr wrap="square">
            <a:spAutoFit/>
          </a:bodyPr>
          <a:lstStyle/>
          <a:p>
            <a:pPr algn="l"/>
            <a:r>
              <a:rPr sz="1300" b="1">
                <a:solidFill>
                  <a:srgbClr val="FFFFFF"/>
                </a:solidFill>
                <a:latin typeface="Calibri"/>
              </a:rPr>
              <a:t>Documentacion y tesis</a:t>
            </a:r>
          </a:p>
        </p:txBody>
      </p:sp>
      <p:sp>
        <p:nvSpPr>
          <p:cNvPr id="36" name="TextBox 35"/>
          <p:cNvSpPr txBox="1"/>
          <p:nvPr/>
        </p:nvSpPr>
        <p:spPr>
          <a:xfrm>
            <a:off x="7114032" y="5769864"/>
            <a:ext cx="4389120" cy="475488"/>
          </a:xfrm>
          <a:prstGeom prst="rect">
            <a:avLst/>
          </a:prstGeom>
          <a:noFill/>
        </p:spPr>
        <p:txBody>
          <a:bodyPr wrap="square">
            <a:spAutoFit/>
          </a:bodyPr>
          <a:lstStyle/>
          <a:p>
            <a:pPr algn="l"/>
            <a:r>
              <a:rPr sz="1100" b="0">
                <a:solidFill>
                  <a:srgbClr val="CBD1CD"/>
                </a:solidFill>
                <a:latin typeface="Calibri"/>
              </a:rPr>
              <a:t>37 documentos auditados + este documento</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ARQUITECTURA CONCEPTUAL</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4000" b="1">
                <a:solidFill>
                  <a:srgbClr val="1C3A52"/>
                </a:solidFill>
                <a:latin typeface="Calibri"/>
              </a:rPr>
              <a:t>Tres capas, un contrato</a:t>
            </a:r>
          </a:p>
        </p:txBody>
      </p:sp>
      <p:sp>
        <p:nvSpPr>
          <p:cNvPr id="5" name="Rectangle 4"/>
          <p:cNvSpPr/>
          <p:nvPr/>
        </p:nvSpPr>
        <p:spPr>
          <a:xfrm>
            <a:off x="457200" y="1389888"/>
            <a:ext cx="3657600" cy="431596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508760"/>
            <a:ext cx="3291840" cy="438912"/>
          </a:xfrm>
          <a:prstGeom prst="rect">
            <a:avLst/>
          </a:prstGeom>
          <a:noFill/>
        </p:spPr>
        <p:txBody>
          <a:bodyPr wrap="square">
            <a:spAutoFit/>
          </a:bodyPr>
          <a:lstStyle/>
          <a:p>
            <a:pPr algn="l"/>
            <a:r>
              <a:rPr sz="1800" b="1">
                <a:solidFill>
                  <a:srgbClr val="FFFFFF"/>
                </a:solidFill>
                <a:latin typeface="Calibri"/>
              </a:rPr>
              <a:t>FRONTEND</a:t>
            </a:r>
          </a:p>
        </p:txBody>
      </p:sp>
      <p:sp>
        <p:nvSpPr>
          <p:cNvPr id="7" name="Rectangle 6"/>
          <p:cNvSpPr/>
          <p:nvPr/>
        </p:nvSpPr>
        <p:spPr>
          <a:xfrm>
            <a:off x="640080" y="1965960"/>
            <a:ext cx="3017520"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57400"/>
            <a:ext cx="3291840" cy="384048"/>
          </a:xfrm>
          <a:prstGeom prst="rect">
            <a:avLst/>
          </a:prstGeom>
          <a:noFill/>
        </p:spPr>
        <p:txBody>
          <a:bodyPr wrap="square">
            <a:spAutoFit/>
          </a:bodyPr>
          <a:lstStyle/>
          <a:p>
            <a:pPr algn="l"/>
            <a:r>
              <a:rPr sz="1300" b="1">
                <a:solidFill>
                  <a:srgbClr val="3A9E7A"/>
                </a:solidFill>
                <a:latin typeface="Calibri"/>
              </a:rPr>
              <a:t>React Native (Expo)</a:t>
            </a:r>
          </a:p>
        </p:txBody>
      </p:sp>
      <p:sp>
        <p:nvSpPr>
          <p:cNvPr id="9" name="TextBox 8"/>
          <p:cNvSpPr txBox="1"/>
          <p:nvPr/>
        </p:nvSpPr>
        <p:spPr>
          <a:xfrm>
            <a:off x="640080" y="2542032"/>
            <a:ext cx="3291840" cy="2926080"/>
          </a:xfrm>
          <a:prstGeom prst="rect">
            <a:avLst/>
          </a:prstGeom>
          <a:noFill/>
        </p:spPr>
        <p:txBody>
          <a:bodyPr wrap="square">
            <a:spAutoFit/>
          </a:bodyPr>
          <a:lstStyle/>
          <a:p>
            <a:pPr algn="l"/>
            <a:r>
              <a:rPr sz="1300" b="0">
                <a:solidFill>
                  <a:srgbClr val="FFFFFF"/>
                </a:solidFill>
                <a:latin typeface="Calibri"/>
              </a:rPr>
              <a:t>Web  iOS  Android
Desde una misma base de codigo
TypeScript + React Query
89 componentes UI</a:t>
            </a:r>
          </a:p>
        </p:txBody>
      </p:sp>
      <p:sp>
        <p:nvSpPr>
          <p:cNvPr id="10" name="Rectangle 9"/>
          <p:cNvSpPr/>
          <p:nvPr/>
        </p:nvSpPr>
        <p:spPr>
          <a:xfrm>
            <a:off x="4343400" y="1389888"/>
            <a:ext cx="3657600" cy="431596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508760"/>
            <a:ext cx="3291840" cy="438912"/>
          </a:xfrm>
          <a:prstGeom prst="rect">
            <a:avLst/>
          </a:prstGeom>
          <a:noFill/>
        </p:spPr>
        <p:txBody>
          <a:bodyPr wrap="square">
            <a:spAutoFit/>
          </a:bodyPr>
          <a:lstStyle/>
          <a:p>
            <a:pPr algn="l"/>
            <a:r>
              <a:rPr sz="1800" b="1">
                <a:solidFill>
                  <a:srgbClr val="FFFFFF"/>
                </a:solidFill>
                <a:latin typeface="Calibri"/>
              </a:rPr>
              <a:t>API</a:t>
            </a:r>
          </a:p>
        </p:txBody>
      </p:sp>
      <p:sp>
        <p:nvSpPr>
          <p:cNvPr id="12" name="Rectangle 11"/>
          <p:cNvSpPr/>
          <p:nvPr/>
        </p:nvSpPr>
        <p:spPr>
          <a:xfrm>
            <a:off x="4526280" y="1965960"/>
            <a:ext cx="3017520"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057400"/>
            <a:ext cx="3291840" cy="384048"/>
          </a:xfrm>
          <a:prstGeom prst="rect">
            <a:avLst/>
          </a:prstGeom>
          <a:noFill/>
        </p:spPr>
        <p:txBody>
          <a:bodyPr wrap="square">
            <a:spAutoFit/>
          </a:bodyPr>
          <a:lstStyle/>
          <a:p>
            <a:pPr algn="l"/>
            <a:r>
              <a:rPr sz="1300" b="1">
                <a:solidFill>
                  <a:srgbClr val="3A9E7A"/>
                </a:solidFill>
                <a:latin typeface="Calibri"/>
              </a:rPr>
              <a:t>OpenAPI 3.1</a:t>
            </a:r>
          </a:p>
        </p:txBody>
      </p:sp>
      <p:sp>
        <p:nvSpPr>
          <p:cNvPr id="14" name="TextBox 13"/>
          <p:cNvSpPr txBox="1"/>
          <p:nvPr/>
        </p:nvSpPr>
        <p:spPr>
          <a:xfrm>
            <a:off x="4526280" y="2542032"/>
            <a:ext cx="3291840" cy="2926080"/>
          </a:xfrm>
          <a:prstGeom prst="rect">
            <a:avLst/>
          </a:prstGeom>
          <a:noFill/>
        </p:spPr>
        <p:txBody>
          <a:bodyPr wrap="square">
            <a:spAutoFit/>
          </a:bodyPr>
          <a:lstStyle/>
          <a:p>
            <a:pPr algn="l"/>
            <a:r>
              <a:rPr sz="1300" b="0">
                <a:solidFill>
                  <a:srgbClr val="FFFFFF"/>
                </a:solidFill>
                <a:latin typeface="Calibri"/>
              </a:rPr>
              <a:t>Contrato generado automaticamente
Tipos TS desde el schema
~31 endpoints REST
Contrato como disciplina</a:t>
            </a:r>
          </a:p>
        </p:txBody>
      </p:sp>
      <p:sp>
        <p:nvSpPr>
          <p:cNvPr id="15" name="Rectangle 14"/>
          <p:cNvSpPr/>
          <p:nvPr/>
        </p:nvSpPr>
        <p:spPr>
          <a:xfrm>
            <a:off x="8229600" y="1389888"/>
            <a:ext cx="3657600" cy="4315968"/>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8412480" y="1508760"/>
            <a:ext cx="3291840" cy="438912"/>
          </a:xfrm>
          <a:prstGeom prst="rect">
            <a:avLst/>
          </a:prstGeom>
          <a:noFill/>
        </p:spPr>
        <p:txBody>
          <a:bodyPr wrap="square">
            <a:spAutoFit/>
          </a:bodyPr>
          <a:lstStyle/>
          <a:p>
            <a:pPr algn="l"/>
            <a:r>
              <a:rPr sz="1800" b="1">
                <a:solidFill>
                  <a:srgbClr val="FFFFFF"/>
                </a:solidFill>
                <a:latin typeface="Calibri"/>
              </a:rPr>
              <a:t>BACKEND</a:t>
            </a:r>
          </a:p>
        </p:txBody>
      </p:sp>
      <p:sp>
        <p:nvSpPr>
          <p:cNvPr id="17" name="Rectangle 16"/>
          <p:cNvSpPr/>
          <p:nvPr/>
        </p:nvSpPr>
        <p:spPr>
          <a:xfrm>
            <a:off x="8412480" y="1965960"/>
            <a:ext cx="3017520"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412480" y="2057400"/>
            <a:ext cx="3291840" cy="384048"/>
          </a:xfrm>
          <a:prstGeom prst="rect">
            <a:avLst/>
          </a:prstGeom>
          <a:noFill/>
        </p:spPr>
        <p:txBody>
          <a:bodyPr wrap="square">
            <a:spAutoFit/>
          </a:bodyPr>
          <a:lstStyle/>
          <a:p>
            <a:pPr algn="l"/>
            <a:r>
              <a:rPr sz="1300" b="1">
                <a:solidFill>
                  <a:srgbClr val="3A9E7A"/>
                </a:solidFill>
                <a:latin typeface="Calibri"/>
              </a:rPr>
              <a:t>Django / Python</a:t>
            </a:r>
          </a:p>
        </p:txBody>
      </p:sp>
      <p:sp>
        <p:nvSpPr>
          <p:cNvPr id="19" name="TextBox 18"/>
          <p:cNvSpPr txBox="1"/>
          <p:nvPr/>
        </p:nvSpPr>
        <p:spPr>
          <a:xfrm>
            <a:off x="8412480" y="2542032"/>
            <a:ext cx="3291840" cy="2926080"/>
          </a:xfrm>
          <a:prstGeom prst="rect">
            <a:avLst/>
          </a:prstGeom>
          <a:noFill/>
        </p:spPr>
        <p:txBody>
          <a:bodyPr wrap="square">
            <a:spAutoFit/>
          </a:bodyPr>
          <a:lstStyle/>
          <a:p>
            <a:pPr algn="l"/>
            <a:r>
              <a:rPr sz="1300" b="0">
                <a:solidFill>
                  <a:srgbClr val="FFFFFF"/>
                </a:solidFill>
                <a:latin typeface="Calibri"/>
              </a:rPr>
              <a:t>Logica pura en servicios
Modelo territorial polimorfico
19 modelos de datos
AGPL-3.0</a:t>
            </a:r>
          </a:p>
        </p:txBody>
      </p:sp>
      <p:sp>
        <p:nvSpPr>
          <p:cNvPr id="20" name="Rectangle 19"/>
          <p:cNvSpPr/>
          <p:nvPr/>
        </p:nvSpPr>
        <p:spPr>
          <a:xfrm>
            <a:off x="457200" y="5897880"/>
            <a:ext cx="11247120" cy="77724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640080" y="5998464"/>
            <a:ext cx="10789920" cy="594360"/>
          </a:xfrm>
          <a:prstGeom prst="rect">
            <a:avLst/>
          </a:prstGeom>
          <a:noFill/>
        </p:spPr>
        <p:txBody>
          <a:bodyPr wrap="square">
            <a:spAutoFit/>
          </a:bodyPr>
          <a:lstStyle/>
          <a:p>
            <a:pPr algn="ctr"/>
            <a:r>
              <a:rPr sz="1100" b="0">
                <a:solidFill>
                  <a:srgbClr val="FFFFFF"/>
                </a:solidFill>
                <a:latin typeface="Calibri"/>
              </a:rPr>
              <a:t>Decisiones fundacionales: Contrato OpenAPI como restriccion de diseno  |  Modelo territorial polimorfico  |  Dataset fabricado eliminado  |  AGPL-3.0</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DECISIONES TECNOLOGICAS</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4000" b="1">
                <a:solidFill>
                  <a:srgbClr val="FFFFFF"/>
                </a:solidFill>
                <a:latin typeface="Calibri"/>
              </a:rPr>
              <a:t>Por que cada tecnologia</a:t>
            </a:r>
          </a:p>
        </p:txBody>
      </p:sp>
      <p:sp>
        <p:nvSpPr>
          <p:cNvPr id="5" name="Rectangle 4"/>
          <p:cNvSpPr/>
          <p:nvPr/>
        </p:nvSpPr>
        <p:spPr>
          <a:xfrm>
            <a:off x="457200" y="1417320"/>
            <a:ext cx="11247120" cy="9509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90472"/>
            <a:ext cx="3200400" cy="384048"/>
          </a:xfrm>
          <a:prstGeom prst="rect">
            <a:avLst/>
          </a:prstGeom>
          <a:noFill/>
        </p:spPr>
        <p:txBody>
          <a:bodyPr wrap="square">
            <a:spAutoFit/>
          </a:bodyPr>
          <a:lstStyle/>
          <a:p>
            <a:pPr algn="l"/>
            <a:r>
              <a:rPr sz="1300" b="1">
                <a:solidFill>
                  <a:srgbClr val="FFFFFF"/>
                </a:solidFill>
                <a:latin typeface="Calibri"/>
              </a:rPr>
              <a:t>React Native (Expo)</a:t>
            </a:r>
          </a:p>
        </p:txBody>
      </p:sp>
      <p:sp>
        <p:nvSpPr>
          <p:cNvPr id="7" name="TextBox 6"/>
          <p:cNvSpPr txBox="1"/>
          <p:nvPr/>
        </p:nvSpPr>
        <p:spPr>
          <a:xfrm>
            <a:off x="4023360" y="1490472"/>
            <a:ext cx="5029200" cy="384048"/>
          </a:xfrm>
          <a:prstGeom prst="rect">
            <a:avLst/>
          </a:prstGeom>
          <a:noFill/>
        </p:spPr>
        <p:txBody>
          <a:bodyPr wrap="square">
            <a:spAutoFit/>
          </a:bodyPr>
          <a:lstStyle/>
          <a:p>
            <a:pPr algn="l"/>
            <a:r>
              <a:rPr sz="1200" b="0">
                <a:solidFill>
                  <a:srgbClr val="FFFFFF"/>
                </a:solidFill>
                <a:latin typeface="Calibri"/>
              </a:rPr>
              <a:t>Web + iOS + Android en una base de codigo</a:t>
            </a:r>
          </a:p>
        </p:txBody>
      </p:sp>
      <p:sp>
        <p:nvSpPr>
          <p:cNvPr id="8" name="TextBox 7"/>
          <p:cNvSpPr txBox="1"/>
          <p:nvPr/>
        </p:nvSpPr>
        <p:spPr>
          <a:xfrm>
            <a:off x="9144000" y="1490472"/>
            <a:ext cx="2468880" cy="804672"/>
          </a:xfrm>
          <a:prstGeom prst="rect">
            <a:avLst/>
          </a:prstGeom>
          <a:noFill/>
        </p:spPr>
        <p:txBody>
          <a:bodyPr wrap="square">
            <a:spAutoFit/>
          </a:bodyPr>
          <a:lstStyle/>
          <a:p>
            <a:pPr algn="l"/>
            <a:r>
              <a:rPr sz="1000" b="0">
                <a:solidFill>
                  <a:srgbClr val="FFFFFF"/>
                </a:solidFill>
                <a:latin typeface="Calibri"/>
              </a:rPr>
              <a:t>Alt. considerada: Flutter -- ecosistema JS unificado fue la razon</a:t>
            </a:r>
          </a:p>
        </p:txBody>
      </p:sp>
      <p:sp>
        <p:nvSpPr>
          <p:cNvPr id="9" name="Rectangle 8"/>
          <p:cNvSpPr/>
          <p:nvPr/>
        </p:nvSpPr>
        <p:spPr>
          <a:xfrm>
            <a:off x="457200" y="2441448"/>
            <a:ext cx="11247120" cy="950976"/>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2514600"/>
            <a:ext cx="3200400" cy="384048"/>
          </a:xfrm>
          <a:prstGeom prst="rect">
            <a:avLst/>
          </a:prstGeom>
          <a:noFill/>
        </p:spPr>
        <p:txBody>
          <a:bodyPr wrap="square">
            <a:spAutoFit/>
          </a:bodyPr>
          <a:lstStyle/>
          <a:p>
            <a:pPr algn="l"/>
            <a:r>
              <a:rPr sz="1300" b="1">
                <a:solidFill>
                  <a:srgbClr val="FFFFFF"/>
                </a:solidFill>
                <a:latin typeface="Calibri"/>
              </a:rPr>
              <a:t>Django + Python</a:t>
            </a:r>
          </a:p>
        </p:txBody>
      </p:sp>
      <p:sp>
        <p:nvSpPr>
          <p:cNvPr id="11" name="TextBox 10"/>
          <p:cNvSpPr txBox="1"/>
          <p:nvPr/>
        </p:nvSpPr>
        <p:spPr>
          <a:xfrm>
            <a:off x="4023360" y="2514600"/>
            <a:ext cx="5029200" cy="384048"/>
          </a:xfrm>
          <a:prstGeom prst="rect">
            <a:avLst/>
          </a:prstGeom>
          <a:noFill/>
        </p:spPr>
        <p:txBody>
          <a:bodyPr wrap="square">
            <a:spAutoFit/>
          </a:bodyPr>
          <a:lstStyle/>
          <a:p>
            <a:pPr algn="l"/>
            <a:r>
              <a:rPr sz="1200" b="0">
                <a:solidFill>
                  <a:srgbClr val="FFFFFF"/>
                </a:solidFill>
                <a:latin typeface="Calibri"/>
              </a:rPr>
              <a:t>ORM robusto, 42 migraciones sin conflictos</a:t>
            </a:r>
          </a:p>
        </p:txBody>
      </p:sp>
      <p:sp>
        <p:nvSpPr>
          <p:cNvPr id="12" name="TextBox 11"/>
          <p:cNvSpPr txBox="1"/>
          <p:nvPr/>
        </p:nvSpPr>
        <p:spPr>
          <a:xfrm>
            <a:off x="9144000" y="2514600"/>
            <a:ext cx="2468880" cy="804672"/>
          </a:xfrm>
          <a:prstGeom prst="rect">
            <a:avLst/>
          </a:prstGeom>
          <a:noFill/>
        </p:spPr>
        <p:txBody>
          <a:bodyPr wrap="square">
            <a:spAutoFit/>
          </a:bodyPr>
          <a:lstStyle/>
          <a:p>
            <a:pPr algn="l"/>
            <a:r>
              <a:rPr sz="1000" b="0">
                <a:solidFill>
                  <a:srgbClr val="FFFFFF"/>
                </a:solidFill>
                <a:latin typeface="Calibri"/>
              </a:rPr>
              <a:t>Alt. considerada: FastAPI -- menor ecosistema de admin y fixtures</a:t>
            </a:r>
          </a:p>
        </p:txBody>
      </p:sp>
      <p:sp>
        <p:nvSpPr>
          <p:cNvPr id="13" name="Rectangle 12"/>
          <p:cNvSpPr/>
          <p:nvPr/>
        </p:nvSpPr>
        <p:spPr>
          <a:xfrm>
            <a:off x="457200" y="3465576"/>
            <a:ext cx="11247120" cy="950976"/>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3538728"/>
            <a:ext cx="3200400" cy="384048"/>
          </a:xfrm>
          <a:prstGeom prst="rect">
            <a:avLst/>
          </a:prstGeom>
          <a:noFill/>
        </p:spPr>
        <p:txBody>
          <a:bodyPr wrap="square">
            <a:spAutoFit/>
          </a:bodyPr>
          <a:lstStyle/>
          <a:p>
            <a:pPr algn="l"/>
            <a:r>
              <a:rPr sz="1300" b="1">
                <a:solidFill>
                  <a:srgbClr val="FFFFFF"/>
                </a:solidFill>
                <a:latin typeface="Calibri"/>
              </a:rPr>
              <a:t>OpenAPI 3.1</a:t>
            </a:r>
          </a:p>
        </p:txBody>
      </p:sp>
      <p:sp>
        <p:nvSpPr>
          <p:cNvPr id="15" name="TextBox 14"/>
          <p:cNvSpPr txBox="1"/>
          <p:nvPr/>
        </p:nvSpPr>
        <p:spPr>
          <a:xfrm>
            <a:off x="4023360" y="3538728"/>
            <a:ext cx="5029200" cy="384048"/>
          </a:xfrm>
          <a:prstGeom prst="rect">
            <a:avLst/>
          </a:prstGeom>
          <a:noFill/>
        </p:spPr>
        <p:txBody>
          <a:bodyPr wrap="square">
            <a:spAutoFit/>
          </a:bodyPr>
          <a:lstStyle/>
          <a:p>
            <a:pPr algn="l"/>
            <a:r>
              <a:rPr sz="1200" b="0">
                <a:solidFill>
                  <a:srgbClr val="FFFFFF"/>
                </a:solidFill>
                <a:latin typeface="Calibri"/>
              </a:rPr>
              <a:t>Schema auto-generado, tipos TS desde el schema</a:t>
            </a:r>
          </a:p>
        </p:txBody>
      </p:sp>
      <p:sp>
        <p:nvSpPr>
          <p:cNvPr id="16" name="TextBox 15"/>
          <p:cNvSpPr txBox="1"/>
          <p:nvPr/>
        </p:nvSpPr>
        <p:spPr>
          <a:xfrm>
            <a:off x="9144000" y="3538728"/>
            <a:ext cx="2468880" cy="804672"/>
          </a:xfrm>
          <a:prstGeom prst="rect">
            <a:avLst/>
          </a:prstGeom>
          <a:noFill/>
        </p:spPr>
        <p:txBody>
          <a:bodyPr wrap="square">
            <a:spAutoFit/>
          </a:bodyPr>
          <a:lstStyle/>
          <a:p>
            <a:pPr algn="l"/>
            <a:r>
              <a:rPr sz="1000" b="0">
                <a:solidFill>
                  <a:srgbClr val="FFFFFF"/>
                </a:solidFill>
                <a:latin typeface="Calibri"/>
              </a:rPr>
              <a:t>Alt. considerada: Swagger manual -- genera desincronizacion</a:t>
            </a:r>
          </a:p>
        </p:txBody>
      </p:sp>
      <p:sp>
        <p:nvSpPr>
          <p:cNvPr id="17" name="Rectangle 16"/>
          <p:cNvSpPr/>
          <p:nvPr/>
        </p:nvSpPr>
        <p:spPr>
          <a:xfrm>
            <a:off x="457200" y="4489704"/>
            <a:ext cx="11247120" cy="950976"/>
          </a:xfrm>
          <a:prstGeom prst="rect">
            <a:avLst/>
          </a:prstGeom>
          <a:solidFill>
            <a:srgbClr val="6B9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562856"/>
            <a:ext cx="3200400" cy="384048"/>
          </a:xfrm>
          <a:prstGeom prst="rect">
            <a:avLst/>
          </a:prstGeom>
          <a:noFill/>
        </p:spPr>
        <p:txBody>
          <a:bodyPr wrap="square">
            <a:spAutoFit/>
          </a:bodyPr>
          <a:lstStyle/>
          <a:p>
            <a:pPr algn="l"/>
            <a:r>
              <a:rPr sz="1300" b="1">
                <a:solidFill>
                  <a:srgbClr val="FFFFFF"/>
                </a:solidFill>
                <a:latin typeface="Calibri"/>
              </a:rPr>
              <a:t>SQLite / PostgreSQL</a:t>
            </a:r>
          </a:p>
        </p:txBody>
      </p:sp>
      <p:sp>
        <p:nvSpPr>
          <p:cNvPr id="19" name="TextBox 18"/>
          <p:cNvSpPr txBox="1"/>
          <p:nvPr/>
        </p:nvSpPr>
        <p:spPr>
          <a:xfrm>
            <a:off x="4023360" y="4562856"/>
            <a:ext cx="5029200" cy="384048"/>
          </a:xfrm>
          <a:prstGeom prst="rect">
            <a:avLst/>
          </a:prstGeom>
          <a:noFill/>
        </p:spPr>
        <p:txBody>
          <a:bodyPr wrap="square">
            <a:spAutoFit/>
          </a:bodyPr>
          <a:lstStyle/>
          <a:p>
            <a:pPr algn="l"/>
            <a:r>
              <a:rPr sz="1200" b="0">
                <a:solidFill>
                  <a:srgbClr val="FFFFFF"/>
                </a:solidFill>
                <a:latin typeface="Calibri"/>
              </a:rPr>
              <a:t>SQLite en desarrollo: cero dependencias de infra</a:t>
            </a:r>
          </a:p>
        </p:txBody>
      </p:sp>
      <p:sp>
        <p:nvSpPr>
          <p:cNvPr id="20" name="TextBox 19"/>
          <p:cNvSpPr txBox="1"/>
          <p:nvPr/>
        </p:nvSpPr>
        <p:spPr>
          <a:xfrm>
            <a:off x="9144000" y="4562856"/>
            <a:ext cx="2468880" cy="804672"/>
          </a:xfrm>
          <a:prstGeom prst="rect">
            <a:avLst/>
          </a:prstGeom>
          <a:noFill/>
        </p:spPr>
        <p:txBody>
          <a:bodyPr wrap="square">
            <a:spAutoFit/>
          </a:bodyPr>
          <a:lstStyle/>
          <a:p>
            <a:pPr algn="l"/>
            <a:r>
              <a:rPr sz="1000" b="0">
                <a:solidFill>
                  <a:srgbClr val="FFFFFF"/>
                </a:solidFill>
                <a:latin typeface="Calibri"/>
              </a:rPr>
              <a:t>Alt. considerada: PostgreSQL directo -- innecesario para MVP</a:t>
            </a:r>
          </a:p>
        </p:txBody>
      </p:sp>
      <p:sp>
        <p:nvSpPr>
          <p:cNvPr id="21" name="Rectangle 20"/>
          <p:cNvSpPr/>
          <p:nvPr/>
        </p:nvSpPr>
        <p:spPr>
          <a:xfrm>
            <a:off x="457200" y="5513832"/>
            <a:ext cx="11247120" cy="950976"/>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586984"/>
            <a:ext cx="3200400" cy="384048"/>
          </a:xfrm>
          <a:prstGeom prst="rect">
            <a:avLst/>
          </a:prstGeom>
          <a:noFill/>
        </p:spPr>
        <p:txBody>
          <a:bodyPr wrap="square">
            <a:spAutoFit/>
          </a:bodyPr>
          <a:lstStyle/>
          <a:p>
            <a:pPr algn="l"/>
            <a:r>
              <a:rPr sz="1300" b="1">
                <a:solidFill>
                  <a:srgbClr val="FFFFFF"/>
                </a:solidFill>
                <a:latin typeface="Calibri"/>
              </a:rPr>
              <a:t>AGPL-3.0</a:t>
            </a:r>
          </a:p>
        </p:txBody>
      </p:sp>
      <p:sp>
        <p:nvSpPr>
          <p:cNvPr id="23" name="TextBox 22"/>
          <p:cNvSpPr txBox="1"/>
          <p:nvPr/>
        </p:nvSpPr>
        <p:spPr>
          <a:xfrm>
            <a:off x="4023360" y="5586984"/>
            <a:ext cx="5029200" cy="384048"/>
          </a:xfrm>
          <a:prstGeom prst="rect">
            <a:avLst/>
          </a:prstGeom>
          <a:noFill/>
        </p:spPr>
        <p:txBody>
          <a:bodyPr wrap="square">
            <a:spAutoFit/>
          </a:bodyPr>
          <a:lstStyle/>
          <a:p>
            <a:pPr algn="l"/>
            <a:r>
              <a:rPr sz="1200" b="0">
                <a:solidFill>
                  <a:srgbClr val="FFFFFF"/>
                </a:solidFill>
                <a:latin typeface="Calibri"/>
              </a:rPr>
              <a:t>Tecnologia electoral = infraestructura publica</a:t>
            </a:r>
          </a:p>
        </p:txBody>
      </p:sp>
      <p:sp>
        <p:nvSpPr>
          <p:cNvPr id="24" name="TextBox 23"/>
          <p:cNvSpPr txBox="1"/>
          <p:nvPr/>
        </p:nvSpPr>
        <p:spPr>
          <a:xfrm>
            <a:off x="9144000" y="5586984"/>
            <a:ext cx="2468880" cy="804672"/>
          </a:xfrm>
          <a:prstGeom prst="rect">
            <a:avLst/>
          </a:prstGeom>
          <a:noFill/>
        </p:spPr>
        <p:txBody>
          <a:bodyPr wrap="square">
            <a:spAutoFit/>
          </a:bodyPr>
          <a:lstStyle/>
          <a:p>
            <a:pPr algn="l"/>
            <a:r>
              <a:rPr sz="1000" b="0">
                <a:solidFill>
                  <a:srgbClr val="FFFFFF"/>
                </a:solidFill>
                <a:latin typeface="Calibri"/>
              </a:rPr>
              <a:t>Alt. considerada: MIT/Apache -- no requieren compartir cambios</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EL DESAFIO MAS IMPORTANTE</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3800" b="1">
                <a:solidFill>
                  <a:srgbClr val="1C3A52"/>
                </a:solidFill>
                <a:latin typeface="Calibri"/>
              </a:rPr>
              <a:t>La obtencion de datos verificados</a:t>
            </a:r>
          </a:p>
        </p:txBody>
      </p:sp>
      <p:sp>
        <p:nvSpPr>
          <p:cNvPr id="5" name="Rectangle 4"/>
          <p:cNvSpPr/>
          <p:nvPr/>
        </p:nvSpPr>
        <p:spPr>
          <a:xfrm>
            <a:off x="457200" y="1298448"/>
            <a:ext cx="11247120" cy="141732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17320"/>
            <a:ext cx="10698480" cy="1170432"/>
          </a:xfrm>
          <a:prstGeom prst="rect">
            <a:avLst/>
          </a:prstGeom>
          <a:noFill/>
        </p:spPr>
        <p:txBody>
          <a:bodyPr wrap="square">
            <a:spAutoFit/>
          </a:bodyPr>
          <a:lstStyle/>
          <a:p>
            <a:pPr algn="l"/>
            <a:r>
              <a:rPr sz="1400" b="0">
                <a:solidFill>
                  <a:srgbClr val="FFFFFF"/>
                </a:solidFill>
                <a:latin typeface="Calibri"/>
              </a:rPr>
              <a:t>Las posiciones de los candidatos chilenos no estan sistematizadas en ninguna base de datos abierta. Cada postura requiere consultar fuentes primarias dispersas: declaraciones de prensa, votaciones del Congreso, programas de campana, compromisos en debates.</a:t>
            </a:r>
          </a:p>
        </p:txBody>
      </p:sp>
      <p:sp>
        <p:nvSpPr>
          <p:cNvPr id="7" name="Rectangle 6"/>
          <p:cNvSpPr/>
          <p:nvPr/>
        </p:nvSpPr>
        <p:spPr>
          <a:xfrm>
            <a:off x="457200" y="2907792"/>
            <a:ext cx="5577840" cy="1755648"/>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3044952"/>
            <a:ext cx="5212080" cy="384048"/>
          </a:xfrm>
          <a:prstGeom prst="rect">
            <a:avLst/>
          </a:prstGeom>
          <a:noFill/>
        </p:spPr>
        <p:txBody>
          <a:bodyPr wrap="square">
            <a:spAutoFit/>
          </a:bodyPr>
          <a:lstStyle/>
          <a:p>
            <a:pPr algn="l"/>
            <a:r>
              <a:rPr sz="1100" b="1">
                <a:solidFill>
                  <a:srgbClr val="FFFFFF"/>
                </a:solidFill>
                <a:latin typeface="Calibri"/>
              </a:rPr>
              <a:t>DECLARACIONES DE PRENSA</a:t>
            </a:r>
          </a:p>
        </p:txBody>
      </p:sp>
      <p:sp>
        <p:nvSpPr>
          <p:cNvPr id="9" name="Rectangle 8"/>
          <p:cNvSpPr/>
          <p:nvPr/>
        </p:nvSpPr>
        <p:spPr>
          <a:xfrm>
            <a:off x="640080" y="3456432"/>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3566160"/>
            <a:ext cx="5212080" cy="987552"/>
          </a:xfrm>
          <a:prstGeom prst="rect">
            <a:avLst/>
          </a:prstGeom>
          <a:noFill/>
        </p:spPr>
        <p:txBody>
          <a:bodyPr wrap="square">
            <a:spAutoFit/>
          </a:bodyPr>
          <a:lstStyle/>
          <a:p>
            <a:pPr algn="l"/>
            <a:r>
              <a:rPr sz="1200" b="0">
                <a:solidFill>
                  <a:srgbClr val="FFFFFF"/>
                </a:solidFill>
                <a:latin typeface="Calibri"/>
              </a:rPr>
              <a:t>Entrevistas, columnas, declaraciones publicas.
Verificacion: fecha + medio + URL permanente.</a:t>
            </a:r>
          </a:p>
        </p:txBody>
      </p:sp>
      <p:sp>
        <p:nvSpPr>
          <p:cNvPr id="11" name="Rectangle 10"/>
          <p:cNvSpPr/>
          <p:nvPr/>
        </p:nvSpPr>
        <p:spPr>
          <a:xfrm>
            <a:off x="6309360" y="2907792"/>
            <a:ext cx="5577840" cy="175564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3044952"/>
            <a:ext cx="5212080" cy="384048"/>
          </a:xfrm>
          <a:prstGeom prst="rect">
            <a:avLst/>
          </a:prstGeom>
          <a:noFill/>
        </p:spPr>
        <p:txBody>
          <a:bodyPr wrap="square">
            <a:spAutoFit/>
          </a:bodyPr>
          <a:lstStyle/>
          <a:p>
            <a:pPr algn="l"/>
            <a:r>
              <a:rPr sz="1100" b="1">
                <a:solidFill>
                  <a:srgbClr val="FFFFFF"/>
                </a:solidFill>
                <a:latin typeface="Calibri"/>
              </a:rPr>
              <a:t>REGISTRO DEL CONGRESO</a:t>
            </a:r>
          </a:p>
        </p:txBody>
      </p:sp>
      <p:sp>
        <p:nvSpPr>
          <p:cNvPr id="13" name="Rectangle 12"/>
          <p:cNvSpPr/>
          <p:nvPr/>
        </p:nvSpPr>
        <p:spPr>
          <a:xfrm>
            <a:off x="6492240" y="3456432"/>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92240" y="3566160"/>
            <a:ext cx="5212080" cy="987552"/>
          </a:xfrm>
          <a:prstGeom prst="rect">
            <a:avLst/>
          </a:prstGeom>
          <a:noFill/>
        </p:spPr>
        <p:txBody>
          <a:bodyPr wrap="square">
            <a:spAutoFit/>
          </a:bodyPr>
          <a:lstStyle/>
          <a:p>
            <a:pPr algn="l"/>
            <a:r>
              <a:rPr sz="1200" b="0">
                <a:solidFill>
                  <a:srgbClr val="FFFFFF"/>
                </a:solidFill>
                <a:latin typeface="Calibri"/>
              </a:rPr>
              <a:t>Votaciones en sala verificables en el portal oficial.
La fuente mas objetiva -- el voto es publico.</a:t>
            </a:r>
          </a:p>
        </p:txBody>
      </p:sp>
      <p:sp>
        <p:nvSpPr>
          <p:cNvPr id="15" name="Rectangle 14"/>
          <p:cNvSpPr/>
          <p:nvPr/>
        </p:nvSpPr>
        <p:spPr>
          <a:xfrm>
            <a:off x="457200" y="4828032"/>
            <a:ext cx="5577840" cy="1755648"/>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965192"/>
            <a:ext cx="5212080" cy="384048"/>
          </a:xfrm>
          <a:prstGeom prst="rect">
            <a:avLst/>
          </a:prstGeom>
          <a:noFill/>
        </p:spPr>
        <p:txBody>
          <a:bodyPr wrap="square">
            <a:spAutoFit/>
          </a:bodyPr>
          <a:lstStyle/>
          <a:p>
            <a:pPr algn="l"/>
            <a:r>
              <a:rPr sz="1100" b="1">
                <a:solidFill>
                  <a:srgbClr val="FFFFFF"/>
                </a:solidFill>
                <a:latin typeface="Calibri"/>
              </a:rPr>
              <a:t>PLATAFORMAS DE CAMPANA</a:t>
            </a:r>
          </a:p>
        </p:txBody>
      </p:sp>
      <p:sp>
        <p:nvSpPr>
          <p:cNvPr id="17" name="Rectangle 16"/>
          <p:cNvSpPr/>
          <p:nvPr/>
        </p:nvSpPr>
        <p:spPr>
          <a:xfrm>
            <a:off x="640080" y="5376672"/>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486400"/>
            <a:ext cx="5212080" cy="987552"/>
          </a:xfrm>
          <a:prstGeom prst="rect">
            <a:avLst/>
          </a:prstGeom>
          <a:noFill/>
        </p:spPr>
        <p:txBody>
          <a:bodyPr wrap="square">
            <a:spAutoFit/>
          </a:bodyPr>
          <a:lstStyle/>
          <a:p>
            <a:pPr algn="l"/>
            <a:r>
              <a:rPr sz="1200" b="0">
                <a:solidFill>
                  <a:srgbClr val="FFFFFF"/>
                </a:solidFill>
                <a:latin typeface="Calibri"/>
              </a:rPr>
              <a:t>Programas publicados en sitios oficiales.
Riesgo: pueden ser removidos despues de la eleccion.</a:t>
            </a:r>
          </a:p>
        </p:txBody>
      </p:sp>
      <p:sp>
        <p:nvSpPr>
          <p:cNvPr id="19" name="Rectangle 18"/>
          <p:cNvSpPr/>
          <p:nvPr/>
        </p:nvSpPr>
        <p:spPr>
          <a:xfrm>
            <a:off x="6309360" y="4828032"/>
            <a:ext cx="5577840" cy="175564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4965192"/>
            <a:ext cx="5212080" cy="384048"/>
          </a:xfrm>
          <a:prstGeom prst="rect">
            <a:avLst/>
          </a:prstGeom>
          <a:noFill/>
        </p:spPr>
        <p:txBody>
          <a:bodyPr wrap="square">
            <a:spAutoFit/>
          </a:bodyPr>
          <a:lstStyle/>
          <a:p>
            <a:pPr algn="l"/>
            <a:r>
              <a:rPr sz="1100" b="1">
                <a:solidFill>
                  <a:srgbClr val="FFFFFF"/>
                </a:solidFill>
                <a:latin typeface="Calibri"/>
              </a:rPr>
              <a:t>DEBATES Y FOROS</a:t>
            </a:r>
          </a:p>
        </p:txBody>
      </p:sp>
      <p:sp>
        <p:nvSpPr>
          <p:cNvPr id="21" name="Rectangle 20"/>
          <p:cNvSpPr/>
          <p:nvPr/>
        </p:nvSpPr>
        <p:spPr>
          <a:xfrm>
            <a:off x="6492240" y="5376672"/>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92240" y="5486400"/>
            <a:ext cx="5212080" cy="987552"/>
          </a:xfrm>
          <a:prstGeom prst="rect">
            <a:avLst/>
          </a:prstGeom>
          <a:noFill/>
        </p:spPr>
        <p:txBody>
          <a:bodyPr wrap="square">
            <a:spAutoFit/>
          </a:bodyPr>
          <a:lstStyle/>
          <a:p>
            <a:pPr algn="l"/>
            <a:r>
              <a:rPr sz="1200" b="0">
                <a:solidFill>
                  <a:srgbClr val="FFFFFF"/>
                </a:solidFill>
                <a:latin typeface="Calibri"/>
              </a:rPr>
              <a:t>Posiciones declaradas en contexto de presion.
Riesgo: pueden contradecir posturas escritas.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EL DESAFIO DE LA NEUTRALIDAD</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3800" b="1">
                <a:solidFill>
                  <a:srgbClr val="FFFFFF"/>
                </a:solidFill>
                <a:latin typeface="Calibri"/>
              </a:rPr>
              <a:t>Disenar preguntas genuinamente neutrales</a:t>
            </a:r>
          </a:p>
        </p:txBody>
      </p:sp>
      <p:sp>
        <p:nvSpPr>
          <p:cNvPr id="5" name="TextBox 4"/>
          <p:cNvSpPr txBox="1"/>
          <p:nvPr/>
        </p:nvSpPr>
        <p:spPr>
          <a:xfrm>
            <a:off x="548640" y="1143000"/>
            <a:ext cx="10972800" cy="384048"/>
          </a:xfrm>
          <a:prstGeom prst="rect">
            <a:avLst/>
          </a:prstGeom>
          <a:noFill/>
        </p:spPr>
        <p:txBody>
          <a:bodyPr wrap="square">
            <a:spAutoFit/>
          </a:bodyPr>
          <a:lstStyle/>
          <a:p>
            <a:pPr algn="l"/>
            <a:r>
              <a:rPr sz="1700" b="0">
                <a:solidFill>
                  <a:srgbClr val="CBD1CD"/>
                </a:solidFill>
                <a:latin typeface="Calibri"/>
              </a:rPr>
              <a:t>El lenguaje mismo es un campo politico.</a:t>
            </a:r>
          </a:p>
        </p:txBody>
      </p:sp>
      <p:sp>
        <p:nvSpPr>
          <p:cNvPr id="6" name="Rectangle 5"/>
          <p:cNvSpPr/>
          <p:nvPr/>
        </p:nvSpPr>
        <p:spPr>
          <a:xfrm>
            <a:off x="457200" y="1691640"/>
            <a:ext cx="3657600" cy="3127248"/>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40080" y="1810512"/>
            <a:ext cx="3291840" cy="384048"/>
          </a:xfrm>
          <a:prstGeom prst="rect">
            <a:avLst/>
          </a:prstGeom>
          <a:noFill/>
        </p:spPr>
        <p:txBody>
          <a:bodyPr wrap="square">
            <a:spAutoFit/>
          </a:bodyPr>
          <a:lstStyle/>
          <a:p>
            <a:pPr algn="l"/>
            <a:r>
              <a:rPr sz="1200" b="1">
                <a:solidFill>
                  <a:srgbClr val="FFFFFF"/>
                </a:solidFill>
                <a:latin typeface="Calibri"/>
              </a:rPr>
              <a:t>FORMULACION SESGADA</a:t>
            </a:r>
          </a:p>
        </p:txBody>
      </p:sp>
      <p:sp>
        <p:nvSpPr>
          <p:cNvPr id="8" name="Rectangle 7"/>
          <p:cNvSpPr/>
          <p:nvPr/>
        </p:nvSpPr>
        <p:spPr>
          <a:xfrm>
            <a:off x="640080" y="2231136"/>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340864"/>
            <a:ext cx="3291840" cy="2331720"/>
          </a:xfrm>
          <a:prstGeom prst="rect">
            <a:avLst/>
          </a:prstGeom>
          <a:noFill/>
        </p:spPr>
        <p:txBody>
          <a:bodyPr wrap="square">
            <a:spAutoFit/>
          </a:bodyPr>
          <a:lstStyle/>
          <a:p>
            <a:pPr algn="l"/>
            <a:r>
              <a:rPr sz="1300" b="0">
                <a:solidFill>
                  <a:srgbClr val="FFFFFF"/>
                </a:solidFill>
                <a:latin typeface="Calibri"/>
              </a:rPr>
              <a:t>La eleccion de terminos puede favorecer
o desfavorecer una posicion ideologica.
'Aumento de impuestos' vs 'Mayor contribucion tributaria'.</a:t>
            </a:r>
          </a:p>
        </p:txBody>
      </p:sp>
      <p:sp>
        <p:nvSpPr>
          <p:cNvPr id="10" name="Rectangle 9"/>
          <p:cNvSpPr/>
          <p:nvPr/>
        </p:nvSpPr>
        <p:spPr>
          <a:xfrm>
            <a:off x="4343400" y="1691640"/>
            <a:ext cx="3657600" cy="3127248"/>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526280" y="1810512"/>
            <a:ext cx="3291840" cy="384048"/>
          </a:xfrm>
          <a:prstGeom prst="rect">
            <a:avLst/>
          </a:prstGeom>
          <a:noFill/>
        </p:spPr>
        <p:txBody>
          <a:bodyPr wrap="square">
            <a:spAutoFit/>
          </a:bodyPr>
          <a:lstStyle/>
          <a:p>
            <a:pPr algn="l"/>
            <a:r>
              <a:rPr sz="1200" b="1">
                <a:solidFill>
                  <a:srgbClr val="FFFFFF"/>
                </a:solidFill>
                <a:latin typeface="Calibri"/>
              </a:rPr>
              <a:t>ENCUADRE DEL DEBATE</a:t>
            </a:r>
          </a:p>
        </p:txBody>
      </p:sp>
      <p:sp>
        <p:nvSpPr>
          <p:cNvPr id="12" name="Rectangle 11"/>
          <p:cNvSpPr/>
          <p:nvPr/>
        </p:nvSpPr>
        <p:spPr>
          <a:xfrm>
            <a:off x="4526280" y="2231136"/>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526280" y="2340864"/>
            <a:ext cx="3291840" cy="2331720"/>
          </a:xfrm>
          <a:prstGeom prst="rect">
            <a:avLst/>
          </a:prstGeom>
          <a:noFill/>
        </p:spPr>
        <p:txBody>
          <a:bodyPr wrap="square">
            <a:spAutoFit/>
          </a:bodyPr>
          <a:lstStyle/>
          <a:p>
            <a:pPr algn="l"/>
            <a:r>
              <a:rPr sz="1300" b="0">
                <a:solidFill>
                  <a:srgbClr val="FFFFFF"/>
                </a:solidFill>
                <a:latin typeface="Calibri"/>
              </a:rPr>
              <a:t>El orden de las opciones de respuesta
influye en las respuestas obtenidas.
El criterio: siempre en orden de acuerdo a desacuerdo.</a:t>
            </a:r>
          </a:p>
        </p:txBody>
      </p:sp>
      <p:sp>
        <p:nvSpPr>
          <p:cNvPr id="14" name="Rectangle 13"/>
          <p:cNvSpPr/>
          <p:nvPr/>
        </p:nvSpPr>
        <p:spPr>
          <a:xfrm>
            <a:off x="8229600" y="1691640"/>
            <a:ext cx="3657600" cy="312724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412480" y="1810512"/>
            <a:ext cx="3291840" cy="384048"/>
          </a:xfrm>
          <a:prstGeom prst="rect">
            <a:avLst/>
          </a:prstGeom>
          <a:noFill/>
        </p:spPr>
        <p:txBody>
          <a:bodyPr wrap="square">
            <a:spAutoFit/>
          </a:bodyPr>
          <a:lstStyle/>
          <a:p>
            <a:pPr algn="l"/>
            <a:r>
              <a:rPr sz="1200" b="1">
                <a:solidFill>
                  <a:srgbClr val="FFFFFF"/>
                </a:solidFill>
                <a:latin typeface="Calibri"/>
              </a:rPr>
              <a:t>AMBIGUEDAD CONCEPTUAL</a:t>
            </a:r>
          </a:p>
        </p:txBody>
      </p:sp>
      <p:sp>
        <p:nvSpPr>
          <p:cNvPr id="16" name="Rectangle 15"/>
          <p:cNvSpPr/>
          <p:nvPr/>
        </p:nvSpPr>
        <p:spPr>
          <a:xfrm>
            <a:off x="8412480" y="2231136"/>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412480" y="2340864"/>
            <a:ext cx="3291840" cy="2331720"/>
          </a:xfrm>
          <a:prstGeom prst="rect">
            <a:avLst/>
          </a:prstGeom>
          <a:noFill/>
        </p:spPr>
        <p:txBody>
          <a:bodyPr wrap="square">
            <a:spAutoFit/>
          </a:bodyPr>
          <a:lstStyle/>
          <a:p>
            <a:pPr algn="l"/>
            <a:r>
              <a:rPr sz="1300" b="0">
                <a:solidFill>
                  <a:srgbClr val="FFFFFF"/>
                </a:solidFill>
                <a:latin typeface="Calibri"/>
              </a:rPr>
              <a:t>Temas complejos tienen multiples dimensiones.
'Mas seguridad' puede significar mas policia
o mas prevencion social.</a:t>
            </a:r>
          </a:p>
        </p:txBody>
      </p:sp>
      <p:sp>
        <p:nvSpPr>
          <p:cNvPr id="18" name="Rectangle 17"/>
          <p:cNvSpPr/>
          <p:nvPr/>
        </p:nvSpPr>
        <p:spPr>
          <a:xfrm>
            <a:off x="457200" y="4956048"/>
            <a:ext cx="11247120" cy="1572768"/>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074920"/>
            <a:ext cx="3657600" cy="347472"/>
          </a:xfrm>
          <a:prstGeom prst="rect">
            <a:avLst/>
          </a:prstGeom>
          <a:noFill/>
        </p:spPr>
        <p:txBody>
          <a:bodyPr wrap="square">
            <a:spAutoFit/>
          </a:bodyPr>
          <a:lstStyle/>
          <a:p>
            <a:pPr algn="l"/>
            <a:r>
              <a:rPr sz="1100" b="1">
                <a:solidFill>
                  <a:srgbClr val="1C3A52"/>
                </a:solidFill>
                <a:latin typeface="Calibri"/>
              </a:rPr>
              <a:t>SOLUCION ADOPTADA EN EL MVP</a:t>
            </a:r>
          </a:p>
        </p:txBody>
      </p:sp>
      <p:sp>
        <p:nvSpPr>
          <p:cNvPr id="20" name="TextBox 19"/>
          <p:cNvSpPr txBox="1"/>
          <p:nvPr/>
        </p:nvSpPr>
        <p:spPr>
          <a:xfrm>
            <a:off x="640080" y="5440680"/>
            <a:ext cx="10698480" cy="987552"/>
          </a:xfrm>
          <a:prstGeom prst="rect">
            <a:avLst/>
          </a:prstGeom>
          <a:noFill/>
        </p:spPr>
        <p:txBody>
          <a:bodyPr wrap="square">
            <a:spAutoFit/>
          </a:bodyPr>
          <a:lstStyle/>
          <a:p>
            <a:pPr algn="l"/>
            <a:r>
              <a:rPr sz="1300" b="0">
                <a:solidFill>
                  <a:srgbClr val="1C3A52"/>
                </a:solidFill>
                <a:latin typeface="Calibri"/>
              </a:rPr>
              <a:t>Revision para eliminar sesgos evidentes de formulacion.
Redaccion en lenguaje positivo -- afirmando posiciones, no negandolas.
Contenido educativo con argumentos de multiples perspectivas.
Aviso al usuario: 'en revision con especialistas'.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COMO SE VALIDO EL SISTEMA</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4000" b="1">
                <a:solidFill>
                  <a:srgbClr val="1C3A52"/>
                </a:solidFill>
                <a:latin typeface="Calibri"/>
              </a:rPr>
              <a:t>Multiples capas de verificacion</a:t>
            </a:r>
          </a:p>
        </p:txBody>
      </p:sp>
      <p:sp>
        <p:nvSpPr>
          <p:cNvPr id="5" name="Rectangle 4"/>
          <p:cNvSpPr/>
          <p:nvPr/>
        </p:nvSpPr>
        <p:spPr>
          <a:xfrm>
            <a:off x="457200" y="1371600"/>
            <a:ext cx="11247120" cy="950976"/>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44752"/>
            <a:ext cx="3200400" cy="384048"/>
          </a:xfrm>
          <a:prstGeom prst="rect">
            <a:avLst/>
          </a:prstGeom>
          <a:noFill/>
        </p:spPr>
        <p:txBody>
          <a:bodyPr wrap="square">
            <a:spAutoFit/>
          </a:bodyPr>
          <a:lstStyle/>
          <a:p>
            <a:pPr algn="l"/>
            <a:r>
              <a:rPr sz="1300" b="1">
                <a:solidFill>
                  <a:srgbClr val="FFFFFF"/>
                </a:solidFill>
                <a:latin typeface="Calibri"/>
              </a:rPr>
              <a:t>FUNCIONAL E2E</a:t>
            </a:r>
          </a:p>
        </p:txBody>
      </p:sp>
      <p:sp>
        <p:nvSpPr>
          <p:cNvPr id="7" name="TextBox 6"/>
          <p:cNvSpPr txBox="1"/>
          <p:nvPr/>
        </p:nvSpPr>
        <p:spPr>
          <a:xfrm>
            <a:off x="4023360" y="1444752"/>
            <a:ext cx="7498079" cy="804672"/>
          </a:xfrm>
          <a:prstGeom prst="rect">
            <a:avLst/>
          </a:prstGeom>
          <a:noFill/>
        </p:spPr>
        <p:txBody>
          <a:bodyPr wrap="square">
            <a:spAutoFit/>
          </a:bodyPr>
          <a:lstStyle/>
          <a:p>
            <a:pPr algn="l"/>
            <a:r>
              <a:rPr sz="1200" b="0">
                <a:solidFill>
                  <a:srgbClr val="FFFFFF"/>
                </a:solidFill>
                <a:latin typeface="Calibri"/>
              </a:rPr>
              <a:t>Flujo completo verificado en cada sprint:
Registro -&gt; Cuestionario -&gt; Matching -&gt; Resultados.
Sin errores al final de cada iteracion.</a:t>
            </a:r>
          </a:p>
        </p:txBody>
      </p:sp>
      <p:sp>
        <p:nvSpPr>
          <p:cNvPr id="8" name="Rectangle 7"/>
          <p:cNvSpPr/>
          <p:nvPr/>
        </p:nvSpPr>
        <p:spPr>
          <a:xfrm>
            <a:off x="457200" y="2395728"/>
            <a:ext cx="11247120" cy="9509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2468880"/>
            <a:ext cx="3200400" cy="384048"/>
          </a:xfrm>
          <a:prstGeom prst="rect">
            <a:avLst/>
          </a:prstGeom>
          <a:noFill/>
        </p:spPr>
        <p:txBody>
          <a:bodyPr wrap="square">
            <a:spAutoFit/>
          </a:bodyPr>
          <a:lstStyle/>
          <a:p>
            <a:pPr algn="l"/>
            <a:r>
              <a:rPr sz="1300" b="1">
                <a:solidFill>
                  <a:srgbClr val="FFFFFF"/>
                </a:solidFill>
                <a:latin typeface="Calibri"/>
              </a:rPr>
              <a:t>CONTRATO DE API</a:t>
            </a:r>
          </a:p>
        </p:txBody>
      </p:sp>
      <p:sp>
        <p:nvSpPr>
          <p:cNvPr id="10" name="TextBox 9"/>
          <p:cNvSpPr txBox="1"/>
          <p:nvPr/>
        </p:nvSpPr>
        <p:spPr>
          <a:xfrm>
            <a:off x="4023360" y="2468880"/>
            <a:ext cx="7498079" cy="804672"/>
          </a:xfrm>
          <a:prstGeom prst="rect">
            <a:avLst/>
          </a:prstGeom>
          <a:noFill/>
        </p:spPr>
        <p:txBody>
          <a:bodyPr wrap="square">
            <a:spAutoFit/>
          </a:bodyPr>
          <a:lstStyle/>
          <a:p>
            <a:pPr algn="l"/>
            <a:r>
              <a:rPr sz="1200" b="0">
                <a:solidFill>
                  <a:srgbClr val="FFFFFF"/>
                </a:solidFill>
                <a:latin typeface="Calibri"/>
              </a:rPr>
              <a:t>Schema OpenAPI generado automaticamente.
Tipos TypeScript derivados del schema.
Incompatibilidades = errores de compilacion.</a:t>
            </a:r>
          </a:p>
        </p:txBody>
      </p:sp>
      <p:sp>
        <p:nvSpPr>
          <p:cNvPr id="11" name="Rectangle 10"/>
          <p:cNvSpPr/>
          <p:nvPr/>
        </p:nvSpPr>
        <p:spPr>
          <a:xfrm>
            <a:off x="457200" y="3419856"/>
            <a:ext cx="11247120" cy="950976"/>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3493008"/>
            <a:ext cx="3200400" cy="384048"/>
          </a:xfrm>
          <a:prstGeom prst="rect">
            <a:avLst/>
          </a:prstGeom>
          <a:noFill/>
        </p:spPr>
        <p:txBody>
          <a:bodyPr wrap="square">
            <a:spAutoFit/>
          </a:bodyPr>
          <a:lstStyle/>
          <a:p>
            <a:pPr algn="l"/>
            <a:r>
              <a:rPr sz="1300" b="1">
                <a:solidFill>
                  <a:srgbClr val="FFFFFF"/>
                </a:solidFill>
                <a:latin typeface="Calibri"/>
              </a:rPr>
              <a:t>TESTS AUTOMATIZADOS</a:t>
            </a:r>
          </a:p>
        </p:txBody>
      </p:sp>
      <p:sp>
        <p:nvSpPr>
          <p:cNvPr id="13" name="TextBox 12"/>
          <p:cNvSpPr txBox="1"/>
          <p:nvPr/>
        </p:nvSpPr>
        <p:spPr>
          <a:xfrm>
            <a:off x="4023360" y="3493008"/>
            <a:ext cx="7498079" cy="804672"/>
          </a:xfrm>
          <a:prstGeom prst="rect">
            <a:avLst/>
          </a:prstGeom>
          <a:noFill/>
        </p:spPr>
        <p:txBody>
          <a:bodyPr wrap="square">
            <a:spAutoFit/>
          </a:bodyPr>
          <a:lstStyle/>
          <a:p>
            <a:pPr algn="l"/>
            <a:r>
              <a:rPr sz="1200" b="0">
                <a:solidFill>
                  <a:srgbClr val="FFFFFF"/>
                </a:solidFill>
                <a:latin typeface="Calibri"/>
              </a:rPr>
              <a:t>370 tests en 30 archivos.
Servicios de negocio + endpoints REST.
Tests unitarios 30x mas rapidos que de integracion.</a:t>
            </a:r>
          </a:p>
        </p:txBody>
      </p:sp>
      <p:sp>
        <p:nvSpPr>
          <p:cNvPr id="14" name="Rectangle 13"/>
          <p:cNvSpPr/>
          <p:nvPr/>
        </p:nvSpPr>
        <p:spPr>
          <a:xfrm>
            <a:off x="457200" y="4443984"/>
            <a:ext cx="11247120" cy="950976"/>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4517136"/>
            <a:ext cx="3200400" cy="384048"/>
          </a:xfrm>
          <a:prstGeom prst="rect">
            <a:avLst/>
          </a:prstGeom>
          <a:noFill/>
        </p:spPr>
        <p:txBody>
          <a:bodyPr wrap="square">
            <a:spAutoFit/>
          </a:bodyPr>
          <a:lstStyle/>
          <a:p>
            <a:pPr algn="l"/>
            <a:r>
              <a:rPr sz="1300" b="1">
                <a:solidFill>
                  <a:srgbClr val="FFFFFF"/>
                </a:solidFill>
                <a:latin typeface="Calibri"/>
              </a:rPr>
              <a:t>DATOS CON FUENTE</a:t>
            </a:r>
          </a:p>
        </p:txBody>
      </p:sp>
      <p:sp>
        <p:nvSpPr>
          <p:cNvPr id="16" name="TextBox 15"/>
          <p:cNvSpPr txBox="1"/>
          <p:nvPr/>
        </p:nvSpPr>
        <p:spPr>
          <a:xfrm>
            <a:off x="4023360" y="4517136"/>
            <a:ext cx="7498079" cy="804672"/>
          </a:xfrm>
          <a:prstGeom prst="rect">
            <a:avLst/>
          </a:prstGeom>
          <a:noFill/>
        </p:spPr>
        <p:txBody>
          <a:bodyPr wrap="square">
            <a:spAutoFit/>
          </a:bodyPr>
          <a:lstStyle/>
          <a:p>
            <a:pPr algn="l"/>
            <a:r>
              <a:rPr sz="1200" b="0">
                <a:solidFill>
                  <a:srgbClr val="FFFFFF"/>
                </a:solidFill>
                <a:latin typeface="Calibri"/>
              </a:rPr>
              <a:t>Posturas verificadas contra fuentes primarias.
Sin verificacion -&gt; nivel de confianza BAJA.
El importador rechaza entradas sin fuente.</a:t>
            </a:r>
          </a:p>
        </p:txBody>
      </p:sp>
      <p:sp>
        <p:nvSpPr>
          <p:cNvPr id="17" name="Rectangle 16"/>
          <p:cNvSpPr/>
          <p:nvPr/>
        </p:nvSpPr>
        <p:spPr>
          <a:xfrm>
            <a:off x="457200" y="5468112"/>
            <a:ext cx="11247120" cy="950976"/>
          </a:xfrm>
          <a:prstGeom prst="rect">
            <a:avLst/>
          </a:prstGeom>
          <a:solidFill>
            <a:srgbClr val="6B9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5541264"/>
            <a:ext cx="3200400" cy="384048"/>
          </a:xfrm>
          <a:prstGeom prst="rect">
            <a:avLst/>
          </a:prstGeom>
          <a:noFill/>
        </p:spPr>
        <p:txBody>
          <a:bodyPr wrap="square">
            <a:spAutoFit/>
          </a:bodyPr>
          <a:lstStyle/>
          <a:p>
            <a:pPr algn="l"/>
            <a:r>
              <a:rPr sz="1300" b="1">
                <a:solidFill>
                  <a:srgbClr val="FFFFFF"/>
                </a:solidFill>
                <a:latin typeface="Calibri"/>
              </a:rPr>
              <a:t>ACCESIBILIDAD</a:t>
            </a:r>
          </a:p>
        </p:txBody>
      </p:sp>
      <p:sp>
        <p:nvSpPr>
          <p:cNvPr id="19" name="TextBox 18"/>
          <p:cNvSpPr txBox="1"/>
          <p:nvPr/>
        </p:nvSpPr>
        <p:spPr>
          <a:xfrm>
            <a:off x="4023360" y="5541264"/>
            <a:ext cx="7498079" cy="804672"/>
          </a:xfrm>
          <a:prstGeom prst="rect">
            <a:avLst/>
          </a:prstGeom>
          <a:noFill/>
        </p:spPr>
        <p:txBody>
          <a:bodyPr wrap="square">
            <a:spAutoFit/>
          </a:bodyPr>
          <a:lstStyle/>
          <a:p>
            <a:pPr algn="l"/>
            <a:r>
              <a:rPr sz="1200" b="0">
                <a:solidFill>
                  <a:srgbClr val="FFFFFF"/>
                </a:solidFill>
                <a:latin typeface="Calibri"/>
              </a:rPr>
              <a:t>WCAG 2.2 AA en todos los componentes.
Contraste verificado en modo claro y oscuro.
Targets tactiles minimo 44x44 puntos.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RESULTADOS OBTENIDOS</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4000" b="1">
                <a:solidFill>
                  <a:srgbClr val="FFFFFF"/>
                </a:solidFill>
                <a:latin typeface="Calibri"/>
              </a:rPr>
              <a:t>VotoAFin: estado actual del sistema</a:t>
            </a:r>
          </a:p>
        </p:txBody>
      </p:sp>
      <p:sp>
        <p:nvSpPr>
          <p:cNvPr id="5" name="Rectangle 4"/>
          <p:cNvSpPr/>
          <p:nvPr/>
        </p:nvSpPr>
        <p:spPr>
          <a:xfrm>
            <a:off x="457200" y="1389888"/>
            <a:ext cx="2697480" cy="214884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499616"/>
            <a:ext cx="2423160" cy="1051560"/>
          </a:xfrm>
          <a:prstGeom prst="rect">
            <a:avLst/>
          </a:prstGeom>
          <a:noFill/>
        </p:spPr>
        <p:txBody>
          <a:bodyPr wrap="square">
            <a:spAutoFit/>
          </a:bodyPr>
          <a:lstStyle/>
          <a:p>
            <a:pPr algn="ctr"/>
            <a:r>
              <a:rPr sz="5000" b="1">
                <a:solidFill>
                  <a:srgbClr val="FFFFFF"/>
                </a:solidFill>
                <a:latin typeface="Calibri"/>
              </a:rPr>
              <a:t>370</a:t>
            </a:r>
          </a:p>
        </p:txBody>
      </p:sp>
      <p:sp>
        <p:nvSpPr>
          <p:cNvPr id="7" name="TextBox 6"/>
          <p:cNvSpPr txBox="1"/>
          <p:nvPr/>
        </p:nvSpPr>
        <p:spPr>
          <a:xfrm>
            <a:off x="594360" y="2624328"/>
            <a:ext cx="2423160" cy="777240"/>
          </a:xfrm>
          <a:prstGeom prst="rect">
            <a:avLst/>
          </a:prstGeom>
          <a:noFill/>
        </p:spPr>
        <p:txBody>
          <a:bodyPr wrap="square">
            <a:spAutoFit/>
          </a:bodyPr>
          <a:lstStyle/>
          <a:p>
            <a:pPr algn="ctr"/>
            <a:r>
              <a:rPr sz="1200" b="0">
                <a:solidFill>
                  <a:srgbClr val="FFFFFF"/>
                </a:solidFill>
                <a:latin typeface="Calibri"/>
              </a:rPr>
              <a:t>tests
automatizados</a:t>
            </a:r>
          </a:p>
        </p:txBody>
      </p:sp>
      <p:sp>
        <p:nvSpPr>
          <p:cNvPr id="8" name="Rectangle 7"/>
          <p:cNvSpPr/>
          <p:nvPr/>
        </p:nvSpPr>
        <p:spPr>
          <a:xfrm>
            <a:off x="3337560" y="1389888"/>
            <a:ext cx="2697480" cy="214884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474720" y="1499616"/>
            <a:ext cx="2423160" cy="1051560"/>
          </a:xfrm>
          <a:prstGeom prst="rect">
            <a:avLst/>
          </a:prstGeom>
          <a:noFill/>
        </p:spPr>
        <p:txBody>
          <a:bodyPr wrap="square">
            <a:spAutoFit/>
          </a:bodyPr>
          <a:lstStyle/>
          <a:p>
            <a:pPr algn="ctr"/>
            <a:r>
              <a:rPr sz="5000" b="1">
                <a:solidFill>
                  <a:srgbClr val="FFFFFF"/>
                </a:solidFill>
                <a:latin typeface="Calibri"/>
              </a:rPr>
              <a:t>17</a:t>
            </a:r>
          </a:p>
        </p:txBody>
      </p:sp>
      <p:sp>
        <p:nvSpPr>
          <p:cNvPr id="10" name="TextBox 9"/>
          <p:cNvSpPr txBox="1"/>
          <p:nvPr/>
        </p:nvSpPr>
        <p:spPr>
          <a:xfrm>
            <a:off x="3474720" y="2624328"/>
            <a:ext cx="2423160" cy="777240"/>
          </a:xfrm>
          <a:prstGeom prst="rect">
            <a:avLst/>
          </a:prstGeom>
          <a:noFill/>
        </p:spPr>
        <p:txBody>
          <a:bodyPr wrap="square">
            <a:spAutoFit/>
          </a:bodyPr>
          <a:lstStyle/>
          <a:p>
            <a:pPr algn="ctr"/>
            <a:r>
              <a:rPr sz="1200" b="0">
                <a:solidFill>
                  <a:srgbClr val="FFFFFF"/>
                </a:solidFill>
                <a:latin typeface="Calibri"/>
              </a:rPr>
              <a:t>pantallas
funcionales</a:t>
            </a:r>
          </a:p>
        </p:txBody>
      </p:sp>
      <p:sp>
        <p:nvSpPr>
          <p:cNvPr id="11" name="Rectangle 10"/>
          <p:cNvSpPr/>
          <p:nvPr/>
        </p:nvSpPr>
        <p:spPr>
          <a:xfrm>
            <a:off x="6217920" y="1389888"/>
            <a:ext cx="2697480" cy="214884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1499616"/>
            <a:ext cx="2423160" cy="1051560"/>
          </a:xfrm>
          <a:prstGeom prst="rect">
            <a:avLst/>
          </a:prstGeom>
          <a:noFill/>
        </p:spPr>
        <p:txBody>
          <a:bodyPr wrap="square">
            <a:spAutoFit/>
          </a:bodyPr>
          <a:lstStyle/>
          <a:p>
            <a:pPr algn="ctr"/>
            <a:r>
              <a:rPr sz="5000" b="1">
                <a:solidFill>
                  <a:srgbClr val="FFFFFF"/>
                </a:solidFill>
                <a:latin typeface="Calibri"/>
              </a:rPr>
              <a:t>~31</a:t>
            </a:r>
          </a:p>
        </p:txBody>
      </p:sp>
      <p:sp>
        <p:nvSpPr>
          <p:cNvPr id="13" name="TextBox 12"/>
          <p:cNvSpPr txBox="1"/>
          <p:nvPr/>
        </p:nvSpPr>
        <p:spPr>
          <a:xfrm>
            <a:off x="6355080" y="2624328"/>
            <a:ext cx="2423160" cy="777240"/>
          </a:xfrm>
          <a:prstGeom prst="rect">
            <a:avLst/>
          </a:prstGeom>
          <a:noFill/>
        </p:spPr>
        <p:txBody>
          <a:bodyPr wrap="square">
            <a:spAutoFit/>
          </a:bodyPr>
          <a:lstStyle/>
          <a:p>
            <a:pPr algn="ctr"/>
            <a:r>
              <a:rPr sz="1200" b="0">
                <a:solidFill>
                  <a:srgbClr val="FFFFFF"/>
                </a:solidFill>
                <a:latin typeface="Calibri"/>
              </a:rPr>
              <a:t>endpoints
REST</a:t>
            </a:r>
          </a:p>
        </p:txBody>
      </p:sp>
      <p:sp>
        <p:nvSpPr>
          <p:cNvPr id="14" name="Rectangle 13"/>
          <p:cNvSpPr/>
          <p:nvPr/>
        </p:nvSpPr>
        <p:spPr>
          <a:xfrm>
            <a:off x="9098280" y="1389888"/>
            <a:ext cx="2697480" cy="214884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9235440" y="1499616"/>
            <a:ext cx="2423160" cy="1051560"/>
          </a:xfrm>
          <a:prstGeom prst="rect">
            <a:avLst/>
          </a:prstGeom>
          <a:noFill/>
        </p:spPr>
        <p:txBody>
          <a:bodyPr wrap="square">
            <a:spAutoFit/>
          </a:bodyPr>
          <a:lstStyle/>
          <a:p>
            <a:pPr algn="ctr"/>
            <a:r>
              <a:rPr sz="5000" b="1">
                <a:solidFill>
                  <a:srgbClr val="FFFFFF"/>
                </a:solidFill>
                <a:latin typeface="Calibri"/>
              </a:rPr>
              <a:t>19</a:t>
            </a:r>
          </a:p>
        </p:txBody>
      </p:sp>
      <p:sp>
        <p:nvSpPr>
          <p:cNvPr id="16" name="TextBox 15"/>
          <p:cNvSpPr txBox="1"/>
          <p:nvPr/>
        </p:nvSpPr>
        <p:spPr>
          <a:xfrm>
            <a:off x="9235440" y="2624328"/>
            <a:ext cx="2423160" cy="777240"/>
          </a:xfrm>
          <a:prstGeom prst="rect">
            <a:avLst/>
          </a:prstGeom>
          <a:noFill/>
        </p:spPr>
        <p:txBody>
          <a:bodyPr wrap="square">
            <a:spAutoFit/>
          </a:bodyPr>
          <a:lstStyle/>
          <a:p>
            <a:pPr algn="ctr"/>
            <a:r>
              <a:rPr sz="1200" b="0">
                <a:solidFill>
                  <a:srgbClr val="FFFFFF"/>
                </a:solidFill>
                <a:latin typeface="Calibri"/>
              </a:rPr>
              <a:t>modelos
de datos</a:t>
            </a:r>
          </a:p>
        </p:txBody>
      </p:sp>
      <p:sp>
        <p:nvSpPr>
          <p:cNvPr id="17" name="Rectangle 16"/>
          <p:cNvSpPr/>
          <p:nvPr/>
        </p:nvSpPr>
        <p:spPr>
          <a:xfrm>
            <a:off x="457200" y="3721608"/>
            <a:ext cx="2697480" cy="2148840"/>
          </a:xfrm>
          <a:prstGeom prst="rect">
            <a:avLst/>
          </a:prstGeom>
          <a:solidFill>
            <a:srgbClr val="6B9B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94360" y="3831336"/>
            <a:ext cx="2423160" cy="1051560"/>
          </a:xfrm>
          <a:prstGeom prst="rect">
            <a:avLst/>
          </a:prstGeom>
          <a:noFill/>
        </p:spPr>
        <p:txBody>
          <a:bodyPr wrap="square">
            <a:spAutoFit/>
          </a:bodyPr>
          <a:lstStyle/>
          <a:p>
            <a:pPr algn="ctr"/>
            <a:r>
              <a:rPr sz="5000" b="1">
                <a:solidFill>
                  <a:srgbClr val="FFFFFF"/>
                </a:solidFill>
                <a:latin typeface="Calibri"/>
              </a:rPr>
              <a:t>42</a:t>
            </a:r>
          </a:p>
        </p:txBody>
      </p:sp>
      <p:sp>
        <p:nvSpPr>
          <p:cNvPr id="19" name="TextBox 18"/>
          <p:cNvSpPr txBox="1"/>
          <p:nvPr/>
        </p:nvSpPr>
        <p:spPr>
          <a:xfrm>
            <a:off x="594360" y="4956048"/>
            <a:ext cx="2423160" cy="777240"/>
          </a:xfrm>
          <a:prstGeom prst="rect">
            <a:avLst/>
          </a:prstGeom>
          <a:noFill/>
        </p:spPr>
        <p:txBody>
          <a:bodyPr wrap="square">
            <a:spAutoFit/>
          </a:bodyPr>
          <a:lstStyle/>
          <a:p>
            <a:pPr algn="ctr"/>
            <a:r>
              <a:rPr sz="1200" b="0">
                <a:solidFill>
                  <a:srgbClr val="FFFFFF"/>
                </a:solidFill>
                <a:latin typeface="Calibri"/>
              </a:rPr>
              <a:t>migraciones
de BD</a:t>
            </a:r>
          </a:p>
        </p:txBody>
      </p:sp>
      <p:sp>
        <p:nvSpPr>
          <p:cNvPr id="20" name="Rectangle 19"/>
          <p:cNvSpPr/>
          <p:nvPr/>
        </p:nvSpPr>
        <p:spPr>
          <a:xfrm>
            <a:off x="3337560" y="3721608"/>
            <a:ext cx="2697480" cy="214884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3474720" y="3831336"/>
            <a:ext cx="2423160" cy="1051560"/>
          </a:xfrm>
          <a:prstGeom prst="rect">
            <a:avLst/>
          </a:prstGeom>
          <a:noFill/>
        </p:spPr>
        <p:txBody>
          <a:bodyPr wrap="square">
            <a:spAutoFit/>
          </a:bodyPr>
          <a:lstStyle/>
          <a:p>
            <a:pPr algn="ctr"/>
            <a:r>
              <a:rPr sz="5000" b="1">
                <a:solidFill>
                  <a:srgbClr val="FFFFFF"/>
                </a:solidFill>
                <a:latin typeface="Calibri"/>
              </a:rPr>
              <a:t>89</a:t>
            </a:r>
          </a:p>
        </p:txBody>
      </p:sp>
      <p:sp>
        <p:nvSpPr>
          <p:cNvPr id="22" name="TextBox 21"/>
          <p:cNvSpPr txBox="1"/>
          <p:nvPr/>
        </p:nvSpPr>
        <p:spPr>
          <a:xfrm>
            <a:off x="3474720" y="4956048"/>
            <a:ext cx="2423160" cy="777240"/>
          </a:xfrm>
          <a:prstGeom prst="rect">
            <a:avLst/>
          </a:prstGeom>
          <a:noFill/>
        </p:spPr>
        <p:txBody>
          <a:bodyPr wrap="square">
            <a:spAutoFit/>
          </a:bodyPr>
          <a:lstStyle/>
          <a:p>
            <a:pPr algn="ctr"/>
            <a:r>
              <a:rPr sz="1200" b="0">
                <a:solidFill>
                  <a:srgbClr val="FFFFFF"/>
                </a:solidFill>
                <a:latin typeface="Calibri"/>
              </a:rPr>
              <a:t>componentes
UI</a:t>
            </a:r>
          </a:p>
        </p:txBody>
      </p:sp>
      <p:sp>
        <p:nvSpPr>
          <p:cNvPr id="23" name="Rectangle 22"/>
          <p:cNvSpPr/>
          <p:nvPr/>
        </p:nvSpPr>
        <p:spPr>
          <a:xfrm>
            <a:off x="6217920" y="3721608"/>
            <a:ext cx="2697480" cy="214884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6355080" y="3831336"/>
            <a:ext cx="2423160" cy="1051560"/>
          </a:xfrm>
          <a:prstGeom prst="rect">
            <a:avLst/>
          </a:prstGeom>
          <a:noFill/>
        </p:spPr>
        <p:txBody>
          <a:bodyPr wrap="square">
            <a:spAutoFit/>
          </a:bodyPr>
          <a:lstStyle/>
          <a:p>
            <a:pPr algn="ctr"/>
            <a:r>
              <a:rPr sz="5000" b="1">
                <a:solidFill>
                  <a:srgbClr val="FFFFFF"/>
                </a:solidFill>
                <a:latin typeface="Calibri"/>
              </a:rPr>
              <a:t>30</a:t>
            </a:r>
          </a:p>
        </p:txBody>
      </p:sp>
      <p:sp>
        <p:nvSpPr>
          <p:cNvPr id="25" name="TextBox 24"/>
          <p:cNvSpPr txBox="1"/>
          <p:nvPr/>
        </p:nvSpPr>
        <p:spPr>
          <a:xfrm>
            <a:off x="6355080" y="4956048"/>
            <a:ext cx="2423160" cy="777240"/>
          </a:xfrm>
          <a:prstGeom prst="rect">
            <a:avLst/>
          </a:prstGeom>
          <a:noFill/>
        </p:spPr>
        <p:txBody>
          <a:bodyPr wrap="square">
            <a:spAutoFit/>
          </a:bodyPr>
          <a:lstStyle/>
          <a:p>
            <a:pPr algn="ctr"/>
            <a:r>
              <a:rPr sz="1200" b="0">
                <a:solidFill>
                  <a:srgbClr val="FFFFFF"/>
                </a:solidFill>
                <a:latin typeface="Calibri"/>
              </a:rPr>
              <a:t>hooks
de datos</a:t>
            </a:r>
          </a:p>
        </p:txBody>
      </p:sp>
      <p:sp>
        <p:nvSpPr>
          <p:cNvPr id="26" name="Rectangle 25"/>
          <p:cNvSpPr/>
          <p:nvPr/>
        </p:nvSpPr>
        <p:spPr>
          <a:xfrm>
            <a:off x="9098280" y="3721608"/>
            <a:ext cx="2697480" cy="214884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9235440" y="3831336"/>
            <a:ext cx="2423160" cy="1051560"/>
          </a:xfrm>
          <a:prstGeom prst="rect">
            <a:avLst/>
          </a:prstGeom>
          <a:noFill/>
        </p:spPr>
        <p:txBody>
          <a:bodyPr wrap="square">
            <a:spAutoFit/>
          </a:bodyPr>
          <a:lstStyle/>
          <a:p>
            <a:pPr algn="ctr"/>
            <a:r>
              <a:rPr sz="5000" b="1">
                <a:solidFill>
                  <a:srgbClr val="FFFFFF"/>
                </a:solidFill>
                <a:latin typeface="Calibri"/>
              </a:rPr>
              <a:t>212</a:t>
            </a:r>
          </a:p>
        </p:txBody>
      </p:sp>
      <p:sp>
        <p:nvSpPr>
          <p:cNvPr id="28" name="TextBox 27"/>
          <p:cNvSpPr txBox="1"/>
          <p:nvPr/>
        </p:nvSpPr>
        <p:spPr>
          <a:xfrm>
            <a:off x="9235440" y="4956048"/>
            <a:ext cx="2423160" cy="777240"/>
          </a:xfrm>
          <a:prstGeom prst="rect">
            <a:avLst/>
          </a:prstGeom>
          <a:noFill/>
        </p:spPr>
        <p:txBody>
          <a:bodyPr wrap="square">
            <a:spAutoFit/>
          </a:bodyPr>
          <a:lstStyle/>
          <a:p>
            <a:pPr algn="ctr"/>
            <a:r>
              <a:rPr sz="1200" b="0">
                <a:solidFill>
                  <a:srgbClr val="FFFFFF"/>
                </a:solidFill>
                <a:latin typeface="Calibri"/>
              </a:rPr>
              <a:t>commits
en main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LECCIONES APRENDIDAS</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4000" b="1">
                <a:solidFill>
                  <a:srgbClr val="1C3A52"/>
                </a:solidFill>
                <a:latin typeface="Calibri"/>
              </a:rPr>
              <a:t>Tres categorias de aprendizaje</a:t>
            </a:r>
          </a:p>
        </p:txBody>
      </p:sp>
      <p:sp>
        <p:nvSpPr>
          <p:cNvPr id="5" name="Rectangle 4"/>
          <p:cNvSpPr/>
          <p:nvPr/>
        </p:nvSpPr>
        <p:spPr>
          <a:xfrm>
            <a:off x="457200" y="1371600"/>
            <a:ext cx="3657600" cy="512064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481328"/>
            <a:ext cx="3291840" cy="384048"/>
          </a:xfrm>
          <a:prstGeom prst="rect">
            <a:avLst/>
          </a:prstGeom>
          <a:noFill/>
        </p:spPr>
        <p:txBody>
          <a:bodyPr wrap="square">
            <a:spAutoFit/>
          </a:bodyPr>
          <a:lstStyle/>
          <a:p>
            <a:pPr algn="l"/>
            <a:r>
              <a:rPr sz="1300" b="1">
                <a:solidFill>
                  <a:srgbClr val="FFFFFF"/>
                </a:solidFill>
                <a:latin typeface="Calibri"/>
              </a:rPr>
              <a:t>DE PRODUCTO</a:t>
            </a:r>
          </a:p>
        </p:txBody>
      </p:sp>
      <p:sp>
        <p:nvSpPr>
          <p:cNvPr id="7" name="Rectangle 6"/>
          <p:cNvSpPr/>
          <p:nvPr/>
        </p:nvSpPr>
        <p:spPr>
          <a:xfrm>
            <a:off x="640080" y="1938528"/>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011680"/>
            <a:ext cx="3291840" cy="411480"/>
          </a:xfrm>
          <a:prstGeom prst="rect">
            <a:avLst/>
          </a:prstGeom>
          <a:noFill/>
        </p:spPr>
        <p:txBody>
          <a:bodyPr wrap="square">
            <a:spAutoFit/>
          </a:bodyPr>
          <a:lstStyle/>
          <a:p>
            <a:pPr algn="l"/>
            <a:r>
              <a:rPr sz="1200" b="1">
                <a:solidFill>
                  <a:srgbClr val="FFFFFF"/>
                </a:solidFill>
                <a:latin typeface="Calibri"/>
              </a:rPr>
              <a:t>La pregunta de diseno determina la solucion.</a:t>
            </a:r>
          </a:p>
        </p:txBody>
      </p:sp>
      <p:sp>
        <p:nvSpPr>
          <p:cNvPr id="9" name="TextBox 8"/>
          <p:cNvSpPr txBox="1"/>
          <p:nvPr/>
        </p:nvSpPr>
        <p:spPr>
          <a:xfrm>
            <a:off x="640080" y="2468880"/>
            <a:ext cx="3291840" cy="841248"/>
          </a:xfrm>
          <a:prstGeom prst="rect">
            <a:avLst/>
          </a:prstGeom>
          <a:noFill/>
        </p:spPr>
        <p:txBody>
          <a:bodyPr wrap="square">
            <a:spAutoFit/>
          </a:bodyPr>
          <a:lstStyle/>
          <a:p>
            <a:pPr algn="l"/>
            <a:r>
              <a:rPr sz="1100" b="0">
                <a:solidFill>
                  <a:srgbClr val="FFFFFF"/>
                </a:solidFill>
                <a:latin typeface="Calibri"/>
              </a:rPr>
              <a:t>Cambiar la pregunta genero una solucion fundamentalmente distinta.</a:t>
            </a:r>
          </a:p>
        </p:txBody>
      </p:sp>
      <p:sp>
        <p:nvSpPr>
          <p:cNvPr id="10" name="Rectangle 9"/>
          <p:cNvSpPr/>
          <p:nvPr/>
        </p:nvSpPr>
        <p:spPr>
          <a:xfrm>
            <a:off x="640080" y="3419856"/>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3493008"/>
            <a:ext cx="3291840" cy="411480"/>
          </a:xfrm>
          <a:prstGeom prst="rect">
            <a:avLst/>
          </a:prstGeom>
          <a:noFill/>
        </p:spPr>
        <p:txBody>
          <a:bodyPr wrap="square">
            <a:spAutoFit/>
          </a:bodyPr>
          <a:lstStyle/>
          <a:p>
            <a:pPr algn="l"/>
            <a:r>
              <a:rPr sz="1200" b="1">
                <a:solidFill>
                  <a:srgbClr val="FFFFFF"/>
                </a:solidFill>
                <a:latin typeface="Calibri"/>
              </a:rPr>
              <a:t>Los datos son el producto, el algoritmo es el envoltorio.</a:t>
            </a:r>
          </a:p>
        </p:txBody>
      </p:sp>
      <p:sp>
        <p:nvSpPr>
          <p:cNvPr id="12" name="TextBox 11"/>
          <p:cNvSpPr txBox="1"/>
          <p:nvPr/>
        </p:nvSpPr>
        <p:spPr>
          <a:xfrm>
            <a:off x="640080" y="3950208"/>
            <a:ext cx="3291840" cy="841248"/>
          </a:xfrm>
          <a:prstGeom prst="rect">
            <a:avLst/>
          </a:prstGeom>
          <a:noFill/>
        </p:spPr>
        <p:txBody>
          <a:bodyPr wrap="square">
            <a:spAutoFit/>
          </a:bodyPr>
          <a:lstStyle/>
          <a:p>
            <a:pPr algn="l"/>
            <a:r>
              <a:rPr sz="1100" b="0">
                <a:solidFill>
                  <a:srgbClr val="FFFFFF"/>
                </a:solidFill>
                <a:latin typeface="Calibri"/>
              </a:rPr>
              <a:t>Un algoritmo perfecto sobre datos inventados produce recomendaciones inutiles.</a:t>
            </a:r>
          </a:p>
        </p:txBody>
      </p:sp>
      <p:sp>
        <p:nvSpPr>
          <p:cNvPr id="13" name="Rectangle 12"/>
          <p:cNvSpPr/>
          <p:nvPr/>
        </p:nvSpPr>
        <p:spPr>
          <a:xfrm>
            <a:off x="640080" y="4901184"/>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974336"/>
            <a:ext cx="3291840" cy="411480"/>
          </a:xfrm>
          <a:prstGeom prst="rect">
            <a:avLst/>
          </a:prstGeom>
          <a:noFill/>
        </p:spPr>
        <p:txBody>
          <a:bodyPr wrap="square">
            <a:spAutoFit/>
          </a:bodyPr>
          <a:lstStyle/>
          <a:p>
            <a:pPr algn="l"/>
            <a:r>
              <a:rPr sz="1200" b="1">
                <a:solidFill>
                  <a:srgbClr val="FFFFFF"/>
                </a:solidFill>
                <a:latin typeface="Calibri"/>
              </a:rPr>
              <a:t>La mecanica VAA resuelve lo que el diseno narrativo no puede.</a:t>
            </a:r>
          </a:p>
        </p:txBody>
      </p:sp>
      <p:sp>
        <p:nvSpPr>
          <p:cNvPr id="15" name="TextBox 14"/>
          <p:cNvSpPr txBox="1"/>
          <p:nvPr/>
        </p:nvSpPr>
        <p:spPr>
          <a:xfrm>
            <a:off x="640080" y="5431536"/>
            <a:ext cx="3291840" cy="841248"/>
          </a:xfrm>
          <a:prstGeom prst="rect">
            <a:avLst/>
          </a:prstGeom>
          <a:noFill/>
        </p:spPr>
        <p:txBody>
          <a:bodyPr wrap="square">
            <a:spAutoFit/>
          </a:bodyPr>
          <a:lstStyle/>
          <a:p>
            <a:pPr algn="l"/>
            <a:r>
              <a:rPr sz="1100" b="0">
                <a:solidFill>
                  <a:srgbClr val="FFFFFF"/>
                </a:solidFill>
                <a:latin typeface="Calibri"/>
              </a:rPr>
              <a:t>El cuestionario Likert produce resultados significativamente mas validos.</a:t>
            </a:r>
          </a:p>
        </p:txBody>
      </p:sp>
      <p:sp>
        <p:nvSpPr>
          <p:cNvPr id="16" name="Rectangle 15"/>
          <p:cNvSpPr/>
          <p:nvPr/>
        </p:nvSpPr>
        <p:spPr>
          <a:xfrm>
            <a:off x="4343400" y="1371600"/>
            <a:ext cx="3657600" cy="512064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526280" y="1481328"/>
            <a:ext cx="3291840" cy="384048"/>
          </a:xfrm>
          <a:prstGeom prst="rect">
            <a:avLst/>
          </a:prstGeom>
          <a:noFill/>
        </p:spPr>
        <p:txBody>
          <a:bodyPr wrap="square">
            <a:spAutoFit/>
          </a:bodyPr>
          <a:lstStyle/>
          <a:p>
            <a:pPr algn="l"/>
            <a:r>
              <a:rPr sz="1300" b="1">
                <a:solidFill>
                  <a:srgbClr val="FFFFFF"/>
                </a:solidFill>
                <a:latin typeface="Calibri"/>
              </a:rPr>
              <a:t>DE INGENIERIA</a:t>
            </a:r>
          </a:p>
        </p:txBody>
      </p:sp>
      <p:sp>
        <p:nvSpPr>
          <p:cNvPr id="18" name="Rectangle 17"/>
          <p:cNvSpPr/>
          <p:nvPr/>
        </p:nvSpPr>
        <p:spPr>
          <a:xfrm>
            <a:off x="4526280" y="1938528"/>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526280" y="2011680"/>
            <a:ext cx="3291840" cy="411480"/>
          </a:xfrm>
          <a:prstGeom prst="rect">
            <a:avLst/>
          </a:prstGeom>
          <a:noFill/>
        </p:spPr>
        <p:txBody>
          <a:bodyPr wrap="square">
            <a:spAutoFit/>
          </a:bodyPr>
          <a:lstStyle/>
          <a:p>
            <a:pPr algn="l"/>
            <a:r>
              <a:rPr sz="1200" b="1">
                <a:solidFill>
                  <a:srgbClr val="FFFFFF"/>
                </a:solidFill>
                <a:latin typeface="Calibri"/>
              </a:rPr>
              <a:t>La separacion de responsabilidades tiene valor medible.</a:t>
            </a:r>
          </a:p>
        </p:txBody>
      </p:sp>
      <p:sp>
        <p:nvSpPr>
          <p:cNvPr id="20" name="TextBox 19"/>
          <p:cNvSpPr txBox="1"/>
          <p:nvPr/>
        </p:nvSpPr>
        <p:spPr>
          <a:xfrm>
            <a:off x="4526280" y="2468880"/>
            <a:ext cx="3291840" cy="841248"/>
          </a:xfrm>
          <a:prstGeom prst="rect">
            <a:avLst/>
          </a:prstGeom>
          <a:noFill/>
        </p:spPr>
        <p:txBody>
          <a:bodyPr wrap="square">
            <a:spAutoFit/>
          </a:bodyPr>
          <a:lstStyle/>
          <a:p>
            <a:pPr algn="l"/>
            <a:r>
              <a:rPr sz="1100" b="0">
                <a:solidFill>
                  <a:srgbClr val="FFFFFF"/>
                </a:solidFill>
                <a:latin typeface="Calibri"/>
              </a:rPr>
              <a:t>Tests 30x mas rapidos. Cero duplicacion. Contratos en compilacion.</a:t>
            </a:r>
          </a:p>
        </p:txBody>
      </p:sp>
      <p:sp>
        <p:nvSpPr>
          <p:cNvPr id="21" name="Rectangle 20"/>
          <p:cNvSpPr/>
          <p:nvPr/>
        </p:nvSpPr>
        <p:spPr>
          <a:xfrm>
            <a:off x="4526280" y="3419856"/>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4526280" y="3493008"/>
            <a:ext cx="3291840" cy="411480"/>
          </a:xfrm>
          <a:prstGeom prst="rect">
            <a:avLst/>
          </a:prstGeom>
          <a:noFill/>
        </p:spPr>
        <p:txBody>
          <a:bodyPr wrap="square">
            <a:spAutoFit/>
          </a:bodyPr>
          <a:lstStyle/>
          <a:p>
            <a:pPr algn="l"/>
            <a:r>
              <a:rPr sz="1200" b="1">
                <a:solidFill>
                  <a:srgbClr val="FFFFFF"/>
                </a:solidFill>
                <a:latin typeface="Calibri"/>
              </a:rPr>
              <a:t>El contrato de API como disciplina de integracion.</a:t>
            </a:r>
          </a:p>
        </p:txBody>
      </p:sp>
      <p:sp>
        <p:nvSpPr>
          <p:cNvPr id="23" name="TextBox 22"/>
          <p:cNvSpPr txBox="1"/>
          <p:nvPr/>
        </p:nvSpPr>
        <p:spPr>
          <a:xfrm>
            <a:off x="4526280" y="3950208"/>
            <a:ext cx="3291840" cy="841248"/>
          </a:xfrm>
          <a:prstGeom prst="rect">
            <a:avLst/>
          </a:prstGeom>
          <a:noFill/>
        </p:spPr>
        <p:txBody>
          <a:bodyPr wrap="square">
            <a:spAutoFit/>
          </a:bodyPr>
          <a:lstStyle/>
          <a:p>
            <a:pPr algn="l"/>
            <a:r>
              <a:rPr sz="1100" b="0">
                <a:solidFill>
                  <a:srgbClr val="FFFFFF"/>
                </a:solidFill>
                <a:latin typeface="Calibri"/>
              </a:rPr>
              <a:t>Cada cambio en el backend es detectado de inmediato en el frontend.</a:t>
            </a:r>
          </a:p>
        </p:txBody>
      </p:sp>
      <p:sp>
        <p:nvSpPr>
          <p:cNvPr id="24" name="Rectangle 23"/>
          <p:cNvSpPr/>
          <p:nvPr/>
        </p:nvSpPr>
        <p:spPr>
          <a:xfrm>
            <a:off x="4526280" y="4901184"/>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26280" y="4974336"/>
            <a:ext cx="3291840" cy="411480"/>
          </a:xfrm>
          <a:prstGeom prst="rect">
            <a:avLst/>
          </a:prstGeom>
          <a:noFill/>
        </p:spPr>
        <p:txBody>
          <a:bodyPr wrap="square">
            <a:spAutoFit/>
          </a:bodyPr>
          <a:lstStyle/>
          <a:p>
            <a:pPr algn="l"/>
            <a:r>
              <a:rPr sz="1200" b="1">
                <a:solidFill>
                  <a:srgbClr val="FFFFFF"/>
                </a:solidFill>
                <a:latin typeface="Calibri"/>
              </a:rPr>
              <a:t>La deuda documentada es manejable. La no documentada, no.</a:t>
            </a:r>
          </a:p>
        </p:txBody>
      </p:sp>
      <p:sp>
        <p:nvSpPr>
          <p:cNvPr id="26" name="TextBox 25"/>
          <p:cNvSpPr txBox="1"/>
          <p:nvPr/>
        </p:nvSpPr>
        <p:spPr>
          <a:xfrm>
            <a:off x="4526280" y="5431536"/>
            <a:ext cx="3291840" cy="841248"/>
          </a:xfrm>
          <a:prstGeom prst="rect">
            <a:avLst/>
          </a:prstGeom>
          <a:noFill/>
        </p:spPr>
        <p:txBody>
          <a:bodyPr wrap="square">
            <a:spAutoFit/>
          </a:bodyPr>
          <a:lstStyle/>
          <a:p>
            <a:pPr algn="l"/>
            <a:r>
              <a:rPr sz="1100" b="0">
                <a:solidFill>
                  <a:srgbClr val="FFFFFF"/>
                </a:solidFill>
                <a:latin typeface="Calibri"/>
              </a:rPr>
              <a:t>Practicar documentacion explicita de lo que falta.</a:t>
            </a:r>
          </a:p>
        </p:txBody>
      </p:sp>
      <p:sp>
        <p:nvSpPr>
          <p:cNvPr id="27" name="Rectangle 26"/>
          <p:cNvSpPr/>
          <p:nvPr/>
        </p:nvSpPr>
        <p:spPr>
          <a:xfrm>
            <a:off x="8229600" y="1371600"/>
            <a:ext cx="3657600" cy="512064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8412480" y="1481328"/>
            <a:ext cx="3291840" cy="384048"/>
          </a:xfrm>
          <a:prstGeom prst="rect">
            <a:avLst/>
          </a:prstGeom>
          <a:noFill/>
        </p:spPr>
        <p:txBody>
          <a:bodyPr wrap="square">
            <a:spAutoFit/>
          </a:bodyPr>
          <a:lstStyle/>
          <a:p>
            <a:pPr algn="l"/>
            <a:r>
              <a:rPr sz="1300" b="1">
                <a:solidFill>
                  <a:srgbClr val="FFFFFF"/>
                </a:solidFill>
                <a:latin typeface="Calibri"/>
              </a:rPr>
              <a:t>DE CONTEXTO CIVICO</a:t>
            </a:r>
          </a:p>
        </p:txBody>
      </p:sp>
      <p:sp>
        <p:nvSpPr>
          <p:cNvPr id="29" name="Rectangle 28"/>
          <p:cNvSpPr/>
          <p:nvPr/>
        </p:nvSpPr>
        <p:spPr>
          <a:xfrm>
            <a:off x="8412480" y="1938528"/>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8412480" y="2011680"/>
            <a:ext cx="3291840" cy="411480"/>
          </a:xfrm>
          <a:prstGeom prst="rect">
            <a:avLst/>
          </a:prstGeom>
          <a:noFill/>
        </p:spPr>
        <p:txBody>
          <a:bodyPr wrap="square">
            <a:spAutoFit/>
          </a:bodyPr>
          <a:lstStyle/>
          <a:p>
            <a:pPr algn="l"/>
            <a:r>
              <a:rPr sz="1200" b="1">
                <a:solidFill>
                  <a:srgbClr val="FFFFFF"/>
                </a:solidFill>
                <a:latin typeface="Calibri"/>
              </a:rPr>
              <a:t>La transparencia es un requerimiento funcional.</a:t>
            </a:r>
          </a:p>
        </p:txBody>
      </p:sp>
      <p:sp>
        <p:nvSpPr>
          <p:cNvPr id="31" name="TextBox 30"/>
          <p:cNvSpPr txBox="1"/>
          <p:nvPr/>
        </p:nvSpPr>
        <p:spPr>
          <a:xfrm>
            <a:off x="8412480" y="2468880"/>
            <a:ext cx="3291840" cy="841248"/>
          </a:xfrm>
          <a:prstGeom prst="rect">
            <a:avLst/>
          </a:prstGeom>
          <a:noFill/>
        </p:spPr>
        <p:txBody>
          <a:bodyPr wrap="square">
            <a:spAutoFit/>
          </a:bodyPr>
          <a:lstStyle/>
          <a:p>
            <a:pPr algn="l"/>
            <a:r>
              <a:rPr sz="1100" b="0">
                <a:solidFill>
                  <a:srgbClr val="FFFFFF"/>
                </a:solidFill>
                <a:latin typeface="Calibri"/>
              </a:rPr>
              <a:t>En tecnologia electoral, la confianza es condicion de utilidad.</a:t>
            </a:r>
          </a:p>
        </p:txBody>
      </p:sp>
      <p:sp>
        <p:nvSpPr>
          <p:cNvPr id="32" name="Rectangle 31"/>
          <p:cNvSpPr/>
          <p:nvPr/>
        </p:nvSpPr>
        <p:spPr>
          <a:xfrm>
            <a:off x="8412480" y="3419856"/>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8412480" y="3493008"/>
            <a:ext cx="3291840" cy="411480"/>
          </a:xfrm>
          <a:prstGeom prst="rect">
            <a:avLst/>
          </a:prstGeom>
          <a:noFill/>
        </p:spPr>
        <p:txBody>
          <a:bodyPr wrap="square">
            <a:spAutoFit/>
          </a:bodyPr>
          <a:lstStyle/>
          <a:p>
            <a:pPr algn="l"/>
            <a:r>
              <a:rPr sz="1200" b="1">
                <a:solidFill>
                  <a:srgbClr val="FFFFFF"/>
                </a:solidFill>
                <a:latin typeface="Calibri"/>
              </a:rPr>
              <a:t>El diseno para incertidumbre requiere honestidad explicita.</a:t>
            </a:r>
          </a:p>
        </p:txBody>
      </p:sp>
      <p:sp>
        <p:nvSpPr>
          <p:cNvPr id="34" name="TextBox 33"/>
          <p:cNvSpPr txBox="1"/>
          <p:nvPr/>
        </p:nvSpPr>
        <p:spPr>
          <a:xfrm>
            <a:off x="8412480" y="3950208"/>
            <a:ext cx="3291840" cy="841248"/>
          </a:xfrm>
          <a:prstGeom prst="rect">
            <a:avLst/>
          </a:prstGeom>
          <a:noFill/>
        </p:spPr>
        <p:txBody>
          <a:bodyPr wrap="square">
            <a:spAutoFit/>
          </a:bodyPr>
          <a:lstStyle/>
          <a:p>
            <a:pPr algn="l"/>
            <a:r>
              <a:rPr sz="1100" b="0">
                <a:solidFill>
                  <a:srgbClr val="FFFFFF"/>
                </a:solidFill>
                <a:latin typeface="Calibri"/>
              </a:rPr>
              <a:t>Comunicar la incertidumbre del resultado protege la credibilidad.</a:t>
            </a:r>
          </a:p>
        </p:txBody>
      </p:sp>
      <p:sp>
        <p:nvSpPr>
          <p:cNvPr id="35" name="Rectangle 34"/>
          <p:cNvSpPr/>
          <p:nvPr/>
        </p:nvSpPr>
        <p:spPr>
          <a:xfrm>
            <a:off x="8412480" y="4901184"/>
            <a:ext cx="30175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8412480" y="4974336"/>
            <a:ext cx="3291840" cy="411480"/>
          </a:xfrm>
          <a:prstGeom prst="rect">
            <a:avLst/>
          </a:prstGeom>
          <a:noFill/>
        </p:spPr>
        <p:txBody>
          <a:bodyPr wrap="square">
            <a:spAutoFit/>
          </a:bodyPr>
          <a:lstStyle/>
          <a:p>
            <a:pPr algn="l"/>
            <a:r>
              <a:rPr sz="1200" b="1">
                <a:solidFill>
                  <a:srgbClr val="FFFFFF"/>
                </a:solidFill>
                <a:latin typeface="Calibri"/>
              </a:rPr>
              <a:t>La ingenieria publica exige un estandar etico diferente.</a:t>
            </a:r>
          </a:p>
        </p:txBody>
      </p:sp>
      <p:sp>
        <p:nvSpPr>
          <p:cNvPr id="37" name="TextBox 36"/>
          <p:cNvSpPr txBox="1"/>
          <p:nvPr/>
        </p:nvSpPr>
        <p:spPr>
          <a:xfrm>
            <a:off x="8412480" y="5431536"/>
            <a:ext cx="3291840" cy="841248"/>
          </a:xfrm>
          <a:prstGeom prst="rect">
            <a:avLst/>
          </a:prstGeom>
          <a:noFill/>
        </p:spPr>
        <p:txBody>
          <a:bodyPr wrap="square">
            <a:spAutoFit/>
          </a:bodyPr>
          <a:lstStyle/>
          <a:p>
            <a:pPr algn="l"/>
            <a:r>
              <a:rPr sz="1100" b="0">
                <a:solidFill>
                  <a:srgbClr val="FFFFFF"/>
                </a:solidFill>
                <a:latin typeface="Calibri"/>
              </a:rPr>
              <a:t>La escala etica de este tipo de software es distinta a la comercial.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LIMITACIONES ACTUALES</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4000" b="1">
                <a:solidFill>
                  <a:srgbClr val="FFFFFF"/>
                </a:solidFill>
                <a:latin typeface="Calibri"/>
              </a:rPr>
              <a:t>Honestidad sobre lo que falta</a:t>
            </a:r>
          </a:p>
        </p:txBody>
      </p:sp>
      <p:sp>
        <p:nvSpPr>
          <p:cNvPr id="5" name="Rectangle 4"/>
          <p:cNvSpPr/>
          <p:nvPr/>
        </p:nvSpPr>
        <p:spPr>
          <a:xfrm>
            <a:off x="457200" y="1572768"/>
            <a:ext cx="5577840" cy="233172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709928"/>
            <a:ext cx="5212080" cy="384048"/>
          </a:xfrm>
          <a:prstGeom prst="rect">
            <a:avLst/>
          </a:prstGeom>
          <a:noFill/>
        </p:spPr>
        <p:txBody>
          <a:bodyPr wrap="square">
            <a:spAutoFit/>
          </a:bodyPr>
          <a:lstStyle/>
          <a:p>
            <a:pPr algn="l"/>
            <a:r>
              <a:rPr sz="1200" b="1">
                <a:solidFill>
                  <a:srgbClr val="FFFFFF"/>
                </a:solidFill>
                <a:latin typeface="Calibri"/>
              </a:rPr>
              <a:t>VERIFICACION DE DATOS</a:t>
            </a:r>
          </a:p>
        </p:txBody>
      </p:sp>
      <p:sp>
        <p:nvSpPr>
          <p:cNvPr id="7" name="Rectangle 6"/>
          <p:cNvSpPr/>
          <p:nvPr/>
        </p:nvSpPr>
        <p:spPr>
          <a:xfrm>
            <a:off x="640080" y="2139696"/>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2258568"/>
            <a:ext cx="5212080" cy="1536192"/>
          </a:xfrm>
          <a:prstGeom prst="rect">
            <a:avLst/>
          </a:prstGeom>
          <a:noFill/>
        </p:spPr>
        <p:txBody>
          <a:bodyPr wrap="square">
            <a:spAutoFit/>
          </a:bodyPr>
          <a:lstStyle/>
          <a:p>
            <a:pPr algn="l"/>
            <a:r>
              <a:rPr sz="1300" b="0">
                <a:solidFill>
                  <a:srgbClr val="FFFFFF"/>
                </a:solidFill>
                <a:latin typeface="Calibri"/>
              </a:rPr>
              <a:t>Posturas con confianza MEDIA y BAJA en el sistema.
El sistema las comunica, pero el ideal es verificacion completa pre-lanzamiento.</a:t>
            </a:r>
          </a:p>
        </p:txBody>
      </p:sp>
      <p:sp>
        <p:nvSpPr>
          <p:cNvPr id="9" name="Rectangle 8"/>
          <p:cNvSpPr/>
          <p:nvPr/>
        </p:nvSpPr>
        <p:spPr>
          <a:xfrm>
            <a:off x="6309360" y="1572768"/>
            <a:ext cx="5577840" cy="233172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92240" y="1709928"/>
            <a:ext cx="5212080" cy="384048"/>
          </a:xfrm>
          <a:prstGeom prst="rect">
            <a:avLst/>
          </a:prstGeom>
          <a:noFill/>
        </p:spPr>
        <p:txBody>
          <a:bodyPr wrap="square">
            <a:spAutoFit/>
          </a:bodyPr>
          <a:lstStyle/>
          <a:p>
            <a:pPr algn="l"/>
            <a:r>
              <a:rPr sz="1200" b="1">
                <a:solidFill>
                  <a:srgbClr val="FFFFFF"/>
                </a:solidFill>
                <a:latin typeface="Calibri"/>
              </a:rPr>
              <a:t>ESCALA DEL CUESTIONARIO</a:t>
            </a:r>
          </a:p>
        </p:txBody>
      </p:sp>
      <p:sp>
        <p:nvSpPr>
          <p:cNvPr id="11" name="Rectangle 10"/>
          <p:cNvSpPr/>
          <p:nvPr/>
        </p:nvSpPr>
        <p:spPr>
          <a:xfrm>
            <a:off x="6492240" y="2139696"/>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2258568"/>
            <a:ext cx="5212080" cy="1536192"/>
          </a:xfrm>
          <a:prstGeom prst="rect">
            <a:avLst/>
          </a:prstGeom>
          <a:noFill/>
        </p:spPr>
        <p:txBody>
          <a:bodyPr wrap="square">
            <a:spAutoFit/>
          </a:bodyPr>
          <a:lstStyle/>
          <a:p>
            <a:pPr algn="l"/>
            <a:r>
              <a:rPr sz="1300" b="0">
                <a:solidFill>
                  <a:srgbClr val="FFFFFF"/>
                </a:solidFill>
                <a:latin typeface="Calibri"/>
              </a:rPr>
              <a:t>12 preguntas vs Smartvote (75) o Wahl-O-Mat (38).
Objetivo v0.3: expansion a 30+ preguntas.</a:t>
            </a:r>
          </a:p>
        </p:txBody>
      </p:sp>
      <p:sp>
        <p:nvSpPr>
          <p:cNvPr id="13" name="Rectangle 12"/>
          <p:cNvSpPr/>
          <p:nvPr/>
        </p:nvSpPr>
        <p:spPr>
          <a:xfrm>
            <a:off x="457200" y="4087368"/>
            <a:ext cx="5577840" cy="2331720"/>
          </a:xfrm>
          <a:prstGeom prst="rect">
            <a:avLst/>
          </a:prstGeom>
          <a:solidFill>
            <a:srgbClr val="B85C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224528"/>
            <a:ext cx="5212080" cy="384048"/>
          </a:xfrm>
          <a:prstGeom prst="rect">
            <a:avLst/>
          </a:prstGeom>
          <a:noFill/>
        </p:spPr>
        <p:txBody>
          <a:bodyPr wrap="square">
            <a:spAutoFit/>
          </a:bodyPr>
          <a:lstStyle/>
          <a:p>
            <a:pPr algn="l"/>
            <a:r>
              <a:rPr sz="1200" b="1">
                <a:solidFill>
                  <a:srgbClr val="FFFFFF"/>
                </a:solidFill>
                <a:latin typeface="Calibri"/>
              </a:rPr>
              <a:t>TESTS DE FRONTEND</a:t>
            </a:r>
          </a:p>
        </p:txBody>
      </p:sp>
      <p:sp>
        <p:nvSpPr>
          <p:cNvPr id="15" name="Rectangle 14"/>
          <p:cNvSpPr/>
          <p:nvPr/>
        </p:nvSpPr>
        <p:spPr>
          <a:xfrm>
            <a:off x="640080" y="4654296"/>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4773168"/>
            <a:ext cx="5212080" cy="1536192"/>
          </a:xfrm>
          <a:prstGeom prst="rect">
            <a:avLst/>
          </a:prstGeom>
          <a:noFill/>
        </p:spPr>
        <p:txBody>
          <a:bodyPr wrap="square">
            <a:spAutoFit/>
          </a:bodyPr>
          <a:lstStyle/>
          <a:p>
            <a:pPr algn="l"/>
            <a:r>
              <a:rPr sz="1300" b="0">
                <a:solidFill>
                  <a:srgbClr val="FFFFFF"/>
                </a:solidFill>
                <a:latin typeface="Calibri"/>
              </a:rPr>
              <a:t>Suite solida en backend (370 tests). Frontend sin cobertura automatizada.
Riesgo de regresion en funcionalidades de interfaz.</a:t>
            </a:r>
          </a:p>
        </p:txBody>
      </p:sp>
      <p:sp>
        <p:nvSpPr>
          <p:cNvPr id="17" name="Rectangle 16"/>
          <p:cNvSpPr/>
          <p:nvPr/>
        </p:nvSpPr>
        <p:spPr>
          <a:xfrm>
            <a:off x="6309360" y="4087368"/>
            <a:ext cx="5577840" cy="2331720"/>
          </a:xfrm>
          <a:prstGeom prst="rect">
            <a:avLst/>
          </a:prstGeom>
          <a:solidFill>
            <a:srgbClr val="5A6B7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92240" y="4224528"/>
            <a:ext cx="5212080" cy="384048"/>
          </a:xfrm>
          <a:prstGeom prst="rect">
            <a:avLst/>
          </a:prstGeom>
          <a:noFill/>
        </p:spPr>
        <p:txBody>
          <a:bodyPr wrap="square">
            <a:spAutoFit/>
          </a:bodyPr>
          <a:lstStyle/>
          <a:p>
            <a:pPr algn="l"/>
            <a:r>
              <a:rPr sz="1200" b="1">
                <a:solidFill>
                  <a:srgbClr val="FFFFFF"/>
                </a:solidFill>
                <a:latin typeface="Calibri"/>
              </a:rPr>
              <a:t>SOSTENIBILIDAD</a:t>
            </a:r>
          </a:p>
        </p:txBody>
      </p:sp>
      <p:sp>
        <p:nvSpPr>
          <p:cNvPr id="19" name="Rectangle 18"/>
          <p:cNvSpPr/>
          <p:nvPr/>
        </p:nvSpPr>
        <p:spPr>
          <a:xfrm>
            <a:off x="6492240" y="4654296"/>
            <a:ext cx="484632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4773168"/>
            <a:ext cx="5212080" cy="1536192"/>
          </a:xfrm>
          <a:prstGeom prst="rect">
            <a:avLst/>
          </a:prstGeom>
          <a:noFill/>
        </p:spPr>
        <p:txBody>
          <a:bodyPr wrap="square">
            <a:spAutoFit/>
          </a:bodyPr>
          <a:lstStyle/>
          <a:p>
            <a:pPr algn="l"/>
            <a:r>
              <a:rPr sz="1300" b="0">
                <a:solidFill>
                  <a:srgbClr val="FFFFFF"/>
                </a:solidFill>
                <a:latin typeface="Calibri"/>
              </a:rPr>
              <a:t>Modelo actual: proyecto personal sin respaldo institucional.
La continuidad entre ciclos electorales aun no esta resuelta.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5F7F5"/>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ROADMAP</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4200" b="1">
                <a:solidFill>
                  <a:srgbClr val="1C3A52"/>
                </a:solidFill>
                <a:latin typeface="Calibri"/>
              </a:rPr>
              <a:t>Los proximos pasos</a:t>
            </a:r>
          </a:p>
        </p:txBody>
      </p:sp>
      <p:sp>
        <p:nvSpPr>
          <p:cNvPr id="5" name="Rectangle 4"/>
          <p:cNvSpPr/>
          <p:nvPr/>
        </p:nvSpPr>
        <p:spPr>
          <a:xfrm>
            <a:off x="457200" y="1389888"/>
            <a:ext cx="2743200" cy="4892040"/>
          </a:xfrm>
          <a:prstGeom prst="rect">
            <a:avLst/>
          </a:prstGeom>
          <a:solidFill>
            <a:srgbClr val="C89B5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94360" y="1508760"/>
            <a:ext cx="2487168" cy="475488"/>
          </a:xfrm>
          <a:prstGeom prst="rect">
            <a:avLst/>
          </a:prstGeom>
          <a:noFill/>
        </p:spPr>
        <p:txBody>
          <a:bodyPr wrap="square">
            <a:spAutoFit/>
          </a:bodyPr>
          <a:lstStyle/>
          <a:p>
            <a:pPr algn="l"/>
            <a:r>
              <a:rPr sz="2200" b="1">
                <a:solidFill>
                  <a:srgbClr val="FFFFFF"/>
                </a:solidFill>
                <a:latin typeface="Calibri"/>
              </a:rPr>
              <a:t>v0.2</a:t>
            </a:r>
          </a:p>
        </p:txBody>
      </p:sp>
      <p:sp>
        <p:nvSpPr>
          <p:cNvPr id="7" name="TextBox 6"/>
          <p:cNvSpPr txBox="1"/>
          <p:nvPr/>
        </p:nvSpPr>
        <p:spPr>
          <a:xfrm>
            <a:off x="594360" y="2029968"/>
            <a:ext cx="2487168" cy="475488"/>
          </a:xfrm>
          <a:prstGeom prst="rect">
            <a:avLst/>
          </a:prstGeom>
          <a:noFill/>
        </p:spPr>
        <p:txBody>
          <a:bodyPr wrap="square">
            <a:spAutoFit/>
          </a:bodyPr>
          <a:lstStyle/>
          <a:p>
            <a:pPr algn="l"/>
            <a:r>
              <a:rPr sz="1300" b="1">
                <a:solidFill>
                  <a:srgbClr val="FFFFFF"/>
                </a:solidFill>
                <a:latin typeface="Calibri"/>
              </a:rPr>
              <a:t>DATOS VERIFICADOS</a:t>
            </a:r>
          </a:p>
        </p:txBody>
      </p:sp>
      <p:sp>
        <p:nvSpPr>
          <p:cNvPr id="8" name="Rectangle 7"/>
          <p:cNvSpPr/>
          <p:nvPr/>
        </p:nvSpPr>
        <p:spPr>
          <a:xfrm>
            <a:off x="594360" y="2542032"/>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2651760"/>
            <a:ext cx="2514600" cy="3383280"/>
          </a:xfrm>
          <a:prstGeom prst="rect">
            <a:avLst/>
          </a:prstGeom>
          <a:noFill/>
        </p:spPr>
        <p:txBody>
          <a:bodyPr wrap="square">
            <a:spAutoFit/>
          </a:bodyPr>
          <a:lstStyle/>
          <a:p>
            <a:pPr algn="l"/>
            <a:r>
              <a:rPr sz="1200" b="0">
                <a:solidFill>
                  <a:srgbClr val="FFFFFF"/>
                </a:solidFill>
                <a:latin typeface="Calibri"/>
              </a:rPr>
              <a:t>Verificacion completa de posturas
Fuentes primarias por candidato
Changelog publico de verificaciones</a:t>
            </a:r>
          </a:p>
        </p:txBody>
      </p:sp>
      <p:sp>
        <p:nvSpPr>
          <p:cNvPr id="10" name="Rectangle 9"/>
          <p:cNvSpPr/>
          <p:nvPr/>
        </p:nvSpPr>
        <p:spPr>
          <a:xfrm>
            <a:off x="3337560" y="1389888"/>
            <a:ext cx="2743200" cy="489204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3474720" y="1508760"/>
            <a:ext cx="2487168" cy="475488"/>
          </a:xfrm>
          <a:prstGeom prst="rect">
            <a:avLst/>
          </a:prstGeom>
          <a:noFill/>
        </p:spPr>
        <p:txBody>
          <a:bodyPr wrap="square">
            <a:spAutoFit/>
          </a:bodyPr>
          <a:lstStyle/>
          <a:p>
            <a:pPr algn="l"/>
            <a:r>
              <a:rPr sz="2200" b="1">
                <a:solidFill>
                  <a:srgbClr val="FFFFFF"/>
                </a:solidFill>
                <a:latin typeface="Calibri"/>
              </a:rPr>
              <a:t>v0.3</a:t>
            </a:r>
          </a:p>
        </p:txBody>
      </p:sp>
      <p:sp>
        <p:nvSpPr>
          <p:cNvPr id="12" name="TextBox 11"/>
          <p:cNvSpPr txBox="1"/>
          <p:nvPr/>
        </p:nvSpPr>
        <p:spPr>
          <a:xfrm>
            <a:off x="3474720" y="2029968"/>
            <a:ext cx="2487168" cy="475488"/>
          </a:xfrm>
          <a:prstGeom prst="rect">
            <a:avLst/>
          </a:prstGeom>
          <a:noFill/>
        </p:spPr>
        <p:txBody>
          <a:bodyPr wrap="square">
            <a:spAutoFit/>
          </a:bodyPr>
          <a:lstStyle/>
          <a:p>
            <a:pPr algn="l"/>
            <a:r>
              <a:rPr sz="1300" b="1">
                <a:solidFill>
                  <a:srgbClr val="FFFFFF"/>
                </a:solidFill>
                <a:latin typeface="Calibri"/>
              </a:rPr>
              <a:t>EXPLICABILIDAD</a:t>
            </a:r>
          </a:p>
        </p:txBody>
      </p:sp>
      <p:sp>
        <p:nvSpPr>
          <p:cNvPr id="13" name="Rectangle 12"/>
          <p:cNvSpPr/>
          <p:nvPr/>
        </p:nvSpPr>
        <p:spPr>
          <a:xfrm>
            <a:off x="3474720" y="2542032"/>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474720" y="2651760"/>
            <a:ext cx="2514600" cy="3383280"/>
          </a:xfrm>
          <a:prstGeom prst="rect">
            <a:avLst/>
          </a:prstGeom>
          <a:noFill/>
        </p:spPr>
        <p:txBody>
          <a:bodyPr wrap="square">
            <a:spAutoFit/>
          </a:bodyPr>
          <a:lstStyle/>
          <a:p>
            <a:pPr algn="l"/>
            <a:r>
              <a:rPr sz="1200" b="0">
                <a:solidFill>
                  <a:srgbClr val="FFFFFF"/>
                </a:solidFill>
                <a:latin typeface="Calibri"/>
              </a:rPr>
              <a:t>Que preguntas causan el ranking
Simulador de sensibilidad del resultado
30+ preguntas en el cuestionario</a:t>
            </a:r>
          </a:p>
        </p:txBody>
      </p:sp>
      <p:sp>
        <p:nvSpPr>
          <p:cNvPr id="15" name="Rectangle 14"/>
          <p:cNvSpPr/>
          <p:nvPr/>
        </p:nvSpPr>
        <p:spPr>
          <a:xfrm>
            <a:off x="6217920" y="1389888"/>
            <a:ext cx="2743200" cy="489204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355080" y="1508760"/>
            <a:ext cx="2487168" cy="475488"/>
          </a:xfrm>
          <a:prstGeom prst="rect">
            <a:avLst/>
          </a:prstGeom>
          <a:noFill/>
        </p:spPr>
        <p:txBody>
          <a:bodyPr wrap="square">
            <a:spAutoFit/>
          </a:bodyPr>
          <a:lstStyle/>
          <a:p>
            <a:pPr algn="l"/>
            <a:r>
              <a:rPr sz="2200" b="1">
                <a:solidFill>
                  <a:srgbClr val="FFFFFF"/>
                </a:solidFill>
                <a:latin typeface="Calibri"/>
              </a:rPr>
              <a:t>v0.4</a:t>
            </a:r>
          </a:p>
        </p:txBody>
      </p:sp>
      <p:sp>
        <p:nvSpPr>
          <p:cNvPr id="17" name="TextBox 16"/>
          <p:cNvSpPr txBox="1"/>
          <p:nvPr/>
        </p:nvSpPr>
        <p:spPr>
          <a:xfrm>
            <a:off x="6355080" y="2029968"/>
            <a:ext cx="2487168" cy="475488"/>
          </a:xfrm>
          <a:prstGeom prst="rect">
            <a:avLst/>
          </a:prstGeom>
          <a:noFill/>
        </p:spPr>
        <p:txBody>
          <a:bodyPr wrap="square">
            <a:spAutoFit/>
          </a:bodyPr>
          <a:lstStyle/>
          <a:p>
            <a:pPr algn="l"/>
            <a:r>
              <a:rPr sz="1300" b="1">
                <a:solidFill>
                  <a:srgbClr val="FFFFFF"/>
                </a:solidFill>
                <a:latin typeface="Calibri"/>
              </a:rPr>
              <a:t>EXPANSION DE COBERTURA</a:t>
            </a:r>
          </a:p>
        </p:txBody>
      </p:sp>
      <p:sp>
        <p:nvSpPr>
          <p:cNvPr id="18" name="Rectangle 17"/>
          <p:cNvSpPr/>
          <p:nvPr/>
        </p:nvSpPr>
        <p:spPr>
          <a:xfrm>
            <a:off x="6355080" y="2542032"/>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355080" y="2651760"/>
            <a:ext cx="2514600" cy="3383280"/>
          </a:xfrm>
          <a:prstGeom prst="rect">
            <a:avLst/>
          </a:prstGeom>
          <a:noFill/>
        </p:spPr>
        <p:txBody>
          <a:bodyPr wrap="square">
            <a:spAutoFit/>
          </a:bodyPr>
          <a:lstStyle/>
          <a:p>
            <a:pPr algn="l"/>
            <a:r>
              <a:rPr sz="1200" b="0">
                <a:solidFill>
                  <a:srgbClr val="FFFFFF"/>
                </a:solidFill>
                <a:latin typeface="Calibri"/>
              </a:rPr>
              <a:t>Elecciones municipales y regionales
Onboarding del lado del candidato
Notificaciones personalizadas</a:t>
            </a:r>
          </a:p>
        </p:txBody>
      </p:sp>
      <p:sp>
        <p:nvSpPr>
          <p:cNvPr id="20" name="Rectangle 19"/>
          <p:cNvSpPr/>
          <p:nvPr/>
        </p:nvSpPr>
        <p:spPr>
          <a:xfrm>
            <a:off x="9098280" y="1389888"/>
            <a:ext cx="2743200" cy="489204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35440" y="1508760"/>
            <a:ext cx="2487168" cy="475488"/>
          </a:xfrm>
          <a:prstGeom prst="rect">
            <a:avLst/>
          </a:prstGeom>
          <a:noFill/>
        </p:spPr>
        <p:txBody>
          <a:bodyPr wrap="square">
            <a:spAutoFit/>
          </a:bodyPr>
          <a:lstStyle/>
          <a:p>
            <a:pPr algn="l"/>
            <a:r>
              <a:rPr sz="2200" b="1">
                <a:solidFill>
                  <a:srgbClr val="FFFFFF"/>
                </a:solidFill>
                <a:latin typeface="Calibri"/>
              </a:rPr>
              <a:t>v1.0</a:t>
            </a:r>
          </a:p>
        </p:txBody>
      </p:sp>
      <p:sp>
        <p:nvSpPr>
          <p:cNvPr id="22" name="TextBox 21"/>
          <p:cNvSpPr txBox="1"/>
          <p:nvPr/>
        </p:nvSpPr>
        <p:spPr>
          <a:xfrm>
            <a:off x="9235440" y="2029968"/>
            <a:ext cx="2487168" cy="475488"/>
          </a:xfrm>
          <a:prstGeom prst="rect">
            <a:avLst/>
          </a:prstGeom>
          <a:noFill/>
        </p:spPr>
        <p:txBody>
          <a:bodyPr wrap="square">
            <a:spAutoFit/>
          </a:bodyPr>
          <a:lstStyle/>
          <a:p>
            <a:pPr algn="l"/>
            <a:r>
              <a:rPr sz="1300" b="1">
                <a:solidFill>
                  <a:srgbClr val="FFFFFF"/>
                </a:solidFill>
                <a:latin typeface="Calibri"/>
              </a:rPr>
              <a:t>LANZAMIENTO PUBLICO</a:t>
            </a:r>
          </a:p>
        </p:txBody>
      </p:sp>
      <p:sp>
        <p:nvSpPr>
          <p:cNvPr id="23" name="Rectangle 22"/>
          <p:cNvSpPr/>
          <p:nvPr/>
        </p:nvSpPr>
        <p:spPr>
          <a:xfrm>
            <a:off x="9235440" y="2542032"/>
            <a:ext cx="2194560" cy="36576"/>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235440" y="2651760"/>
            <a:ext cx="2514600" cy="3383280"/>
          </a:xfrm>
          <a:prstGeom prst="rect">
            <a:avLst/>
          </a:prstGeom>
          <a:noFill/>
        </p:spPr>
        <p:txBody>
          <a:bodyPr wrap="square">
            <a:spAutoFit/>
          </a:bodyPr>
          <a:lstStyle/>
          <a:p>
            <a:pPr algn="l"/>
            <a:r>
              <a:rPr sz="1200" b="0">
                <a:solidFill>
                  <a:srgbClr val="FFFFFF"/>
                </a:solidFill>
                <a:latin typeface="Calibri"/>
              </a:rPr>
              <a:t>Hosting en produccion
Pruebas de carga dia de eleccion
Internacionalizacion a LatAm</a:t>
            </a:r>
          </a:p>
        </p:txBody>
      </p:sp>
      <p:sp>
        <p:nvSpPr>
          <p:cNvPr id="25" name="TextBox 24"/>
          <p:cNvSpPr txBox="1"/>
          <p:nvPr/>
        </p:nvSpPr>
        <p:spPr>
          <a:xfrm>
            <a:off x="457200" y="6400800"/>
            <a:ext cx="11247120" cy="384048"/>
          </a:xfrm>
          <a:prstGeom prst="rect">
            <a:avLst/>
          </a:prstGeom>
          <a:noFill/>
        </p:spPr>
        <p:txBody>
          <a:bodyPr wrap="square">
            <a:spAutoFit/>
          </a:bodyPr>
          <a:lstStyle/>
          <a:p>
            <a:pPr algn="ctr"/>
            <a:r>
              <a:rPr sz="1200" b="0">
                <a:solidFill>
                  <a:srgbClr val="5A6B73"/>
                </a:solidFill>
                <a:latin typeface="Calibri"/>
              </a:rPr>
              <a:t>Vision de sostenibilidad: alianza institucional con SERVEL, universidades o medios. Referente: Vote Compass + CBC Canada.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6400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128016"/>
            <a:ext cx="10972800" cy="292608"/>
          </a:xfrm>
          <a:prstGeom prst="rect">
            <a:avLst/>
          </a:prstGeom>
          <a:noFill/>
        </p:spPr>
        <p:txBody>
          <a:bodyPr wrap="square">
            <a:spAutoFit/>
          </a:bodyPr>
          <a:lstStyle/>
          <a:p>
            <a:pPr algn="l"/>
            <a:r>
              <a:rPr sz="1000" b="1">
                <a:solidFill>
                  <a:srgbClr val="2E5F7E"/>
                </a:solidFill>
                <a:latin typeface="Calibri"/>
              </a:rPr>
              <a:t>CONCLUSIONES</a:t>
            </a:r>
          </a:p>
        </p:txBody>
      </p:sp>
      <p:sp>
        <p:nvSpPr>
          <p:cNvPr id="4" name="TextBox 3"/>
          <p:cNvSpPr txBox="1"/>
          <p:nvPr/>
        </p:nvSpPr>
        <p:spPr>
          <a:xfrm>
            <a:off x="548640" y="411480"/>
            <a:ext cx="10972800" cy="640080"/>
          </a:xfrm>
          <a:prstGeom prst="rect">
            <a:avLst/>
          </a:prstGeom>
          <a:noFill/>
        </p:spPr>
        <p:txBody>
          <a:bodyPr wrap="square">
            <a:spAutoFit/>
          </a:bodyPr>
          <a:lstStyle/>
          <a:p>
            <a:pPr algn="l"/>
            <a:r>
              <a:rPr sz="3800" b="1">
                <a:solidFill>
                  <a:srgbClr val="FFFFFF"/>
                </a:solidFill>
                <a:latin typeface="Calibri"/>
              </a:rPr>
              <a:t>El valor generado en tres dimensiones</a:t>
            </a:r>
          </a:p>
        </p:txBody>
      </p:sp>
      <p:sp>
        <p:nvSpPr>
          <p:cNvPr id="5" name="Rectangle 4"/>
          <p:cNvSpPr/>
          <p:nvPr/>
        </p:nvSpPr>
        <p:spPr>
          <a:xfrm>
            <a:off x="457200" y="1572768"/>
            <a:ext cx="11247120" cy="1600200"/>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640080" y="1682496"/>
            <a:ext cx="3657600" cy="384048"/>
          </a:xfrm>
          <a:prstGeom prst="rect">
            <a:avLst/>
          </a:prstGeom>
          <a:noFill/>
        </p:spPr>
        <p:txBody>
          <a:bodyPr wrap="square">
            <a:spAutoFit/>
          </a:bodyPr>
          <a:lstStyle/>
          <a:p>
            <a:pPr algn="l"/>
            <a:r>
              <a:rPr sz="1300" b="1">
                <a:solidFill>
                  <a:srgbClr val="FFFFFF"/>
                </a:solidFill>
                <a:latin typeface="Calibri"/>
              </a:rPr>
              <a:t>VALOR DE PRODUCTO</a:t>
            </a:r>
          </a:p>
        </p:txBody>
      </p:sp>
      <p:sp>
        <p:nvSpPr>
          <p:cNvPr id="7" name="TextBox 6"/>
          <p:cNvSpPr txBox="1"/>
          <p:nvPr/>
        </p:nvSpPr>
        <p:spPr>
          <a:xfrm>
            <a:off x="640080" y="2084831"/>
            <a:ext cx="10789920" cy="987552"/>
          </a:xfrm>
          <a:prstGeom prst="rect">
            <a:avLst/>
          </a:prstGeom>
          <a:noFill/>
        </p:spPr>
        <p:txBody>
          <a:bodyPr wrap="square">
            <a:spAutoFit/>
          </a:bodyPr>
          <a:lstStyle/>
          <a:p>
            <a:pPr algn="l"/>
            <a:r>
              <a:rPr sz="1400" b="0">
                <a:solidFill>
                  <a:srgbClr val="FFFFFF"/>
                </a:solidFill>
                <a:latin typeface="Calibri"/>
              </a:rPr>
              <a:t>Un sistema funcional que no existia en Chile al inicio del proyecto.
Cualquier votante chileno que lo utilice dispone de informacion
estructurada que ninguna herramienta local le provia de manera equivalente.</a:t>
            </a:r>
          </a:p>
        </p:txBody>
      </p:sp>
      <p:sp>
        <p:nvSpPr>
          <p:cNvPr id="8" name="Rectangle 7"/>
          <p:cNvSpPr/>
          <p:nvPr/>
        </p:nvSpPr>
        <p:spPr>
          <a:xfrm>
            <a:off x="457200" y="3291839"/>
            <a:ext cx="11247120" cy="160020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3401568"/>
            <a:ext cx="3657600" cy="384048"/>
          </a:xfrm>
          <a:prstGeom prst="rect">
            <a:avLst/>
          </a:prstGeom>
          <a:noFill/>
        </p:spPr>
        <p:txBody>
          <a:bodyPr wrap="square">
            <a:spAutoFit/>
          </a:bodyPr>
          <a:lstStyle/>
          <a:p>
            <a:pPr algn="l"/>
            <a:r>
              <a:rPr sz="1300" b="1">
                <a:solidFill>
                  <a:srgbClr val="FFFFFF"/>
                </a:solidFill>
                <a:latin typeface="Calibri"/>
              </a:rPr>
              <a:t>VALOR ACADEMICO</a:t>
            </a:r>
          </a:p>
        </p:txBody>
      </p:sp>
      <p:sp>
        <p:nvSpPr>
          <p:cNvPr id="10" name="TextBox 9"/>
          <p:cNvSpPr txBox="1"/>
          <p:nvPr/>
        </p:nvSpPr>
        <p:spPr>
          <a:xfrm>
            <a:off x="640080" y="3803904"/>
            <a:ext cx="10789920" cy="987552"/>
          </a:xfrm>
          <a:prstGeom prst="rect">
            <a:avLst/>
          </a:prstGeom>
          <a:noFill/>
        </p:spPr>
        <p:txBody>
          <a:bodyPr wrap="square">
            <a:spAutoFit/>
          </a:bodyPr>
          <a:lstStyle/>
          <a:p>
            <a:pPr algn="l"/>
            <a:r>
              <a:rPr sz="1400" b="0">
                <a:solidFill>
                  <a:srgbClr val="FFFFFF"/>
                </a:solidFill>
                <a:latin typeface="Calibri"/>
              </a:rPr>
              <a:t>Conocimiento documentado sobre el problema de la desinformacion electoral.
Diseno de VAAs en contextos de informacion incompleta.
Aplicacion de principios de ingenieria de software a productos de interes civico.</a:t>
            </a:r>
          </a:p>
        </p:txBody>
      </p:sp>
      <p:sp>
        <p:nvSpPr>
          <p:cNvPr id="11" name="Rectangle 10"/>
          <p:cNvSpPr/>
          <p:nvPr/>
        </p:nvSpPr>
        <p:spPr>
          <a:xfrm>
            <a:off x="457200" y="5010912"/>
            <a:ext cx="11247120" cy="1600200"/>
          </a:xfrm>
          <a:prstGeom prst="rect">
            <a:avLst/>
          </a:prstGeom>
          <a:solidFill>
            <a:srgbClr val="1C3A5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5120640"/>
            <a:ext cx="3657600" cy="384048"/>
          </a:xfrm>
          <a:prstGeom prst="rect">
            <a:avLst/>
          </a:prstGeom>
          <a:noFill/>
        </p:spPr>
        <p:txBody>
          <a:bodyPr wrap="square">
            <a:spAutoFit/>
          </a:bodyPr>
          <a:lstStyle/>
          <a:p>
            <a:pPr algn="l"/>
            <a:r>
              <a:rPr sz="1300" b="1">
                <a:solidFill>
                  <a:srgbClr val="FFFFFF"/>
                </a:solidFill>
                <a:latin typeface="Calibri"/>
              </a:rPr>
              <a:t>VALOR DE INFRAESTRUCTURA</a:t>
            </a:r>
          </a:p>
        </p:txBody>
      </p:sp>
      <p:sp>
        <p:nvSpPr>
          <p:cNvPr id="13" name="TextBox 12"/>
          <p:cNvSpPr txBox="1"/>
          <p:nvPr/>
        </p:nvSpPr>
        <p:spPr>
          <a:xfrm>
            <a:off x="640080" y="5522975"/>
            <a:ext cx="10789920" cy="987552"/>
          </a:xfrm>
          <a:prstGeom prst="rect">
            <a:avLst/>
          </a:prstGeom>
          <a:noFill/>
        </p:spPr>
        <p:txBody>
          <a:bodyPr wrap="square">
            <a:spAutoFit/>
          </a:bodyPr>
          <a:lstStyle/>
          <a:p>
            <a:pPr algn="l"/>
            <a:r>
              <a:rPr sz="1400" b="0">
                <a:solidFill>
                  <a:srgbClr val="FFFFFF"/>
                </a:solidFill>
                <a:latin typeface="Calibri"/>
              </a:rPr>
              <a:t>Codigo fuente abierto bajo AGPL-3.0.
Base tecnica que otros grupos pueden adaptar a otros contextos
electorales latinoamericanos sin partir de cero.</a:t>
            </a:r>
          </a:p>
        </p:txBody>
      </p:sp>
      <p:sp>
        <p:nvSpPr>
          <p:cNvPr id="14" name="Rectangle 13"/>
          <p:cNvSpPr/>
          <p:nvPr/>
        </p:nvSpPr>
        <p:spPr>
          <a:xfrm>
            <a:off x="457200" y="6492240"/>
            <a:ext cx="11247120" cy="256032"/>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40080" y="6519672"/>
            <a:ext cx="10789920" cy="201168"/>
          </a:xfrm>
          <a:prstGeom prst="rect">
            <a:avLst/>
          </a:prstGeom>
          <a:noFill/>
        </p:spPr>
        <p:txBody>
          <a:bodyPr wrap="square">
            <a:spAutoFit/>
          </a:bodyPr>
          <a:lstStyle/>
          <a:p>
            <a:pPr algn="ctr"/>
            <a:r>
              <a:rPr sz="900" b="0">
                <a:solidFill>
                  <a:srgbClr val="FFFFFF"/>
                </a:solidFill>
                <a:latin typeface="Calibri"/>
              </a:rPr>
              <a:t>6 de 7 objetivos especificos cumplidos  |  MVP funcional  |  Codigo abierto AGPL-3.0  |  Repositorio publico: github.com/whatebria/tinder-decisivo</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10972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6748272"/>
            <a:ext cx="12188952" cy="109728"/>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1097280"/>
            <a:ext cx="10698480" cy="1600200"/>
          </a:xfrm>
          <a:prstGeom prst="rect">
            <a:avLst/>
          </a:prstGeom>
          <a:noFill/>
        </p:spPr>
        <p:txBody>
          <a:bodyPr wrap="square">
            <a:spAutoFit/>
          </a:bodyPr>
          <a:lstStyle/>
          <a:p>
            <a:pPr algn="ctr"/>
            <a:r>
              <a:rPr sz="4200" b="1">
                <a:solidFill>
                  <a:srgbClr val="FFFFFF"/>
                </a:solidFill>
                <a:latin typeface="Calibri"/>
              </a:rPr>
              <a:t>La ingenieria de productos de interes publico
exige un estandar etico diferente.</a:t>
            </a:r>
          </a:p>
        </p:txBody>
      </p:sp>
      <p:sp>
        <p:nvSpPr>
          <p:cNvPr id="5" name="TextBox 4"/>
          <p:cNvSpPr txBox="1"/>
          <p:nvPr/>
        </p:nvSpPr>
        <p:spPr>
          <a:xfrm>
            <a:off x="1371600" y="2880360"/>
            <a:ext cx="9418320" cy="1325880"/>
          </a:xfrm>
          <a:prstGeom prst="rect">
            <a:avLst/>
          </a:prstGeom>
          <a:noFill/>
        </p:spPr>
        <p:txBody>
          <a:bodyPr wrap="square">
            <a:spAutoFit/>
          </a:bodyPr>
          <a:lstStyle/>
          <a:p>
            <a:pPr algn="ctr"/>
            <a:r>
              <a:rPr sz="1700" b="0">
                <a:solidFill>
                  <a:srgbClr val="CBD1CD"/>
                </a:solidFill>
                <a:latin typeface="Calibri"/>
              </a:rPr>
              <a:t>En un producto comercial, ocultar la incertidumbre de un resultado
es un problema de experiencia de usuario.
En un producto electoral, es un problema de integridad democratica.</a:t>
            </a:r>
          </a:p>
        </p:txBody>
      </p:sp>
      <p:sp>
        <p:nvSpPr>
          <p:cNvPr id="6" name="Rectangle 5"/>
          <p:cNvSpPr/>
          <p:nvPr/>
        </p:nvSpPr>
        <p:spPr>
          <a:xfrm>
            <a:off x="4937760" y="4370832"/>
            <a:ext cx="2313432" cy="36576"/>
          </a:xfrm>
          <a:prstGeom prst="rect">
            <a:avLst/>
          </a:prstGeom>
          <a:solidFill>
            <a:srgbClr val="3A9E7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1371600" y="4572000"/>
            <a:ext cx="9418320" cy="914400"/>
          </a:xfrm>
          <a:prstGeom prst="rect">
            <a:avLst/>
          </a:prstGeom>
          <a:noFill/>
        </p:spPr>
        <p:txBody>
          <a:bodyPr wrap="square">
            <a:spAutoFit/>
          </a:bodyPr>
          <a:lstStyle/>
          <a:p>
            <a:pPr algn="ctr"/>
            <a:r>
              <a:rPr sz="1600" b="1">
                <a:solidFill>
                  <a:srgbClr val="3A9E7A"/>
                </a:solidFill>
                <a:latin typeface="Calibri"/>
              </a:rPr>
              <a:t>La tecnologia electoral deberia ser infraestructura publica,
auditable, con los mismos estandares de rigor que esperamos de la democracia.</a:t>
            </a:r>
          </a:p>
        </p:txBody>
      </p:sp>
      <p:sp>
        <p:nvSpPr>
          <p:cNvPr id="8" name="TextBox 7"/>
          <p:cNvSpPr txBox="1"/>
          <p:nvPr/>
        </p:nvSpPr>
        <p:spPr>
          <a:xfrm>
            <a:off x="1371600" y="6172200"/>
            <a:ext cx="9418320" cy="384048"/>
          </a:xfrm>
          <a:prstGeom prst="rect">
            <a:avLst/>
          </a:prstGeom>
          <a:noFill/>
        </p:spPr>
        <p:txBody>
          <a:bodyPr wrap="square">
            <a:spAutoFit/>
          </a:bodyPr>
          <a:lstStyle/>
          <a:p>
            <a:pPr algn="ctr"/>
            <a:r>
              <a:rPr sz="1200" b="0">
                <a:solidFill>
                  <a:srgbClr val="8A9199"/>
                </a:solidFill>
                <a:latin typeface="Calibri"/>
              </a:rPr>
              <a:t>Jenifer Castillo  --  UTFSM  --  Agosto 2026</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1C3A52"/>
        </a:solidFill>
        <a:effectLst/>
      </p:bgPr>
    </p:bg>
    <p:spTree>
      <p:nvGrpSpPr>
        <p:cNvPr id="1" name=""/>
        <p:cNvGrpSpPr/>
        <p:nvPr/>
      </p:nvGrpSpPr>
      <p:grpSpPr/>
      <p:sp>
        <p:nvSpPr>
          <p:cNvPr id="2" name="Rectangle 1"/>
          <p:cNvSpPr/>
          <p:nvPr/>
        </p:nvSpPr>
        <p:spPr>
          <a:xfrm>
            <a:off x="0" y="0"/>
            <a:ext cx="12188952" cy="91440"/>
          </a:xfrm>
          <a:prstGeom prst="rect">
            <a:avLst/>
          </a:prstGeom>
          <a:solidFill>
            <a:srgbClr val="2E5F7E"/>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828800" y="1645920"/>
            <a:ext cx="8503920" cy="1645920"/>
          </a:xfrm>
          <a:prstGeom prst="rect">
            <a:avLst/>
          </a:prstGeom>
          <a:noFill/>
        </p:spPr>
        <p:txBody>
          <a:bodyPr wrap="square">
            <a:spAutoFit/>
          </a:bodyPr>
          <a:lstStyle/>
          <a:p>
            <a:pPr algn="ctr"/>
            <a:r>
              <a:rPr sz="8000" b="1">
                <a:solidFill>
                  <a:srgbClr val="FFFFFF"/>
                </a:solidFill>
                <a:latin typeface="Calibri"/>
              </a:rPr>
              <a:t>Preguntas</a:t>
            </a:r>
          </a:p>
        </p:txBody>
      </p:sp>
      <p:sp>
        <p:nvSpPr>
          <p:cNvPr id="4" name="TextBox 3"/>
          <p:cNvSpPr txBox="1"/>
          <p:nvPr/>
        </p:nvSpPr>
        <p:spPr>
          <a:xfrm>
            <a:off x="1371600" y="5742432"/>
            <a:ext cx="9418320" cy="457200"/>
          </a:xfrm>
          <a:prstGeom prst="rect">
            <a:avLst/>
          </a:prstGeom>
          <a:noFill/>
        </p:spPr>
        <p:txBody>
          <a:bodyPr wrap="square">
            <a:spAutoFit/>
          </a:bodyPr>
          <a:lstStyle/>
          <a:p>
            <a:pPr algn="ctr"/>
            <a:r>
              <a:rPr sz="1400" b="0">
                <a:solidFill>
                  <a:srgbClr val="3A9E7A"/>
                </a:solidFill>
                <a:latin typeface="Calibri"/>
              </a:rPr>
              <a:t>votoafin.cl  --  github.com/whatebria/tinder-decisivo  --  AGPL-3.0</a:t>
            </a:r>
          </a:p>
        </p:txBody>
      </p:sp>
      <p:sp>
        <p:nvSpPr>
          <p:cNvPr id="5" name="TextBox 4"/>
          <p:cNvSpPr txBox="1"/>
          <p:nvPr/>
        </p:nvSpPr>
        <p:spPr>
          <a:xfrm>
            <a:off x="1371600" y="6291072"/>
            <a:ext cx="9418320" cy="384048"/>
          </a:xfrm>
          <a:prstGeom prst="rect">
            <a:avLst/>
          </a:prstGeom>
          <a:noFill/>
        </p:spPr>
        <p:txBody>
          <a:bodyPr wrap="square">
            <a:spAutoFit/>
          </a:bodyPr>
          <a:lstStyle/>
          <a:p>
            <a:pPr algn="ctr"/>
            <a:r>
              <a:rPr sz="1200" b="0">
                <a:solidFill>
                  <a:srgbClr val="8A9199"/>
                </a:solidFill>
                <a:latin typeface="Calibri"/>
              </a:rPr>
              <a:t>Jenifer Castillo  --  UTFSM  --  Ingenieria en Informatica  --  Agosto 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