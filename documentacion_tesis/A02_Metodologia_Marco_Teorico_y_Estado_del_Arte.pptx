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presentacion justifica academicamente la solucion. Muestra el proceso de investigacion, los conceptos teoricos que fundamentan el sistema y el analisis comparativo con alternativas existentes.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la agenda. Esta PPT es la mas academica de las tres.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metodologia no fue un proceso lineal: cada fase retroalimento las anteriores. El descubrimiento del estado del arte en VAAs (fase 2) reformulo completamente la pregunta de diseno generada en la fase de ideacion.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combinacion de tres fuentes garantiza la validez triangulada del diagnostico. Las fuentes secundarias dan el contexto estadistico. El trabajo de campo valida empiricamente. El estado del arte define el espacio de solucion.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principio de requerimientos emergentes es clave en proyectos iterativos: no se penaliza que aparezcan nuevos requerimientos durante el desarrollo. Se documentan, priorizan y abordan de manera sistematica.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VAAs tienen 35 anos de historia academica. No son una idea nueva: son una categoria consolidada con validacion empirica. La innovacion de VotoAFin es la adaptacion al contexto chileno con codigo abierto.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seleccion de la funcion cuadratica no fue arbitraria. Louwerse y Rosema (2014) demostraron que esta metrica refleja mejor la intuicion politica sobre distancia entre posiciones que la distancia Manhattan.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distincion fundamental: asistencia vs. prescripcion. Un DSS no dice que decision tomar: provee informacion estructurada para que el usuario tome una mejor decision por si mismo.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principio de accesibilidad de VotoAFin: si la herramienta solo funciona para usuarios tecnicamente sofisticados, no cumple su proposito de asistir al votante promedio.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categorias de soluciones alternativas. Ninguna cubre el caso de uso especifico: VAA activa con metodologia transparente y datos verificados para el contexto electoral chileno.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sintetiza el analisis comparativo. VotoAFin es la unica plataforma que combina: algoritmo cuadratico ponderado + posturas con fuente verificable + indicador de confianza + cobertura del contexto chileno + estado activo.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cuatro brechas se corresponden directamente con los cinco diferenciadores de VotoAFin: transparencia metodologica, trazabilidad de posturas, ponderacion, indicador de confianza y codigo abierto AGPL-3.0.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justificacion de la solucion combina tres tipos de argumento: academico (literatura de VAAs), etico (transparencia y apertura) y pragmatico (diseno centrado en el usuario con restricciones reales de tiempo).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diferencia entre entretenimiento y eficiencia es epistemologica, no estetica. Un proceso entretenido que produce resultados imprecisos no ayuda al votante. Un proceso eficiente que produce resultados verificables, si.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Cierra PPT 02. La siguiente cuenta como se construyo el sistema.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85800"/>
            <a:ext cx="10058400" cy="2194560"/>
          </a:xfrm>
          <a:prstGeom prst="rect">
            <a:avLst/>
          </a:prstGeom>
          <a:noFill/>
        </p:spPr>
        <p:txBody>
          <a:bodyPr wrap="square">
            <a:spAutoFit/>
          </a:bodyPr>
          <a:lstStyle/>
          <a:p>
            <a:pPr algn="l"/>
            <a:r>
              <a:rPr sz="5200" b="1">
                <a:solidFill>
                  <a:srgbClr val="FFFFFF"/>
                </a:solidFill>
                <a:latin typeface="Calibri"/>
              </a:rPr>
              <a:t>Metodologia,
Marco Teorico
y Estado del Arte</a:t>
            </a:r>
          </a:p>
        </p:txBody>
      </p:sp>
      <p:sp>
        <p:nvSpPr>
          <p:cNvPr id="5" name="Rectangle 4"/>
          <p:cNvSpPr/>
          <p:nvPr/>
        </p:nvSpPr>
        <p:spPr>
          <a:xfrm>
            <a:off x="640080" y="3127248"/>
            <a:ext cx="4572000" cy="3657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310128"/>
            <a:ext cx="10058400" cy="384048"/>
          </a:xfrm>
          <a:prstGeom prst="rect">
            <a:avLst/>
          </a:prstGeom>
          <a:noFill/>
        </p:spPr>
        <p:txBody>
          <a:bodyPr wrap="square">
            <a:spAutoFit/>
          </a:bodyPr>
          <a:lstStyle/>
          <a:p>
            <a:pPr algn="l"/>
            <a:r>
              <a:rPr sz="1400" b="1">
                <a:solidFill>
                  <a:srgbClr val="2E5F7E"/>
                </a:solidFill>
                <a:latin typeface="Calibri"/>
              </a:rPr>
              <a:t>Presentacion 02  --  Fundamentos academicos y justificacion de la solucion</a:t>
            </a:r>
          </a:p>
        </p:txBody>
      </p:sp>
      <p:sp>
        <p:nvSpPr>
          <p:cNvPr id="7" name="TextBox 6"/>
          <p:cNvSpPr txBox="1"/>
          <p:nvPr/>
        </p:nvSpPr>
        <p:spPr>
          <a:xfrm>
            <a:off x="640080" y="6291072"/>
            <a:ext cx="10972800" cy="384048"/>
          </a:xfrm>
          <a:prstGeom prst="rect">
            <a:avLst/>
          </a:prstGeom>
          <a:noFill/>
        </p:spPr>
        <p:txBody>
          <a:bodyPr wrap="square">
            <a:spAutoFit/>
          </a:bodyPr>
          <a:lstStyle/>
          <a:p>
            <a:pPr algn="l"/>
            <a:r>
              <a:rPr sz="1200" b="0">
                <a:solidFill>
                  <a:srgbClr val="8A9199"/>
                </a:solidFill>
                <a:latin typeface="Calibri"/>
              </a:rPr>
              <a:t>VotoAFin  --  Jenifer Castillo  --  UTFSM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AGENDA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Lo que cubriremos</a:t>
            </a:r>
          </a:p>
        </p:txBody>
      </p:sp>
      <p:sp>
        <p:nvSpPr>
          <p:cNvPr id="5" name="Rectangle 4"/>
          <p:cNvSpPr/>
          <p:nvPr/>
        </p:nvSpPr>
        <p:spPr>
          <a:xfrm>
            <a:off x="457200" y="1417320"/>
            <a:ext cx="112471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02920" cy="82296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81912"/>
            <a:ext cx="365760" cy="475488"/>
          </a:xfrm>
          <a:prstGeom prst="rect">
            <a:avLst/>
          </a:prstGeom>
          <a:noFill/>
        </p:spPr>
        <p:txBody>
          <a:bodyPr wrap="square">
            <a:spAutoFit/>
          </a:bodyPr>
          <a:lstStyle/>
          <a:p>
            <a:pPr algn="ctr"/>
            <a:r>
              <a:rPr sz="1300" b="1">
                <a:solidFill>
                  <a:srgbClr val="FFFFFF"/>
                </a:solidFill>
                <a:latin typeface="Calibri"/>
              </a:rPr>
              <a:t>01</a:t>
            </a:r>
          </a:p>
        </p:txBody>
      </p:sp>
      <p:sp>
        <p:nvSpPr>
          <p:cNvPr id="8" name="TextBox 7"/>
          <p:cNvSpPr txBox="1"/>
          <p:nvPr/>
        </p:nvSpPr>
        <p:spPr>
          <a:xfrm>
            <a:off x="1097280" y="1600200"/>
            <a:ext cx="9875520" cy="438912"/>
          </a:xfrm>
          <a:prstGeom prst="rect">
            <a:avLst/>
          </a:prstGeom>
          <a:noFill/>
        </p:spPr>
        <p:txBody>
          <a:bodyPr wrap="square">
            <a:spAutoFit/>
          </a:bodyPr>
          <a:lstStyle/>
          <a:p>
            <a:pPr algn="l"/>
            <a:r>
              <a:rPr sz="1600" b="1">
                <a:solidFill>
                  <a:srgbClr val="1C3A52"/>
                </a:solidFill>
                <a:latin typeface="Calibri"/>
              </a:rPr>
              <a:t>Metodologia del proyecto</a:t>
            </a:r>
          </a:p>
        </p:txBody>
      </p:sp>
      <p:sp>
        <p:nvSpPr>
          <p:cNvPr id="9" name="Rectangle 8"/>
          <p:cNvSpPr/>
          <p:nvPr/>
        </p:nvSpPr>
        <p:spPr>
          <a:xfrm>
            <a:off x="457200" y="2350008"/>
            <a:ext cx="11247120" cy="822960"/>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350008"/>
            <a:ext cx="502920" cy="8229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14600"/>
            <a:ext cx="365760" cy="475488"/>
          </a:xfrm>
          <a:prstGeom prst="rect">
            <a:avLst/>
          </a:prstGeom>
          <a:noFill/>
        </p:spPr>
        <p:txBody>
          <a:bodyPr wrap="square">
            <a:spAutoFit/>
          </a:bodyPr>
          <a:lstStyle/>
          <a:p>
            <a:pPr algn="ctr"/>
            <a:r>
              <a:rPr sz="1300" b="1">
                <a:solidFill>
                  <a:srgbClr val="FFFFFF"/>
                </a:solidFill>
                <a:latin typeface="Calibri"/>
              </a:rPr>
              <a:t>02</a:t>
            </a:r>
          </a:p>
        </p:txBody>
      </p:sp>
      <p:sp>
        <p:nvSpPr>
          <p:cNvPr id="12" name="TextBox 11"/>
          <p:cNvSpPr txBox="1"/>
          <p:nvPr/>
        </p:nvSpPr>
        <p:spPr>
          <a:xfrm>
            <a:off x="1097280" y="2532888"/>
            <a:ext cx="9875520" cy="438912"/>
          </a:xfrm>
          <a:prstGeom prst="rect">
            <a:avLst/>
          </a:prstGeom>
          <a:noFill/>
        </p:spPr>
        <p:txBody>
          <a:bodyPr wrap="square">
            <a:spAutoFit/>
          </a:bodyPr>
          <a:lstStyle/>
          <a:p>
            <a:pPr algn="l"/>
            <a:r>
              <a:rPr sz="1600" b="0">
                <a:solidFill>
                  <a:srgbClr val="1C3A52"/>
                </a:solidFill>
                <a:latin typeface="Calibri"/>
              </a:rPr>
              <a:t>Proceso de investigacion y requerimientos</a:t>
            </a:r>
          </a:p>
        </p:txBody>
      </p:sp>
      <p:sp>
        <p:nvSpPr>
          <p:cNvPr id="13" name="Rectangle 12"/>
          <p:cNvSpPr/>
          <p:nvPr/>
        </p:nvSpPr>
        <p:spPr>
          <a:xfrm>
            <a:off x="457200" y="3282696"/>
            <a:ext cx="112471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282696"/>
            <a:ext cx="502920" cy="8229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447288"/>
            <a:ext cx="365760" cy="475488"/>
          </a:xfrm>
          <a:prstGeom prst="rect">
            <a:avLst/>
          </a:prstGeom>
          <a:noFill/>
        </p:spPr>
        <p:txBody>
          <a:bodyPr wrap="square">
            <a:spAutoFit/>
          </a:bodyPr>
          <a:lstStyle/>
          <a:p>
            <a:pPr algn="ctr"/>
            <a:r>
              <a:rPr sz="1300" b="1">
                <a:solidFill>
                  <a:srgbClr val="FFFFFF"/>
                </a:solidFill>
                <a:latin typeface="Calibri"/>
              </a:rPr>
              <a:t>03</a:t>
            </a:r>
          </a:p>
        </p:txBody>
      </p:sp>
      <p:sp>
        <p:nvSpPr>
          <p:cNvPr id="16" name="TextBox 15"/>
          <p:cNvSpPr txBox="1"/>
          <p:nvPr/>
        </p:nvSpPr>
        <p:spPr>
          <a:xfrm>
            <a:off x="1097280" y="3465576"/>
            <a:ext cx="9875520" cy="438912"/>
          </a:xfrm>
          <a:prstGeom prst="rect">
            <a:avLst/>
          </a:prstGeom>
          <a:noFill/>
        </p:spPr>
        <p:txBody>
          <a:bodyPr wrap="square">
            <a:spAutoFit/>
          </a:bodyPr>
          <a:lstStyle/>
          <a:p>
            <a:pPr algn="l"/>
            <a:r>
              <a:rPr sz="1600" b="0">
                <a:solidFill>
                  <a:srgbClr val="1C3A52"/>
                </a:solidFill>
                <a:latin typeface="Calibri"/>
              </a:rPr>
              <a:t>Marco teorico -- VAAs y conceptos clave</a:t>
            </a:r>
          </a:p>
        </p:txBody>
      </p:sp>
      <p:sp>
        <p:nvSpPr>
          <p:cNvPr id="17" name="Rectangle 16"/>
          <p:cNvSpPr/>
          <p:nvPr/>
        </p:nvSpPr>
        <p:spPr>
          <a:xfrm>
            <a:off x="457200" y="4215384"/>
            <a:ext cx="11247120" cy="822960"/>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215384"/>
            <a:ext cx="502920" cy="82296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379976"/>
            <a:ext cx="365760" cy="475488"/>
          </a:xfrm>
          <a:prstGeom prst="rect">
            <a:avLst/>
          </a:prstGeom>
          <a:noFill/>
        </p:spPr>
        <p:txBody>
          <a:bodyPr wrap="square">
            <a:spAutoFit/>
          </a:bodyPr>
          <a:lstStyle/>
          <a:p>
            <a:pPr algn="ctr"/>
            <a:r>
              <a:rPr sz="1300" b="1">
                <a:solidFill>
                  <a:srgbClr val="FFFFFF"/>
                </a:solidFill>
                <a:latin typeface="Calibri"/>
              </a:rPr>
              <a:t>04</a:t>
            </a:r>
          </a:p>
        </p:txBody>
      </p:sp>
      <p:sp>
        <p:nvSpPr>
          <p:cNvPr id="20" name="TextBox 19"/>
          <p:cNvSpPr txBox="1"/>
          <p:nvPr/>
        </p:nvSpPr>
        <p:spPr>
          <a:xfrm>
            <a:off x="1097280" y="4398264"/>
            <a:ext cx="9875520" cy="438912"/>
          </a:xfrm>
          <a:prstGeom prst="rect">
            <a:avLst/>
          </a:prstGeom>
          <a:noFill/>
        </p:spPr>
        <p:txBody>
          <a:bodyPr wrap="square">
            <a:spAutoFit/>
          </a:bodyPr>
          <a:lstStyle/>
          <a:p>
            <a:pPr algn="l"/>
            <a:r>
              <a:rPr sz="1600" b="0">
                <a:solidFill>
                  <a:srgbClr val="1C3A52"/>
                </a:solidFill>
                <a:latin typeface="Calibri"/>
              </a:rPr>
              <a:t>Estado del arte -- comparativa internacional</a:t>
            </a:r>
          </a:p>
        </p:txBody>
      </p:sp>
      <p:sp>
        <p:nvSpPr>
          <p:cNvPr id="21" name="Rectangle 20"/>
          <p:cNvSpPr/>
          <p:nvPr/>
        </p:nvSpPr>
        <p:spPr>
          <a:xfrm>
            <a:off x="457200" y="5148072"/>
            <a:ext cx="1124712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148072"/>
            <a:ext cx="502920" cy="82296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12664"/>
            <a:ext cx="365760" cy="475488"/>
          </a:xfrm>
          <a:prstGeom prst="rect">
            <a:avLst/>
          </a:prstGeom>
          <a:noFill/>
        </p:spPr>
        <p:txBody>
          <a:bodyPr wrap="square">
            <a:spAutoFit/>
          </a:bodyPr>
          <a:lstStyle/>
          <a:p>
            <a:pPr algn="ctr"/>
            <a:r>
              <a:rPr sz="1300" b="1">
                <a:solidFill>
                  <a:srgbClr val="FFFFFF"/>
                </a:solidFill>
                <a:latin typeface="Calibri"/>
              </a:rPr>
              <a:t>05</a:t>
            </a:r>
          </a:p>
        </p:txBody>
      </p:sp>
      <p:sp>
        <p:nvSpPr>
          <p:cNvPr id="24" name="TextBox 23"/>
          <p:cNvSpPr txBox="1"/>
          <p:nvPr/>
        </p:nvSpPr>
        <p:spPr>
          <a:xfrm>
            <a:off x="1097280" y="5330952"/>
            <a:ext cx="9875520" cy="438912"/>
          </a:xfrm>
          <a:prstGeom prst="rect">
            <a:avLst/>
          </a:prstGeom>
          <a:noFill/>
        </p:spPr>
        <p:txBody>
          <a:bodyPr wrap="square">
            <a:spAutoFit/>
          </a:bodyPr>
          <a:lstStyle/>
          <a:p>
            <a:pPr algn="l"/>
            <a:r>
              <a:rPr sz="1600" b="0">
                <a:solidFill>
                  <a:srgbClr val="1C3A52"/>
                </a:solidFill>
                <a:latin typeface="Calibri"/>
              </a:rPr>
              <a:t>Justificacion de la solucion adoptada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METODOLOGIA DEL PROYECTO</a:t>
            </a:r>
          </a:p>
        </p:txBody>
      </p:sp>
      <p:sp>
        <p:nvSpPr>
          <p:cNvPr id="4" name="TextBox 3"/>
          <p:cNvSpPr txBox="1"/>
          <p:nvPr/>
        </p:nvSpPr>
        <p:spPr>
          <a:xfrm>
            <a:off x="548640" y="411480"/>
            <a:ext cx="10972800" cy="914400"/>
          </a:xfrm>
          <a:prstGeom prst="rect">
            <a:avLst/>
          </a:prstGeom>
          <a:noFill/>
        </p:spPr>
        <p:txBody>
          <a:bodyPr wrap="square">
            <a:spAutoFit/>
          </a:bodyPr>
          <a:lstStyle/>
          <a:p>
            <a:pPr algn="l"/>
            <a:r>
              <a:rPr sz="4000" b="1">
                <a:solidFill>
                  <a:srgbClr val="FFFFFF"/>
                </a:solidFill>
                <a:latin typeface="Calibri"/>
              </a:rPr>
              <a:t>Desarrollo iterativo e incremental
centrado en el usuario.</a:t>
            </a:r>
          </a:p>
        </p:txBody>
      </p:sp>
      <p:sp>
        <p:nvSpPr>
          <p:cNvPr id="5" name="Rectangle 4"/>
          <p:cNvSpPr/>
          <p:nvPr/>
        </p:nvSpPr>
        <p:spPr>
          <a:xfrm>
            <a:off x="457200" y="1572768"/>
            <a:ext cx="11247120" cy="5669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10698480" cy="384048"/>
          </a:xfrm>
          <a:prstGeom prst="rect">
            <a:avLst/>
          </a:prstGeom>
          <a:noFill/>
        </p:spPr>
        <p:txBody>
          <a:bodyPr wrap="square">
            <a:spAutoFit/>
          </a:bodyPr>
          <a:lstStyle/>
          <a:p>
            <a:pPr algn="l"/>
            <a:r>
              <a:rPr sz="1300" b="0">
                <a:solidFill>
                  <a:srgbClr val="FFFFFF"/>
                </a:solidFill>
                <a:latin typeface="Calibri"/>
              </a:rPr>
              <a:t>Enfoque: Ingenieria centrada en el usuario + MVP iterativo. Principios: DRY, YAGNI, KISS, SOLID. Cada ciclo de trabajo entregaba algo funcional y retroalimentaba el diseno del siguiente.</a:t>
            </a:r>
          </a:p>
        </p:txBody>
      </p:sp>
      <p:sp>
        <p:nvSpPr>
          <p:cNvPr id="7" name="Rectangle 6"/>
          <p:cNvSpPr/>
          <p:nvPr/>
        </p:nvSpPr>
        <p:spPr>
          <a:xfrm>
            <a:off x="457200" y="2331720"/>
            <a:ext cx="1572768" cy="43434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2450592"/>
            <a:ext cx="1444752" cy="548640"/>
          </a:xfrm>
          <a:prstGeom prst="rect">
            <a:avLst/>
          </a:prstGeom>
          <a:noFill/>
        </p:spPr>
        <p:txBody>
          <a:bodyPr wrap="square">
            <a:spAutoFit/>
          </a:bodyPr>
          <a:lstStyle/>
          <a:p>
            <a:pPr algn="ctr"/>
            <a:r>
              <a:rPr sz="1100" b="1">
                <a:solidFill>
                  <a:srgbClr val="FFFFFF"/>
                </a:solidFill>
                <a:latin typeface="Calibri"/>
              </a:rPr>
              <a:t>DESCUBRIMIENTO</a:t>
            </a:r>
          </a:p>
        </p:txBody>
      </p:sp>
      <p:sp>
        <p:nvSpPr>
          <p:cNvPr id="9" name="Rectangle 8"/>
          <p:cNvSpPr/>
          <p:nvPr/>
        </p:nvSpPr>
        <p:spPr>
          <a:xfrm>
            <a:off x="530352"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3154680"/>
            <a:ext cx="1444752" cy="3337560"/>
          </a:xfrm>
          <a:prstGeom prst="rect">
            <a:avLst/>
          </a:prstGeom>
          <a:noFill/>
        </p:spPr>
        <p:txBody>
          <a:bodyPr wrap="square">
            <a:spAutoFit/>
          </a:bodyPr>
          <a:lstStyle/>
          <a:p>
            <a:pPr algn="ctr"/>
            <a:r>
              <a:rPr sz="1000" b="0">
                <a:solidFill>
                  <a:srgbClr val="FFFFFF"/>
                </a:solidFill>
                <a:latin typeface="Calibri"/>
              </a:rPr>
              <a:t>Investigacion empirica del problema.
Evidencia cuantitativa y cualitativa.</a:t>
            </a:r>
          </a:p>
        </p:txBody>
      </p:sp>
      <p:sp>
        <p:nvSpPr>
          <p:cNvPr id="11" name="Rectangle 10"/>
          <p:cNvSpPr/>
          <p:nvPr/>
        </p:nvSpPr>
        <p:spPr>
          <a:xfrm>
            <a:off x="2130552" y="2331720"/>
            <a:ext cx="1572768" cy="43434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03704" y="2450592"/>
            <a:ext cx="1444752" cy="548640"/>
          </a:xfrm>
          <a:prstGeom prst="rect">
            <a:avLst/>
          </a:prstGeom>
          <a:noFill/>
        </p:spPr>
        <p:txBody>
          <a:bodyPr wrap="square">
            <a:spAutoFit/>
          </a:bodyPr>
          <a:lstStyle/>
          <a:p>
            <a:pPr algn="ctr"/>
            <a:r>
              <a:rPr sz="1100" b="1">
                <a:solidFill>
                  <a:srgbClr val="FFFFFF"/>
                </a:solidFill>
                <a:latin typeface="Calibri"/>
              </a:rPr>
              <a:t>INVESTIGACION</a:t>
            </a:r>
          </a:p>
        </p:txBody>
      </p:sp>
      <p:sp>
        <p:nvSpPr>
          <p:cNvPr id="13" name="Rectangle 12"/>
          <p:cNvSpPr/>
          <p:nvPr/>
        </p:nvSpPr>
        <p:spPr>
          <a:xfrm>
            <a:off x="2203704"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03704" y="3154680"/>
            <a:ext cx="1444752" cy="3337560"/>
          </a:xfrm>
          <a:prstGeom prst="rect">
            <a:avLst/>
          </a:prstGeom>
          <a:noFill/>
        </p:spPr>
        <p:txBody>
          <a:bodyPr wrap="square">
            <a:spAutoFit/>
          </a:bodyPr>
          <a:lstStyle/>
          <a:p>
            <a:pPr algn="ctr"/>
            <a:r>
              <a:rPr sz="1000" b="0">
                <a:solidFill>
                  <a:srgbClr val="FFFFFF"/>
                </a:solidFill>
                <a:latin typeface="Calibri"/>
              </a:rPr>
              <a:t>Estado del arte. VAAs internacionales.
9 plataformas analizadas.</a:t>
            </a:r>
          </a:p>
        </p:txBody>
      </p:sp>
      <p:sp>
        <p:nvSpPr>
          <p:cNvPr id="15" name="Rectangle 14"/>
          <p:cNvSpPr/>
          <p:nvPr/>
        </p:nvSpPr>
        <p:spPr>
          <a:xfrm>
            <a:off x="3803904" y="2331720"/>
            <a:ext cx="1572768" cy="43434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77056" y="2450592"/>
            <a:ext cx="1444752" cy="548640"/>
          </a:xfrm>
          <a:prstGeom prst="rect">
            <a:avLst/>
          </a:prstGeom>
          <a:noFill/>
        </p:spPr>
        <p:txBody>
          <a:bodyPr wrap="square">
            <a:spAutoFit/>
          </a:bodyPr>
          <a:lstStyle/>
          <a:p>
            <a:pPr algn="ctr"/>
            <a:r>
              <a:rPr sz="1100" b="1">
                <a:solidFill>
                  <a:srgbClr val="FFFFFF"/>
                </a:solidFill>
                <a:latin typeface="Calibri"/>
              </a:rPr>
              <a:t>IDEACION</a:t>
            </a:r>
          </a:p>
        </p:txBody>
      </p:sp>
      <p:sp>
        <p:nvSpPr>
          <p:cNvPr id="17" name="Rectangle 16"/>
          <p:cNvSpPr/>
          <p:nvPr/>
        </p:nvSpPr>
        <p:spPr>
          <a:xfrm>
            <a:off x="3877056"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77056" y="3154680"/>
            <a:ext cx="1444752" cy="3337560"/>
          </a:xfrm>
          <a:prstGeom prst="rect">
            <a:avLst/>
          </a:prstGeom>
          <a:noFill/>
        </p:spPr>
        <p:txBody>
          <a:bodyPr wrap="square">
            <a:spAutoFit/>
          </a:bodyPr>
          <a:lstStyle/>
          <a:p>
            <a:pPr algn="ctr"/>
            <a:r>
              <a:rPr sz="1000" b="0">
                <a:solidFill>
                  <a:srgbClr val="FFFFFF"/>
                </a:solidFill>
                <a:latin typeface="Calibri"/>
              </a:rPr>
              <a:t>Hipotesis de solucion.
Definicion de requerimientos.</a:t>
            </a:r>
          </a:p>
        </p:txBody>
      </p:sp>
      <p:sp>
        <p:nvSpPr>
          <p:cNvPr id="19" name="Rectangle 18"/>
          <p:cNvSpPr/>
          <p:nvPr/>
        </p:nvSpPr>
        <p:spPr>
          <a:xfrm>
            <a:off x="5477256" y="2331720"/>
            <a:ext cx="1572768" cy="434340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50408" y="2450592"/>
            <a:ext cx="1444752" cy="548640"/>
          </a:xfrm>
          <a:prstGeom prst="rect">
            <a:avLst/>
          </a:prstGeom>
          <a:noFill/>
        </p:spPr>
        <p:txBody>
          <a:bodyPr wrap="square">
            <a:spAutoFit/>
          </a:bodyPr>
          <a:lstStyle/>
          <a:p>
            <a:pPr algn="ctr"/>
            <a:r>
              <a:rPr sz="1100" b="1">
                <a:solidFill>
                  <a:srgbClr val="FFFFFF"/>
                </a:solidFill>
                <a:latin typeface="Calibri"/>
              </a:rPr>
              <a:t>DISENO</a:t>
            </a:r>
          </a:p>
        </p:txBody>
      </p:sp>
      <p:sp>
        <p:nvSpPr>
          <p:cNvPr id="21" name="Rectangle 20"/>
          <p:cNvSpPr/>
          <p:nvPr/>
        </p:nvSpPr>
        <p:spPr>
          <a:xfrm>
            <a:off x="5550408"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50408" y="3154680"/>
            <a:ext cx="1444752" cy="3337560"/>
          </a:xfrm>
          <a:prstGeom prst="rect">
            <a:avLst/>
          </a:prstGeom>
          <a:noFill/>
        </p:spPr>
        <p:txBody>
          <a:bodyPr wrap="square">
            <a:spAutoFit/>
          </a:bodyPr>
          <a:lstStyle/>
          <a:p>
            <a:pPr algn="ctr"/>
            <a:r>
              <a:rPr sz="1000" b="0">
                <a:solidFill>
                  <a:srgbClr val="FFFFFF"/>
                </a:solidFill>
                <a:latin typeface="Calibri"/>
              </a:rPr>
              <a:t>UX, arquitectura conceptual,
algoritmo de matching.</a:t>
            </a:r>
          </a:p>
        </p:txBody>
      </p:sp>
      <p:sp>
        <p:nvSpPr>
          <p:cNvPr id="23" name="Rectangle 22"/>
          <p:cNvSpPr/>
          <p:nvPr/>
        </p:nvSpPr>
        <p:spPr>
          <a:xfrm>
            <a:off x="7150608" y="2331720"/>
            <a:ext cx="1572768" cy="43434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2450592"/>
            <a:ext cx="1444752" cy="548640"/>
          </a:xfrm>
          <a:prstGeom prst="rect">
            <a:avLst/>
          </a:prstGeom>
          <a:noFill/>
        </p:spPr>
        <p:txBody>
          <a:bodyPr wrap="square">
            <a:spAutoFit/>
          </a:bodyPr>
          <a:lstStyle/>
          <a:p>
            <a:pPr algn="ctr"/>
            <a:r>
              <a:rPr sz="1100" b="1">
                <a:solidFill>
                  <a:srgbClr val="FFFFFF"/>
                </a:solidFill>
                <a:latin typeface="Calibri"/>
              </a:rPr>
              <a:t>PROTOTIPADO</a:t>
            </a:r>
          </a:p>
        </p:txBody>
      </p:sp>
      <p:sp>
        <p:nvSpPr>
          <p:cNvPr id="25" name="Rectangle 24"/>
          <p:cNvSpPr/>
          <p:nvPr/>
        </p:nvSpPr>
        <p:spPr>
          <a:xfrm>
            <a:off x="7223760"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0" y="3154680"/>
            <a:ext cx="1444752" cy="3337560"/>
          </a:xfrm>
          <a:prstGeom prst="rect">
            <a:avLst/>
          </a:prstGeom>
          <a:noFill/>
        </p:spPr>
        <p:txBody>
          <a:bodyPr wrap="square">
            <a:spAutoFit/>
          </a:bodyPr>
          <a:lstStyle/>
          <a:p>
            <a:pPr algn="ctr"/>
            <a:r>
              <a:rPr sz="1000" b="0">
                <a:solidFill>
                  <a:srgbClr val="FFFFFF"/>
                </a:solidFill>
                <a:latin typeface="Calibri"/>
              </a:rPr>
              <a:t>Iteraciones de diseno.
Validacion continua.</a:t>
            </a:r>
          </a:p>
        </p:txBody>
      </p:sp>
      <p:sp>
        <p:nvSpPr>
          <p:cNvPr id="27" name="Rectangle 26"/>
          <p:cNvSpPr/>
          <p:nvPr/>
        </p:nvSpPr>
        <p:spPr>
          <a:xfrm>
            <a:off x="8823960" y="2331720"/>
            <a:ext cx="1572768" cy="43434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7112" y="2450592"/>
            <a:ext cx="1444752" cy="548640"/>
          </a:xfrm>
          <a:prstGeom prst="rect">
            <a:avLst/>
          </a:prstGeom>
          <a:noFill/>
        </p:spPr>
        <p:txBody>
          <a:bodyPr wrap="square">
            <a:spAutoFit/>
          </a:bodyPr>
          <a:lstStyle/>
          <a:p>
            <a:pPr algn="ctr"/>
            <a:r>
              <a:rPr sz="1100" b="1">
                <a:solidFill>
                  <a:srgbClr val="FFFFFF"/>
                </a:solidFill>
                <a:latin typeface="Calibri"/>
              </a:rPr>
              <a:t>DESARROLLO</a:t>
            </a:r>
          </a:p>
        </p:txBody>
      </p:sp>
      <p:sp>
        <p:nvSpPr>
          <p:cNvPr id="29" name="Rectangle 28"/>
          <p:cNvSpPr/>
          <p:nvPr/>
        </p:nvSpPr>
        <p:spPr>
          <a:xfrm>
            <a:off x="8897112"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97112" y="3154680"/>
            <a:ext cx="1444752" cy="3337560"/>
          </a:xfrm>
          <a:prstGeom prst="rect">
            <a:avLst/>
          </a:prstGeom>
          <a:noFill/>
        </p:spPr>
        <p:txBody>
          <a:bodyPr wrap="square">
            <a:spAutoFit/>
          </a:bodyPr>
          <a:lstStyle/>
          <a:p>
            <a:pPr algn="ctr"/>
            <a:r>
              <a:rPr sz="1000" b="0">
                <a:solidFill>
                  <a:srgbClr val="FFFFFF"/>
                </a:solidFill>
                <a:latin typeface="Calibri"/>
              </a:rPr>
              <a:t>8 fases de construccion.
370 tests automatizados.</a:t>
            </a:r>
          </a:p>
        </p:txBody>
      </p:sp>
      <p:sp>
        <p:nvSpPr>
          <p:cNvPr id="31" name="Rectangle 30"/>
          <p:cNvSpPr/>
          <p:nvPr/>
        </p:nvSpPr>
        <p:spPr>
          <a:xfrm>
            <a:off x="10497312" y="2331720"/>
            <a:ext cx="1572768" cy="43434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70464" y="2450592"/>
            <a:ext cx="1444752" cy="548640"/>
          </a:xfrm>
          <a:prstGeom prst="rect">
            <a:avLst/>
          </a:prstGeom>
          <a:noFill/>
        </p:spPr>
        <p:txBody>
          <a:bodyPr wrap="square">
            <a:spAutoFit/>
          </a:bodyPr>
          <a:lstStyle/>
          <a:p>
            <a:pPr algn="ctr"/>
            <a:r>
              <a:rPr sz="1100" b="1">
                <a:solidFill>
                  <a:srgbClr val="FFFFFF"/>
                </a:solidFill>
                <a:latin typeface="Calibri"/>
              </a:rPr>
              <a:t>VALIDACION</a:t>
            </a:r>
          </a:p>
        </p:txBody>
      </p:sp>
      <p:sp>
        <p:nvSpPr>
          <p:cNvPr id="33" name="Rectangle 32"/>
          <p:cNvSpPr/>
          <p:nvPr/>
        </p:nvSpPr>
        <p:spPr>
          <a:xfrm>
            <a:off x="10570464" y="3017520"/>
            <a:ext cx="12801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570464" y="3154680"/>
            <a:ext cx="1444752" cy="3337560"/>
          </a:xfrm>
          <a:prstGeom prst="rect">
            <a:avLst/>
          </a:prstGeom>
          <a:noFill/>
        </p:spPr>
        <p:txBody>
          <a:bodyPr wrap="square">
            <a:spAutoFit/>
          </a:bodyPr>
          <a:lstStyle/>
          <a:p>
            <a:pPr algn="ctr"/>
            <a:r>
              <a:rPr sz="1000" b="0">
                <a:solidFill>
                  <a:srgbClr val="FFFFFF"/>
                </a:solidFill>
                <a:latin typeface="Calibri"/>
              </a:rPr>
              <a:t>Funcional, de contrato API,
de accesibilidad WCAG 2.2 AA.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EL PROCESO DE INVESTIGACION</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1C3A52"/>
                </a:solidFill>
                <a:latin typeface="Calibri"/>
              </a:rPr>
              <a:t>Tres fuentes complementarias.</a:t>
            </a:r>
          </a:p>
        </p:txBody>
      </p:sp>
      <p:sp>
        <p:nvSpPr>
          <p:cNvPr id="5" name="Rectangle 4"/>
          <p:cNvSpPr/>
          <p:nvPr/>
        </p:nvSpPr>
        <p:spPr>
          <a:xfrm>
            <a:off x="457200" y="1298448"/>
            <a:ext cx="3657600" cy="20574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3291840" cy="384048"/>
          </a:xfrm>
          <a:prstGeom prst="rect">
            <a:avLst/>
          </a:prstGeom>
          <a:noFill/>
        </p:spPr>
        <p:txBody>
          <a:bodyPr wrap="square">
            <a:spAutoFit/>
          </a:bodyPr>
          <a:lstStyle/>
          <a:p>
            <a:pPr algn="l"/>
            <a:r>
              <a:rPr sz="1200" b="1">
                <a:solidFill>
                  <a:srgbClr val="FFFFFF"/>
                </a:solidFill>
                <a:latin typeface="Calibri"/>
              </a:rPr>
              <a:t>FUENTES SECUNDARIAS</a:t>
            </a:r>
          </a:p>
        </p:txBody>
      </p:sp>
      <p:sp>
        <p:nvSpPr>
          <p:cNvPr id="7" name="Rectangle 6"/>
          <p:cNvSpPr/>
          <p:nvPr/>
        </p:nvSpPr>
        <p:spPr>
          <a:xfrm>
            <a:off x="640080" y="182880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38528"/>
            <a:ext cx="3291840" cy="1261872"/>
          </a:xfrm>
          <a:prstGeom prst="rect">
            <a:avLst/>
          </a:prstGeom>
          <a:noFill/>
        </p:spPr>
        <p:txBody>
          <a:bodyPr wrap="square">
            <a:spAutoFit/>
          </a:bodyPr>
          <a:lstStyle/>
          <a:p>
            <a:pPr algn="l"/>
            <a:r>
              <a:rPr sz="1200" b="0">
                <a:solidFill>
                  <a:srgbClr val="FFFFFF"/>
                </a:solidFill>
                <a:latin typeface="Calibri"/>
              </a:rPr>
              <a:t>Estudios de opinion publica
Informes SERVEL
Literatura academica VAAs
Estadisticas electorales</a:t>
            </a:r>
          </a:p>
        </p:txBody>
      </p:sp>
      <p:sp>
        <p:nvSpPr>
          <p:cNvPr id="9" name="Rectangle 8"/>
          <p:cNvSpPr/>
          <p:nvPr/>
        </p:nvSpPr>
        <p:spPr>
          <a:xfrm>
            <a:off x="457200" y="3520440"/>
            <a:ext cx="3657600" cy="2852928"/>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39312"/>
            <a:ext cx="3291840" cy="320040"/>
          </a:xfrm>
          <a:prstGeom prst="rect">
            <a:avLst/>
          </a:prstGeom>
          <a:noFill/>
        </p:spPr>
        <p:txBody>
          <a:bodyPr wrap="square">
            <a:spAutoFit/>
          </a:bodyPr>
          <a:lstStyle/>
          <a:p>
            <a:pPr algn="l"/>
            <a:r>
              <a:rPr sz="1000" b="1">
                <a:solidFill>
                  <a:srgbClr val="5A6B73"/>
                </a:solidFill>
                <a:latin typeface="Calibri"/>
              </a:rPr>
              <a:t>RESULTADO</a:t>
            </a:r>
          </a:p>
        </p:txBody>
      </p:sp>
      <p:sp>
        <p:nvSpPr>
          <p:cNvPr id="11" name="TextBox 10"/>
          <p:cNvSpPr txBox="1"/>
          <p:nvPr/>
        </p:nvSpPr>
        <p:spPr>
          <a:xfrm>
            <a:off x="640080" y="4005072"/>
            <a:ext cx="3291840" cy="2176272"/>
          </a:xfrm>
          <a:prstGeom prst="rect">
            <a:avLst/>
          </a:prstGeom>
          <a:noFill/>
        </p:spPr>
        <p:txBody>
          <a:bodyPr wrap="square">
            <a:spAutoFit/>
          </a:bodyPr>
          <a:lstStyle/>
          <a:p>
            <a:pPr algn="l"/>
            <a:r>
              <a:rPr sz="1200" b="0">
                <a:solidFill>
                  <a:srgbClr val="1A2B33"/>
                </a:solidFill>
                <a:latin typeface="Calibri"/>
              </a:rPr>
              <a:t>Activa Knowledge  |  Ipsos N.33
Registros SERVEL 2021 y 2024
Garzia &amp; Marschall (2014)</a:t>
            </a:r>
          </a:p>
        </p:txBody>
      </p:sp>
      <p:sp>
        <p:nvSpPr>
          <p:cNvPr id="12" name="Rectangle 11"/>
          <p:cNvSpPr/>
          <p:nvPr/>
        </p:nvSpPr>
        <p:spPr>
          <a:xfrm>
            <a:off x="4343400" y="1298448"/>
            <a:ext cx="3657600" cy="20574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17320"/>
            <a:ext cx="3291840" cy="384048"/>
          </a:xfrm>
          <a:prstGeom prst="rect">
            <a:avLst/>
          </a:prstGeom>
          <a:noFill/>
        </p:spPr>
        <p:txBody>
          <a:bodyPr wrap="square">
            <a:spAutoFit/>
          </a:bodyPr>
          <a:lstStyle/>
          <a:p>
            <a:pPr algn="l"/>
            <a:r>
              <a:rPr sz="1200" b="1">
                <a:solidFill>
                  <a:srgbClr val="FFFFFF"/>
                </a:solidFill>
                <a:latin typeface="Calibri"/>
              </a:rPr>
              <a:t>LEVANTAMIENTO DE CAMPO</a:t>
            </a:r>
          </a:p>
        </p:txBody>
      </p:sp>
      <p:sp>
        <p:nvSpPr>
          <p:cNvPr id="14" name="Rectangle 13"/>
          <p:cNvSpPr/>
          <p:nvPr/>
        </p:nvSpPr>
        <p:spPr>
          <a:xfrm>
            <a:off x="4526280" y="182880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938528"/>
            <a:ext cx="3291840" cy="1261872"/>
          </a:xfrm>
          <a:prstGeom prst="rect">
            <a:avLst/>
          </a:prstGeom>
          <a:noFill/>
        </p:spPr>
        <p:txBody>
          <a:bodyPr wrap="square">
            <a:spAutoFit/>
          </a:bodyPr>
          <a:lstStyle/>
          <a:p>
            <a:pPr algn="l"/>
            <a:r>
              <a:rPr sz="1200" b="0">
                <a:solidFill>
                  <a:srgbClr val="FFFFFF"/>
                </a:solidFill>
                <a:latin typeface="Calibri"/>
              </a:rPr>
              <a:t>Entrevistas estructuradas
12 personas en 3 comunas
Playa Ancha  Vina del Mar  Quilpue
Octubre 2024</a:t>
            </a:r>
          </a:p>
        </p:txBody>
      </p:sp>
      <p:sp>
        <p:nvSpPr>
          <p:cNvPr id="16" name="Rectangle 15"/>
          <p:cNvSpPr/>
          <p:nvPr/>
        </p:nvSpPr>
        <p:spPr>
          <a:xfrm>
            <a:off x="4343400" y="3520440"/>
            <a:ext cx="3657600" cy="28529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3639312"/>
            <a:ext cx="3291840" cy="320040"/>
          </a:xfrm>
          <a:prstGeom prst="rect">
            <a:avLst/>
          </a:prstGeom>
          <a:noFill/>
        </p:spPr>
        <p:txBody>
          <a:bodyPr wrap="square">
            <a:spAutoFit/>
          </a:bodyPr>
          <a:lstStyle/>
          <a:p>
            <a:pPr algn="l"/>
            <a:r>
              <a:rPr sz="1000" b="1">
                <a:solidFill>
                  <a:srgbClr val="5A6B73"/>
                </a:solidFill>
                <a:latin typeface="Calibri"/>
              </a:rPr>
              <a:t>RESULTADO</a:t>
            </a:r>
          </a:p>
        </p:txBody>
      </p:sp>
      <p:sp>
        <p:nvSpPr>
          <p:cNvPr id="18" name="TextBox 17"/>
          <p:cNvSpPr txBox="1"/>
          <p:nvPr/>
        </p:nvSpPr>
        <p:spPr>
          <a:xfrm>
            <a:off x="4526280" y="4005072"/>
            <a:ext cx="3291840" cy="2176272"/>
          </a:xfrm>
          <a:prstGeom prst="rect">
            <a:avLst/>
          </a:prstGeom>
          <a:noFill/>
        </p:spPr>
        <p:txBody>
          <a:bodyPr wrap="square">
            <a:spAutoFit/>
          </a:bodyPr>
          <a:lstStyle/>
          <a:p>
            <a:pPr algn="l"/>
            <a:r>
              <a:rPr sz="1200" b="0">
                <a:solidFill>
                  <a:srgbClr val="1A2B33"/>
                </a:solidFill>
                <a:latin typeface="Calibri"/>
              </a:rPr>
              <a:t>Hallazgo clave:
100% vio fake news electorales.
N=12 perfiles diversos.</a:t>
            </a:r>
          </a:p>
        </p:txBody>
      </p:sp>
      <p:sp>
        <p:nvSpPr>
          <p:cNvPr id="19" name="Rectangle 18"/>
          <p:cNvSpPr/>
          <p:nvPr/>
        </p:nvSpPr>
        <p:spPr>
          <a:xfrm>
            <a:off x="8229600" y="1298448"/>
            <a:ext cx="3657600" cy="20574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417320"/>
            <a:ext cx="3291840" cy="384048"/>
          </a:xfrm>
          <a:prstGeom prst="rect">
            <a:avLst/>
          </a:prstGeom>
          <a:noFill/>
        </p:spPr>
        <p:txBody>
          <a:bodyPr wrap="square">
            <a:spAutoFit/>
          </a:bodyPr>
          <a:lstStyle/>
          <a:p>
            <a:pPr algn="l"/>
            <a:r>
              <a:rPr sz="1200" b="1">
                <a:solidFill>
                  <a:srgbClr val="FFFFFF"/>
                </a:solidFill>
                <a:latin typeface="Calibri"/>
              </a:rPr>
              <a:t>ESTADO DEL ARTE</a:t>
            </a:r>
          </a:p>
        </p:txBody>
      </p:sp>
      <p:sp>
        <p:nvSpPr>
          <p:cNvPr id="21" name="Rectangle 20"/>
          <p:cNvSpPr/>
          <p:nvPr/>
        </p:nvSpPr>
        <p:spPr>
          <a:xfrm>
            <a:off x="8412480" y="182880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938528"/>
            <a:ext cx="3291840" cy="1261872"/>
          </a:xfrm>
          <a:prstGeom prst="rect">
            <a:avLst/>
          </a:prstGeom>
          <a:noFill/>
        </p:spPr>
        <p:txBody>
          <a:bodyPr wrap="square">
            <a:spAutoFit/>
          </a:bodyPr>
          <a:lstStyle/>
          <a:p>
            <a:pPr algn="l"/>
            <a:r>
              <a:rPr sz="1200" b="0">
                <a:solidFill>
                  <a:srgbClr val="FFFFFF"/>
                </a:solidFill>
                <a:latin typeface="Calibri"/>
              </a:rPr>
              <a:t>9 VAAs internacionales
4 iniciativas chilenas
Brechas identificadas
Mejores practicas documentadas</a:t>
            </a:r>
          </a:p>
        </p:txBody>
      </p:sp>
      <p:sp>
        <p:nvSpPr>
          <p:cNvPr id="23" name="Rectangle 22"/>
          <p:cNvSpPr/>
          <p:nvPr/>
        </p:nvSpPr>
        <p:spPr>
          <a:xfrm>
            <a:off x="8229600" y="3520440"/>
            <a:ext cx="3657600" cy="2852928"/>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3639312"/>
            <a:ext cx="3291840" cy="320040"/>
          </a:xfrm>
          <a:prstGeom prst="rect">
            <a:avLst/>
          </a:prstGeom>
          <a:noFill/>
        </p:spPr>
        <p:txBody>
          <a:bodyPr wrap="square">
            <a:spAutoFit/>
          </a:bodyPr>
          <a:lstStyle/>
          <a:p>
            <a:pPr algn="l"/>
            <a:r>
              <a:rPr sz="1000" b="1">
                <a:solidFill>
                  <a:srgbClr val="5A6B73"/>
                </a:solidFill>
                <a:latin typeface="Calibri"/>
              </a:rPr>
              <a:t>RESULTADO</a:t>
            </a:r>
          </a:p>
        </p:txBody>
      </p:sp>
      <p:sp>
        <p:nvSpPr>
          <p:cNvPr id="25" name="TextBox 24"/>
          <p:cNvSpPr txBox="1"/>
          <p:nvPr/>
        </p:nvSpPr>
        <p:spPr>
          <a:xfrm>
            <a:off x="8412480" y="4005072"/>
            <a:ext cx="3291840" cy="2176272"/>
          </a:xfrm>
          <a:prstGeom prst="rect">
            <a:avLst/>
          </a:prstGeom>
          <a:noFill/>
        </p:spPr>
        <p:txBody>
          <a:bodyPr wrap="square">
            <a:spAutoFit/>
          </a:bodyPr>
          <a:lstStyle/>
          <a:p>
            <a:pPr algn="l"/>
            <a:r>
              <a:rPr sz="1200" b="0">
                <a:solidFill>
                  <a:srgbClr val="1A2B33"/>
                </a:solidFill>
                <a:latin typeface="Calibri"/>
              </a:rPr>
              <a:t>Plataformas analizadas:
StemWijzer  Wahl-O-Mat
SmartVote  Vote Compass
iSideWith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OBTENCION DE REQUERIMIENTOS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FFFFFF"/>
                </a:solidFill>
                <a:latin typeface="Calibri"/>
              </a:rPr>
              <a:t>Tres mecanismos de levantamiento.</a:t>
            </a:r>
          </a:p>
        </p:txBody>
      </p:sp>
      <p:sp>
        <p:nvSpPr>
          <p:cNvPr id="5" name="Rectangle 4"/>
          <p:cNvSpPr/>
          <p:nvPr/>
        </p:nvSpPr>
        <p:spPr>
          <a:xfrm>
            <a:off x="457200" y="1325880"/>
            <a:ext cx="3657600" cy="516636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3291840" cy="438912"/>
          </a:xfrm>
          <a:prstGeom prst="rect">
            <a:avLst/>
          </a:prstGeom>
          <a:noFill/>
        </p:spPr>
        <p:txBody>
          <a:bodyPr wrap="square">
            <a:spAutoFit/>
          </a:bodyPr>
          <a:lstStyle/>
          <a:p>
            <a:pPr algn="l"/>
            <a:r>
              <a:rPr sz="1300" b="1">
                <a:solidFill>
                  <a:srgbClr val="FFFFFF"/>
                </a:solidFill>
                <a:latin typeface="Calibri"/>
              </a:rPr>
              <a:t>DEL PROBLEMA</a:t>
            </a:r>
          </a:p>
        </p:txBody>
      </p:sp>
      <p:sp>
        <p:nvSpPr>
          <p:cNvPr id="7" name="Rectangle 6"/>
          <p:cNvSpPr/>
          <p:nvPr/>
        </p:nvSpPr>
        <p:spPr>
          <a:xfrm>
            <a:off x="6400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29968"/>
            <a:ext cx="3291840" cy="1417320"/>
          </a:xfrm>
          <a:prstGeom prst="rect">
            <a:avLst/>
          </a:prstGeom>
          <a:noFill/>
        </p:spPr>
        <p:txBody>
          <a:bodyPr wrap="square">
            <a:spAutoFit/>
          </a:bodyPr>
          <a:lstStyle/>
          <a:p>
            <a:pPr algn="l"/>
            <a:r>
              <a:rPr sz="1300" b="0">
                <a:solidFill>
                  <a:srgbClr val="FFFFFF"/>
                </a:solidFill>
                <a:latin typeface="Calibri"/>
              </a:rPr>
              <a:t>La caracterizacion empirica definio
las propiedades esenciales del sistema:</a:t>
            </a:r>
          </a:p>
        </p:txBody>
      </p:sp>
      <p:sp>
        <p:nvSpPr>
          <p:cNvPr id="9" name="Rectangle 8"/>
          <p:cNvSpPr/>
          <p:nvPr/>
        </p:nvSpPr>
        <p:spPr>
          <a:xfrm>
            <a:off x="640080" y="349300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11880"/>
            <a:ext cx="3291840" cy="2743200"/>
          </a:xfrm>
          <a:prstGeom prst="rect">
            <a:avLst/>
          </a:prstGeom>
          <a:noFill/>
        </p:spPr>
        <p:txBody>
          <a:bodyPr wrap="square">
            <a:spAutoFit/>
          </a:bodyPr>
          <a:lstStyle/>
          <a:p>
            <a:pPr algn="l"/>
            <a:r>
              <a:rPr sz="1300" b="1">
                <a:solidFill>
                  <a:srgbClr val="FFFFFF"/>
                </a:solidFill>
                <a:latin typeface="Calibri"/>
              </a:rPr>
              <a:t>Comprensible  |  Mobile-first
Rapida  |  Confiable  |  Verificable</a:t>
            </a:r>
          </a:p>
        </p:txBody>
      </p:sp>
      <p:sp>
        <p:nvSpPr>
          <p:cNvPr id="11" name="Rectangle 10"/>
          <p:cNvSpPr/>
          <p:nvPr/>
        </p:nvSpPr>
        <p:spPr>
          <a:xfrm>
            <a:off x="4343400" y="1325880"/>
            <a:ext cx="3657600" cy="516636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444752"/>
            <a:ext cx="3291840" cy="438912"/>
          </a:xfrm>
          <a:prstGeom prst="rect">
            <a:avLst/>
          </a:prstGeom>
          <a:noFill/>
        </p:spPr>
        <p:txBody>
          <a:bodyPr wrap="square">
            <a:spAutoFit/>
          </a:bodyPr>
          <a:lstStyle/>
          <a:p>
            <a:pPr algn="l"/>
            <a:r>
              <a:rPr sz="1300" b="1">
                <a:solidFill>
                  <a:srgbClr val="FFFFFF"/>
                </a:solidFill>
                <a:latin typeface="Calibri"/>
              </a:rPr>
              <a:t>DEL ESTADO DEL ARTE</a:t>
            </a:r>
          </a:p>
        </p:txBody>
      </p:sp>
      <p:sp>
        <p:nvSpPr>
          <p:cNvPr id="13" name="Rectangle 12"/>
          <p:cNvSpPr/>
          <p:nvPr/>
        </p:nvSpPr>
        <p:spPr>
          <a:xfrm>
            <a:off x="45262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029968"/>
            <a:ext cx="3291840" cy="1417320"/>
          </a:xfrm>
          <a:prstGeom prst="rect">
            <a:avLst/>
          </a:prstGeom>
          <a:noFill/>
        </p:spPr>
        <p:txBody>
          <a:bodyPr wrap="square">
            <a:spAutoFit/>
          </a:bodyPr>
          <a:lstStyle/>
          <a:p>
            <a:pPr algn="l"/>
            <a:r>
              <a:rPr sz="1300" b="0">
                <a:solidFill>
                  <a:srgbClr val="FFFFFF"/>
                </a:solidFill>
                <a:latin typeface="Calibri"/>
              </a:rPr>
              <a:t>El analisis de VAAs internacionales
revelo funcionalidades probadas:</a:t>
            </a:r>
          </a:p>
        </p:txBody>
      </p:sp>
      <p:sp>
        <p:nvSpPr>
          <p:cNvPr id="15" name="Rectangle 14"/>
          <p:cNvSpPr/>
          <p:nvPr/>
        </p:nvSpPr>
        <p:spPr>
          <a:xfrm>
            <a:off x="4526280" y="349300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3611880"/>
            <a:ext cx="3291840" cy="2743200"/>
          </a:xfrm>
          <a:prstGeom prst="rect">
            <a:avLst/>
          </a:prstGeom>
          <a:noFill/>
        </p:spPr>
        <p:txBody>
          <a:bodyPr wrap="square">
            <a:spAutoFit/>
          </a:bodyPr>
          <a:lstStyle/>
          <a:p>
            <a:pPr algn="l"/>
            <a:r>
              <a:rPr sz="1300" b="1">
                <a:solidFill>
                  <a:srgbClr val="FFFFFF"/>
                </a:solidFill>
                <a:latin typeface="Calibri"/>
              </a:rPr>
              <a:t>Likert 5 puntos  |  Ponderacion
Indicador de confianza  |  Exclusion NSR</a:t>
            </a:r>
          </a:p>
        </p:txBody>
      </p:sp>
      <p:sp>
        <p:nvSpPr>
          <p:cNvPr id="17" name="Rectangle 16"/>
          <p:cNvSpPr/>
          <p:nvPr/>
        </p:nvSpPr>
        <p:spPr>
          <a:xfrm>
            <a:off x="8229600" y="1325880"/>
            <a:ext cx="3657600" cy="516636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1444752"/>
            <a:ext cx="3291840" cy="438912"/>
          </a:xfrm>
          <a:prstGeom prst="rect">
            <a:avLst/>
          </a:prstGeom>
          <a:noFill/>
        </p:spPr>
        <p:txBody>
          <a:bodyPr wrap="square">
            <a:spAutoFit/>
          </a:bodyPr>
          <a:lstStyle/>
          <a:p>
            <a:pPr algn="l"/>
            <a:r>
              <a:rPr sz="1300" b="1">
                <a:solidFill>
                  <a:srgbClr val="FFFFFF"/>
                </a:solidFill>
                <a:latin typeface="Calibri"/>
              </a:rPr>
              <a:t>EMERGENTES</a:t>
            </a:r>
          </a:p>
        </p:txBody>
      </p:sp>
      <p:sp>
        <p:nvSpPr>
          <p:cNvPr id="19" name="Rectangle 18"/>
          <p:cNvSpPr/>
          <p:nvPr/>
        </p:nvSpPr>
        <p:spPr>
          <a:xfrm>
            <a:off x="8412480" y="1920240"/>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029968"/>
            <a:ext cx="3291840" cy="1417320"/>
          </a:xfrm>
          <a:prstGeom prst="rect">
            <a:avLst/>
          </a:prstGeom>
          <a:noFill/>
        </p:spPr>
        <p:txBody>
          <a:bodyPr wrap="square">
            <a:spAutoFit/>
          </a:bodyPr>
          <a:lstStyle/>
          <a:p>
            <a:pPr algn="l"/>
            <a:r>
              <a:rPr sz="1300" b="0">
                <a:solidFill>
                  <a:srgbClr val="FFFFFF"/>
                </a:solidFill>
                <a:latin typeface="Calibri"/>
              </a:rPr>
              <a:t>Durante la construccion surgieron
necesidades no anticipadas:</a:t>
            </a:r>
          </a:p>
        </p:txBody>
      </p:sp>
      <p:sp>
        <p:nvSpPr>
          <p:cNvPr id="21" name="Rectangle 20"/>
          <p:cNvSpPr/>
          <p:nvPr/>
        </p:nvSpPr>
        <p:spPr>
          <a:xfrm>
            <a:off x="8412480" y="349300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3611880"/>
            <a:ext cx="3291840" cy="2743200"/>
          </a:xfrm>
          <a:prstGeom prst="rect">
            <a:avLst/>
          </a:prstGeom>
          <a:noFill/>
        </p:spPr>
        <p:txBody>
          <a:bodyPr wrap="square">
            <a:spAutoFit/>
          </a:bodyPr>
          <a:lstStyle/>
          <a:p>
            <a:pPr algn="l"/>
            <a:r>
              <a:rPr sz="1300" b="1">
                <a:solidFill>
                  <a:srgbClr val="FFFFFF"/>
                </a:solidFill>
                <a:latin typeface="Calibri"/>
              </a:rPr>
              <a:t>Registradas como issues con criterios
de aceptacion y prioridad explicitica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MARCO TEORICO -- VOTING ADVICE APPLICATIONS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La categoria que define la solucion.</a:t>
            </a:r>
          </a:p>
        </p:txBody>
      </p:sp>
      <p:sp>
        <p:nvSpPr>
          <p:cNvPr id="5" name="Rectangle 4"/>
          <p:cNvSpPr/>
          <p:nvPr/>
        </p:nvSpPr>
        <p:spPr>
          <a:xfrm>
            <a:off x="457200" y="1261872"/>
            <a:ext cx="11247120" cy="141732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10698480" cy="1170432"/>
          </a:xfrm>
          <a:prstGeom prst="rect">
            <a:avLst/>
          </a:prstGeom>
          <a:noFill/>
        </p:spPr>
        <p:txBody>
          <a:bodyPr wrap="square">
            <a:spAutoFit/>
          </a:bodyPr>
          <a:lstStyle/>
          <a:p>
            <a:pPr algn="l"/>
            <a:r>
              <a:rPr sz="1400" b="0">
                <a:solidFill>
                  <a:srgbClr val="FFFFFF"/>
                </a:solidFill>
                <a:latin typeface="Calibri"/>
              </a:rPr>
              <a:t>Una Voting Advice Application es una herramienta digital disenada para asistir a los ciudadanos en el proceso de decision electoral mediante la comparacion sistematica de las posturas del votante con las posiciones de los partidos o candidatos en competencia. (Garzia y Marschall, 2014 -- ECPR Press)</a:t>
            </a:r>
          </a:p>
        </p:txBody>
      </p:sp>
      <p:sp>
        <p:nvSpPr>
          <p:cNvPr id="7" name="Rectangle 6"/>
          <p:cNvSpPr/>
          <p:nvPr/>
        </p:nvSpPr>
        <p:spPr>
          <a:xfrm>
            <a:off x="548640" y="2944368"/>
            <a:ext cx="10881360" cy="45720"/>
          </a:xfrm>
          <a:prstGeom prst="rect">
            <a:avLst/>
          </a:prstGeom>
          <a:solidFill>
            <a:srgbClr val="CBD1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834640"/>
            <a:ext cx="73152" cy="16459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19" y="2304288"/>
            <a:ext cx="1508760" cy="411480"/>
          </a:xfrm>
          <a:prstGeom prst="rect">
            <a:avLst/>
          </a:prstGeom>
          <a:noFill/>
        </p:spPr>
        <p:txBody>
          <a:bodyPr wrap="square">
            <a:spAutoFit/>
          </a:bodyPr>
          <a:lstStyle/>
          <a:p>
            <a:pPr algn="ctr"/>
            <a:r>
              <a:rPr sz="1200" b="1">
                <a:solidFill>
                  <a:srgbClr val="2E5F7E"/>
                </a:solidFill>
                <a:latin typeface="Calibri"/>
              </a:rPr>
              <a:t>1989</a:t>
            </a:r>
          </a:p>
        </p:txBody>
      </p:sp>
      <p:sp>
        <p:nvSpPr>
          <p:cNvPr id="10" name="TextBox 9"/>
          <p:cNvSpPr txBox="1"/>
          <p:nvPr/>
        </p:nvSpPr>
        <p:spPr>
          <a:xfrm>
            <a:off x="45719" y="3127248"/>
            <a:ext cx="1508760" cy="1234440"/>
          </a:xfrm>
          <a:prstGeom prst="rect">
            <a:avLst/>
          </a:prstGeom>
          <a:noFill/>
        </p:spPr>
        <p:txBody>
          <a:bodyPr wrap="square">
            <a:spAutoFit/>
          </a:bodyPr>
          <a:lstStyle/>
          <a:p>
            <a:pPr algn="ctr"/>
            <a:r>
              <a:rPr sz="1000" b="0">
                <a:solidFill>
                  <a:srgbClr val="5A6B73"/>
                </a:solidFill>
                <a:latin typeface="Calibri"/>
              </a:rPr>
              <a:t>StemWijzer
Paises Bajos
(en disquete)</a:t>
            </a:r>
          </a:p>
        </p:txBody>
      </p:sp>
      <p:sp>
        <p:nvSpPr>
          <p:cNvPr id="11" name="Rectangle 10"/>
          <p:cNvSpPr/>
          <p:nvPr/>
        </p:nvSpPr>
        <p:spPr>
          <a:xfrm>
            <a:off x="2377440" y="2834640"/>
            <a:ext cx="73152" cy="16459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19" y="2304288"/>
            <a:ext cx="1508760" cy="411480"/>
          </a:xfrm>
          <a:prstGeom prst="rect">
            <a:avLst/>
          </a:prstGeom>
          <a:noFill/>
        </p:spPr>
        <p:txBody>
          <a:bodyPr wrap="square">
            <a:spAutoFit/>
          </a:bodyPr>
          <a:lstStyle/>
          <a:p>
            <a:pPr algn="ctr"/>
            <a:r>
              <a:rPr sz="1200" b="1">
                <a:solidFill>
                  <a:srgbClr val="3A9E7A"/>
                </a:solidFill>
                <a:latin typeface="Calibri"/>
              </a:rPr>
              <a:t>1999</a:t>
            </a:r>
          </a:p>
        </p:txBody>
      </p:sp>
      <p:sp>
        <p:nvSpPr>
          <p:cNvPr id="13" name="TextBox 12"/>
          <p:cNvSpPr txBox="1"/>
          <p:nvPr/>
        </p:nvSpPr>
        <p:spPr>
          <a:xfrm>
            <a:off x="1874519" y="3127248"/>
            <a:ext cx="1508760" cy="1234440"/>
          </a:xfrm>
          <a:prstGeom prst="rect">
            <a:avLst/>
          </a:prstGeom>
          <a:noFill/>
        </p:spPr>
        <p:txBody>
          <a:bodyPr wrap="square">
            <a:spAutoFit/>
          </a:bodyPr>
          <a:lstStyle/>
          <a:p>
            <a:pPr algn="ctr"/>
            <a:r>
              <a:rPr sz="1000" b="0">
                <a:solidFill>
                  <a:srgbClr val="5A6B73"/>
                </a:solidFill>
                <a:latin typeface="Calibri"/>
              </a:rPr>
              <a:t>Wahl-O-Mat
Alemania
BpB federal</a:t>
            </a:r>
          </a:p>
        </p:txBody>
      </p:sp>
      <p:sp>
        <p:nvSpPr>
          <p:cNvPr id="14" name="Rectangle 13"/>
          <p:cNvSpPr/>
          <p:nvPr/>
        </p:nvSpPr>
        <p:spPr>
          <a:xfrm>
            <a:off x="4206240" y="2834640"/>
            <a:ext cx="73152" cy="164592"/>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3320" y="2304288"/>
            <a:ext cx="1508760" cy="411480"/>
          </a:xfrm>
          <a:prstGeom prst="rect">
            <a:avLst/>
          </a:prstGeom>
          <a:noFill/>
        </p:spPr>
        <p:txBody>
          <a:bodyPr wrap="square">
            <a:spAutoFit/>
          </a:bodyPr>
          <a:lstStyle/>
          <a:p>
            <a:pPr algn="ctr"/>
            <a:r>
              <a:rPr sz="1200" b="1">
                <a:solidFill>
                  <a:srgbClr val="C89B5C"/>
                </a:solidFill>
                <a:latin typeface="Calibri"/>
              </a:rPr>
              <a:t>2003</a:t>
            </a:r>
          </a:p>
        </p:txBody>
      </p:sp>
      <p:sp>
        <p:nvSpPr>
          <p:cNvPr id="16" name="TextBox 15"/>
          <p:cNvSpPr txBox="1"/>
          <p:nvPr/>
        </p:nvSpPr>
        <p:spPr>
          <a:xfrm>
            <a:off x="3703320" y="3127248"/>
            <a:ext cx="1508760" cy="1234440"/>
          </a:xfrm>
          <a:prstGeom prst="rect">
            <a:avLst/>
          </a:prstGeom>
          <a:noFill/>
        </p:spPr>
        <p:txBody>
          <a:bodyPr wrap="square">
            <a:spAutoFit/>
          </a:bodyPr>
          <a:lstStyle/>
          <a:p>
            <a:pPr algn="ctr"/>
            <a:r>
              <a:rPr sz="1000" b="0">
                <a:solidFill>
                  <a:srgbClr val="5A6B73"/>
                </a:solidFill>
                <a:latin typeface="Calibri"/>
              </a:rPr>
              <a:t>Smartvote
Suiza
Multidimensional</a:t>
            </a:r>
          </a:p>
        </p:txBody>
      </p:sp>
      <p:sp>
        <p:nvSpPr>
          <p:cNvPr id="17" name="Rectangle 16"/>
          <p:cNvSpPr/>
          <p:nvPr/>
        </p:nvSpPr>
        <p:spPr>
          <a:xfrm>
            <a:off x="6035040" y="2834640"/>
            <a:ext cx="73152" cy="164592"/>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2304288"/>
            <a:ext cx="1508760" cy="411480"/>
          </a:xfrm>
          <a:prstGeom prst="rect">
            <a:avLst/>
          </a:prstGeom>
          <a:noFill/>
        </p:spPr>
        <p:txBody>
          <a:bodyPr wrap="square">
            <a:spAutoFit/>
          </a:bodyPr>
          <a:lstStyle/>
          <a:p>
            <a:pPr algn="ctr"/>
            <a:r>
              <a:rPr sz="1200" b="1">
                <a:solidFill>
                  <a:srgbClr val="6B9B7A"/>
                </a:solidFill>
                <a:latin typeface="Calibri"/>
              </a:rPr>
              <a:t>2011</a:t>
            </a:r>
          </a:p>
        </p:txBody>
      </p:sp>
      <p:sp>
        <p:nvSpPr>
          <p:cNvPr id="19" name="TextBox 18"/>
          <p:cNvSpPr txBox="1"/>
          <p:nvPr/>
        </p:nvSpPr>
        <p:spPr>
          <a:xfrm>
            <a:off x="5532120" y="3127248"/>
            <a:ext cx="1508760" cy="1234440"/>
          </a:xfrm>
          <a:prstGeom prst="rect">
            <a:avLst/>
          </a:prstGeom>
          <a:noFill/>
        </p:spPr>
        <p:txBody>
          <a:bodyPr wrap="square">
            <a:spAutoFit/>
          </a:bodyPr>
          <a:lstStyle/>
          <a:p>
            <a:pPr algn="ctr"/>
            <a:r>
              <a:rPr sz="1000" b="0">
                <a:solidFill>
                  <a:srgbClr val="5A6B73"/>
                </a:solidFill>
                <a:latin typeface="Calibri"/>
              </a:rPr>
              <a:t>Vote Compass
Canada/Aust.
Alianza CBC</a:t>
            </a:r>
          </a:p>
        </p:txBody>
      </p:sp>
      <p:sp>
        <p:nvSpPr>
          <p:cNvPr id="20" name="Rectangle 19"/>
          <p:cNvSpPr/>
          <p:nvPr/>
        </p:nvSpPr>
        <p:spPr>
          <a:xfrm>
            <a:off x="7863840" y="2834640"/>
            <a:ext cx="73152" cy="164592"/>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19" y="2304288"/>
            <a:ext cx="1508760" cy="411480"/>
          </a:xfrm>
          <a:prstGeom prst="rect">
            <a:avLst/>
          </a:prstGeom>
          <a:noFill/>
        </p:spPr>
        <p:txBody>
          <a:bodyPr wrap="square">
            <a:spAutoFit/>
          </a:bodyPr>
          <a:lstStyle/>
          <a:p>
            <a:pPr algn="ctr"/>
            <a:r>
              <a:rPr sz="1200" b="1">
                <a:solidFill>
                  <a:srgbClr val="1C3A52"/>
                </a:solidFill>
                <a:latin typeface="Calibri"/>
              </a:rPr>
              <a:t>2015</a:t>
            </a:r>
          </a:p>
        </p:txBody>
      </p:sp>
      <p:sp>
        <p:nvSpPr>
          <p:cNvPr id="22" name="TextBox 21"/>
          <p:cNvSpPr txBox="1"/>
          <p:nvPr/>
        </p:nvSpPr>
        <p:spPr>
          <a:xfrm>
            <a:off x="7360919" y="3127248"/>
            <a:ext cx="1508760" cy="1234440"/>
          </a:xfrm>
          <a:prstGeom prst="rect">
            <a:avLst/>
          </a:prstGeom>
          <a:noFill/>
        </p:spPr>
        <p:txBody>
          <a:bodyPr wrap="square">
            <a:spAutoFit/>
          </a:bodyPr>
          <a:lstStyle/>
          <a:p>
            <a:pPr algn="ctr"/>
            <a:r>
              <a:rPr sz="1000" b="0">
                <a:solidFill>
                  <a:srgbClr val="5A6B73"/>
                </a:solidFill>
                <a:latin typeface="Calibri"/>
              </a:rPr>
              <a:t>iSideWith
Global
40+ preguntas</a:t>
            </a:r>
          </a:p>
        </p:txBody>
      </p:sp>
      <p:sp>
        <p:nvSpPr>
          <p:cNvPr id="23" name="Rectangle 22"/>
          <p:cNvSpPr/>
          <p:nvPr/>
        </p:nvSpPr>
        <p:spPr>
          <a:xfrm>
            <a:off x="9692640" y="2834640"/>
            <a:ext cx="73152" cy="164592"/>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89719" y="2304288"/>
            <a:ext cx="1508760" cy="411480"/>
          </a:xfrm>
          <a:prstGeom prst="rect">
            <a:avLst/>
          </a:prstGeom>
          <a:noFill/>
        </p:spPr>
        <p:txBody>
          <a:bodyPr wrap="square">
            <a:spAutoFit/>
          </a:bodyPr>
          <a:lstStyle/>
          <a:p>
            <a:pPr algn="ctr"/>
            <a:r>
              <a:rPr sz="1200" b="1">
                <a:solidFill>
                  <a:srgbClr val="B85C5C"/>
                </a:solidFill>
                <a:latin typeface="Calibri"/>
              </a:rPr>
              <a:t>2026</a:t>
            </a:r>
          </a:p>
        </p:txBody>
      </p:sp>
      <p:sp>
        <p:nvSpPr>
          <p:cNvPr id="25" name="TextBox 24"/>
          <p:cNvSpPr txBox="1"/>
          <p:nvPr/>
        </p:nvSpPr>
        <p:spPr>
          <a:xfrm>
            <a:off x="9189719" y="3127248"/>
            <a:ext cx="1508760" cy="1234440"/>
          </a:xfrm>
          <a:prstGeom prst="rect">
            <a:avLst/>
          </a:prstGeom>
          <a:noFill/>
        </p:spPr>
        <p:txBody>
          <a:bodyPr wrap="square">
            <a:spAutoFit/>
          </a:bodyPr>
          <a:lstStyle/>
          <a:p>
            <a:pPr algn="ctr"/>
            <a:r>
              <a:rPr sz="1000" b="0">
                <a:solidFill>
                  <a:srgbClr val="5A6B73"/>
                </a:solidFill>
                <a:latin typeface="Calibri"/>
              </a:rPr>
              <a:t>VotoAFin
Chile
AGPL-3.0</a:t>
            </a:r>
          </a:p>
        </p:txBody>
      </p:sp>
      <p:sp>
        <p:nvSpPr>
          <p:cNvPr id="26" name="Rectangle 25"/>
          <p:cNvSpPr/>
          <p:nvPr/>
        </p:nvSpPr>
        <p:spPr>
          <a:xfrm>
            <a:off x="457200" y="4681728"/>
            <a:ext cx="11247120" cy="1572768"/>
          </a:xfrm>
          <a:prstGeom prst="rect">
            <a:avLst/>
          </a:prstGeom>
          <a:solidFill>
            <a:srgbClr val="EA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800600"/>
            <a:ext cx="3657600" cy="320040"/>
          </a:xfrm>
          <a:prstGeom prst="rect">
            <a:avLst/>
          </a:prstGeom>
          <a:noFill/>
        </p:spPr>
        <p:txBody>
          <a:bodyPr wrap="square">
            <a:spAutoFit/>
          </a:bodyPr>
          <a:lstStyle/>
          <a:p>
            <a:pPr algn="l"/>
            <a:r>
              <a:rPr sz="1100" b="1">
                <a:solidFill>
                  <a:srgbClr val="2E5F7E"/>
                </a:solidFill>
                <a:latin typeface="Calibri"/>
              </a:rPr>
              <a:t>IMPACTO DOCUMENTADO</a:t>
            </a:r>
          </a:p>
        </p:txBody>
      </p:sp>
      <p:sp>
        <p:nvSpPr>
          <p:cNvPr id="28" name="TextBox 27"/>
          <p:cNvSpPr txBox="1"/>
          <p:nvPr/>
        </p:nvSpPr>
        <p:spPr>
          <a:xfrm>
            <a:off x="640080" y="5166360"/>
            <a:ext cx="10698480" cy="914400"/>
          </a:xfrm>
          <a:prstGeom prst="rect">
            <a:avLst/>
          </a:prstGeom>
          <a:noFill/>
        </p:spPr>
        <p:txBody>
          <a:bodyPr wrap="square">
            <a:spAutoFit/>
          </a:bodyPr>
          <a:lstStyle/>
          <a:p>
            <a:pPr algn="l"/>
            <a:r>
              <a:rPr sz="1200" b="0">
                <a:solidFill>
                  <a:srgbClr val="1A2B33"/>
                </a:solidFill>
                <a:latin typeface="Calibri"/>
              </a:rPr>
              <a:t>Wahl-O-Mat: 21 millones de usos en las elecciones alemanas de 2021. Investigaciones estiman que las VAAs pueden influir en entre el 2% y el 6% de los votos emitidos en procesos con alta adopcion (Ruusuvirta y Rosema, 2009). Usuarios que completan una VAA muestran mayor probabilidad de concurrir a votar.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MARCO TEORICO -- SISTEMAS DE RECOMENDACION</a:t>
            </a:r>
          </a:p>
        </p:txBody>
      </p:sp>
      <p:sp>
        <p:nvSpPr>
          <p:cNvPr id="4" name="TextBox 3"/>
          <p:cNvSpPr txBox="1"/>
          <p:nvPr/>
        </p:nvSpPr>
        <p:spPr>
          <a:xfrm>
            <a:off x="548640" y="411480"/>
            <a:ext cx="10972800" cy="914400"/>
          </a:xfrm>
          <a:prstGeom prst="rect">
            <a:avLst/>
          </a:prstGeom>
          <a:noFill/>
        </p:spPr>
        <p:txBody>
          <a:bodyPr wrap="square">
            <a:spAutoFit/>
          </a:bodyPr>
          <a:lstStyle/>
          <a:p>
            <a:pPr algn="l"/>
            <a:r>
              <a:rPr sz="4000" b="1">
                <a:solidFill>
                  <a:srgbClr val="FFFFFF"/>
                </a:solidFill>
                <a:latin typeface="Calibri"/>
              </a:rPr>
              <a:t>La VAA como sistema de
filtrado basado en conocimiento.</a:t>
            </a:r>
          </a:p>
        </p:txBody>
      </p:sp>
      <p:sp>
        <p:nvSpPr>
          <p:cNvPr id="5" name="Rectangle 4"/>
          <p:cNvSpPr/>
          <p:nvPr/>
        </p:nvSpPr>
        <p:spPr>
          <a:xfrm>
            <a:off x="457200" y="1536192"/>
            <a:ext cx="11247120" cy="8412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64208"/>
            <a:ext cx="10698480" cy="594360"/>
          </a:xfrm>
          <a:prstGeom prst="rect">
            <a:avLst/>
          </a:prstGeom>
          <a:noFill/>
        </p:spPr>
        <p:txBody>
          <a:bodyPr wrap="square">
            <a:spAutoFit/>
          </a:bodyPr>
          <a:lstStyle/>
          <a:p>
            <a:pPr algn="l"/>
            <a:r>
              <a:rPr sz="1300" b="0">
                <a:solidFill>
                  <a:srgbClr val="FFFFFF"/>
                </a:solidFill>
                <a:latin typeface="Calibri"/>
              </a:rPr>
              <a:t>Las VAAs pertenecen a la categoria de filtrado basado en conocimiento (Ricci et al., 2011): el usuario declara explicitamente sus preferencias, y el sistema las compara con las caracteristicas de los candidatos disponibles. No dependen de historiales de comportamiento.</a:t>
            </a:r>
          </a:p>
        </p:txBody>
      </p:sp>
      <p:sp>
        <p:nvSpPr>
          <p:cNvPr id="7" name="TextBox 6"/>
          <p:cNvSpPr txBox="1"/>
          <p:nvPr/>
        </p:nvSpPr>
        <p:spPr>
          <a:xfrm>
            <a:off x="548640" y="2578608"/>
            <a:ext cx="10972800" cy="320040"/>
          </a:xfrm>
          <a:prstGeom prst="rect">
            <a:avLst/>
          </a:prstGeom>
          <a:noFill/>
        </p:spPr>
        <p:txBody>
          <a:bodyPr wrap="square">
            <a:spAutoFit/>
          </a:bodyPr>
          <a:lstStyle/>
          <a:p>
            <a:pPr algn="l"/>
            <a:r>
              <a:rPr sz="1100" b="1">
                <a:solidFill>
                  <a:srgbClr val="3A9E7A"/>
                </a:solidFill>
                <a:latin typeface="Calibri"/>
              </a:rPr>
              <a:t>FUNCIONES DE SIMILARIDAD EVALUADAS</a:t>
            </a:r>
          </a:p>
        </p:txBody>
      </p:sp>
      <p:sp>
        <p:nvSpPr>
          <p:cNvPr id="8" name="Rectangle 7"/>
          <p:cNvSpPr/>
          <p:nvPr/>
        </p:nvSpPr>
        <p:spPr>
          <a:xfrm>
            <a:off x="457200" y="2999232"/>
            <a:ext cx="2743200" cy="340156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127248"/>
            <a:ext cx="2487168" cy="594360"/>
          </a:xfrm>
          <a:prstGeom prst="rect">
            <a:avLst/>
          </a:prstGeom>
          <a:noFill/>
        </p:spPr>
        <p:txBody>
          <a:bodyPr wrap="square">
            <a:spAutoFit/>
          </a:bodyPr>
          <a:lstStyle/>
          <a:p>
            <a:pPr algn="l"/>
            <a:r>
              <a:rPr sz="1300" b="1">
                <a:solidFill>
                  <a:srgbClr val="FFFFFF"/>
                </a:solidFill>
                <a:latin typeface="Calibri"/>
              </a:rPr>
              <a:t>DISTANCIA MANHATTAN</a:t>
            </a:r>
          </a:p>
        </p:txBody>
      </p:sp>
      <p:sp>
        <p:nvSpPr>
          <p:cNvPr id="10" name="Rectangle 9"/>
          <p:cNvSpPr/>
          <p:nvPr/>
        </p:nvSpPr>
        <p:spPr>
          <a:xfrm>
            <a:off x="594360" y="3749039"/>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858768"/>
            <a:ext cx="2487168" cy="2331720"/>
          </a:xfrm>
          <a:prstGeom prst="rect">
            <a:avLst/>
          </a:prstGeom>
          <a:noFill/>
        </p:spPr>
        <p:txBody>
          <a:bodyPr wrap="square">
            <a:spAutoFit/>
          </a:bodyPr>
          <a:lstStyle/>
          <a:p>
            <a:pPr algn="l"/>
            <a:r>
              <a:rPr sz="1200" b="0">
                <a:solidFill>
                  <a:srgbClr val="FFFFFF"/>
                </a:solidFill>
                <a:latin typeface="Calibri"/>
              </a:rPr>
              <a:t>Suma de diferencias absolutas.
Simple e intuitiva.
No penaliza distancias extremas.</a:t>
            </a:r>
          </a:p>
        </p:txBody>
      </p:sp>
      <p:sp>
        <p:nvSpPr>
          <p:cNvPr id="12" name="Rectangle 11"/>
          <p:cNvSpPr/>
          <p:nvPr/>
        </p:nvSpPr>
        <p:spPr>
          <a:xfrm>
            <a:off x="3337560" y="2999232"/>
            <a:ext cx="2743200" cy="340156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3127248"/>
            <a:ext cx="2487168" cy="594360"/>
          </a:xfrm>
          <a:prstGeom prst="rect">
            <a:avLst/>
          </a:prstGeom>
          <a:noFill/>
        </p:spPr>
        <p:txBody>
          <a:bodyPr wrap="square">
            <a:spAutoFit/>
          </a:bodyPr>
          <a:lstStyle/>
          <a:p>
            <a:pPr algn="l"/>
            <a:r>
              <a:rPr sz="1300" b="1">
                <a:solidFill>
                  <a:srgbClr val="FFFFFF"/>
                </a:solidFill>
                <a:latin typeface="Calibri"/>
              </a:rPr>
              <a:t>DISTANCIA EUCLIDIANA</a:t>
            </a:r>
          </a:p>
        </p:txBody>
      </p:sp>
      <p:sp>
        <p:nvSpPr>
          <p:cNvPr id="14" name="Rectangle 13"/>
          <p:cNvSpPr/>
          <p:nvPr/>
        </p:nvSpPr>
        <p:spPr>
          <a:xfrm>
            <a:off x="3474720" y="3749039"/>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3858768"/>
            <a:ext cx="2487168" cy="2331720"/>
          </a:xfrm>
          <a:prstGeom prst="rect">
            <a:avLst/>
          </a:prstGeom>
          <a:noFill/>
        </p:spPr>
        <p:txBody>
          <a:bodyPr wrap="square">
            <a:spAutoFit/>
          </a:bodyPr>
          <a:lstStyle/>
          <a:p>
            <a:pPr algn="l"/>
            <a:r>
              <a:rPr sz="1200" b="0">
                <a:solidFill>
                  <a:srgbClr val="FFFFFF"/>
                </a:solidFill>
                <a:latin typeface="Calibri"/>
              </a:rPr>
              <a:t>Raiz de diferencias cuadradas.
Penaliza discrepancias grandes.
Usada en VAAs sofisticadas.</a:t>
            </a:r>
          </a:p>
        </p:txBody>
      </p:sp>
      <p:sp>
        <p:nvSpPr>
          <p:cNvPr id="16" name="Rectangle 15"/>
          <p:cNvSpPr/>
          <p:nvPr/>
        </p:nvSpPr>
        <p:spPr>
          <a:xfrm>
            <a:off x="6217920" y="2999232"/>
            <a:ext cx="2743200" cy="34015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3127248"/>
            <a:ext cx="2487168" cy="594360"/>
          </a:xfrm>
          <a:prstGeom prst="rect">
            <a:avLst/>
          </a:prstGeom>
          <a:noFill/>
        </p:spPr>
        <p:txBody>
          <a:bodyPr wrap="square">
            <a:spAutoFit/>
          </a:bodyPr>
          <a:lstStyle/>
          <a:p>
            <a:pPr algn="l"/>
            <a:r>
              <a:rPr sz="1300" b="1">
                <a:solidFill>
                  <a:srgbClr val="FFFFFF"/>
                </a:solidFill>
                <a:latin typeface="Calibri"/>
              </a:rPr>
              <a:t>FUNCION CUADRATICA</a:t>
            </a:r>
          </a:p>
        </p:txBody>
      </p:sp>
      <p:sp>
        <p:nvSpPr>
          <p:cNvPr id="18" name="Rectangle 17"/>
          <p:cNvSpPr/>
          <p:nvPr/>
        </p:nvSpPr>
        <p:spPr>
          <a:xfrm>
            <a:off x="6355080" y="3749039"/>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858768"/>
            <a:ext cx="2487168" cy="2331720"/>
          </a:xfrm>
          <a:prstGeom prst="rect">
            <a:avLst/>
          </a:prstGeom>
          <a:noFill/>
        </p:spPr>
        <p:txBody>
          <a:bodyPr wrap="square">
            <a:spAutoFit/>
          </a:bodyPr>
          <a:lstStyle/>
          <a:p>
            <a:pPr algn="l"/>
            <a:r>
              <a:rPr sz="1200" b="0">
                <a:solidFill>
                  <a:srgbClr val="FFFFFF"/>
                </a:solidFill>
                <a:latin typeface="Calibri"/>
              </a:rPr>
              <a:t>Diferencia normalizada al cuadrado.
Refleja que la distancia politica
no es linealmente proporcional.</a:t>
            </a:r>
          </a:p>
        </p:txBody>
      </p:sp>
      <p:sp>
        <p:nvSpPr>
          <p:cNvPr id="20" name="Rectangle 19"/>
          <p:cNvSpPr/>
          <p:nvPr/>
        </p:nvSpPr>
        <p:spPr>
          <a:xfrm>
            <a:off x="9098280" y="2999232"/>
            <a:ext cx="2743200" cy="340156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3127248"/>
            <a:ext cx="2487168" cy="594360"/>
          </a:xfrm>
          <a:prstGeom prst="rect">
            <a:avLst/>
          </a:prstGeom>
          <a:noFill/>
        </p:spPr>
        <p:txBody>
          <a:bodyPr wrap="square">
            <a:spAutoFit/>
          </a:bodyPr>
          <a:lstStyle/>
          <a:p>
            <a:pPr algn="l"/>
            <a:r>
              <a:rPr sz="1300" b="1">
                <a:solidFill>
                  <a:srgbClr val="FFFFFF"/>
                </a:solidFill>
                <a:latin typeface="Calibri"/>
              </a:rPr>
              <a:t>COINCIDENCIA EXACTA</a:t>
            </a:r>
          </a:p>
        </p:txBody>
      </p:sp>
      <p:sp>
        <p:nvSpPr>
          <p:cNvPr id="22" name="Rectangle 21"/>
          <p:cNvSpPr/>
          <p:nvPr/>
        </p:nvSpPr>
        <p:spPr>
          <a:xfrm>
            <a:off x="9235440" y="3749039"/>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3858768"/>
            <a:ext cx="2487168" cy="2331720"/>
          </a:xfrm>
          <a:prstGeom prst="rect">
            <a:avLst/>
          </a:prstGeom>
          <a:noFill/>
        </p:spPr>
        <p:txBody>
          <a:bodyPr wrap="square">
            <a:spAutoFit/>
          </a:bodyPr>
          <a:lstStyle/>
          <a:p>
            <a:pPr algn="l"/>
            <a:r>
              <a:rPr sz="1200" b="0">
                <a:solidFill>
                  <a:srgbClr val="FFFFFF"/>
                </a:solidFill>
                <a:latin typeface="Calibri"/>
              </a:rPr>
              <a:t>Solo penaliza discrepancias.
No premia coincidencias parciales.
Menos precisa para matices.</a:t>
            </a:r>
          </a:p>
        </p:txBody>
      </p:sp>
      <p:sp>
        <p:nvSpPr>
          <p:cNvPr id="24" name="Rectangle 23"/>
          <p:cNvSpPr/>
          <p:nvPr/>
        </p:nvSpPr>
        <p:spPr>
          <a:xfrm>
            <a:off x="457200" y="6492240"/>
            <a:ext cx="11247120" cy="27432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528816"/>
            <a:ext cx="10789920" cy="201168"/>
          </a:xfrm>
          <a:prstGeom prst="rect">
            <a:avLst/>
          </a:prstGeom>
          <a:noFill/>
        </p:spPr>
        <p:txBody>
          <a:bodyPr wrap="square">
            <a:spAutoFit/>
          </a:bodyPr>
          <a:lstStyle/>
          <a:p>
            <a:pPr algn="ctr"/>
            <a:r>
              <a:rPr sz="900" b="0">
                <a:solidFill>
                  <a:srgbClr val="1C3A52"/>
                </a:solidFill>
                <a:latin typeface="Calibri"/>
              </a:rPr>
              <a:t>Decision adoptada: funcion cuadratica con ponderacion  --  Louwerse y Rosema (2014): refleja la intuicion politica sobre distancia entre posiciones.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MARCO TEORICO -- CARGA COGNITIVA Y DSS</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Por que el votante necesita ayuda.</a:t>
            </a:r>
          </a:p>
        </p:txBody>
      </p:sp>
      <p:sp>
        <p:nvSpPr>
          <p:cNvPr id="5" name="Rectangle 4"/>
          <p:cNvSpPr/>
          <p:nvPr/>
        </p:nvSpPr>
        <p:spPr>
          <a:xfrm>
            <a:off x="457200" y="1261872"/>
            <a:ext cx="11247120" cy="14173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10698480" cy="1170432"/>
          </a:xfrm>
          <a:prstGeom prst="rect">
            <a:avLst/>
          </a:prstGeom>
          <a:noFill/>
        </p:spPr>
        <p:txBody>
          <a:bodyPr wrap="square">
            <a:spAutoFit/>
          </a:bodyPr>
          <a:lstStyle/>
          <a:p>
            <a:pPr algn="l"/>
            <a:r>
              <a:rPr sz="1400" b="0">
                <a:solidFill>
                  <a:srgbClr val="FFFFFF"/>
                </a:solidFill>
                <a:latin typeface="Calibri"/>
              </a:rPr>
              <a:t>Kahneman (2011): los seres humanos enfrentan limitaciones estructurales cuando procesan conjuntos de opciones complejas con multiples atributos. En el contexto electoral, el votante debe evaluar multiples candidatos en multiples dimensiones con informacion dispersa y de calidad variable.</a:t>
            </a:r>
          </a:p>
        </p:txBody>
      </p:sp>
      <p:sp>
        <p:nvSpPr>
          <p:cNvPr id="7" name="Rectangle 6"/>
          <p:cNvSpPr/>
          <p:nvPr/>
        </p:nvSpPr>
        <p:spPr>
          <a:xfrm>
            <a:off x="457200" y="2852928"/>
            <a:ext cx="5577840" cy="17830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990088"/>
            <a:ext cx="5212080" cy="384048"/>
          </a:xfrm>
          <a:prstGeom prst="rect">
            <a:avLst/>
          </a:prstGeom>
          <a:noFill/>
        </p:spPr>
        <p:txBody>
          <a:bodyPr wrap="square">
            <a:spAutoFit/>
          </a:bodyPr>
          <a:lstStyle/>
          <a:p>
            <a:pPr algn="l"/>
            <a:r>
              <a:rPr sz="1200" b="1">
                <a:solidFill>
                  <a:srgbClr val="FFFFFF"/>
                </a:solidFill>
                <a:latin typeface="Calibri"/>
              </a:rPr>
              <a:t>HEURISTICA DE FAMILIARIDAD</a:t>
            </a:r>
          </a:p>
        </p:txBody>
      </p:sp>
      <p:sp>
        <p:nvSpPr>
          <p:cNvPr id="9" name="Rectangle 8"/>
          <p:cNvSpPr/>
          <p:nvPr/>
        </p:nvSpPr>
        <p:spPr>
          <a:xfrm>
            <a:off x="640080" y="3401568"/>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511296"/>
            <a:ext cx="5212080" cy="1005840"/>
          </a:xfrm>
          <a:prstGeom prst="rect">
            <a:avLst/>
          </a:prstGeom>
          <a:noFill/>
        </p:spPr>
        <p:txBody>
          <a:bodyPr wrap="square">
            <a:spAutoFit/>
          </a:bodyPr>
          <a:lstStyle/>
          <a:p>
            <a:pPr algn="l"/>
            <a:r>
              <a:rPr sz="1200" b="0">
                <a:solidFill>
                  <a:srgbClr val="FFFFFF"/>
                </a:solidFill>
                <a:latin typeface="Calibri"/>
              </a:rPr>
              <a:t>El votante tiende a elegir al candidato
mas mediáticamente visible,
no necesariamente al mas alineado.</a:t>
            </a:r>
          </a:p>
        </p:txBody>
      </p:sp>
      <p:sp>
        <p:nvSpPr>
          <p:cNvPr id="11" name="Rectangle 10"/>
          <p:cNvSpPr/>
          <p:nvPr/>
        </p:nvSpPr>
        <p:spPr>
          <a:xfrm>
            <a:off x="6309360" y="2852928"/>
            <a:ext cx="5577840" cy="178308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990088"/>
            <a:ext cx="5212080" cy="384048"/>
          </a:xfrm>
          <a:prstGeom prst="rect">
            <a:avLst/>
          </a:prstGeom>
          <a:noFill/>
        </p:spPr>
        <p:txBody>
          <a:bodyPr wrap="square">
            <a:spAutoFit/>
          </a:bodyPr>
          <a:lstStyle/>
          <a:p>
            <a:pPr algn="l"/>
            <a:r>
              <a:rPr sz="1200" b="1">
                <a:solidFill>
                  <a:srgbClr val="FFFFFF"/>
                </a:solidFill>
                <a:latin typeface="Calibri"/>
              </a:rPr>
              <a:t>EFECTO HALO</a:t>
            </a:r>
          </a:p>
        </p:txBody>
      </p:sp>
      <p:sp>
        <p:nvSpPr>
          <p:cNvPr id="13" name="Rectangle 12"/>
          <p:cNvSpPr/>
          <p:nvPr/>
        </p:nvSpPr>
        <p:spPr>
          <a:xfrm>
            <a:off x="6492240" y="3401568"/>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511296"/>
            <a:ext cx="5212080" cy="1005840"/>
          </a:xfrm>
          <a:prstGeom prst="rect">
            <a:avLst/>
          </a:prstGeom>
          <a:noFill/>
        </p:spPr>
        <p:txBody>
          <a:bodyPr wrap="square">
            <a:spAutoFit/>
          </a:bodyPr>
          <a:lstStyle/>
          <a:p>
            <a:pPr algn="l"/>
            <a:r>
              <a:rPr sz="1200" b="0">
                <a:solidFill>
                  <a:srgbClr val="FFFFFF"/>
                </a:solidFill>
                <a:latin typeface="Calibri"/>
              </a:rPr>
              <a:t>Una cualidad positiva de un candidato
sesgа la evaluacion de todas
sus otras caracteristicas.</a:t>
            </a:r>
          </a:p>
        </p:txBody>
      </p:sp>
      <p:sp>
        <p:nvSpPr>
          <p:cNvPr id="15" name="Rectangle 14"/>
          <p:cNvSpPr/>
          <p:nvPr/>
        </p:nvSpPr>
        <p:spPr>
          <a:xfrm>
            <a:off x="457200" y="4791456"/>
            <a:ext cx="5577840" cy="178308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928616"/>
            <a:ext cx="5212080" cy="384048"/>
          </a:xfrm>
          <a:prstGeom prst="rect">
            <a:avLst/>
          </a:prstGeom>
          <a:noFill/>
        </p:spPr>
        <p:txBody>
          <a:bodyPr wrap="square">
            <a:spAutoFit/>
          </a:bodyPr>
          <a:lstStyle/>
          <a:p>
            <a:pPr algn="l"/>
            <a:r>
              <a:rPr sz="1200" b="1">
                <a:solidFill>
                  <a:srgbClr val="FFFFFF"/>
                </a:solidFill>
                <a:latin typeface="Calibri"/>
              </a:rPr>
              <a:t>TRANSFERENCIA DE REFERENTE</a:t>
            </a:r>
          </a:p>
        </p:txBody>
      </p:sp>
      <p:sp>
        <p:nvSpPr>
          <p:cNvPr id="17" name="Rectangle 16"/>
          <p:cNvSpPr/>
          <p:nvPr/>
        </p:nvSpPr>
        <p:spPr>
          <a:xfrm>
            <a:off x="640080" y="53400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449824"/>
            <a:ext cx="5212080" cy="1005840"/>
          </a:xfrm>
          <a:prstGeom prst="rect">
            <a:avLst/>
          </a:prstGeom>
          <a:noFill/>
        </p:spPr>
        <p:txBody>
          <a:bodyPr wrap="square">
            <a:spAutoFit/>
          </a:bodyPr>
          <a:lstStyle/>
          <a:p>
            <a:pPr algn="l"/>
            <a:r>
              <a:rPr sz="1200" b="0">
                <a:solidFill>
                  <a:srgbClr val="FFFFFF"/>
                </a:solidFill>
                <a:latin typeface="Calibri"/>
              </a:rPr>
              <a:t>El votante sigue la recomendacion
de alguien de confianza
en lugar de evaluar directamente.</a:t>
            </a:r>
          </a:p>
        </p:txBody>
      </p:sp>
      <p:sp>
        <p:nvSpPr>
          <p:cNvPr id="19" name="Rectangle 18"/>
          <p:cNvSpPr/>
          <p:nvPr/>
        </p:nvSpPr>
        <p:spPr>
          <a:xfrm>
            <a:off x="6309360" y="4791456"/>
            <a:ext cx="5577840" cy="17830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928616"/>
            <a:ext cx="5212080" cy="384048"/>
          </a:xfrm>
          <a:prstGeom prst="rect">
            <a:avLst/>
          </a:prstGeom>
          <a:noFill/>
        </p:spPr>
        <p:txBody>
          <a:bodyPr wrap="square">
            <a:spAutoFit/>
          </a:bodyPr>
          <a:lstStyle/>
          <a:p>
            <a:pPr algn="l"/>
            <a:r>
              <a:rPr sz="1200" b="1">
                <a:solidFill>
                  <a:srgbClr val="FFFFFF"/>
                </a:solidFill>
                <a:latin typeface="Calibri"/>
              </a:rPr>
              <a:t>DECISION SUPPORT SYSTEM</a:t>
            </a:r>
          </a:p>
        </p:txBody>
      </p:sp>
      <p:sp>
        <p:nvSpPr>
          <p:cNvPr id="21" name="Rectangle 20"/>
          <p:cNvSpPr/>
          <p:nvPr/>
        </p:nvSpPr>
        <p:spPr>
          <a:xfrm>
            <a:off x="6492240" y="53400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5449824"/>
            <a:ext cx="5212080" cy="1005840"/>
          </a:xfrm>
          <a:prstGeom prst="rect">
            <a:avLst/>
          </a:prstGeom>
          <a:noFill/>
        </p:spPr>
        <p:txBody>
          <a:bodyPr wrap="square">
            <a:spAutoFit/>
          </a:bodyPr>
          <a:lstStyle/>
          <a:p>
            <a:pPr algn="l"/>
            <a:r>
              <a:rPr sz="1200" b="0">
                <a:solidFill>
                  <a:srgbClr val="FFFFFF"/>
                </a:solidFill>
                <a:latin typeface="Calibri"/>
              </a:rPr>
              <a:t>Las VAAs son un DSS electoral:
no reemplazan la decision,
reducen la carga cognitiva del proceso.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MARCO TEORICO -- DISENO CENTRADO EN EL USUARIO</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El usuario antes que la tecnologia.</a:t>
            </a:r>
          </a:p>
        </p:txBody>
      </p:sp>
      <p:sp>
        <p:nvSpPr>
          <p:cNvPr id="5" name="Rectangle 4"/>
          <p:cNvSpPr/>
          <p:nvPr/>
        </p:nvSpPr>
        <p:spPr>
          <a:xfrm>
            <a:off x="457200" y="1417320"/>
            <a:ext cx="11247120" cy="16002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4114800" cy="384048"/>
          </a:xfrm>
          <a:prstGeom prst="rect">
            <a:avLst/>
          </a:prstGeom>
          <a:noFill/>
        </p:spPr>
        <p:txBody>
          <a:bodyPr wrap="square">
            <a:spAutoFit/>
          </a:bodyPr>
          <a:lstStyle/>
          <a:p>
            <a:pPr algn="l"/>
            <a:r>
              <a:rPr sz="1200" b="1">
                <a:solidFill>
                  <a:srgbClr val="FFFFFF"/>
                </a:solidFill>
                <a:latin typeface="Calibri"/>
              </a:rPr>
              <a:t>HUMAN CENTERED DESIGN</a:t>
            </a:r>
          </a:p>
        </p:txBody>
      </p:sp>
      <p:sp>
        <p:nvSpPr>
          <p:cNvPr id="7" name="TextBox 6"/>
          <p:cNvSpPr txBox="1"/>
          <p:nvPr/>
        </p:nvSpPr>
        <p:spPr>
          <a:xfrm>
            <a:off x="640080" y="1938528"/>
            <a:ext cx="10789920" cy="960120"/>
          </a:xfrm>
          <a:prstGeom prst="rect">
            <a:avLst/>
          </a:prstGeom>
          <a:noFill/>
        </p:spPr>
        <p:txBody>
          <a:bodyPr wrap="square">
            <a:spAutoFit/>
          </a:bodyPr>
          <a:lstStyle/>
          <a:p>
            <a:pPr algn="l"/>
            <a:r>
              <a:rPr sz="1300" b="0">
                <a:solidFill>
                  <a:srgbClr val="FFFFFF"/>
                </a:solidFill>
                <a:latin typeface="Calibri"/>
              </a:rPr>
              <a:t>El diseno parte de las necesidades reales del usuario,
no de las capacidades tecnologicas disponibles.
Cada decision de producto responde a una necesidad documentada.</a:t>
            </a:r>
          </a:p>
        </p:txBody>
      </p:sp>
      <p:sp>
        <p:nvSpPr>
          <p:cNvPr id="8" name="Rectangle 7"/>
          <p:cNvSpPr/>
          <p:nvPr/>
        </p:nvSpPr>
        <p:spPr>
          <a:xfrm>
            <a:off x="457200" y="3154680"/>
            <a:ext cx="11247120" cy="16002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273552"/>
            <a:ext cx="4114800" cy="384048"/>
          </a:xfrm>
          <a:prstGeom prst="rect">
            <a:avLst/>
          </a:prstGeom>
          <a:noFill/>
        </p:spPr>
        <p:txBody>
          <a:bodyPr wrap="square">
            <a:spAutoFit/>
          </a:bodyPr>
          <a:lstStyle/>
          <a:p>
            <a:pPr algn="l"/>
            <a:r>
              <a:rPr sz="1200" b="1">
                <a:solidFill>
                  <a:srgbClr val="FFFFFF"/>
                </a:solidFill>
                <a:latin typeface="Calibri"/>
              </a:rPr>
              <a:t>ARQUITECTURA DE INFORMACION</a:t>
            </a:r>
          </a:p>
        </p:txBody>
      </p:sp>
      <p:sp>
        <p:nvSpPr>
          <p:cNvPr id="10" name="TextBox 9"/>
          <p:cNvSpPr txBox="1"/>
          <p:nvPr/>
        </p:nvSpPr>
        <p:spPr>
          <a:xfrm>
            <a:off x="640080" y="3675887"/>
            <a:ext cx="10789920" cy="960120"/>
          </a:xfrm>
          <a:prstGeom prst="rect">
            <a:avLst/>
          </a:prstGeom>
          <a:noFill/>
        </p:spPr>
        <p:txBody>
          <a:bodyPr wrap="square">
            <a:spAutoFit/>
          </a:bodyPr>
          <a:lstStyle/>
          <a:p>
            <a:pPr algn="l"/>
            <a:r>
              <a:rPr sz="1300" b="0">
                <a:solidFill>
                  <a:srgbClr val="FFFFFF"/>
                </a:solidFill>
                <a:latin typeface="Calibri"/>
              </a:rPr>
              <a:t>La organizacion del contenido determina la comprension.
Primero los temas de politica, luego los candidatos:
el orden reduce el sesgo de identificacion partidaria.</a:t>
            </a:r>
          </a:p>
        </p:txBody>
      </p:sp>
      <p:sp>
        <p:nvSpPr>
          <p:cNvPr id="11" name="Rectangle 10"/>
          <p:cNvSpPr/>
          <p:nvPr/>
        </p:nvSpPr>
        <p:spPr>
          <a:xfrm>
            <a:off x="457200" y="4892040"/>
            <a:ext cx="11247120" cy="16002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010912"/>
            <a:ext cx="4114800" cy="384048"/>
          </a:xfrm>
          <a:prstGeom prst="rect">
            <a:avLst/>
          </a:prstGeom>
          <a:noFill/>
        </p:spPr>
        <p:txBody>
          <a:bodyPr wrap="square">
            <a:spAutoFit/>
          </a:bodyPr>
          <a:lstStyle/>
          <a:p>
            <a:pPr algn="l"/>
            <a:r>
              <a:rPr sz="1200" b="1">
                <a:solidFill>
                  <a:srgbClr val="FFFFFF"/>
                </a:solidFill>
                <a:latin typeface="Calibri"/>
              </a:rPr>
              <a:t>ACCESIBILIDAD WCAG 2.2 AA</a:t>
            </a:r>
          </a:p>
        </p:txBody>
      </p:sp>
      <p:sp>
        <p:nvSpPr>
          <p:cNvPr id="13" name="TextBox 12"/>
          <p:cNvSpPr txBox="1"/>
          <p:nvPr/>
        </p:nvSpPr>
        <p:spPr>
          <a:xfrm>
            <a:off x="640080" y="5413248"/>
            <a:ext cx="10789920" cy="960120"/>
          </a:xfrm>
          <a:prstGeom prst="rect">
            <a:avLst/>
          </a:prstGeom>
          <a:noFill/>
        </p:spPr>
        <p:txBody>
          <a:bodyPr wrap="square">
            <a:spAutoFit/>
          </a:bodyPr>
          <a:lstStyle/>
          <a:p>
            <a:pPr algn="l"/>
            <a:r>
              <a:rPr sz="1300" b="0">
                <a:solidFill>
                  <a:srgbClr val="FFFFFF"/>
                </a:solidFill>
                <a:latin typeface="Calibri"/>
              </a:rPr>
              <a:t>No como cumplimiento de checklist:
como expresion de que la plataforma es para todos los ciudadanos,
incluyendo discapacidad visual, cognitiva o motora.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ESTADO DEL ARTE</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1C3A52"/>
                </a:solidFill>
                <a:latin typeface="Calibri"/>
              </a:rPr>
              <a:t>El ecosistema global de orientacion electoral.</a:t>
            </a:r>
          </a:p>
        </p:txBody>
      </p:sp>
      <p:sp>
        <p:nvSpPr>
          <p:cNvPr id="5" name="Rectangle 4"/>
          <p:cNvSpPr/>
          <p:nvPr/>
        </p:nvSpPr>
        <p:spPr>
          <a:xfrm>
            <a:off x="457200" y="1298448"/>
            <a:ext cx="5577840" cy="239572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35607"/>
            <a:ext cx="5212080" cy="384048"/>
          </a:xfrm>
          <a:prstGeom prst="rect">
            <a:avLst/>
          </a:prstGeom>
          <a:noFill/>
        </p:spPr>
        <p:txBody>
          <a:bodyPr wrap="square">
            <a:spAutoFit/>
          </a:bodyPr>
          <a:lstStyle/>
          <a:p>
            <a:pPr algn="l"/>
            <a:r>
              <a:rPr sz="1200" b="1">
                <a:solidFill>
                  <a:srgbClr val="FFFFFF"/>
                </a:solidFill>
                <a:latin typeface="Calibri"/>
              </a:rPr>
              <a:t>POLITICAL COMPASS</a:t>
            </a:r>
          </a:p>
        </p:txBody>
      </p:sp>
      <p:sp>
        <p:nvSpPr>
          <p:cNvPr id="7" name="Rectangle 6"/>
          <p:cNvSpPr/>
          <p:nvPr/>
        </p:nvSpPr>
        <p:spPr>
          <a:xfrm>
            <a:off x="640080" y="186537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12080" cy="1572768"/>
          </a:xfrm>
          <a:prstGeom prst="rect">
            <a:avLst/>
          </a:prstGeom>
          <a:noFill/>
        </p:spPr>
        <p:txBody>
          <a:bodyPr wrap="square">
            <a:spAutoFit/>
          </a:bodyPr>
          <a:lstStyle/>
          <a:p>
            <a:pPr algn="l"/>
            <a:r>
              <a:rPr sz="1200" b="0">
                <a:solidFill>
                  <a:srgbClr val="FFFFFF"/>
                </a:solidFill>
                <a:latin typeface="Calibri"/>
              </a:rPr>
              <a:t>Ubica al usuario en un eje izquierda-derecha y otro libertario-autoritario.
Util para autoconocimiento politico general.
No compara con candidatos especificos. Sin contexto electoral local.</a:t>
            </a:r>
          </a:p>
        </p:txBody>
      </p:sp>
      <p:sp>
        <p:nvSpPr>
          <p:cNvPr id="9" name="Rectangle 8"/>
          <p:cNvSpPr/>
          <p:nvPr/>
        </p:nvSpPr>
        <p:spPr>
          <a:xfrm>
            <a:off x="6309360" y="1298448"/>
            <a:ext cx="5577840" cy="2395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435607"/>
            <a:ext cx="5212080" cy="384048"/>
          </a:xfrm>
          <a:prstGeom prst="rect">
            <a:avLst/>
          </a:prstGeom>
          <a:noFill/>
        </p:spPr>
        <p:txBody>
          <a:bodyPr wrap="square">
            <a:spAutoFit/>
          </a:bodyPr>
          <a:lstStyle/>
          <a:p>
            <a:pPr algn="l"/>
            <a:r>
              <a:rPr sz="1200" b="1">
                <a:solidFill>
                  <a:srgbClr val="FFFFFF"/>
                </a:solidFill>
                <a:latin typeface="Calibri"/>
              </a:rPr>
              <a:t>VAAS EUROPEAS</a:t>
            </a:r>
          </a:p>
        </p:txBody>
      </p:sp>
      <p:sp>
        <p:nvSpPr>
          <p:cNvPr id="11" name="Rectangle 10"/>
          <p:cNvSpPr/>
          <p:nvPr/>
        </p:nvSpPr>
        <p:spPr>
          <a:xfrm>
            <a:off x="6492240" y="186537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984248"/>
            <a:ext cx="5212080" cy="1572768"/>
          </a:xfrm>
          <a:prstGeom prst="rect">
            <a:avLst/>
          </a:prstGeom>
          <a:noFill/>
        </p:spPr>
        <p:txBody>
          <a:bodyPr wrap="square">
            <a:spAutoFit/>
          </a:bodyPr>
          <a:lstStyle/>
          <a:p>
            <a:pPr algn="l"/>
            <a:r>
              <a:rPr sz="1200" b="0">
                <a:solidFill>
                  <a:srgbClr val="FFFFFF"/>
                </a:solidFill>
                <a:latin typeface="Calibri"/>
              </a:rPr>
              <a:t>StemWijzer, Wahl-O-Mat, Smartvote: la categoria consolidada.
Algoritmos validados, metodologias transparentes.
No cubren el contexto electoral chileno.</a:t>
            </a:r>
          </a:p>
        </p:txBody>
      </p:sp>
      <p:sp>
        <p:nvSpPr>
          <p:cNvPr id="13" name="Rectangle 12"/>
          <p:cNvSpPr/>
          <p:nvPr/>
        </p:nvSpPr>
        <p:spPr>
          <a:xfrm>
            <a:off x="457200" y="3877056"/>
            <a:ext cx="5577840" cy="239572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014216"/>
            <a:ext cx="5212080" cy="384048"/>
          </a:xfrm>
          <a:prstGeom prst="rect">
            <a:avLst/>
          </a:prstGeom>
          <a:noFill/>
        </p:spPr>
        <p:txBody>
          <a:bodyPr wrap="square">
            <a:spAutoFit/>
          </a:bodyPr>
          <a:lstStyle/>
          <a:p>
            <a:pPr algn="l"/>
            <a:r>
              <a:rPr sz="1200" b="1">
                <a:solidFill>
                  <a:srgbClr val="FFFFFF"/>
                </a:solidFill>
                <a:latin typeface="Calibri"/>
              </a:rPr>
              <a:t>APPS DE MATCHING</a:t>
            </a:r>
          </a:p>
        </p:txBody>
      </p:sp>
      <p:sp>
        <p:nvSpPr>
          <p:cNvPr id="15" name="Rectangle 14"/>
          <p:cNvSpPr/>
          <p:nvPr/>
        </p:nvSpPr>
        <p:spPr>
          <a:xfrm>
            <a:off x="640080" y="444398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62856"/>
            <a:ext cx="5212080" cy="1572768"/>
          </a:xfrm>
          <a:prstGeom prst="rect">
            <a:avLst/>
          </a:prstGeom>
          <a:noFill/>
        </p:spPr>
        <p:txBody>
          <a:bodyPr wrap="square">
            <a:spAutoFit/>
          </a:bodyPr>
          <a:lstStyle/>
          <a:p>
            <a:pPr algn="l"/>
            <a:r>
              <a:rPr sz="1200" b="0">
                <a:solidFill>
                  <a:srgbClr val="FFFFFF"/>
                </a:solidFill>
                <a:latin typeface="Calibri"/>
              </a:rPr>
              <a:t>iSideWith: matching global con candidatos de multiples paises.
Cobertura superficial de Chile. Sin verificacion local de posturas.
Sin indicador de confianza del resultado.</a:t>
            </a:r>
          </a:p>
        </p:txBody>
      </p:sp>
      <p:sp>
        <p:nvSpPr>
          <p:cNvPr id="17" name="Rectangle 16"/>
          <p:cNvSpPr/>
          <p:nvPr/>
        </p:nvSpPr>
        <p:spPr>
          <a:xfrm>
            <a:off x="6309360" y="3877056"/>
            <a:ext cx="5577840" cy="239572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014216"/>
            <a:ext cx="5212080" cy="384048"/>
          </a:xfrm>
          <a:prstGeom prst="rect">
            <a:avLst/>
          </a:prstGeom>
          <a:noFill/>
        </p:spPr>
        <p:txBody>
          <a:bodyPr wrap="square">
            <a:spAutoFit/>
          </a:bodyPr>
          <a:lstStyle/>
          <a:p>
            <a:pPr algn="l"/>
            <a:r>
              <a:rPr sz="1200" b="1">
                <a:solidFill>
                  <a:srgbClr val="FFFFFF"/>
                </a:solidFill>
                <a:latin typeface="Calibri"/>
              </a:rPr>
              <a:t>INICIATIVAS CHILENAS</a:t>
            </a:r>
          </a:p>
        </p:txBody>
      </p:sp>
      <p:sp>
        <p:nvSpPr>
          <p:cNvPr id="19" name="Rectangle 18"/>
          <p:cNvSpPr/>
          <p:nvPr/>
        </p:nvSpPr>
        <p:spPr>
          <a:xfrm>
            <a:off x="6492240" y="4443984"/>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562856"/>
            <a:ext cx="5212080" cy="1572768"/>
          </a:xfrm>
          <a:prstGeom prst="rect">
            <a:avLst/>
          </a:prstGeom>
          <a:noFill/>
        </p:spPr>
        <p:txBody>
          <a:bodyPr wrap="square">
            <a:spAutoFit/>
          </a:bodyPr>
          <a:lstStyle/>
          <a:p>
            <a:pPr algn="l"/>
            <a:r>
              <a:rPr sz="1200" b="0">
                <a:solidFill>
                  <a:srgbClr val="FFFFFF"/>
                </a:solidFill>
                <a:latin typeface="Calibri"/>
              </a:rPr>
              <a:t>Voto Informado (SERVEL+PNUD) y Decide Chile: existieron pero se discontinuaron.
Problema de sostenibilidad: sin modelo de mantenimiento entre elecciones.
Sin codigo abierto. Sin mecanismo de contribucion externa.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COMPARATIVA DETALLADA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4000" b="1">
                <a:solidFill>
                  <a:srgbClr val="FFFFFF"/>
                </a:solidFill>
                <a:latin typeface="Calibri"/>
              </a:rPr>
              <a:t>VAAs: fortalezas y brechas.</a:t>
            </a:r>
          </a:p>
        </p:txBody>
      </p:sp>
      <p:sp>
        <p:nvSpPr>
          <p:cNvPr id="5" name="Rectangle 4"/>
          <p:cNvSpPr/>
          <p:nvPr/>
        </p:nvSpPr>
        <p:spPr>
          <a:xfrm>
            <a:off x="457200" y="1298448"/>
            <a:ext cx="2322576"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335024"/>
            <a:ext cx="2212848" cy="320040"/>
          </a:xfrm>
          <a:prstGeom prst="rect">
            <a:avLst/>
          </a:prstGeom>
          <a:noFill/>
        </p:spPr>
        <p:txBody>
          <a:bodyPr wrap="square">
            <a:spAutoFit/>
          </a:bodyPr>
          <a:lstStyle/>
          <a:p>
            <a:pPr algn="ctr"/>
            <a:r>
              <a:rPr sz="1000" b="1">
                <a:solidFill>
                  <a:srgbClr val="FFFFFF"/>
                </a:solidFill>
                <a:latin typeface="Calibri"/>
              </a:rPr>
              <a:t>PLATAFORMA</a:t>
            </a:r>
          </a:p>
        </p:txBody>
      </p:sp>
      <p:sp>
        <p:nvSpPr>
          <p:cNvPr id="7" name="Rectangle 6"/>
          <p:cNvSpPr/>
          <p:nvPr/>
        </p:nvSpPr>
        <p:spPr>
          <a:xfrm>
            <a:off x="2880360" y="1298448"/>
            <a:ext cx="1956816"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53512" y="1335024"/>
            <a:ext cx="1847088" cy="320040"/>
          </a:xfrm>
          <a:prstGeom prst="rect">
            <a:avLst/>
          </a:prstGeom>
          <a:noFill/>
        </p:spPr>
        <p:txBody>
          <a:bodyPr wrap="square">
            <a:spAutoFit/>
          </a:bodyPr>
          <a:lstStyle/>
          <a:p>
            <a:pPr algn="ctr"/>
            <a:r>
              <a:rPr sz="1000" b="1">
                <a:solidFill>
                  <a:srgbClr val="FFFFFF"/>
                </a:solidFill>
                <a:latin typeface="Calibri"/>
              </a:rPr>
              <a:t>ALGORITMO</a:t>
            </a:r>
          </a:p>
        </p:txBody>
      </p:sp>
      <p:sp>
        <p:nvSpPr>
          <p:cNvPr id="9" name="Rectangle 8"/>
          <p:cNvSpPr/>
          <p:nvPr/>
        </p:nvSpPr>
        <p:spPr>
          <a:xfrm>
            <a:off x="4937760" y="1298448"/>
            <a:ext cx="1591056"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335024"/>
            <a:ext cx="1481328" cy="320040"/>
          </a:xfrm>
          <a:prstGeom prst="rect">
            <a:avLst/>
          </a:prstGeom>
          <a:noFill/>
        </p:spPr>
        <p:txBody>
          <a:bodyPr wrap="square">
            <a:spAutoFit/>
          </a:bodyPr>
          <a:lstStyle/>
          <a:p>
            <a:pPr algn="ctr"/>
            <a:r>
              <a:rPr sz="1000" b="1">
                <a:solidFill>
                  <a:srgbClr val="FFFFFF"/>
                </a:solidFill>
                <a:latin typeface="Calibri"/>
              </a:rPr>
              <a:t>FUENTES</a:t>
            </a:r>
          </a:p>
        </p:txBody>
      </p:sp>
      <p:sp>
        <p:nvSpPr>
          <p:cNvPr id="11" name="Rectangle 10"/>
          <p:cNvSpPr/>
          <p:nvPr/>
        </p:nvSpPr>
        <p:spPr>
          <a:xfrm>
            <a:off x="6629400" y="1298448"/>
            <a:ext cx="1591056"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02552" y="1335024"/>
            <a:ext cx="1481328" cy="320040"/>
          </a:xfrm>
          <a:prstGeom prst="rect">
            <a:avLst/>
          </a:prstGeom>
          <a:noFill/>
        </p:spPr>
        <p:txBody>
          <a:bodyPr wrap="square">
            <a:spAutoFit/>
          </a:bodyPr>
          <a:lstStyle/>
          <a:p>
            <a:pPr algn="ctr"/>
            <a:r>
              <a:rPr sz="1000" b="1">
                <a:solidFill>
                  <a:srgbClr val="FFFFFF"/>
                </a:solidFill>
                <a:latin typeface="Calibri"/>
              </a:rPr>
              <a:t>CONFIANZA</a:t>
            </a:r>
          </a:p>
        </p:txBody>
      </p:sp>
      <p:sp>
        <p:nvSpPr>
          <p:cNvPr id="13" name="Rectangle 12"/>
          <p:cNvSpPr/>
          <p:nvPr/>
        </p:nvSpPr>
        <p:spPr>
          <a:xfrm>
            <a:off x="8321040" y="1298448"/>
            <a:ext cx="1225295"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1335024"/>
            <a:ext cx="1115568" cy="320040"/>
          </a:xfrm>
          <a:prstGeom prst="rect">
            <a:avLst/>
          </a:prstGeom>
          <a:noFill/>
        </p:spPr>
        <p:txBody>
          <a:bodyPr wrap="square">
            <a:spAutoFit/>
          </a:bodyPr>
          <a:lstStyle/>
          <a:p>
            <a:pPr algn="ctr"/>
            <a:r>
              <a:rPr sz="1000" b="1">
                <a:solidFill>
                  <a:srgbClr val="FFFFFF"/>
                </a:solidFill>
                <a:latin typeface="Calibri"/>
              </a:rPr>
              <a:t>CHILE</a:t>
            </a:r>
          </a:p>
        </p:txBody>
      </p:sp>
      <p:sp>
        <p:nvSpPr>
          <p:cNvPr id="15" name="Rectangle 14"/>
          <p:cNvSpPr/>
          <p:nvPr/>
        </p:nvSpPr>
        <p:spPr>
          <a:xfrm>
            <a:off x="9646920" y="1298448"/>
            <a:ext cx="1408176" cy="3840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20072" y="1335024"/>
            <a:ext cx="1298448" cy="320040"/>
          </a:xfrm>
          <a:prstGeom prst="rect">
            <a:avLst/>
          </a:prstGeom>
          <a:noFill/>
        </p:spPr>
        <p:txBody>
          <a:bodyPr wrap="square">
            <a:spAutoFit/>
          </a:bodyPr>
          <a:lstStyle/>
          <a:p>
            <a:pPr algn="ctr"/>
            <a:r>
              <a:rPr sz="1000" b="1">
                <a:solidFill>
                  <a:srgbClr val="FFFFFF"/>
                </a:solidFill>
                <a:latin typeface="Calibri"/>
              </a:rPr>
              <a:t>ACTIVA</a:t>
            </a:r>
          </a:p>
        </p:txBody>
      </p:sp>
      <p:sp>
        <p:nvSpPr>
          <p:cNvPr id="17" name="Rectangle 16"/>
          <p:cNvSpPr/>
          <p:nvPr/>
        </p:nvSpPr>
        <p:spPr>
          <a:xfrm>
            <a:off x="457200" y="1728216"/>
            <a:ext cx="23225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773936"/>
            <a:ext cx="2212848" cy="420624"/>
          </a:xfrm>
          <a:prstGeom prst="rect">
            <a:avLst/>
          </a:prstGeom>
          <a:noFill/>
        </p:spPr>
        <p:txBody>
          <a:bodyPr wrap="square">
            <a:spAutoFit/>
          </a:bodyPr>
          <a:lstStyle/>
          <a:p>
            <a:pPr algn="l"/>
            <a:r>
              <a:rPr sz="1000" b="0">
                <a:solidFill>
                  <a:srgbClr val="FFFFFF"/>
                </a:solidFill>
                <a:latin typeface="Calibri"/>
              </a:rPr>
              <a:t>StemWijzer</a:t>
            </a:r>
          </a:p>
        </p:txBody>
      </p:sp>
      <p:sp>
        <p:nvSpPr>
          <p:cNvPr id="19" name="Rectangle 18"/>
          <p:cNvSpPr/>
          <p:nvPr/>
        </p:nvSpPr>
        <p:spPr>
          <a:xfrm>
            <a:off x="2880360" y="1728216"/>
            <a:ext cx="195681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53512" y="1773936"/>
            <a:ext cx="1847088" cy="420624"/>
          </a:xfrm>
          <a:prstGeom prst="rect">
            <a:avLst/>
          </a:prstGeom>
          <a:noFill/>
        </p:spPr>
        <p:txBody>
          <a:bodyPr wrap="square">
            <a:spAutoFit/>
          </a:bodyPr>
          <a:lstStyle/>
          <a:p>
            <a:pPr algn="ctr"/>
            <a:r>
              <a:rPr sz="1000" b="0">
                <a:solidFill>
                  <a:srgbClr val="FFFFFF"/>
                </a:solidFill>
                <a:latin typeface="Calibri"/>
              </a:rPr>
              <a:t>Cuadratico</a:t>
            </a:r>
          </a:p>
        </p:txBody>
      </p:sp>
      <p:sp>
        <p:nvSpPr>
          <p:cNvPr id="21" name="Rectangle 20"/>
          <p:cNvSpPr/>
          <p:nvPr/>
        </p:nvSpPr>
        <p:spPr>
          <a:xfrm>
            <a:off x="4937760" y="1728216"/>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10912" y="1773936"/>
            <a:ext cx="1481328" cy="420624"/>
          </a:xfrm>
          <a:prstGeom prst="rect">
            <a:avLst/>
          </a:prstGeom>
          <a:noFill/>
        </p:spPr>
        <p:txBody>
          <a:bodyPr wrap="square">
            <a:spAutoFit/>
          </a:bodyPr>
          <a:lstStyle/>
          <a:p>
            <a:pPr algn="ctr"/>
            <a:r>
              <a:rPr sz="1000" b="0">
                <a:solidFill>
                  <a:srgbClr val="FFFFFF"/>
                </a:solidFill>
                <a:latin typeface="Calibri"/>
              </a:rPr>
              <a:t>Autodeclarado</a:t>
            </a:r>
          </a:p>
        </p:txBody>
      </p:sp>
      <p:sp>
        <p:nvSpPr>
          <p:cNvPr id="23" name="Rectangle 22"/>
          <p:cNvSpPr/>
          <p:nvPr/>
        </p:nvSpPr>
        <p:spPr>
          <a:xfrm>
            <a:off x="6629400" y="1728216"/>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1773936"/>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25" name="Rectangle 24"/>
          <p:cNvSpPr/>
          <p:nvPr/>
        </p:nvSpPr>
        <p:spPr>
          <a:xfrm>
            <a:off x="8321040" y="1728216"/>
            <a:ext cx="1225295"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94192" y="1773936"/>
            <a:ext cx="1115568" cy="420624"/>
          </a:xfrm>
          <a:prstGeom prst="rect">
            <a:avLst/>
          </a:prstGeom>
          <a:noFill/>
        </p:spPr>
        <p:txBody>
          <a:bodyPr wrap="square">
            <a:spAutoFit/>
          </a:bodyPr>
          <a:lstStyle/>
          <a:p>
            <a:pPr algn="ctr"/>
            <a:r>
              <a:rPr sz="1000" b="0">
                <a:solidFill>
                  <a:srgbClr val="FFFFFF"/>
                </a:solidFill>
                <a:latin typeface="Calibri"/>
              </a:rPr>
              <a:t>No</a:t>
            </a:r>
          </a:p>
        </p:txBody>
      </p:sp>
      <p:sp>
        <p:nvSpPr>
          <p:cNvPr id="27" name="Rectangle 26"/>
          <p:cNvSpPr/>
          <p:nvPr/>
        </p:nvSpPr>
        <p:spPr>
          <a:xfrm>
            <a:off x="9646920" y="1728216"/>
            <a:ext cx="14081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20072" y="1773936"/>
            <a:ext cx="1298448" cy="420624"/>
          </a:xfrm>
          <a:prstGeom prst="rect">
            <a:avLst/>
          </a:prstGeom>
          <a:noFill/>
        </p:spPr>
        <p:txBody>
          <a:bodyPr wrap="square">
            <a:spAutoFit/>
          </a:bodyPr>
          <a:lstStyle/>
          <a:p>
            <a:pPr algn="ctr"/>
            <a:r>
              <a:rPr sz="1000" b="0">
                <a:solidFill>
                  <a:srgbClr val="FFFFFF"/>
                </a:solidFill>
                <a:latin typeface="Calibri"/>
              </a:rPr>
              <a:t>Si</a:t>
            </a:r>
          </a:p>
        </p:txBody>
      </p:sp>
      <p:sp>
        <p:nvSpPr>
          <p:cNvPr id="29" name="Rectangle 28"/>
          <p:cNvSpPr/>
          <p:nvPr/>
        </p:nvSpPr>
        <p:spPr>
          <a:xfrm>
            <a:off x="457200" y="2295144"/>
            <a:ext cx="23225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2340864"/>
            <a:ext cx="2212848" cy="420624"/>
          </a:xfrm>
          <a:prstGeom prst="rect">
            <a:avLst/>
          </a:prstGeom>
          <a:noFill/>
        </p:spPr>
        <p:txBody>
          <a:bodyPr wrap="square">
            <a:spAutoFit/>
          </a:bodyPr>
          <a:lstStyle/>
          <a:p>
            <a:pPr algn="l"/>
            <a:r>
              <a:rPr sz="1000" b="0">
                <a:solidFill>
                  <a:srgbClr val="FFFFFF"/>
                </a:solidFill>
                <a:latin typeface="Calibri"/>
              </a:rPr>
              <a:t>Wahl-O-Mat</a:t>
            </a:r>
          </a:p>
        </p:txBody>
      </p:sp>
      <p:sp>
        <p:nvSpPr>
          <p:cNvPr id="31" name="Rectangle 30"/>
          <p:cNvSpPr/>
          <p:nvPr/>
        </p:nvSpPr>
        <p:spPr>
          <a:xfrm>
            <a:off x="2880360" y="2295144"/>
            <a:ext cx="195681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53512" y="2340864"/>
            <a:ext cx="1847088" cy="420624"/>
          </a:xfrm>
          <a:prstGeom prst="rect">
            <a:avLst/>
          </a:prstGeom>
          <a:noFill/>
        </p:spPr>
        <p:txBody>
          <a:bodyPr wrap="square">
            <a:spAutoFit/>
          </a:bodyPr>
          <a:lstStyle/>
          <a:p>
            <a:pPr algn="ctr"/>
            <a:r>
              <a:rPr sz="1000" b="0">
                <a:solidFill>
                  <a:srgbClr val="FFFFFF"/>
                </a:solidFill>
                <a:latin typeface="Calibri"/>
              </a:rPr>
              <a:t>Cuadratico</a:t>
            </a:r>
          </a:p>
        </p:txBody>
      </p:sp>
      <p:sp>
        <p:nvSpPr>
          <p:cNvPr id="33" name="Rectangle 32"/>
          <p:cNvSpPr/>
          <p:nvPr/>
        </p:nvSpPr>
        <p:spPr>
          <a:xfrm>
            <a:off x="4937760" y="2295144"/>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0912" y="2340864"/>
            <a:ext cx="1481328" cy="420624"/>
          </a:xfrm>
          <a:prstGeom prst="rect">
            <a:avLst/>
          </a:prstGeom>
          <a:noFill/>
        </p:spPr>
        <p:txBody>
          <a:bodyPr wrap="square">
            <a:spAutoFit/>
          </a:bodyPr>
          <a:lstStyle/>
          <a:p>
            <a:pPr algn="ctr"/>
            <a:r>
              <a:rPr sz="1000" b="0">
                <a:solidFill>
                  <a:srgbClr val="FFFFFF"/>
                </a:solidFill>
                <a:latin typeface="Calibri"/>
              </a:rPr>
              <a:t>Equipos expertos</a:t>
            </a:r>
          </a:p>
        </p:txBody>
      </p:sp>
      <p:sp>
        <p:nvSpPr>
          <p:cNvPr id="35" name="Rectangle 34"/>
          <p:cNvSpPr/>
          <p:nvPr/>
        </p:nvSpPr>
        <p:spPr>
          <a:xfrm>
            <a:off x="6629400" y="2295144"/>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2552" y="2340864"/>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37" name="Rectangle 36"/>
          <p:cNvSpPr/>
          <p:nvPr/>
        </p:nvSpPr>
        <p:spPr>
          <a:xfrm>
            <a:off x="8321040" y="2295144"/>
            <a:ext cx="1225295"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94192" y="2340864"/>
            <a:ext cx="1115568" cy="420624"/>
          </a:xfrm>
          <a:prstGeom prst="rect">
            <a:avLst/>
          </a:prstGeom>
          <a:noFill/>
        </p:spPr>
        <p:txBody>
          <a:bodyPr wrap="square">
            <a:spAutoFit/>
          </a:bodyPr>
          <a:lstStyle/>
          <a:p>
            <a:pPr algn="ctr"/>
            <a:r>
              <a:rPr sz="1000" b="0">
                <a:solidFill>
                  <a:srgbClr val="FFFFFF"/>
                </a:solidFill>
                <a:latin typeface="Calibri"/>
              </a:rPr>
              <a:t>No</a:t>
            </a:r>
          </a:p>
        </p:txBody>
      </p:sp>
      <p:sp>
        <p:nvSpPr>
          <p:cNvPr id="39" name="Rectangle 38"/>
          <p:cNvSpPr/>
          <p:nvPr/>
        </p:nvSpPr>
        <p:spPr>
          <a:xfrm>
            <a:off x="9646920" y="2295144"/>
            <a:ext cx="14081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20072" y="2340864"/>
            <a:ext cx="1298448" cy="420624"/>
          </a:xfrm>
          <a:prstGeom prst="rect">
            <a:avLst/>
          </a:prstGeom>
          <a:noFill/>
        </p:spPr>
        <p:txBody>
          <a:bodyPr wrap="square">
            <a:spAutoFit/>
          </a:bodyPr>
          <a:lstStyle/>
          <a:p>
            <a:pPr algn="ctr"/>
            <a:r>
              <a:rPr sz="1000" b="0">
                <a:solidFill>
                  <a:srgbClr val="FFFFFF"/>
                </a:solidFill>
                <a:latin typeface="Calibri"/>
              </a:rPr>
              <a:t>Si</a:t>
            </a:r>
          </a:p>
        </p:txBody>
      </p:sp>
      <p:sp>
        <p:nvSpPr>
          <p:cNvPr id="41" name="Rectangle 40"/>
          <p:cNvSpPr/>
          <p:nvPr/>
        </p:nvSpPr>
        <p:spPr>
          <a:xfrm>
            <a:off x="457200" y="2862072"/>
            <a:ext cx="23225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0352" y="2907791"/>
            <a:ext cx="2212848" cy="420624"/>
          </a:xfrm>
          <a:prstGeom prst="rect">
            <a:avLst/>
          </a:prstGeom>
          <a:noFill/>
        </p:spPr>
        <p:txBody>
          <a:bodyPr wrap="square">
            <a:spAutoFit/>
          </a:bodyPr>
          <a:lstStyle/>
          <a:p>
            <a:pPr algn="l"/>
            <a:r>
              <a:rPr sz="1000" b="0">
                <a:solidFill>
                  <a:srgbClr val="FFFFFF"/>
                </a:solidFill>
                <a:latin typeface="Calibri"/>
              </a:rPr>
              <a:t>Smartvote</a:t>
            </a:r>
          </a:p>
        </p:txBody>
      </p:sp>
      <p:sp>
        <p:nvSpPr>
          <p:cNvPr id="43" name="Rectangle 42"/>
          <p:cNvSpPr/>
          <p:nvPr/>
        </p:nvSpPr>
        <p:spPr>
          <a:xfrm>
            <a:off x="2880360" y="2862072"/>
            <a:ext cx="195681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53512" y="2907791"/>
            <a:ext cx="1847088" cy="420624"/>
          </a:xfrm>
          <a:prstGeom prst="rect">
            <a:avLst/>
          </a:prstGeom>
          <a:noFill/>
        </p:spPr>
        <p:txBody>
          <a:bodyPr wrap="square">
            <a:spAutoFit/>
          </a:bodyPr>
          <a:lstStyle/>
          <a:p>
            <a:pPr algn="ctr"/>
            <a:r>
              <a:rPr sz="1000" b="0">
                <a:solidFill>
                  <a:srgbClr val="FFFFFF"/>
                </a:solidFill>
                <a:latin typeface="Calibri"/>
              </a:rPr>
              <a:t>Euclidiano</a:t>
            </a:r>
          </a:p>
        </p:txBody>
      </p:sp>
      <p:sp>
        <p:nvSpPr>
          <p:cNvPr id="45" name="Rectangle 44"/>
          <p:cNvSpPr/>
          <p:nvPr/>
        </p:nvSpPr>
        <p:spPr>
          <a:xfrm>
            <a:off x="4937760" y="2862072"/>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10912" y="2907791"/>
            <a:ext cx="1481328" cy="420624"/>
          </a:xfrm>
          <a:prstGeom prst="rect">
            <a:avLst/>
          </a:prstGeom>
          <a:noFill/>
        </p:spPr>
        <p:txBody>
          <a:bodyPr wrap="square">
            <a:spAutoFit/>
          </a:bodyPr>
          <a:lstStyle/>
          <a:p>
            <a:pPr algn="ctr"/>
            <a:r>
              <a:rPr sz="1000" b="0">
                <a:solidFill>
                  <a:srgbClr val="FFFFFF"/>
                </a:solidFill>
                <a:latin typeface="Calibri"/>
              </a:rPr>
              <a:t>Autodeclarado+verif.</a:t>
            </a:r>
          </a:p>
        </p:txBody>
      </p:sp>
      <p:sp>
        <p:nvSpPr>
          <p:cNvPr id="47" name="Rectangle 46"/>
          <p:cNvSpPr/>
          <p:nvPr/>
        </p:nvSpPr>
        <p:spPr>
          <a:xfrm>
            <a:off x="6629400" y="2862072"/>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02552" y="2907791"/>
            <a:ext cx="1481328" cy="420624"/>
          </a:xfrm>
          <a:prstGeom prst="rect">
            <a:avLst/>
          </a:prstGeom>
          <a:noFill/>
        </p:spPr>
        <p:txBody>
          <a:bodyPr wrap="square">
            <a:spAutoFit/>
          </a:bodyPr>
          <a:lstStyle/>
          <a:p>
            <a:pPr algn="ctr"/>
            <a:r>
              <a:rPr sz="1000" b="0">
                <a:solidFill>
                  <a:srgbClr val="FFFFFF"/>
                </a:solidFill>
                <a:latin typeface="Calibri"/>
              </a:rPr>
              <a:t>Parcial</a:t>
            </a:r>
          </a:p>
        </p:txBody>
      </p:sp>
      <p:sp>
        <p:nvSpPr>
          <p:cNvPr id="49" name="Rectangle 48"/>
          <p:cNvSpPr/>
          <p:nvPr/>
        </p:nvSpPr>
        <p:spPr>
          <a:xfrm>
            <a:off x="8321040" y="2862072"/>
            <a:ext cx="1225295"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94192" y="2907791"/>
            <a:ext cx="1115568" cy="420624"/>
          </a:xfrm>
          <a:prstGeom prst="rect">
            <a:avLst/>
          </a:prstGeom>
          <a:noFill/>
        </p:spPr>
        <p:txBody>
          <a:bodyPr wrap="square">
            <a:spAutoFit/>
          </a:bodyPr>
          <a:lstStyle/>
          <a:p>
            <a:pPr algn="ctr"/>
            <a:r>
              <a:rPr sz="1000" b="0">
                <a:solidFill>
                  <a:srgbClr val="FFFFFF"/>
                </a:solidFill>
                <a:latin typeface="Calibri"/>
              </a:rPr>
              <a:t>No</a:t>
            </a:r>
          </a:p>
        </p:txBody>
      </p:sp>
      <p:sp>
        <p:nvSpPr>
          <p:cNvPr id="51" name="Rectangle 50"/>
          <p:cNvSpPr/>
          <p:nvPr/>
        </p:nvSpPr>
        <p:spPr>
          <a:xfrm>
            <a:off x="9646920" y="2862072"/>
            <a:ext cx="14081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20072" y="2907791"/>
            <a:ext cx="1298448" cy="420624"/>
          </a:xfrm>
          <a:prstGeom prst="rect">
            <a:avLst/>
          </a:prstGeom>
          <a:noFill/>
        </p:spPr>
        <p:txBody>
          <a:bodyPr wrap="square">
            <a:spAutoFit/>
          </a:bodyPr>
          <a:lstStyle/>
          <a:p>
            <a:pPr algn="ctr"/>
            <a:r>
              <a:rPr sz="1000" b="0">
                <a:solidFill>
                  <a:srgbClr val="FFFFFF"/>
                </a:solidFill>
                <a:latin typeface="Calibri"/>
              </a:rPr>
              <a:t>Si</a:t>
            </a:r>
          </a:p>
        </p:txBody>
      </p:sp>
      <p:sp>
        <p:nvSpPr>
          <p:cNvPr id="53" name="Rectangle 52"/>
          <p:cNvSpPr/>
          <p:nvPr/>
        </p:nvSpPr>
        <p:spPr>
          <a:xfrm>
            <a:off x="457200" y="3429000"/>
            <a:ext cx="23225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0352" y="3474720"/>
            <a:ext cx="2212848" cy="420624"/>
          </a:xfrm>
          <a:prstGeom prst="rect">
            <a:avLst/>
          </a:prstGeom>
          <a:noFill/>
        </p:spPr>
        <p:txBody>
          <a:bodyPr wrap="square">
            <a:spAutoFit/>
          </a:bodyPr>
          <a:lstStyle/>
          <a:p>
            <a:pPr algn="l"/>
            <a:r>
              <a:rPr sz="1000" b="0">
                <a:solidFill>
                  <a:srgbClr val="FFFFFF"/>
                </a:solidFill>
                <a:latin typeface="Calibri"/>
              </a:rPr>
              <a:t>Vote Compass</a:t>
            </a:r>
          </a:p>
        </p:txBody>
      </p:sp>
      <p:sp>
        <p:nvSpPr>
          <p:cNvPr id="55" name="Rectangle 54"/>
          <p:cNvSpPr/>
          <p:nvPr/>
        </p:nvSpPr>
        <p:spPr>
          <a:xfrm>
            <a:off x="2880360" y="3429000"/>
            <a:ext cx="195681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53512" y="3474720"/>
            <a:ext cx="1847088" cy="420624"/>
          </a:xfrm>
          <a:prstGeom prst="rect">
            <a:avLst/>
          </a:prstGeom>
          <a:noFill/>
        </p:spPr>
        <p:txBody>
          <a:bodyPr wrap="square">
            <a:spAutoFit/>
          </a:bodyPr>
          <a:lstStyle/>
          <a:p>
            <a:pPr algn="ctr"/>
            <a:r>
              <a:rPr sz="1000" b="0">
                <a:solidFill>
                  <a:srgbClr val="FFFFFF"/>
                </a:solidFill>
                <a:latin typeface="Calibri"/>
              </a:rPr>
              <a:t>2D espacial</a:t>
            </a:r>
          </a:p>
        </p:txBody>
      </p:sp>
      <p:sp>
        <p:nvSpPr>
          <p:cNvPr id="57" name="Rectangle 56"/>
          <p:cNvSpPr/>
          <p:nvPr/>
        </p:nvSpPr>
        <p:spPr>
          <a:xfrm>
            <a:off x="4937760" y="3429000"/>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10912" y="3474720"/>
            <a:ext cx="1481328" cy="420624"/>
          </a:xfrm>
          <a:prstGeom prst="rect">
            <a:avLst/>
          </a:prstGeom>
          <a:noFill/>
        </p:spPr>
        <p:txBody>
          <a:bodyPr wrap="square">
            <a:spAutoFit/>
          </a:bodyPr>
          <a:lstStyle/>
          <a:p>
            <a:pPr algn="ctr"/>
            <a:r>
              <a:rPr sz="1000" b="0">
                <a:solidFill>
                  <a:srgbClr val="FFFFFF"/>
                </a:solidFill>
                <a:latin typeface="Calibri"/>
              </a:rPr>
              <a:t>Expertos+medios</a:t>
            </a:r>
          </a:p>
        </p:txBody>
      </p:sp>
      <p:sp>
        <p:nvSpPr>
          <p:cNvPr id="59" name="Rectangle 58"/>
          <p:cNvSpPr/>
          <p:nvPr/>
        </p:nvSpPr>
        <p:spPr>
          <a:xfrm>
            <a:off x="6629400" y="3429000"/>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02552" y="3474720"/>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61" name="Rectangle 60"/>
          <p:cNvSpPr/>
          <p:nvPr/>
        </p:nvSpPr>
        <p:spPr>
          <a:xfrm>
            <a:off x="8321040" y="3429000"/>
            <a:ext cx="1225295"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94192" y="3474720"/>
            <a:ext cx="1115568" cy="420624"/>
          </a:xfrm>
          <a:prstGeom prst="rect">
            <a:avLst/>
          </a:prstGeom>
          <a:noFill/>
        </p:spPr>
        <p:txBody>
          <a:bodyPr wrap="square">
            <a:spAutoFit/>
          </a:bodyPr>
          <a:lstStyle/>
          <a:p>
            <a:pPr algn="ctr"/>
            <a:r>
              <a:rPr sz="1000" b="0">
                <a:solidFill>
                  <a:srgbClr val="FFFFFF"/>
                </a:solidFill>
                <a:latin typeface="Calibri"/>
              </a:rPr>
              <a:t>No</a:t>
            </a:r>
          </a:p>
        </p:txBody>
      </p:sp>
      <p:sp>
        <p:nvSpPr>
          <p:cNvPr id="63" name="Rectangle 62"/>
          <p:cNvSpPr/>
          <p:nvPr/>
        </p:nvSpPr>
        <p:spPr>
          <a:xfrm>
            <a:off x="9646920" y="3429000"/>
            <a:ext cx="14081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20072" y="3474720"/>
            <a:ext cx="1298448" cy="420624"/>
          </a:xfrm>
          <a:prstGeom prst="rect">
            <a:avLst/>
          </a:prstGeom>
          <a:noFill/>
        </p:spPr>
        <p:txBody>
          <a:bodyPr wrap="square">
            <a:spAutoFit/>
          </a:bodyPr>
          <a:lstStyle/>
          <a:p>
            <a:pPr algn="ctr"/>
            <a:r>
              <a:rPr sz="1000" b="0">
                <a:solidFill>
                  <a:srgbClr val="FFFFFF"/>
                </a:solidFill>
                <a:latin typeface="Calibri"/>
              </a:rPr>
              <a:t>Si</a:t>
            </a:r>
          </a:p>
        </p:txBody>
      </p:sp>
      <p:sp>
        <p:nvSpPr>
          <p:cNvPr id="65" name="Rectangle 64"/>
          <p:cNvSpPr/>
          <p:nvPr/>
        </p:nvSpPr>
        <p:spPr>
          <a:xfrm>
            <a:off x="457200" y="3995928"/>
            <a:ext cx="23225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0352" y="4041648"/>
            <a:ext cx="2212848" cy="420624"/>
          </a:xfrm>
          <a:prstGeom prst="rect">
            <a:avLst/>
          </a:prstGeom>
          <a:noFill/>
        </p:spPr>
        <p:txBody>
          <a:bodyPr wrap="square">
            <a:spAutoFit/>
          </a:bodyPr>
          <a:lstStyle/>
          <a:p>
            <a:pPr algn="l"/>
            <a:r>
              <a:rPr sz="1000" b="0">
                <a:solidFill>
                  <a:srgbClr val="FFFFFF"/>
                </a:solidFill>
                <a:latin typeface="Calibri"/>
              </a:rPr>
              <a:t>iSideWith</a:t>
            </a:r>
          </a:p>
        </p:txBody>
      </p:sp>
      <p:sp>
        <p:nvSpPr>
          <p:cNvPr id="67" name="Rectangle 66"/>
          <p:cNvSpPr/>
          <p:nvPr/>
        </p:nvSpPr>
        <p:spPr>
          <a:xfrm>
            <a:off x="2880360" y="3995928"/>
            <a:ext cx="195681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953512" y="4041648"/>
            <a:ext cx="1847088" cy="420624"/>
          </a:xfrm>
          <a:prstGeom prst="rect">
            <a:avLst/>
          </a:prstGeom>
          <a:noFill/>
        </p:spPr>
        <p:txBody>
          <a:bodyPr wrap="square">
            <a:spAutoFit/>
          </a:bodyPr>
          <a:lstStyle/>
          <a:p>
            <a:pPr algn="ctr"/>
            <a:r>
              <a:rPr sz="1000" b="0">
                <a:solidFill>
                  <a:srgbClr val="FFFFFF"/>
                </a:solidFill>
                <a:latin typeface="Calibri"/>
              </a:rPr>
              <a:t>Ponderado</a:t>
            </a:r>
          </a:p>
        </p:txBody>
      </p:sp>
      <p:sp>
        <p:nvSpPr>
          <p:cNvPr id="69" name="Rectangle 68"/>
          <p:cNvSpPr/>
          <p:nvPr/>
        </p:nvSpPr>
        <p:spPr>
          <a:xfrm>
            <a:off x="4937760" y="3995928"/>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010912" y="4041648"/>
            <a:ext cx="1481328" cy="420624"/>
          </a:xfrm>
          <a:prstGeom prst="rect">
            <a:avLst/>
          </a:prstGeom>
          <a:noFill/>
        </p:spPr>
        <p:txBody>
          <a:bodyPr wrap="square">
            <a:spAutoFit/>
          </a:bodyPr>
          <a:lstStyle/>
          <a:p>
            <a:pPr algn="ctr"/>
            <a:r>
              <a:rPr sz="1000" b="0">
                <a:solidFill>
                  <a:srgbClr val="FFFFFF"/>
                </a:solidFill>
                <a:latin typeface="Calibri"/>
              </a:rPr>
              <a:t>Mixto</a:t>
            </a:r>
          </a:p>
        </p:txBody>
      </p:sp>
      <p:sp>
        <p:nvSpPr>
          <p:cNvPr id="71" name="Rectangle 70"/>
          <p:cNvSpPr/>
          <p:nvPr/>
        </p:nvSpPr>
        <p:spPr>
          <a:xfrm>
            <a:off x="6629400" y="3995928"/>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702552" y="4041648"/>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73" name="Rectangle 72"/>
          <p:cNvSpPr/>
          <p:nvPr/>
        </p:nvSpPr>
        <p:spPr>
          <a:xfrm>
            <a:off x="8321040" y="3995928"/>
            <a:ext cx="1225295"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394192" y="4041648"/>
            <a:ext cx="1115568" cy="420624"/>
          </a:xfrm>
          <a:prstGeom prst="rect">
            <a:avLst/>
          </a:prstGeom>
          <a:noFill/>
        </p:spPr>
        <p:txBody>
          <a:bodyPr wrap="square">
            <a:spAutoFit/>
          </a:bodyPr>
          <a:lstStyle/>
          <a:p>
            <a:pPr algn="ctr"/>
            <a:r>
              <a:rPr sz="1000" b="0">
                <a:solidFill>
                  <a:srgbClr val="FFFFFF"/>
                </a:solidFill>
                <a:latin typeface="Calibri"/>
              </a:rPr>
              <a:t>Superficial</a:t>
            </a:r>
          </a:p>
        </p:txBody>
      </p:sp>
      <p:sp>
        <p:nvSpPr>
          <p:cNvPr id="75" name="Rectangle 74"/>
          <p:cNvSpPr/>
          <p:nvPr/>
        </p:nvSpPr>
        <p:spPr>
          <a:xfrm>
            <a:off x="9646920" y="3995928"/>
            <a:ext cx="14081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720072" y="4041648"/>
            <a:ext cx="1298448" cy="420624"/>
          </a:xfrm>
          <a:prstGeom prst="rect">
            <a:avLst/>
          </a:prstGeom>
          <a:noFill/>
        </p:spPr>
        <p:txBody>
          <a:bodyPr wrap="square">
            <a:spAutoFit/>
          </a:bodyPr>
          <a:lstStyle/>
          <a:p>
            <a:pPr algn="ctr"/>
            <a:r>
              <a:rPr sz="1000" b="0">
                <a:solidFill>
                  <a:srgbClr val="FFFFFF"/>
                </a:solidFill>
                <a:latin typeface="Calibri"/>
              </a:rPr>
              <a:t>Si</a:t>
            </a:r>
          </a:p>
        </p:txBody>
      </p:sp>
      <p:sp>
        <p:nvSpPr>
          <p:cNvPr id="77" name="Rectangle 76"/>
          <p:cNvSpPr/>
          <p:nvPr/>
        </p:nvSpPr>
        <p:spPr>
          <a:xfrm>
            <a:off x="457200" y="4562856"/>
            <a:ext cx="23225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30352" y="4608576"/>
            <a:ext cx="2212848" cy="420624"/>
          </a:xfrm>
          <a:prstGeom prst="rect">
            <a:avLst/>
          </a:prstGeom>
          <a:noFill/>
        </p:spPr>
        <p:txBody>
          <a:bodyPr wrap="square">
            <a:spAutoFit/>
          </a:bodyPr>
          <a:lstStyle/>
          <a:p>
            <a:pPr algn="l"/>
            <a:r>
              <a:rPr sz="1000" b="0">
                <a:solidFill>
                  <a:srgbClr val="FFFFFF"/>
                </a:solidFill>
                <a:latin typeface="Calibri"/>
              </a:rPr>
              <a:t>Voto Informado</a:t>
            </a:r>
          </a:p>
        </p:txBody>
      </p:sp>
      <p:sp>
        <p:nvSpPr>
          <p:cNvPr id="79" name="Rectangle 78"/>
          <p:cNvSpPr/>
          <p:nvPr/>
        </p:nvSpPr>
        <p:spPr>
          <a:xfrm>
            <a:off x="2880360" y="4562856"/>
            <a:ext cx="195681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953512" y="4608576"/>
            <a:ext cx="1847088" cy="420624"/>
          </a:xfrm>
          <a:prstGeom prst="rect">
            <a:avLst/>
          </a:prstGeom>
          <a:noFill/>
        </p:spPr>
        <p:txBody>
          <a:bodyPr wrap="square">
            <a:spAutoFit/>
          </a:bodyPr>
          <a:lstStyle/>
          <a:p>
            <a:pPr algn="ctr"/>
            <a:r>
              <a:rPr sz="1000" b="0">
                <a:solidFill>
                  <a:srgbClr val="FFFFFF"/>
                </a:solidFill>
                <a:latin typeface="Calibri"/>
              </a:rPr>
              <a:t>Sin matching</a:t>
            </a:r>
          </a:p>
        </p:txBody>
      </p:sp>
      <p:sp>
        <p:nvSpPr>
          <p:cNvPr id="81" name="Rectangle 80"/>
          <p:cNvSpPr/>
          <p:nvPr/>
        </p:nvSpPr>
        <p:spPr>
          <a:xfrm>
            <a:off x="4937760" y="4562856"/>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10912" y="4608576"/>
            <a:ext cx="1481328" cy="420624"/>
          </a:xfrm>
          <a:prstGeom prst="rect">
            <a:avLst/>
          </a:prstGeom>
          <a:noFill/>
        </p:spPr>
        <p:txBody>
          <a:bodyPr wrap="square">
            <a:spAutoFit/>
          </a:bodyPr>
          <a:lstStyle/>
          <a:p>
            <a:pPr algn="ctr"/>
            <a:r>
              <a:rPr sz="1000" b="0">
                <a:solidFill>
                  <a:srgbClr val="FFFFFF"/>
                </a:solidFill>
                <a:latin typeface="Calibri"/>
              </a:rPr>
              <a:t>SERVEL/PNUD</a:t>
            </a:r>
          </a:p>
        </p:txBody>
      </p:sp>
      <p:sp>
        <p:nvSpPr>
          <p:cNvPr id="83" name="Rectangle 82"/>
          <p:cNvSpPr/>
          <p:nvPr/>
        </p:nvSpPr>
        <p:spPr>
          <a:xfrm>
            <a:off x="6629400" y="4562856"/>
            <a:ext cx="159105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702552" y="4608576"/>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85" name="Rectangle 84"/>
          <p:cNvSpPr/>
          <p:nvPr/>
        </p:nvSpPr>
        <p:spPr>
          <a:xfrm>
            <a:off x="8321040" y="4562856"/>
            <a:ext cx="1225295"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394192" y="4608576"/>
            <a:ext cx="1115568" cy="420624"/>
          </a:xfrm>
          <a:prstGeom prst="rect">
            <a:avLst/>
          </a:prstGeom>
          <a:noFill/>
        </p:spPr>
        <p:txBody>
          <a:bodyPr wrap="square">
            <a:spAutoFit/>
          </a:bodyPr>
          <a:lstStyle/>
          <a:p>
            <a:pPr algn="ctr"/>
            <a:r>
              <a:rPr sz="1000" b="0">
                <a:solidFill>
                  <a:srgbClr val="FFFFFF"/>
                </a:solidFill>
                <a:latin typeface="Calibri"/>
              </a:rPr>
              <a:t>Si</a:t>
            </a:r>
          </a:p>
        </p:txBody>
      </p:sp>
      <p:sp>
        <p:nvSpPr>
          <p:cNvPr id="87" name="Rectangle 86"/>
          <p:cNvSpPr/>
          <p:nvPr/>
        </p:nvSpPr>
        <p:spPr>
          <a:xfrm>
            <a:off x="9646920" y="4562856"/>
            <a:ext cx="1408176" cy="530352"/>
          </a:xfrm>
          <a:prstGeom prst="rect">
            <a:avLst/>
          </a:prstGeom>
          <a:solidFill>
            <a:srgbClr val="1B2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720072" y="4608576"/>
            <a:ext cx="1298448" cy="420624"/>
          </a:xfrm>
          <a:prstGeom prst="rect">
            <a:avLst/>
          </a:prstGeom>
          <a:noFill/>
        </p:spPr>
        <p:txBody>
          <a:bodyPr wrap="square">
            <a:spAutoFit/>
          </a:bodyPr>
          <a:lstStyle/>
          <a:p>
            <a:pPr algn="ctr"/>
            <a:r>
              <a:rPr sz="1000" b="0">
                <a:solidFill>
                  <a:srgbClr val="FFFFFF"/>
                </a:solidFill>
                <a:latin typeface="Calibri"/>
              </a:rPr>
              <a:t>No</a:t>
            </a:r>
          </a:p>
        </p:txBody>
      </p:sp>
      <p:sp>
        <p:nvSpPr>
          <p:cNvPr id="89" name="Rectangle 88"/>
          <p:cNvSpPr/>
          <p:nvPr/>
        </p:nvSpPr>
        <p:spPr>
          <a:xfrm>
            <a:off x="457200" y="5129783"/>
            <a:ext cx="23225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30352" y="5175504"/>
            <a:ext cx="2212848" cy="420624"/>
          </a:xfrm>
          <a:prstGeom prst="rect">
            <a:avLst/>
          </a:prstGeom>
          <a:noFill/>
        </p:spPr>
        <p:txBody>
          <a:bodyPr wrap="square">
            <a:spAutoFit/>
          </a:bodyPr>
          <a:lstStyle/>
          <a:p>
            <a:pPr algn="l"/>
            <a:r>
              <a:rPr sz="1000" b="0">
                <a:solidFill>
                  <a:srgbClr val="FFFFFF"/>
                </a:solidFill>
                <a:latin typeface="Calibri"/>
              </a:rPr>
              <a:t>Decide Chile</a:t>
            </a:r>
          </a:p>
        </p:txBody>
      </p:sp>
      <p:sp>
        <p:nvSpPr>
          <p:cNvPr id="91" name="Rectangle 90"/>
          <p:cNvSpPr/>
          <p:nvPr/>
        </p:nvSpPr>
        <p:spPr>
          <a:xfrm>
            <a:off x="2880360" y="5129783"/>
            <a:ext cx="195681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953512" y="5175504"/>
            <a:ext cx="1847088" cy="420624"/>
          </a:xfrm>
          <a:prstGeom prst="rect">
            <a:avLst/>
          </a:prstGeom>
          <a:noFill/>
        </p:spPr>
        <p:txBody>
          <a:bodyPr wrap="square">
            <a:spAutoFit/>
          </a:bodyPr>
          <a:lstStyle/>
          <a:p>
            <a:pPr algn="ctr"/>
            <a:r>
              <a:rPr sz="1000" b="0">
                <a:solidFill>
                  <a:srgbClr val="FFFFFF"/>
                </a:solidFill>
                <a:latin typeface="Calibri"/>
              </a:rPr>
              <a:t>Basico</a:t>
            </a:r>
          </a:p>
        </p:txBody>
      </p:sp>
      <p:sp>
        <p:nvSpPr>
          <p:cNvPr id="93" name="Rectangle 92"/>
          <p:cNvSpPr/>
          <p:nvPr/>
        </p:nvSpPr>
        <p:spPr>
          <a:xfrm>
            <a:off x="4937760" y="5129783"/>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10912" y="5175504"/>
            <a:ext cx="1481328" cy="420624"/>
          </a:xfrm>
          <a:prstGeom prst="rect">
            <a:avLst/>
          </a:prstGeom>
          <a:noFill/>
        </p:spPr>
        <p:txBody>
          <a:bodyPr wrap="square">
            <a:spAutoFit/>
          </a:bodyPr>
          <a:lstStyle/>
          <a:p>
            <a:pPr algn="ctr"/>
            <a:r>
              <a:rPr sz="1000" b="0">
                <a:solidFill>
                  <a:srgbClr val="FFFFFF"/>
                </a:solidFill>
                <a:latin typeface="Calibri"/>
              </a:rPr>
              <a:t>Sin trazabilidad</a:t>
            </a:r>
          </a:p>
        </p:txBody>
      </p:sp>
      <p:sp>
        <p:nvSpPr>
          <p:cNvPr id="95" name="Rectangle 94"/>
          <p:cNvSpPr/>
          <p:nvPr/>
        </p:nvSpPr>
        <p:spPr>
          <a:xfrm>
            <a:off x="6629400" y="5129783"/>
            <a:ext cx="159105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02552" y="5175504"/>
            <a:ext cx="1481328" cy="420624"/>
          </a:xfrm>
          <a:prstGeom prst="rect">
            <a:avLst/>
          </a:prstGeom>
          <a:noFill/>
        </p:spPr>
        <p:txBody>
          <a:bodyPr wrap="square">
            <a:spAutoFit/>
          </a:bodyPr>
          <a:lstStyle/>
          <a:p>
            <a:pPr algn="ctr"/>
            <a:r>
              <a:rPr sz="1000" b="0">
                <a:solidFill>
                  <a:srgbClr val="FFFFFF"/>
                </a:solidFill>
                <a:latin typeface="Calibri"/>
              </a:rPr>
              <a:t>No</a:t>
            </a:r>
          </a:p>
        </p:txBody>
      </p:sp>
      <p:sp>
        <p:nvSpPr>
          <p:cNvPr id="97" name="Rectangle 96"/>
          <p:cNvSpPr/>
          <p:nvPr/>
        </p:nvSpPr>
        <p:spPr>
          <a:xfrm>
            <a:off x="8321040" y="5129783"/>
            <a:ext cx="1225295"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94192" y="5175504"/>
            <a:ext cx="1115568" cy="420624"/>
          </a:xfrm>
          <a:prstGeom prst="rect">
            <a:avLst/>
          </a:prstGeom>
          <a:noFill/>
        </p:spPr>
        <p:txBody>
          <a:bodyPr wrap="square">
            <a:spAutoFit/>
          </a:bodyPr>
          <a:lstStyle/>
          <a:p>
            <a:pPr algn="ctr"/>
            <a:r>
              <a:rPr sz="1000" b="0">
                <a:solidFill>
                  <a:srgbClr val="FFFFFF"/>
                </a:solidFill>
                <a:latin typeface="Calibri"/>
              </a:rPr>
              <a:t>Si</a:t>
            </a:r>
          </a:p>
        </p:txBody>
      </p:sp>
      <p:sp>
        <p:nvSpPr>
          <p:cNvPr id="99" name="Rectangle 98"/>
          <p:cNvSpPr/>
          <p:nvPr/>
        </p:nvSpPr>
        <p:spPr>
          <a:xfrm>
            <a:off x="9646920" y="5129783"/>
            <a:ext cx="1408176" cy="53035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720072" y="5175504"/>
            <a:ext cx="1298448" cy="420624"/>
          </a:xfrm>
          <a:prstGeom prst="rect">
            <a:avLst/>
          </a:prstGeom>
          <a:noFill/>
        </p:spPr>
        <p:txBody>
          <a:bodyPr wrap="square">
            <a:spAutoFit/>
          </a:bodyPr>
          <a:lstStyle/>
          <a:p>
            <a:pPr algn="ctr"/>
            <a:r>
              <a:rPr sz="1000" b="0">
                <a:solidFill>
                  <a:srgbClr val="FFFFFF"/>
                </a:solidFill>
                <a:latin typeface="Calibri"/>
              </a:rPr>
              <a:t>No</a:t>
            </a:r>
          </a:p>
        </p:txBody>
      </p:sp>
      <p:sp>
        <p:nvSpPr>
          <p:cNvPr id="101" name="Rectangle 100"/>
          <p:cNvSpPr/>
          <p:nvPr/>
        </p:nvSpPr>
        <p:spPr>
          <a:xfrm>
            <a:off x="457200" y="5696712"/>
            <a:ext cx="2322576"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30352" y="5742431"/>
            <a:ext cx="2212848" cy="420624"/>
          </a:xfrm>
          <a:prstGeom prst="rect">
            <a:avLst/>
          </a:prstGeom>
          <a:noFill/>
        </p:spPr>
        <p:txBody>
          <a:bodyPr wrap="square">
            <a:spAutoFit/>
          </a:bodyPr>
          <a:lstStyle/>
          <a:p>
            <a:pPr algn="l"/>
            <a:r>
              <a:rPr sz="1000" b="1">
                <a:solidFill>
                  <a:srgbClr val="FFFFFF"/>
                </a:solidFill>
                <a:latin typeface="Calibri"/>
              </a:rPr>
              <a:t>VotoAFin</a:t>
            </a:r>
          </a:p>
        </p:txBody>
      </p:sp>
      <p:sp>
        <p:nvSpPr>
          <p:cNvPr id="103" name="Rectangle 102"/>
          <p:cNvSpPr/>
          <p:nvPr/>
        </p:nvSpPr>
        <p:spPr>
          <a:xfrm>
            <a:off x="2880360" y="5696712"/>
            <a:ext cx="1956816"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953512" y="5742431"/>
            <a:ext cx="1847088" cy="420624"/>
          </a:xfrm>
          <a:prstGeom prst="rect">
            <a:avLst/>
          </a:prstGeom>
          <a:noFill/>
        </p:spPr>
        <p:txBody>
          <a:bodyPr wrap="square">
            <a:spAutoFit/>
          </a:bodyPr>
          <a:lstStyle/>
          <a:p>
            <a:pPr algn="ctr"/>
            <a:r>
              <a:rPr sz="1000" b="1">
                <a:solidFill>
                  <a:srgbClr val="FFFFFF"/>
                </a:solidFill>
                <a:latin typeface="Calibri"/>
              </a:rPr>
              <a:t>Cuadratico+pond.</a:t>
            </a:r>
          </a:p>
        </p:txBody>
      </p:sp>
      <p:sp>
        <p:nvSpPr>
          <p:cNvPr id="105" name="Rectangle 104"/>
          <p:cNvSpPr/>
          <p:nvPr/>
        </p:nvSpPr>
        <p:spPr>
          <a:xfrm>
            <a:off x="4937760" y="5696712"/>
            <a:ext cx="1591056"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010912" y="5742431"/>
            <a:ext cx="1481328" cy="420624"/>
          </a:xfrm>
          <a:prstGeom prst="rect">
            <a:avLst/>
          </a:prstGeom>
          <a:noFill/>
        </p:spPr>
        <p:txBody>
          <a:bodyPr wrap="square">
            <a:spAutoFit/>
          </a:bodyPr>
          <a:lstStyle/>
          <a:p>
            <a:pPr algn="ctr"/>
            <a:r>
              <a:rPr sz="1000" b="1">
                <a:solidFill>
                  <a:srgbClr val="FFFFFF"/>
                </a:solidFill>
                <a:latin typeface="Calibri"/>
              </a:rPr>
              <a:t>Verificado+fuente</a:t>
            </a:r>
          </a:p>
        </p:txBody>
      </p:sp>
      <p:sp>
        <p:nvSpPr>
          <p:cNvPr id="107" name="Rectangle 106"/>
          <p:cNvSpPr/>
          <p:nvPr/>
        </p:nvSpPr>
        <p:spPr>
          <a:xfrm>
            <a:off x="6629400" y="5696712"/>
            <a:ext cx="1591056"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6702552" y="5742431"/>
            <a:ext cx="1481328" cy="420624"/>
          </a:xfrm>
          <a:prstGeom prst="rect">
            <a:avLst/>
          </a:prstGeom>
          <a:noFill/>
        </p:spPr>
        <p:txBody>
          <a:bodyPr wrap="square">
            <a:spAutoFit/>
          </a:bodyPr>
          <a:lstStyle/>
          <a:p>
            <a:pPr algn="ctr"/>
            <a:r>
              <a:rPr sz="1000" b="1">
                <a:solidFill>
                  <a:srgbClr val="FFFFFF"/>
                </a:solidFill>
                <a:latin typeface="Calibri"/>
              </a:rPr>
              <a:t>Si</a:t>
            </a:r>
          </a:p>
        </p:txBody>
      </p:sp>
      <p:sp>
        <p:nvSpPr>
          <p:cNvPr id="109" name="Rectangle 108"/>
          <p:cNvSpPr/>
          <p:nvPr/>
        </p:nvSpPr>
        <p:spPr>
          <a:xfrm>
            <a:off x="8321040" y="5696712"/>
            <a:ext cx="1225295"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394192" y="5742431"/>
            <a:ext cx="1115568" cy="420624"/>
          </a:xfrm>
          <a:prstGeom prst="rect">
            <a:avLst/>
          </a:prstGeom>
          <a:noFill/>
        </p:spPr>
        <p:txBody>
          <a:bodyPr wrap="square">
            <a:spAutoFit/>
          </a:bodyPr>
          <a:lstStyle/>
          <a:p>
            <a:pPr algn="ctr"/>
            <a:r>
              <a:rPr sz="1000" b="1">
                <a:solidFill>
                  <a:srgbClr val="FFFFFF"/>
                </a:solidFill>
                <a:latin typeface="Calibri"/>
              </a:rPr>
              <a:t>Si</a:t>
            </a:r>
          </a:p>
        </p:txBody>
      </p:sp>
      <p:sp>
        <p:nvSpPr>
          <p:cNvPr id="111" name="Rectangle 110"/>
          <p:cNvSpPr/>
          <p:nvPr/>
        </p:nvSpPr>
        <p:spPr>
          <a:xfrm>
            <a:off x="9646920" y="5696712"/>
            <a:ext cx="1408176" cy="530352"/>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720072" y="5742431"/>
            <a:ext cx="1298448" cy="420624"/>
          </a:xfrm>
          <a:prstGeom prst="rect">
            <a:avLst/>
          </a:prstGeom>
          <a:noFill/>
        </p:spPr>
        <p:txBody>
          <a:bodyPr wrap="square">
            <a:spAutoFit/>
          </a:bodyPr>
          <a:lstStyle/>
          <a:p>
            <a:pPr algn="ctr"/>
            <a:r>
              <a:rPr sz="1000" b="1">
                <a:solidFill>
                  <a:srgbClr val="FFFFFF"/>
                </a:solidFill>
                <a:latin typeface="Calibri"/>
              </a:rPr>
              <a:t>Si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LA BRECHA IDENTIFICADA</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Cuatro dimensiones de oportunidad.</a:t>
            </a:r>
          </a:p>
        </p:txBody>
      </p:sp>
      <p:sp>
        <p:nvSpPr>
          <p:cNvPr id="5" name="Rectangle 4"/>
          <p:cNvSpPr/>
          <p:nvPr/>
        </p:nvSpPr>
        <p:spPr>
          <a:xfrm>
            <a:off x="457200" y="1325880"/>
            <a:ext cx="11247120" cy="123444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4114800" cy="384048"/>
          </a:xfrm>
          <a:prstGeom prst="rect">
            <a:avLst/>
          </a:prstGeom>
          <a:noFill/>
        </p:spPr>
        <p:txBody>
          <a:bodyPr wrap="square">
            <a:spAutoFit/>
          </a:bodyPr>
          <a:lstStyle/>
          <a:p>
            <a:pPr algn="l"/>
            <a:r>
              <a:rPr sz="1200" b="1">
                <a:solidFill>
                  <a:srgbClr val="FFFFFF"/>
                </a:solidFill>
                <a:latin typeface="Calibri"/>
              </a:rPr>
              <a:t>BRECHA 1 -- CONTEXTO LOCAL</a:t>
            </a:r>
          </a:p>
        </p:txBody>
      </p:sp>
      <p:sp>
        <p:nvSpPr>
          <p:cNvPr id="7" name="TextBox 6"/>
          <p:cNvSpPr txBox="1"/>
          <p:nvPr/>
        </p:nvSpPr>
        <p:spPr>
          <a:xfrm>
            <a:off x="640080" y="1847088"/>
            <a:ext cx="10789920" cy="658368"/>
          </a:xfrm>
          <a:prstGeom prst="rect">
            <a:avLst/>
          </a:prstGeom>
          <a:noFill/>
        </p:spPr>
        <p:txBody>
          <a:bodyPr wrap="square">
            <a:spAutoFit/>
          </a:bodyPr>
          <a:lstStyle/>
          <a:p>
            <a:pPr algn="l"/>
            <a:r>
              <a:rPr sz="1300" b="0">
                <a:solidFill>
                  <a:srgbClr val="FFFFFF"/>
                </a:solidFill>
                <a:latin typeface="Calibri"/>
              </a:rPr>
              <a:t>Ninguna VAA internacional cubre el vocabulario politico,
los candidatos ni los ejes tematicos del contexto electoral chileno.</a:t>
            </a:r>
          </a:p>
        </p:txBody>
      </p:sp>
      <p:sp>
        <p:nvSpPr>
          <p:cNvPr id="8" name="Rectangle 7"/>
          <p:cNvSpPr/>
          <p:nvPr/>
        </p:nvSpPr>
        <p:spPr>
          <a:xfrm>
            <a:off x="457200" y="2679191"/>
            <a:ext cx="11247120" cy="123444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798064"/>
            <a:ext cx="4114800" cy="384048"/>
          </a:xfrm>
          <a:prstGeom prst="rect">
            <a:avLst/>
          </a:prstGeom>
          <a:noFill/>
        </p:spPr>
        <p:txBody>
          <a:bodyPr wrap="square">
            <a:spAutoFit/>
          </a:bodyPr>
          <a:lstStyle/>
          <a:p>
            <a:pPr algn="l"/>
            <a:r>
              <a:rPr sz="1200" b="1">
                <a:solidFill>
                  <a:srgbClr val="FFFFFF"/>
                </a:solidFill>
                <a:latin typeface="Calibri"/>
              </a:rPr>
              <a:t>BRECHA 2 -- CONTINUIDAD</a:t>
            </a:r>
          </a:p>
        </p:txBody>
      </p:sp>
      <p:sp>
        <p:nvSpPr>
          <p:cNvPr id="10" name="TextBox 9"/>
          <p:cNvSpPr txBox="1"/>
          <p:nvPr/>
        </p:nvSpPr>
        <p:spPr>
          <a:xfrm>
            <a:off x="640080" y="3200400"/>
            <a:ext cx="10789920" cy="658368"/>
          </a:xfrm>
          <a:prstGeom prst="rect">
            <a:avLst/>
          </a:prstGeom>
          <a:noFill/>
        </p:spPr>
        <p:txBody>
          <a:bodyPr wrap="square">
            <a:spAutoFit/>
          </a:bodyPr>
          <a:lstStyle/>
          <a:p>
            <a:pPr algn="l"/>
            <a:r>
              <a:rPr sz="1300" b="0">
                <a:solidFill>
                  <a:srgbClr val="FFFFFF"/>
                </a:solidFill>
                <a:latin typeface="Calibri"/>
              </a:rPr>
              <a:t>Las iniciativas chilenas existentes fueron discontinuadas por falta de
modelo de sostenibilidad y ausencia de contribucion externa.</a:t>
            </a:r>
          </a:p>
        </p:txBody>
      </p:sp>
      <p:sp>
        <p:nvSpPr>
          <p:cNvPr id="11" name="Rectangle 10"/>
          <p:cNvSpPr/>
          <p:nvPr/>
        </p:nvSpPr>
        <p:spPr>
          <a:xfrm>
            <a:off x="457200" y="4032504"/>
            <a:ext cx="11247120" cy="1234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51376"/>
            <a:ext cx="4114800" cy="384048"/>
          </a:xfrm>
          <a:prstGeom prst="rect">
            <a:avLst/>
          </a:prstGeom>
          <a:noFill/>
        </p:spPr>
        <p:txBody>
          <a:bodyPr wrap="square">
            <a:spAutoFit/>
          </a:bodyPr>
          <a:lstStyle/>
          <a:p>
            <a:pPr algn="l"/>
            <a:r>
              <a:rPr sz="1200" b="1">
                <a:solidFill>
                  <a:srgbClr val="FFFFFF"/>
                </a:solidFill>
                <a:latin typeface="Calibri"/>
              </a:rPr>
              <a:t>BRECHA 3 -- TRANSPARENCIA</a:t>
            </a:r>
          </a:p>
        </p:txBody>
      </p:sp>
      <p:sp>
        <p:nvSpPr>
          <p:cNvPr id="13" name="TextBox 12"/>
          <p:cNvSpPr txBox="1"/>
          <p:nvPr/>
        </p:nvSpPr>
        <p:spPr>
          <a:xfrm>
            <a:off x="640080" y="4553712"/>
            <a:ext cx="10789920" cy="658368"/>
          </a:xfrm>
          <a:prstGeom prst="rect">
            <a:avLst/>
          </a:prstGeom>
          <a:noFill/>
        </p:spPr>
        <p:txBody>
          <a:bodyPr wrap="square">
            <a:spAutoFit/>
          </a:bodyPr>
          <a:lstStyle/>
          <a:p>
            <a:pPr algn="l"/>
            <a:r>
              <a:rPr sz="1300" b="0">
                <a:solidFill>
                  <a:srgbClr val="FFFFFF"/>
                </a:solidFill>
                <a:latin typeface="Calibri"/>
              </a:rPr>
              <a:t>Las plataformas disponibles no ofrecen algoritmo auditable,
trazabilidad de posturas ni indicador de confianza del resultado.</a:t>
            </a:r>
          </a:p>
        </p:txBody>
      </p:sp>
      <p:sp>
        <p:nvSpPr>
          <p:cNvPr id="14" name="Rectangle 13"/>
          <p:cNvSpPr/>
          <p:nvPr/>
        </p:nvSpPr>
        <p:spPr>
          <a:xfrm>
            <a:off x="457200" y="5385816"/>
            <a:ext cx="11247120" cy="12344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504688"/>
            <a:ext cx="4114800" cy="384048"/>
          </a:xfrm>
          <a:prstGeom prst="rect">
            <a:avLst/>
          </a:prstGeom>
          <a:noFill/>
        </p:spPr>
        <p:txBody>
          <a:bodyPr wrap="square">
            <a:spAutoFit/>
          </a:bodyPr>
          <a:lstStyle/>
          <a:p>
            <a:pPr algn="l"/>
            <a:r>
              <a:rPr sz="1200" b="1">
                <a:solidFill>
                  <a:srgbClr val="FFFFFF"/>
                </a:solidFill>
                <a:latin typeface="Calibri"/>
              </a:rPr>
              <a:t>BRECHA 4 -- APERTURA</a:t>
            </a:r>
          </a:p>
        </p:txBody>
      </p:sp>
      <p:sp>
        <p:nvSpPr>
          <p:cNvPr id="16" name="TextBox 15"/>
          <p:cNvSpPr txBox="1"/>
          <p:nvPr/>
        </p:nvSpPr>
        <p:spPr>
          <a:xfrm>
            <a:off x="640080" y="5907023"/>
            <a:ext cx="10789920" cy="658368"/>
          </a:xfrm>
          <a:prstGeom prst="rect">
            <a:avLst/>
          </a:prstGeom>
          <a:noFill/>
        </p:spPr>
        <p:txBody>
          <a:bodyPr wrap="square">
            <a:spAutoFit/>
          </a:bodyPr>
          <a:lstStyle/>
          <a:p>
            <a:pPr algn="l"/>
            <a:r>
              <a:rPr sz="1300" b="0">
                <a:solidFill>
                  <a:srgbClr val="FFFFFF"/>
                </a:solidFill>
                <a:latin typeface="Calibri"/>
              </a:rPr>
              <a:t>No existia en Chile una VAA con codigo abierto que permitiera
a terceros auditar, replicar o adaptar el sistema a otros contextos.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JUSTIFICACION DE LA SOLUCION</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600" b="1">
                <a:solidFill>
                  <a:srgbClr val="FFFFFF"/>
                </a:solidFill>
                <a:latin typeface="Calibri"/>
              </a:rPr>
              <a:t>Por que una VAA es la respuesta correcta.</a:t>
            </a:r>
          </a:p>
        </p:txBody>
      </p:sp>
      <p:sp>
        <p:nvSpPr>
          <p:cNvPr id="5" name="Rectangle 4"/>
          <p:cNvSpPr/>
          <p:nvPr/>
        </p:nvSpPr>
        <p:spPr>
          <a:xfrm>
            <a:off x="457200" y="1261872"/>
            <a:ext cx="11247120" cy="138988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89888"/>
            <a:ext cx="10698480" cy="1143000"/>
          </a:xfrm>
          <a:prstGeom prst="rect">
            <a:avLst/>
          </a:prstGeom>
          <a:noFill/>
        </p:spPr>
        <p:txBody>
          <a:bodyPr wrap="square">
            <a:spAutoFit/>
          </a:bodyPr>
          <a:lstStyle/>
          <a:p>
            <a:pPr algn="l"/>
            <a:r>
              <a:rPr sz="1400" b="0">
                <a:solidFill>
                  <a:srgbClr val="FFFFFF"/>
                </a:solidFill>
                <a:latin typeface="Calibri"/>
              </a:rPr>
              <a:t>La literatura de VAAs valida que la comparacion sistematica de posturas reduce la carga cognitiva del votante de manera mas efectiva que la provision de informacion en bruto. El usuario no necesita mas informacion -- necesita informacion estructurada de manera que sea comparable con sus propias preferencias.</a:t>
            </a:r>
          </a:p>
        </p:txBody>
      </p:sp>
      <p:sp>
        <p:nvSpPr>
          <p:cNvPr id="7" name="Rectangle 6"/>
          <p:cNvSpPr/>
          <p:nvPr/>
        </p:nvSpPr>
        <p:spPr>
          <a:xfrm>
            <a:off x="457200" y="2852928"/>
            <a:ext cx="2743200" cy="3675887"/>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971800"/>
            <a:ext cx="2487168" cy="438912"/>
          </a:xfrm>
          <a:prstGeom prst="rect">
            <a:avLst/>
          </a:prstGeom>
          <a:noFill/>
        </p:spPr>
        <p:txBody>
          <a:bodyPr wrap="square">
            <a:spAutoFit/>
          </a:bodyPr>
          <a:lstStyle/>
          <a:p>
            <a:pPr algn="l"/>
            <a:r>
              <a:rPr sz="1200" b="1">
                <a:solidFill>
                  <a:srgbClr val="FFFFFF"/>
                </a:solidFill>
                <a:latin typeface="Calibri"/>
              </a:rPr>
              <a:t>BASADA EN EVIDENCIA</a:t>
            </a:r>
          </a:p>
        </p:txBody>
      </p:sp>
      <p:sp>
        <p:nvSpPr>
          <p:cNvPr id="9" name="Rectangle 8"/>
          <p:cNvSpPr/>
          <p:nvPr/>
        </p:nvSpPr>
        <p:spPr>
          <a:xfrm>
            <a:off x="594360" y="34564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584448"/>
            <a:ext cx="2487168" cy="2743200"/>
          </a:xfrm>
          <a:prstGeom prst="rect">
            <a:avLst/>
          </a:prstGeom>
          <a:noFill/>
        </p:spPr>
        <p:txBody>
          <a:bodyPr wrap="square">
            <a:spAutoFit/>
          </a:bodyPr>
          <a:lstStyle/>
          <a:p>
            <a:pPr algn="l"/>
            <a:r>
              <a:rPr sz="1200" b="0">
                <a:solidFill>
                  <a:srgbClr val="FFFFFF"/>
                </a:solidFill>
                <a:latin typeface="Calibri"/>
              </a:rPr>
              <a:t>35 anos de VAAs en Europa
demuestran que funcionan.
Chile puede adaptarlo.</a:t>
            </a:r>
          </a:p>
        </p:txBody>
      </p:sp>
      <p:sp>
        <p:nvSpPr>
          <p:cNvPr id="11" name="Rectangle 10"/>
          <p:cNvSpPr/>
          <p:nvPr/>
        </p:nvSpPr>
        <p:spPr>
          <a:xfrm>
            <a:off x="3337560" y="2852928"/>
            <a:ext cx="2743200" cy="3675887"/>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2971800"/>
            <a:ext cx="2487168" cy="438912"/>
          </a:xfrm>
          <a:prstGeom prst="rect">
            <a:avLst/>
          </a:prstGeom>
          <a:noFill/>
        </p:spPr>
        <p:txBody>
          <a:bodyPr wrap="square">
            <a:spAutoFit/>
          </a:bodyPr>
          <a:lstStyle/>
          <a:p>
            <a:pPr algn="l"/>
            <a:r>
              <a:rPr sz="1200" b="1">
                <a:solidFill>
                  <a:srgbClr val="FFFFFF"/>
                </a:solidFill>
                <a:latin typeface="Calibri"/>
              </a:rPr>
              <a:t>TECNICA Y ETICAMENTE SOLIDA</a:t>
            </a:r>
          </a:p>
        </p:txBody>
      </p:sp>
      <p:sp>
        <p:nvSpPr>
          <p:cNvPr id="13" name="Rectangle 12"/>
          <p:cNvSpPr/>
          <p:nvPr/>
        </p:nvSpPr>
        <p:spPr>
          <a:xfrm>
            <a:off x="3474720" y="34564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3584448"/>
            <a:ext cx="2487168" cy="2743200"/>
          </a:xfrm>
          <a:prstGeom prst="rect">
            <a:avLst/>
          </a:prstGeom>
          <a:noFill/>
        </p:spPr>
        <p:txBody>
          <a:bodyPr wrap="square">
            <a:spAutoFit/>
          </a:bodyPr>
          <a:lstStyle/>
          <a:p>
            <a:pPr algn="l"/>
            <a:r>
              <a:rPr sz="1200" b="0">
                <a:solidFill>
                  <a:srgbClr val="FFFFFF"/>
                </a:solidFill>
                <a:latin typeface="Calibri"/>
              </a:rPr>
              <a:t>Algoritmo transparente.
Posturas con fuentes.
Codigo abierto.</a:t>
            </a:r>
          </a:p>
        </p:txBody>
      </p:sp>
      <p:sp>
        <p:nvSpPr>
          <p:cNvPr id="15" name="Rectangle 14"/>
          <p:cNvSpPr/>
          <p:nvPr/>
        </p:nvSpPr>
        <p:spPr>
          <a:xfrm>
            <a:off x="6217920" y="2852928"/>
            <a:ext cx="2743200" cy="3675887"/>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971800"/>
            <a:ext cx="2487168" cy="438912"/>
          </a:xfrm>
          <a:prstGeom prst="rect">
            <a:avLst/>
          </a:prstGeom>
          <a:noFill/>
        </p:spPr>
        <p:txBody>
          <a:bodyPr wrap="square">
            <a:spAutoFit/>
          </a:bodyPr>
          <a:lstStyle/>
          <a:p>
            <a:pPr algn="l"/>
            <a:r>
              <a:rPr sz="1200" b="1">
                <a:solidFill>
                  <a:srgbClr val="FFFFFF"/>
                </a:solidFill>
                <a:latin typeface="Calibri"/>
              </a:rPr>
              <a:t>CENTRADA EN EL USUARIO</a:t>
            </a:r>
          </a:p>
        </p:txBody>
      </p:sp>
      <p:sp>
        <p:nvSpPr>
          <p:cNvPr id="17" name="Rectangle 16"/>
          <p:cNvSpPr/>
          <p:nvPr/>
        </p:nvSpPr>
        <p:spPr>
          <a:xfrm>
            <a:off x="6355080" y="34564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584448"/>
            <a:ext cx="2487168" cy="2743200"/>
          </a:xfrm>
          <a:prstGeom prst="rect">
            <a:avLst/>
          </a:prstGeom>
          <a:noFill/>
        </p:spPr>
        <p:txBody>
          <a:bodyPr wrap="square">
            <a:spAutoFit/>
          </a:bodyPr>
          <a:lstStyle/>
          <a:p>
            <a:pPr algn="l"/>
            <a:r>
              <a:rPr sz="1200" b="0">
                <a:solidFill>
                  <a:srgbClr val="FFFFFF"/>
                </a:solidFill>
                <a:latin typeface="Calibri"/>
              </a:rPr>
              <a:t>Mobile-first. 5-15 minutos.
Sin conocimiento previo requerido.
WCAG 2.2 AA.</a:t>
            </a:r>
          </a:p>
        </p:txBody>
      </p:sp>
      <p:sp>
        <p:nvSpPr>
          <p:cNvPr id="19" name="Rectangle 18"/>
          <p:cNvSpPr/>
          <p:nvPr/>
        </p:nvSpPr>
        <p:spPr>
          <a:xfrm>
            <a:off x="9098280" y="2852928"/>
            <a:ext cx="2743200" cy="3675887"/>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5440" y="2971800"/>
            <a:ext cx="2487168" cy="438912"/>
          </a:xfrm>
          <a:prstGeom prst="rect">
            <a:avLst/>
          </a:prstGeom>
          <a:noFill/>
        </p:spPr>
        <p:txBody>
          <a:bodyPr wrap="square">
            <a:spAutoFit/>
          </a:bodyPr>
          <a:lstStyle/>
          <a:p>
            <a:pPr algn="l"/>
            <a:r>
              <a:rPr sz="1200" b="1">
                <a:solidFill>
                  <a:srgbClr val="FFFFFF"/>
                </a:solidFill>
                <a:latin typeface="Calibri"/>
              </a:rPr>
              <a:t>SOSTENIBLE</a:t>
            </a:r>
          </a:p>
        </p:txBody>
      </p:sp>
      <p:sp>
        <p:nvSpPr>
          <p:cNvPr id="21" name="Rectangle 20"/>
          <p:cNvSpPr/>
          <p:nvPr/>
        </p:nvSpPr>
        <p:spPr>
          <a:xfrm>
            <a:off x="9235440" y="34564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3584448"/>
            <a:ext cx="2487168" cy="2743200"/>
          </a:xfrm>
          <a:prstGeom prst="rect">
            <a:avLst/>
          </a:prstGeom>
          <a:noFill/>
        </p:spPr>
        <p:txBody>
          <a:bodyPr wrap="square">
            <a:spAutoFit/>
          </a:bodyPr>
          <a:lstStyle/>
          <a:p>
            <a:pPr algn="l"/>
            <a:r>
              <a:rPr sz="1200" b="0">
                <a:solidFill>
                  <a:srgbClr val="FFFFFF"/>
                </a:solidFill>
                <a:latin typeface="Calibri"/>
              </a:rPr>
              <a:t>AGPL-3.0: contribucion externa.
Importacion por CSV validados.
Roadmap documentado.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3A9E7A"/>
                </a:solidFill>
                <a:latin typeface="Calibri"/>
              </a:rPr>
              <a:t>LA HIPOTESIS CENTRAL</a:t>
            </a:r>
          </a:p>
        </p:txBody>
      </p:sp>
      <p:sp>
        <p:nvSpPr>
          <p:cNvPr id="4" name="TextBox 3"/>
          <p:cNvSpPr txBox="1"/>
          <p:nvPr/>
        </p:nvSpPr>
        <p:spPr>
          <a:xfrm>
            <a:off x="548640" y="411480"/>
            <a:ext cx="10972800" cy="594360"/>
          </a:xfrm>
          <a:prstGeom prst="rect">
            <a:avLst/>
          </a:prstGeom>
          <a:noFill/>
        </p:spPr>
        <p:txBody>
          <a:bodyPr wrap="square">
            <a:spAutoFit/>
          </a:bodyPr>
          <a:lstStyle/>
          <a:p>
            <a:pPr algn="l"/>
            <a:r>
              <a:rPr sz="3800" b="1">
                <a:solidFill>
                  <a:srgbClr val="1C3A52"/>
                </a:solidFill>
                <a:latin typeface="Calibri"/>
              </a:rPr>
              <a:t>La pregunta que organiza el sistema.</a:t>
            </a:r>
          </a:p>
        </p:txBody>
      </p:sp>
      <p:sp>
        <p:nvSpPr>
          <p:cNvPr id="5" name="Rectangle 4"/>
          <p:cNvSpPr/>
          <p:nvPr/>
        </p:nvSpPr>
        <p:spPr>
          <a:xfrm>
            <a:off x="457200" y="1298448"/>
            <a:ext cx="11247120" cy="221284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10698480" cy="1938528"/>
          </a:xfrm>
          <a:prstGeom prst="rect">
            <a:avLst/>
          </a:prstGeom>
          <a:noFill/>
        </p:spPr>
        <p:txBody>
          <a:bodyPr wrap="square">
            <a:spAutoFit/>
          </a:bodyPr>
          <a:lstStyle/>
          <a:p>
            <a:pPr algn="l"/>
            <a:r>
              <a:rPr sz="1500" b="0">
                <a:solidFill>
                  <a:srgbClr val="FFFFFF"/>
                </a:solidFill>
                <a:latin typeface="Calibri"/>
              </a:rPr>
              <a:t>Si se reduce la carga cognitiva del proceso informativo -- no haciendo la interfaz mas entretenida,
sino estructurando preguntas para que el usuario revele sus preferencias en 5-15 minutos --
y el resultado entrega un ranking con criterios explicitos y verificables,
entonces la herramienta puede ser util y confiable para votantes de perfiles muy distintos.</a:t>
            </a:r>
          </a:p>
        </p:txBody>
      </p:sp>
      <p:sp>
        <p:nvSpPr>
          <p:cNvPr id="7" name="TextBox 6"/>
          <p:cNvSpPr txBox="1"/>
          <p:nvPr/>
        </p:nvSpPr>
        <p:spPr>
          <a:xfrm>
            <a:off x="548640" y="3703320"/>
            <a:ext cx="10972800" cy="320040"/>
          </a:xfrm>
          <a:prstGeom prst="rect">
            <a:avLst/>
          </a:prstGeom>
          <a:noFill/>
        </p:spPr>
        <p:txBody>
          <a:bodyPr wrap="square">
            <a:spAutoFit/>
          </a:bodyPr>
          <a:lstStyle/>
          <a:p>
            <a:pPr algn="l"/>
            <a:r>
              <a:rPr sz="1100" b="1">
                <a:solidFill>
                  <a:srgbClr val="2E5F7E"/>
                </a:solidFill>
                <a:latin typeface="Calibri"/>
              </a:rPr>
              <a:t>LO QUE ESTA HIPOTESIS DIFERENCIA DEL PROTOTIPO ANTERIOR</a:t>
            </a:r>
          </a:p>
        </p:txBody>
      </p:sp>
      <p:sp>
        <p:nvSpPr>
          <p:cNvPr id="8" name="Rectangle 7"/>
          <p:cNvSpPr/>
          <p:nvPr/>
        </p:nvSpPr>
        <p:spPr>
          <a:xfrm>
            <a:off x="457200" y="4133087"/>
            <a:ext cx="5394960" cy="25146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51960"/>
            <a:ext cx="4937760" cy="320040"/>
          </a:xfrm>
          <a:prstGeom prst="rect">
            <a:avLst/>
          </a:prstGeom>
          <a:noFill/>
        </p:spPr>
        <p:txBody>
          <a:bodyPr wrap="square">
            <a:spAutoFit/>
          </a:bodyPr>
          <a:lstStyle/>
          <a:p>
            <a:pPr algn="l"/>
            <a:r>
              <a:rPr sz="1000" b="1">
                <a:solidFill>
                  <a:srgbClr val="FFFFFF"/>
                </a:solidFill>
                <a:latin typeface="Calibri"/>
              </a:rPr>
              <a:t>ENFOQUE ANTERIOR</a:t>
            </a:r>
          </a:p>
        </p:txBody>
      </p:sp>
      <p:sp>
        <p:nvSpPr>
          <p:cNvPr id="10" name="TextBox 9"/>
          <p:cNvSpPr txBox="1"/>
          <p:nvPr/>
        </p:nvSpPr>
        <p:spPr>
          <a:xfrm>
            <a:off x="640080" y="4663440"/>
            <a:ext cx="4937760" cy="1783080"/>
          </a:xfrm>
          <a:prstGeom prst="rect">
            <a:avLst/>
          </a:prstGeom>
          <a:noFill/>
        </p:spPr>
        <p:txBody>
          <a:bodyPr wrap="square">
            <a:spAutoFit/>
          </a:bodyPr>
          <a:lstStyle/>
          <a:p>
            <a:pPr algn="l"/>
            <a:r>
              <a:rPr sz="1800" b="0">
                <a:solidFill>
                  <a:srgbClr val="FFFFFF"/>
                </a:solidFill>
                <a:latin typeface="Calibri"/>
              </a:rPr>
              <a:t>Reducir la carga cognitiva
haciendo el proceso
mas entretenido.</a:t>
            </a:r>
          </a:p>
        </p:txBody>
      </p:sp>
      <p:sp>
        <p:nvSpPr>
          <p:cNvPr id="11" name="Rectangle 10"/>
          <p:cNvSpPr/>
          <p:nvPr/>
        </p:nvSpPr>
        <p:spPr>
          <a:xfrm>
            <a:off x="6080760" y="4133087"/>
            <a:ext cx="5577840" cy="25146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4251960"/>
            <a:ext cx="5212080" cy="320040"/>
          </a:xfrm>
          <a:prstGeom prst="rect">
            <a:avLst/>
          </a:prstGeom>
          <a:noFill/>
        </p:spPr>
        <p:txBody>
          <a:bodyPr wrap="square">
            <a:spAutoFit/>
          </a:bodyPr>
          <a:lstStyle/>
          <a:p>
            <a:pPr algn="l"/>
            <a:r>
              <a:rPr sz="1000" b="1">
                <a:solidFill>
                  <a:srgbClr val="1C3A52"/>
                </a:solidFill>
                <a:latin typeface="Calibri"/>
              </a:rPr>
              <a:t>ENFOQUE ADOPTADO</a:t>
            </a:r>
          </a:p>
        </p:txBody>
      </p:sp>
      <p:sp>
        <p:nvSpPr>
          <p:cNvPr id="13" name="TextBox 12"/>
          <p:cNvSpPr txBox="1"/>
          <p:nvPr/>
        </p:nvSpPr>
        <p:spPr>
          <a:xfrm>
            <a:off x="6263640" y="4663440"/>
            <a:ext cx="5212080" cy="1783080"/>
          </a:xfrm>
          <a:prstGeom prst="rect">
            <a:avLst/>
          </a:prstGeom>
          <a:noFill/>
        </p:spPr>
        <p:txBody>
          <a:bodyPr wrap="square">
            <a:spAutoFit/>
          </a:bodyPr>
          <a:lstStyle/>
          <a:p>
            <a:pPr algn="l"/>
            <a:r>
              <a:rPr sz="1800" b="1">
                <a:solidFill>
                  <a:srgbClr val="1C3A52"/>
                </a:solidFill>
                <a:latin typeface="Calibri"/>
              </a:rPr>
              <a:t>Reducir la carga cognitiva
haciendo el proceso
mas eficiente.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91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554480"/>
          </a:xfrm>
          <a:prstGeom prst="rect">
            <a:avLst/>
          </a:prstGeom>
          <a:noFill/>
        </p:spPr>
        <p:txBody>
          <a:bodyPr wrap="square">
            <a:spAutoFit/>
          </a:bodyPr>
          <a:lstStyle/>
          <a:p>
            <a:pPr algn="ctr"/>
            <a:r>
              <a:rPr sz="4600" b="1">
                <a:solidFill>
                  <a:srgbClr val="FFFFFF"/>
                </a:solidFill>
                <a:latin typeface="Calibri"/>
              </a:rPr>
              <a:t>La teoria valida la solucion.
El estado del arte abre el camino.</a:t>
            </a:r>
          </a:p>
        </p:txBody>
      </p:sp>
      <p:sp>
        <p:nvSpPr>
          <p:cNvPr id="5" name="TextBox 4"/>
          <p:cNvSpPr txBox="1"/>
          <p:nvPr/>
        </p:nvSpPr>
        <p:spPr>
          <a:xfrm>
            <a:off x="1371600" y="3401568"/>
            <a:ext cx="9418320" cy="914400"/>
          </a:xfrm>
          <a:prstGeom prst="rect">
            <a:avLst/>
          </a:prstGeom>
          <a:noFill/>
        </p:spPr>
        <p:txBody>
          <a:bodyPr wrap="square">
            <a:spAutoFit/>
          </a:bodyPr>
          <a:lstStyle/>
          <a:p>
            <a:pPr algn="ctr"/>
            <a:r>
              <a:rPr sz="1800" b="0">
                <a:solidFill>
                  <a:srgbClr val="CBD1CD"/>
                </a:solidFill>
                <a:latin typeface="Calibri"/>
              </a:rPr>
              <a:t>35 anos de investigacion en VAAs convergieron en principios claros.
VotoAFin los aplica al contexto electoral chileno.</a:t>
            </a:r>
          </a:p>
        </p:txBody>
      </p:sp>
      <p:sp>
        <p:nvSpPr>
          <p:cNvPr id="6" name="Rectangle 5"/>
          <p:cNvSpPr/>
          <p:nvPr/>
        </p:nvSpPr>
        <p:spPr>
          <a:xfrm>
            <a:off x="4754880" y="4526280"/>
            <a:ext cx="2679192" cy="3657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736592"/>
            <a:ext cx="9418320" cy="457200"/>
          </a:xfrm>
          <a:prstGeom prst="rect">
            <a:avLst/>
          </a:prstGeom>
          <a:noFill/>
        </p:spPr>
        <p:txBody>
          <a:bodyPr wrap="square">
            <a:spAutoFit/>
          </a:bodyPr>
          <a:lstStyle/>
          <a:p>
            <a:pPr algn="ctr"/>
            <a:r>
              <a:rPr sz="1500" b="1">
                <a:solidFill>
                  <a:srgbClr val="2E5F7E"/>
                </a:solidFill>
                <a:latin typeface="Calibri"/>
              </a:rPr>
              <a:t>Continua en: 03 Desarrollo, Resultados y Conclusiones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