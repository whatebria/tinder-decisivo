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Presentacion Presentacion 01 de 04: El Problema. Investigacion, Contexto y Oportunidad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'3 D' de Claudio Fuentes (UDP). No es percepcion: es fenomeno documentado. Rene Jara (USACH): 'La gente evita informarse e invertir tiempo en material de campana'. Punto clave: Chile tuvo mas elecciones en 4 anos que en la decada anterior.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Solo 1 de cada 5 chilenos se sentia muy informado sobre una eleccion que ya estaba encima. El 42% no habia decidido su voto ni para el cargo mas visible. Para cargos menos mediatiticos -- concejales, consejeros regionales -- la indecision superaba el 60%.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principales fuentes de noticias declaradas: TV (35%), noticias online (14%), Facebook (12%). Precisamente las fuentes en que menos confian. El 65% dice que la desinformacion aumenta la polarizacion politica.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+460% de votos nulos para alcalde entre 2021 y 2024. Los propios analistas del SERVEL lo explicaron: 'Los votos blancos son resultado de la desinformacion'. Este es el indicador objetivo del deterioro de la calidad democratica.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Kahneman (2011): los humanos tenemos limitaciones estructurales para procesar conjuntos de opciones complejas con multiples atributos. El votante no es irresponsable -- el sistema es cognitivamente inabordable sin ayuda.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metodologia de investigacion combino tres fuentes complementarias. Las fuentes secundarias dieron el marco cuantitativo. El levantamiento de campo valido empiricamente la magnitud del problema. El estado del arte definio el espacio de solucion disponible.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hallazgo mas impactante: el 100% de los entrevistados habia visto fake news electorales. Ninguna excepcion en 12 personas de perfiles distintos. Coherente con el dato nacional: 52% encuentra desinformacion todos los dias.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brecha era concreta: no existia en Chile una VAA activa con metodologia transparente y datos verificables para el contexto electoral local. Las que existieron fueron discontinuadas. Las internacionales no cubren Chile.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tres segmentos comparten una necesidad comun: acceso a informacion confiable, estructurada y procesable en un tiempo razonable. VotoAFin fue disenado para los tres, con mobile-first para llegar a jovenes y lenguaje accesible para adultos mayores.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oportunidad fue articulada en el primer trabajo de Emprendimiento: 'La desinformacion electoral es un gran problema para la democracia. Hay un espacio de oportunidad para reunir informacion confiable sobre candidatos que sea accesible para todos'.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hipotesis co-existieron durante la fase de investigacion. Las dos primeras guiaron el diseno del prototipo inicial. La tercera surgio del analisis del estado del arte en VAAs internacionales y se convirtio en la base del sistema actual.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investigacion no solo documento el problema: delimito el espacio de solucion. No cualquier herramienta sirve. Se necesitaba algo con metodologia transparente, datos verificados, y diseno centrado en el votante promedio, no en el experto politico.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Cierra la presentacion 01. La siguiente presentacion cuenta como evolucionaron las hipotesis a traves de dos propuestas distintas antes de llegar al modelo VAA.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3657600" cy="548640"/>
          </a:xfrm>
          <a:prstGeom prst="rect">
            <a:avLst/>
          </a:prstGeom>
          <a:noFill/>
        </p:spPr>
        <p:txBody>
          <a:bodyPr wrap="square">
            <a:spAutoFit/>
          </a:bodyPr>
          <a:lstStyle/>
          <a:p>
            <a:pPr algn="l"/>
            <a:r>
              <a:rPr sz="1300" b="1">
                <a:solidFill>
                  <a:srgbClr val="B85C5C"/>
                </a:solidFill>
                <a:latin typeface="Calibri"/>
              </a:rPr>
              <a:t>Presentacion 01 de 04</a:t>
            </a:r>
          </a:p>
        </p:txBody>
      </p:sp>
      <p:sp>
        <p:nvSpPr>
          <p:cNvPr id="5" name="TextBox 4"/>
          <p:cNvSpPr txBox="1"/>
          <p:nvPr/>
        </p:nvSpPr>
        <p:spPr>
          <a:xfrm>
            <a:off x="640080" y="1325880"/>
            <a:ext cx="10058400" cy="1463040"/>
          </a:xfrm>
          <a:prstGeom prst="rect">
            <a:avLst/>
          </a:prstGeom>
          <a:noFill/>
        </p:spPr>
        <p:txBody>
          <a:bodyPr wrap="square">
            <a:spAutoFit/>
          </a:bodyPr>
          <a:lstStyle/>
          <a:p>
            <a:pPr algn="l"/>
            <a:r>
              <a:rPr sz="6000" b="1">
                <a:solidFill>
                  <a:srgbClr val="FFFFFF"/>
                </a:solidFill>
                <a:latin typeface="Calibri"/>
              </a:rPr>
              <a:t>El Problema</a:t>
            </a:r>
          </a:p>
        </p:txBody>
      </p:sp>
      <p:sp>
        <p:nvSpPr>
          <p:cNvPr id="6" name="TextBox 5"/>
          <p:cNvSpPr txBox="1"/>
          <p:nvPr/>
        </p:nvSpPr>
        <p:spPr>
          <a:xfrm>
            <a:off x="640080" y="2880360"/>
            <a:ext cx="9144000" cy="640080"/>
          </a:xfrm>
          <a:prstGeom prst="rect">
            <a:avLst/>
          </a:prstGeom>
          <a:noFill/>
        </p:spPr>
        <p:txBody>
          <a:bodyPr wrap="square">
            <a:spAutoFit/>
          </a:bodyPr>
          <a:lstStyle/>
          <a:p>
            <a:pPr algn="l"/>
            <a:r>
              <a:rPr sz="2200" b="0">
                <a:solidFill>
                  <a:srgbClr val="CBD1CD"/>
                </a:solidFill>
                <a:latin typeface="Calibri"/>
              </a:rPr>
              <a:t>Investigacion, Contexto y Oportunidad</a:t>
            </a:r>
          </a:p>
        </p:txBody>
      </p:sp>
      <p:sp>
        <p:nvSpPr>
          <p:cNvPr id="7" name="Rectangle 6"/>
          <p:cNvSpPr/>
          <p:nvPr/>
        </p:nvSpPr>
        <p:spPr>
          <a:xfrm>
            <a:off x="640080" y="3657600"/>
            <a:ext cx="4114800" cy="36576"/>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840480"/>
            <a:ext cx="9144000" cy="502920"/>
          </a:xfrm>
          <a:prstGeom prst="rect">
            <a:avLst/>
          </a:prstGeom>
          <a:noFill/>
        </p:spPr>
        <p:txBody>
          <a:bodyPr wrap="square">
            <a:spAutoFit/>
          </a:bodyPr>
          <a:lstStyle/>
          <a:p>
            <a:pPr algn="l"/>
            <a:r>
              <a:rPr sz="1600" b="0">
                <a:solidFill>
                  <a:srgbClr val="CBD1CD"/>
                </a:solidFill>
                <a:latin typeface="Calibri"/>
              </a:rPr>
              <a:t>Por que nacio VotoAFin y por que merece existir.</a:t>
            </a:r>
          </a:p>
        </p:txBody>
      </p:sp>
      <p:sp>
        <p:nvSpPr>
          <p:cNvPr id="9" name="TextBox 8"/>
          <p:cNvSpPr txBox="1"/>
          <p:nvPr/>
        </p:nvSpPr>
        <p:spPr>
          <a:xfrm>
            <a:off x="640080" y="6309360"/>
            <a:ext cx="10972800" cy="365760"/>
          </a:xfrm>
          <a:prstGeom prst="rect">
            <a:avLst/>
          </a:prstGeom>
          <a:noFill/>
        </p:spPr>
        <p:txBody>
          <a:bodyPr wrap="square">
            <a:spAutoFit/>
          </a:bodyPr>
          <a:lstStyle/>
          <a:p>
            <a:pPr algn="l"/>
            <a:r>
              <a:rPr sz="1100" b="0">
                <a:solidFill>
                  <a:srgbClr val="8A9199"/>
                </a:solidFill>
                <a:latin typeface="Calibri"/>
              </a:rPr>
              <a:t>Jenifer Castillo  --  Universidad Tecnica Federico Santa Maria  --  Agosto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CONTEXTO ELECTORAL CHILENO</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FFFFFF"/>
                </a:solidFill>
                <a:latin typeface="Calibri"/>
              </a:rPr>
              <a:t>2020 -- 2024: densidad sin precedentes</a:t>
            </a:r>
          </a:p>
        </p:txBody>
      </p:sp>
      <p:sp>
        <p:nvSpPr>
          <p:cNvPr id="5" name="TextBox 4"/>
          <p:cNvSpPr txBox="1"/>
          <p:nvPr/>
        </p:nvSpPr>
        <p:spPr>
          <a:xfrm>
            <a:off x="548640" y="1143000"/>
            <a:ext cx="10972800" cy="411480"/>
          </a:xfrm>
          <a:prstGeom prst="rect">
            <a:avLst/>
          </a:prstGeom>
          <a:noFill/>
        </p:spPr>
        <p:txBody>
          <a:bodyPr wrap="square">
            <a:spAutoFit/>
          </a:bodyPr>
          <a:lstStyle/>
          <a:p>
            <a:pPr algn="l"/>
            <a:r>
              <a:rPr sz="1700" b="0">
                <a:solidFill>
                  <a:srgbClr val="CBD1CD"/>
                </a:solidFill>
                <a:latin typeface="Calibri"/>
              </a:rPr>
              <a:t>Los ciudadanos chilenos fueron convocados a votar 8 veces en 4 anos.</a:t>
            </a:r>
          </a:p>
        </p:txBody>
      </p:sp>
      <p:sp>
        <p:nvSpPr>
          <p:cNvPr id="6" name="Rectangle 5"/>
          <p:cNvSpPr/>
          <p:nvPr/>
        </p:nvSpPr>
        <p:spPr>
          <a:xfrm>
            <a:off x="548640" y="2331720"/>
            <a:ext cx="10927080" cy="45720"/>
          </a:xfrm>
          <a:prstGeom prst="rect">
            <a:avLst/>
          </a:prstGeom>
          <a:solidFill>
            <a:srgbClr val="CBD1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12848"/>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737360"/>
            <a:ext cx="1645920" cy="475488"/>
          </a:xfrm>
          <a:prstGeom prst="rect">
            <a:avLst/>
          </a:prstGeom>
          <a:noFill/>
        </p:spPr>
        <p:txBody>
          <a:bodyPr wrap="square">
            <a:spAutoFit/>
          </a:bodyPr>
          <a:lstStyle/>
          <a:p>
            <a:pPr algn="ctr"/>
            <a:r>
              <a:rPr sz="1000" b="1">
                <a:solidFill>
                  <a:srgbClr val="B85C5C"/>
                </a:solidFill>
                <a:latin typeface="Calibri"/>
              </a:rPr>
              <a:t>Oct 2020</a:t>
            </a:r>
          </a:p>
        </p:txBody>
      </p:sp>
      <p:sp>
        <p:nvSpPr>
          <p:cNvPr id="9" name="TextBox 8"/>
          <p:cNvSpPr txBox="1"/>
          <p:nvPr/>
        </p:nvSpPr>
        <p:spPr>
          <a:xfrm>
            <a:off x="0" y="2487168"/>
            <a:ext cx="1645920" cy="685800"/>
          </a:xfrm>
          <a:prstGeom prst="rect">
            <a:avLst/>
          </a:prstGeom>
          <a:noFill/>
        </p:spPr>
        <p:txBody>
          <a:bodyPr wrap="square">
            <a:spAutoFit/>
          </a:bodyPr>
          <a:lstStyle/>
          <a:p>
            <a:pPr algn="ctr"/>
            <a:r>
              <a:rPr sz="1000" b="0">
                <a:solidFill>
                  <a:srgbClr val="CBD1CD"/>
                </a:solidFill>
                <a:latin typeface="Calibri"/>
              </a:rPr>
              <a:t>Plebiscito
entrada</a:t>
            </a:r>
          </a:p>
        </p:txBody>
      </p:sp>
      <p:sp>
        <p:nvSpPr>
          <p:cNvPr id="10" name="Rectangle 9"/>
          <p:cNvSpPr/>
          <p:nvPr/>
        </p:nvSpPr>
        <p:spPr>
          <a:xfrm>
            <a:off x="2121408" y="2212848"/>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72767" y="1737360"/>
            <a:ext cx="1645920" cy="475488"/>
          </a:xfrm>
          <a:prstGeom prst="rect">
            <a:avLst/>
          </a:prstGeom>
          <a:noFill/>
        </p:spPr>
        <p:txBody>
          <a:bodyPr wrap="square">
            <a:spAutoFit/>
          </a:bodyPr>
          <a:lstStyle/>
          <a:p>
            <a:pPr algn="ctr"/>
            <a:r>
              <a:rPr sz="1000" b="1">
                <a:solidFill>
                  <a:srgbClr val="B85C5C"/>
                </a:solidFill>
                <a:latin typeface="Calibri"/>
              </a:rPr>
              <a:t>Nov 2021</a:t>
            </a:r>
          </a:p>
        </p:txBody>
      </p:sp>
      <p:sp>
        <p:nvSpPr>
          <p:cNvPr id="12" name="TextBox 11"/>
          <p:cNvSpPr txBox="1"/>
          <p:nvPr/>
        </p:nvSpPr>
        <p:spPr>
          <a:xfrm>
            <a:off x="1572767" y="2487168"/>
            <a:ext cx="1645920" cy="685800"/>
          </a:xfrm>
          <a:prstGeom prst="rect">
            <a:avLst/>
          </a:prstGeom>
          <a:noFill/>
        </p:spPr>
        <p:txBody>
          <a:bodyPr wrap="square">
            <a:spAutoFit/>
          </a:bodyPr>
          <a:lstStyle/>
          <a:p>
            <a:pPr algn="ctr"/>
            <a:r>
              <a:rPr sz="1000" b="0">
                <a:solidFill>
                  <a:srgbClr val="CBD1CD"/>
                </a:solidFill>
                <a:latin typeface="Calibri"/>
              </a:rPr>
              <a:t>Const. +
Presidencial</a:t>
            </a:r>
          </a:p>
        </p:txBody>
      </p:sp>
      <p:sp>
        <p:nvSpPr>
          <p:cNvPr id="13" name="Rectangle 12"/>
          <p:cNvSpPr/>
          <p:nvPr/>
        </p:nvSpPr>
        <p:spPr>
          <a:xfrm>
            <a:off x="3694176" y="2212848"/>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45536" y="1737360"/>
            <a:ext cx="1645920" cy="475488"/>
          </a:xfrm>
          <a:prstGeom prst="rect">
            <a:avLst/>
          </a:prstGeom>
          <a:noFill/>
        </p:spPr>
        <p:txBody>
          <a:bodyPr wrap="square">
            <a:spAutoFit/>
          </a:bodyPr>
          <a:lstStyle/>
          <a:p>
            <a:pPr algn="ctr"/>
            <a:r>
              <a:rPr sz="1000" b="1">
                <a:solidFill>
                  <a:srgbClr val="B85C5C"/>
                </a:solidFill>
                <a:latin typeface="Calibri"/>
              </a:rPr>
              <a:t>Dic 2021</a:t>
            </a:r>
          </a:p>
        </p:txBody>
      </p:sp>
      <p:sp>
        <p:nvSpPr>
          <p:cNvPr id="15" name="TextBox 14"/>
          <p:cNvSpPr txBox="1"/>
          <p:nvPr/>
        </p:nvSpPr>
        <p:spPr>
          <a:xfrm>
            <a:off x="3145536" y="2487168"/>
            <a:ext cx="1645920" cy="685800"/>
          </a:xfrm>
          <a:prstGeom prst="rect">
            <a:avLst/>
          </a:prstGeom>
          <a:noFill/>
        </p:spPr>
        <p:txBody>
          <a:bodyPr wrap="square">
            <a:spAutoFit/>
          </a:bodyPr>
          <a:lstStyle/>
          <a:p>
            <a:pPr algn="ctr"/>
            <a:r>
              <a:rPr sz="1000" b="0">
                <a:solidFill>
                  <a:srgbClr val="CBD1CD"/>
                </a:solidFill>
                <a:latin typeface="Calibri"/>
              </a:rPr>
              <a:t>2a vuelta
presidencial</a:t>
            </a:r>
          </a:p>
        </p:txBody>
      </p:sp>
      <p:sp>
        <p:nvSpPr>
          <p:cNvPr id="16" name="Rectangle 15"/>
          <p:cNvSpPr/>
          <p:nvPr/>
        </p:nvSpPr>
        <p:spPr>
          <a:xfrm>
            <a:off x="5266944" y="2212848"/>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8304" y="1737360"/>
            <a:ext cx="1645920" cy="475488"/>
          </a:xfrm>
          <a:prstGeom prst="rect">
            <a:avLst/>
          </a:prstGeom>
          <a:noFill/>
        </p:spPr>
        <p:txBody>
          <a:bodyPr wrap="square">
            <a:spAutoFit/>
          </a:bodyPr>
          <a:lstStyle/>
          <a:p>
            <a:pPr algn="ctr"/>
            <a:r>
              <a:rPr sz="1000" b="1">
                <a:solidFill>
                  <a:srgbClr val="B85C5C"/>
                </a:solidFill>
                <a:latin typeface="Calibri"/>
              </a:rPr>
              <a:t>Sep 2022</a:t>
            </a:r>
          </a:p>
        </p:txBody>
      </p:sp>
      <p:sp>
        <p:nvSpPr>
          <p:cNvPr id="18" name="TextBox 17"/>
          <p:cNvSpPr txBox="1"/>
          <p:nvPr/>
        </p:nvSpPr>
        <p:spPr>
          <a:xfrm>
            <a:off x="4718304" y="2487168"/>
            <a:ext cx="1645920" cy="685800"/>
          </a:xfrm>
          <a:prstGeom prst="rect">
            <a:avLst/>
          </a:prstGeom>
          <a:noFill/>
        </p:spPr>
        <p:txBody>
          <a:bodyPr wrap="square">
            <a:spAutoFit/>
          </a:bodyPr>
          <a:lstStyle/>
          <a:p>
            <a:pPr algn="ctr"/>
            <a:r>
              <a:rPr sz="1000" b="0">
                <a:solidFill>
                  <a:srgbClr val="CBD1CD"/>
                </a:solidFill>
                <a:latin typeface="Calibri"/>
              </a:rPr>
              <a:t>Plebiscito
salida #1</a:t>
            </a:r>
          </a:p>
        </p:txBody>
      </p:sp>
      <p:sp>
        <p:nvSpPr>
          <p:cNvPr id="19" name="Rectangle 18"/>
          <p:cNvSpPr/>
          <p:nvPr/>
        </p:nvSpPr>
        <p:spPr>
          <a:xfrm>
            <a:off x="6839712" y="2212848"/>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737360"/>
            <a:ext cx="1645920" cy="475488"/>
          </a:xfrm>
          <a:prstGeom prst="rect">
            <a:avLst/>
          </a:prstGeom>
          <a:noFill/>
        </p:spPr>
        <p:txBody>
          <a:bodyPr wrap="square">
            <a:spAutoFit/>
          </a:bodyPr>
          <a:lstStyle/>
          <a:p>
            <a:pPr algn="ctr"/>
            <a:r>
              <a:rPr sz="1000" b="1">
                <a:solidFill>
                  <a:srgbClr val="B85C5C"/>
                </a:solidFill>
                <a:latin typeface="Calibri"/>
              </a:rPr>
              <a:t>May 2023</a:t>
            </a:r>
          </a:p>
        </p:txBody>
      </p:sp>
      <p:sp>
        <p:nvSpPr>
          <p:cNvPr id="21" name="TextBox 20"/>
          <p:cNvSpPr txBox="1"/>
          <p:nvPr/>
        </p:nvSpPr>
        <p:spPr>
          <a:xfrm>
            <a:off x="6291072" y="2487168"/>
            <a:ext cx="1645920" cy="685800"/>
          </a:xfrm>
          <a:prstGeom prst="rect">
            <a:avLst/>
          </a:prstGeom>
          <a:noFill/>
        </p:spPr>
        <p:txBody>
          <a:bodyPr wrap="square">
            <a:spAutoFit/>
          </a:bodyPr>
          <a:lstStyle/>
          <a:p>
            <a:pPr algn="ctr"/>
            <a:r>
              <a:rPr sz="1000" b="0">
                <a:solidFill>
                  <a:srgbClr val="CBD1CD"/>
                </a:solidFill>
                <a:latin typeface="Calibri"/>
              </a:rPr>
              <a:t>Consejo
Const.</a:t>
            </a:r>
          </a:p>
        </p:txBody>
      </p:sp>
      <p:sp>
        <p:nvSpPr>
          <p:cNvPr id="22" name="Rectangle 21"/>
          <p:cNvSpPr/>
          <p:nvPr/>
        </p:nvSpPr>
        <p:spPr>
          <a:xfrm>
            <a:off x="8412480" y="2212848"/>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1737360"/>
            <a:ext cx="1645920" cy="475488"/>
          </a:xfrm>
          <a:prstGeom prst="rect">
            <a:avLst/>
          </a:prstGeom>
          <a:noFill/>
        </p:spPr>
        <p:txBody>
          <a:bodyPr wrap="square">
            <a:spAutoFit/>
          </a:bodyPr>
          <a:lstStyle/>
          <a:p>
            <a:pPr algn="ctr"/>
            <a:r>
              <a:rPr sz="1000" b="1">
                <a:solidFill>
                  <a:srgbClr val="B85C5C"/>
                </a:solidFill>
                <a:latin typeface="Calibri"/>
              </a:rPr>
              <a:t>Dic 2023</a:t>
            </a:r>
          </a:p>
        </p:txBody>
      </p:sp>
      <p:sp>
        <p:nvSpPr>
          <p:cNvPr id="24" name="TextBox 23"/>
          <p:cNvSpPr txBox="1"/>
          <p:nvPr/>
        </p:nvSpPr>
        <p:spPr>
          <a:xfrm>
            <a:off x="7863840" y="2487168"/>
            <a:ext cx="1645920" cy="685800"/>
          </a:xfrm>
          <a:prstGeom prst="rect">
            <a:avLst/>
          </a:prstGeom>
          <a:noFill/>
        </p:spPr>
        <p:txBody>
          <a:bodyPr wrap="square">
            <a:spAutoFit/>
          </a:bodyPr>
          <a:lstStyle/>
          <a:p>
            <a:pPr algn="ctr"/>
            <a:r>
              <a:rPr sz="1000" b="0">
                <a:solidFill>
                  <a:srgbClr val="CBD1CD"/>
                </a:solidFill>
                <a:latin typeface="Calibri"/>
              </a:rPr>
              <a:t>Plebiscito
salida #2</a:t>
            </a:r>
          </a:p>
        </p:txBody>
      </p:sp>
      <p:sp>
        <p:nvSpPr>
          <p:cNvPr id="25" name="Rectangle 24"/>
          <p:cNvSpPr/>
          <p:nvPr/>
        </p:nvSpPr>
        <p:spPr>
          <a:xfrm>
            <a:off x="9985248" y="2212848"/>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36608" y="1737360"/>
            <a:ext cx="1645920" cy="475488"/>
          </a:xfrm>
          <a:prstGeom prst="rect">
            <a:avLst/>
          </a:prstGeom>
          <a:noFill/>
        </p:spPr>
        <p:txBody>
          <a:bodyPr wrap="square">
            <a:spAutoFit/>
          </a:bodyPr>
          <a:lstStyle/>
          <a:p>
            <a:pPr algn="ctr"/>
            <a:r>
              <a:rPr sz="1000" b="1">
                <a:solidFill>
                  <a:srgbClr val="B85C5C"/>
                </a:solidFill>
                <a:latin typeface="Calibri"/>
              </a:rPr>
              <a:t>Oct 2024</a:t>
            </a:r>
          </a:p>
        </p:txBody>
      </p:sp>
      <p:sp>
        <p:nvSpPr>
          <p:cNvPr id="27" name="TextBox 26"/>
          <p:cNvSpPr txBox="1"/>
          <p:nvPr/>
        </p:nvSpPr>
        <p:spPr>
          <a:xfrm>
            <a:off x="9436608" y="2487168"/>
            <a:ext cx="1645920" cy="685800"/>
          </a:xfrm>
          <a:prstGeom prst="rect">
            <a:avLst/>
          </a:prstGeom>
          <a:noFill/>
        </p:spPr>
        <p:txBody>
          <a:bodyPr wrap="square">
            <a:spAutoFit/>
          </a:bodyPr>
          <a:lstStyle/>
          <a:p>
            <a:pPr algn="ctr"/>
            <a:r>
              <a:rPr sz="1000" b="0">
                <a:solidFill>
                  <a:srgbClr val="CBD1CD"/>
                </a:solidFill>
                <a:latin typeface="Calibri"/>
              </a:rPr>
              <a:t>Municipal
+ Regional</a:t>
            </a:r>
          </a:p>
        </p:txBody>
      </p:sp>
      <p:sp>
        <p:nvSpPr>
          <p:cNvPr id="28" name="Rectangle 27"/>
          <p:cNvSpPr/>
          <p:nvPr/>
        </p:nvSpPr>
        <p:spPr>
          <a:xfrm>
            <a:off x="731520" y="3310128"/>
            <a:ext cx="3520440" cy="2999232"/>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429000"/>
            <a:ext cx="3108960" cy="384048"/>
          </a:xfrm>
          <a:prstGeom prst="rect">
            <a:avLst/>
          </a:prstGeom>
          <a:noFill/>
        </p:spPr>
        <p:txBody>
          <a:bodyPr wrap="square">
            <a:spAutoFit/>
          </a:bodyPr>
          <a:lstStyle/>
          <a:p>
            <a:pPr algn="l"/>
            <a:r>
              <a:rPr sz="1300" b="1">
                <a:solidFill>
                  <a:srgbClr val="FFFFFF"/>
                </a:solidFill>
                <a:latin typeface="Calibri"/>
              </a:rPr>
              <a:t>DESINFORMACION</a:t>
            </a:r>
          </a:p>
        </p:txBody>
      </p:sp>
      <p:sp>
        <p:nvSpPr>
          <p:cNvPr id="30" name="TextBox 29"/>
          <p:cNvSpPr txBox="1"/>
          <p:nvPr/>
        </p:nvSpPr>
        <p:spPr>
          <a:xfrm>
            <a:off x="914400" y="3886200"/>
            <a:ext cx="3108960" cy="2240280"/>
          </a:xfrm>
          <a:prstGeom prst="rect">
            <a:avLst/>
          </a:prstGeom>
          <a:noFill/>
        </p:spPr>
        <p:txBody>
          <a:bodyPr wrap="square">
            <a:spAutoFit/>
          </a:bodyPr>
          <a:lstStyle/>
          <a:p>
            <a:pPr algn="l"/>
            <a:r>
              <a:rPr sz="3200" b="1">
                <a:solidFill>
                  <a:srgbClr val="FFFFFF"/>
                </a:solidFill>
                <a:latin typeface="Calibri"/>
              </a:rPr>
              <a:t>81%
expuesto
semanalmente</a:t>
            </a:r>
          </a:p>
        </p:txBody>
      </p:sp>
      <p:sp>
        <p:nvSpPr>
          <p:cNvPr id="31" name="Rectangle 30"/>
          <p:cNvSpPr/>
          <p:nvPr/>
        </p:nvSpPr>
        <p:spPr>
          <a:xfrm>
            <a:off x="4526280" y="3310128"/>
            <a:ext cx="3520440" cy="299923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60" y="3429000"/>
            <a:ext cx="3108960" cy="384048"/>
          </a:xfrm>
          <a:prstGeom prst="rect">
            <a:avLst/>
          </a:prstGeom>
          <a:noFill/>
        </p:spPr>
        <p:txBody>
          <a:bodyPr wrap="square">
            <a:spAutoFit/>
          </a:bodyPr>
          <a:lstStyle/>
          <a:p>
            <a:pPr algn="l"/>
            <a:r>
              <a:rPr sz="1300" b="1">
                <a:solidFill>
                  <a:srgbClr val="FFFFFF"/>
                </a:solidFill>
                <a:latin typeface="Calibri"/>
              </a:rPr>
              <a:t>DESINTERES</a:t>
            </a:r>
          </a:p>
        </p:txBody>
      </p:sp>
      <p:sp>
        <p:nvSpPr>
          <p:cNvPr id="33" name="TextBox 32"/>
          <p:cNvSpPr txBox="1"/>
          <p:nvPr/>
        </p:nvSpPr>
        <p:spPr>
          <a:xfrm>
            <a:off x="4709160" y="3886200"/>
            <a:ext cx="3108960" cy="2240280"/>
          </a:xfrm>
          <a:prstGeom prst="rect">
            <a:avLst/>
          </a:prstGeom>
          <a:noFill/>
        </p:spPr>
        <p:txBody>
          <a:bodyPr wrap="square">
            <a:spAutoFit/>
          </a:bodyPr>
          <a:lstStyle/>
          <a:p>
            <a:pPr algn="l"/>
            <a:r>
              <a:rPr sz="3200" b="1">
                <a:solidFill>
                  <a:srgbClr val="FFFFFF"/>
                </a:solidFill>
                <a:latin typeface="Calibri"/>
              </a:rPr>
              <a:t>21%
muy
informado</a:t>
            </a:r>
          </a:p>
        </p:txBody>
      </p:sp>
      <p:sp>
        <p:nvSpPr>
          <p:cNvPr id="34" name="Rectangle 33"/>
          <p:cNvSpPr/>
          <p:nvPr/>
        </p:nvSpPr>
        <p:spPr>
          <a:xfrm>
            <a:off x="8321040" y="3310128"/>
            <a:ext cx="3520440" cy="29992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3429000"/>
            <a:ext cx="3108960" cy="384048"/>
          </a:xfrm>
          <a:prstGeom prst="rect">
            <a:avLst/>
          </a:prstGeom>
          <a:noFill/>
        </p:spPr>
        <p:txBody>
          <a:bodyPr wrap="square">
            <a:spAutoFit/>
          </a:bodyPr>
          <a:lstStyle/>
          <a:p>
            <a:pPr algn="l"/>
            <a:r>
              <a:rPr sz="1300" b="1">
                <a:solidFill>
                  <a:srgbClr val="FFFFFF"/>
                </a:solidFill>
                <a:latin typeface="Calibri"/>
              </a:rPr>
              <a:t>DESCONFIANZA</a:t>
            </a:r>
          </a:p>
        </p:txBody>
      </p:sp>
      <p:sp>
        <p:nvSpPr>
          <p:cNvPr id="36" name="TextBox 35"/>
          <p:cNvSpPr txBox="1"/>
          <p:nvPr/>
        </p:nvSpPr>
        <p:spPr>
          <a:xfrm>
            <a:off x="8503920" y="3886200"/>
            <a:ext cx="3108960" cy="2240280"/>
          </a:xfrm>
          <a:prstGeom prst="rect">
            <a:avLst/>
          </a:prstGeom>
          <a:noFill/>
        </p:spPr>
        <p:txBody>
          <a:bodyPr wrap="square">
            <a:spAutoFit/>
          </a:bodyPr>
          <a:lstStyle/>
          <a:p>
            <a:pPr algn="l"/>
            <a:r>
              <a:rPr sz="3200" b="1">
                <a:solidFill>
                  <a:srgbClr val="FFFFFF"/>
                </a:solidFill>
                <a:latin typeface="Calibri"/>
              </a:rPr>
              <a:t>79%
desconfia
de politicos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PARTICIPACION ELECTORAL</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1C3A52"/>
                </a:solidFill>
                <a:latin typeface="Calibri"/>
              </a:rPr>
              <a:t>El nivel real de informacion del electorado</a:t>
            </a:r>
          </a:p>
        </p:txBody>
      </p:sp>
      <p:sp>
        <p:nvSpPr>
          <p:cNvPr id="5" name="TextBox 4"/>
          <p:cNvSpPr txBox="1"/>
          <p:nvPr/>
        </p:nvSpPr>
        <p:spPr>
          <a:xfrm>
            <a:off x="548640" y="1143000"/>
            <a:ext cx="10972800" cy="365760"/>
          </a:xfrm>
          <a:prstGeom prst="rect">
            <a:avLst/>
          </a:prstGeom>
          <a:noFill/>
        </p:spPr>
        <p:txBody>
          <a:bodyPr wrap="square">
            <a:spAutoFit/>
          </a:bodyPr>
          <a:lstStyle/>
          <a:p>
            <a:pPr algn="l"/>
            <a:r>
              <a:rPr sz="1400" b="0">
                <a:solidFill>
                  <a:srgbClr val="5A6B73"/>
                </a:solidFill>
                <a:latin typeface="Calibri"/>
              </a:rPr>
              <a:t>Informe Claves Ipsos N.33 -- Elecciones municipales octubre 2024</a:t>
            </a:r>
          </a:p>
        </p:txBody>
      </p:sp>
      <p:sp>
        <p:nvSpPr>
          <p:cNvPr id="6" name="Rectangle 5"/>
          <p:cNvSpPr/>
          <p:nvPr/>
        </p:nvSpPr>
        <p:spPr>
          <a:xfrm>
            <a:off x="548640" y="1719072"/>
            <a:ext cx="5577840" cy="221284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92224"/>
            <a:ext cx="3657600" cy="914400"/>
          </a:xfrm>
          <a:prstGeom prst="rect">
            <a:avLst/>
          </a:prstGeom>
          <a:noFill/>
        </p:spPr>
        <p:txBody>
          <a:bodyPr wrap="square">
            <a:spAutoFit/>
          </a:bodyPr>
          <a:lstStyle/>
          <a:p>
            <a:pPr algn="l"/>
            <a:r>
              <a:rPr sz="5800" b="1">
                <a:solidFill>
                  <a:srgbClr val="FFFFFF"/>
                </a:solidFill>
                <a:latin typeface="Calibri"/>
              </a:rPr>
              <a:t>21%</a:t>
            </a:r>
          </a:p>
        </p:txBody>
      </p:sp>
      <p:sp>
        <p:nvSpPr>
          <p:cNvPr id="8" name="TextBox 7"/>
          <p:cNvSpPr txBox="1"/>
          <p:nvPr/>
        </p:nvSpPr>
        <p:spPr>
          <a:xfrm>
            <a:off x="731520" y="2798063"/>
            <a:ext cx="5120640" cy="1005840"/>
          </a:xfrm>
          <a:prstGeom prst="rect">
            <a:avLst/>
          </a:prstGeom>
          <a:noFill/>
        </p:spPr>
        <p:txBody>
          <a:bodyPr wrap="square">
            <a:spAutoFit/>
          </a:bodyPr>
          <a:lstStyle/>
          <a:p>
            <a:pPr algn="l"/>
            <a:r>
              <a:rPr sz="1600" b="0">
                <a:solidFill>
                  <a:srgbClr val="FFFFFF"/>
                </a:solidFill>
                <a:latin typeface="Calibri"/>
              </a:rPr>
              <a:t>Se reconocia
muy informado</a:t>
            </a:r>
          </a:p>
        </p:txBody>
      </p:sp>
      <p:sp>
        <p:nvSpPr>
          <p:cNvPr id="9" name="Rectangle 8"/>
          <p:cNvSpPr/>
          <p:nvPr/>
        </p:nvSpPr>
        <p:spPr>
          <a:xfrm>
            <a:off x="6400800" y="1719072"/>
            <a:ext cx="5577840" cy="221284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792224"/>
            <a:ext cx="3657600" cy="914400"/>
          </a:xfrm>
          <a:prstGeom prst="rect">
            <a:avLst/>
          </a:prstGeom>
          <a:noFill/>
        </p:spPr>
        <p:txBody>
          <a:bodyPr wrap="square">
            <a:spAutoFit/>
          </a:bodyPr>
          <a:lstStyle/>
          <a:p>
            <a:pPr algn="l"/>
            <a:r>
              <a:rPr sz="5800" b="1">
                <a:solidFill>
                  <a:srgbClr val="FFFFFF"/>
                </a:solidFill>
                <a:latin typeface="Calibri"/>
              </a:rPr>
              <a:t>62%</a:t>
            </a:r>
          </a:p>
        </p:txBody>
      </p:sp>
      <p:sp>
        <p:nvSpPr>
          <p:cNvPr id="11" name="TextBox 10"/>
          <p:cNvSpPr txBox="1"/>
          <p:nvPr/>
        </p:nvSpPr>
        <p:spPr>
          <a:xfrm>
            <a:off x="6583680" y="2798063"/>
            <a:ext cx="5120640" cy="1005840"/>
          </a:xfrm>
          <a:prstGeom prst="rect">
            <a:avLst/>
          </a:prstGeom>
          <a:noFill/>
        </p:spPr>
        <p:txBody>
          <a:bodyPr wrap="square">
            <a:spAutoFit/>
          </a:bodyPr>
          <a:lstStyle/>
          <a:p>
            <a:pPr algn="l"/>
            <a:r>
              <a:rPr sz="1600" b="0">
                <a:solidFill>
                  <a:srgbClr val="FFFFFF"/>
                </a:solidFill>
                <a:latin typeface="Calibri"/>
              </a:rPr>
              <a:t>Solo algo
informado</a:t>
            </a:r>
          </a:p>
        </p:txBody>
      </p:sp>
      <p:sp>
        <p:nvSpPr>
          <p:cNvPr id="12" name="Rectangle 11"/>
          <p:cNvSpPr/>
          <p:nvPr/>
        </p:nvSpPr>
        <p:spPr>
          <a:xfrm>
            <a:off x="548640" y="4114800"/>
            <a:ext cx="5577840" cy="22128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87952"/>
            <a:ext cx="3657600" cy="914400"/>
          </a:xfrm>
          <a:prstGeom prst="rect">
            <a:avLst/>
          </a:prstGeom>
          <a:noFill/>
        </p:spPr>
        <p:txBody>
          <a:bodyPr wrap="square">
            <a:spAutoFit/>
          </a:bodyPr>
          <a:lstStyle/>
          <a:p>
            <a:pPr algn="l"/>
            <a:r>
              <a:rPr sz="5800" b="1">
                <a:solidFill>
                  <a:srgbClr val="FFFFFF"/>
                </a:solidFill>
                <a:latin typeface="Calibri"/>
              </a:rPr>
              <a:t>42%</a:t>
            </a:r>
          </a:p>
        </p:txBody>
      </p:sp>
      <p:sp>
        <p:nvSpPr>
          <p:cNvPr id="14" name="TextBox 13"/>
          <p:cNvSpPr txBox="1"/>
          <p:nvPr/>
        </p:nvSpPr>
        <p:spPr>
          <a:xfrm>
            <a:off x="731520" y="5193792"/>
            <a:ext cx="5120640" cy="1005840"/>
          </a:xfrm>
          <a:prstGeom prst="rect">
            <a:avLst/>
          </a:prstGeom>
          <a:noFill/>
        </p:spPr>
        <p:txBody>
          <a:bodyPr wrap="square">
            <a:spAutoFit/>
          </a:bodyPr>
          <a:lstStyle/>
          <a:p>
            <a:pPr algn="l"/>
            <a:r>
              <a:rPr sz="1600" b="0">
                <a:solidFill>
                  <a:srgbClr val="FFFFFF"/>
                </a:solidFill>
                <a:latin typeface="Calibri"/>
              </a:rPr>
              <a:t>No habia decidido
su voto para alcalde</a:t>
            </a:r>
          </a:p>
        </p:txBody>
      </p:sp>
      <p:sp>
        <p:nvSpPr>
          <p:cNvPr id="15" name="Rectangle 14"/>
          <p:cNvSpPr/>
          <p:nvPr/>
        </p:nvSpPr>
        <p:spPr>
          <a:xfrm>
            <a:off x="6400800" y="4114800"/>
            <a:ext cx="5577840" cy="221284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187952"/>
            <a:ext cx="3657600" cy="914400"/>
          </a:xfrm>
          <a:prstGeom prst="rect">
            <a:avLst/>
          </a:prstGeom>
          <a:noFill/>
        </p:spPr>
        <p:txBody>
          <a:bodyPr wrap="square">
            <a:spAutoFit/>
          </a:bodyPr>
          <a:lstStyle/>
          <a:p>
            <a:pPr algn="l"/>
            <a:r>
              <a:rPr sz="5800" b="1">
                <a:solidFill>
                  <a:srgbClr val="FFFFFF"/>
                </a:solidFill>
                <a:latin typeface="Calibri"/>
              </a:rPr>
              <a:t>60%</a:t>
            </a:r>
          </a:p>
        </p:txBody>
      </p:sp>
      <p:sp>
        <p:nvSpPr>
          <p:cNvPr id="17" name="TextBox 16"/>
          <p:cNvSpPr txBox="1"/>
          <p:nvPr/>
        </p:nvSpPr>
        <p:spPr>
          <a:xfrm>
            <a:off x="6583680" y="5193792"/>
            <a:ext cx="5120640" cy="1005840"/>
          </a:xfrm>
          <a:prstGeom prst="rect">
            <a:avLst/>
          </a:prstGeom>
          <a:noFill/>
        </p:spPr>
        <p:txBody>
          <a:bodyPr wrap="square">
            <a:spAutoFit/>
          </a:bodyPr>
          <a:lstStyle/>
          <a:p>
            <a:pPr algn="l"/>
            <a:r>
              <a:rPr sz="1600" b="0">
                <a:solidFill>
                  <a:srgbClr val="FFFFFF"/>
                </a:solidFill>
                <a:latin typeface="Calibri"/>
              </a:rPr>
              <a:t>No habia decidido
voto para concejales</a:t>
            </a:r>
          </a:p>
        </p:txBody>
      </p:sp>
      <p:sp>
        <p:nvSpPr>
          <p:cNvPr id="18" name="TextBox 17"/>
          <p:cNvSpPr txBox="1"/>
          <p:nvPr/>
        </p:nvSpPr>
        <p:spPr>
          <a:xfrm>
            <a:off x="457200" y="6492240"/>
            <a:ext cx="11247120" cy="292608"/>
          </a:xfrm>
          <a:prstGeom prst="rect">
            <a:avLst/>
          </a:prstGeom>
          <a:noFill/>
        </p:spPr>
        <p:txBody>
          <a:bodyPr wrap="square">
            <a:spAutoFit/>
          </a:bodyPr>
          <a:lstStyle/>
          <a:p>
            <a:pPr algn="l"/>
            <a:r>
              <a:rPr sz="1000" b="0">
                <a:solidFill>
                  <a:srgbClr val="8A9199"/>
                </a:solidFill>
                <a:latin typeface="Calibri"/>
              </a:rPr>
              <a:t>Fuente: Informe Claves Ipsos N.33 -- Octubre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DESINFORMACION ELECTORAL</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FFFFFF"/>
                </a:solidFill>
                <a:latin typeface="Calibri"/>
              </a:rPr>
              <a:t>El ecosistema informativo esta roto</a:t>
            </a:r>
          </a:p>
        </p:txBody>
      </p:sp>
      <p:sp>
        <p:nvSpPr>
          <p:cNvPr id="5" name="Rectangle 4"/>
          <p:cNvSpPr/>
          <p:nvPr/>
        </p:nvSpPr>
        <p:spPr>
          <a:xfrm>
            <a:off x="457200" y="1463040"/>
            <a:ext cx="5577840" cy="221284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4114800" cy="960120"/>
          </a:xfrm>
          <a:prstGeom prst="rect">
            <a:avLst/>
          </a:prstGeom>
          <a:noFill/>
        </p:spPr>
        <p:txBody>
          <a:bodyPr wrap="square">
            <a:spAutoFit/>
          </a:bodyPr>
          <a:lstStyle/>
          <a:p>
            <a:pPr algn="l"/>
            <a:r>
              <a:rPr sz="5600" b="1">
                <a:solidFill>
                  <a:srgbClr val="FFFFFF"/>
                </a:solidFill>
                <a:latin typeface="Calibri"/>
              </a:rPr>
              <a:t>81%</a:t>
            </a:r>
          </a:p>
        </p:txBody>
      </p:sp>
      <p:sp>
        <p:nvSpPr>
          <p:cNvPr id="7" name="TextBox 6"/>
          <p:cNvSpPr txBox="1"/>
          <p:nvPr/>
        </p:nvSpPr>
        <p:spPr>
          <a:xfrm>
            <a:off x="640080" y="2560320"/>
            <a:ext cx="5120640" cy="1005840"/>
          </a:xfrm>
          <a:prstGeom prst="rect">
            <a:avLst/>
          </a:prstGeom>
          <a:noFill/>
        </p:spPr>
        <p:txBody>
          <a:bodyPr wrap="square">
            <a:spAutoFit/>
          </a:bodyPr>
          <a:lstStyle/>
          <a:p>
            <a:pPr algn="l"/>
            <a:r>
              <a:rPr sz="1400" b="0">
                <a:solidFill>
                  <a:srgbClr val="FFFFFF"/>
                </a:solidFill>
                <a:latin typeface="Calibri"/>
              </a:rPr>
              <a:t>expuesto a desinformacion
 cada semana</a:t>
            </a:r>
          </a:p>
        </p:txBody>
      </p:sp>
      <p:sp>
        <p:nvSpPr>
          <p:cNvPr id="8" name="Rectangle 7"/>
          <p:cNvSpPr/>
          <p:nvPr/>
        </p:nvSpPr>
        <p:spPr>
          <a:xfrm>
            <a:off x="6309360" y="1463040"/>
            <a:ext cx="5577840" cy="221284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554480"/>
            <a:ext cx="4114800" cy="960120"/>
          </a:xfrm>
          <a:prstGeom prst="rect">
            <a:avLst/>
          </a:prstGeom>
          <a:noFill/>
        </p:spPr>
        <p:txBody>
          <a:bodyPr wrap="square">
            <a:spAutoFit/>
          </a:bodyPr>
          <a:lstStyle/>
          <a:p>
            <a:pPr algn="l"/>
            <a:r>
              <a:rPr sz="5600" b="1">
                <a:solidFill>
                  <a:srgbClr val="FFFFFF"/>
                </a:solidFill>
                <a:latin typeface="Calibri"/>
              </a:rPr>
              <a:t>52%</a:t>
            </a:r>
          </a:p>
        </p:txBody>
      </p:sp>
      <p:sp>
        <p:nvSpPr>
          <p:cNvPr id="10" name="TextBox 9"/>
          <p:cNvSpPr txBox="1"/>
          <p:nvPr/>
        </p:nvSpPr>
        <p:spPr>
          <a:xfrm>
            <a:off x="6492240" y="2560320"/>
            <a:ext cx="5120640" cy="1005840"/>
          </a:xfrm>
          <a:prstGeom prst="rect">
            <a:avLst/>
          </a:prstGeom>
          <a:noFill/>
        </p:spPr>
        <p:txBody>
          <a:bodyPr wrap="square">
            <a:spAutoFit/>
          </a:bodyPr>
          <a:lstStyle/>
          <a:p>
            <a:pPr algn="l"/>
            <a:r>
              <a:rPr sz="1400" b="0">
                <a:solidFill>
                  <a:srgbClr val="FFFFFF"/>
                </a:solidFill>
                <a:latin typeface="Calibri"/>
              </a:rPr>
              <a:t>la encuentra todos los dias
o casi todos los dias</a:t>
            </a:r>
          </a:p>
        </p:txBody>
      </p:sp>
      <p:sp>
        <p:nvSpPr>
          <p:cNvPr id="11" name="Rectangle 10"/>
          <p:cNvSpPr/>
          <p:nvPr/>
        </p:nvSpPr>
        <p:spPr>
          <a:xfrm>
            <a:off x="457200" y="3840480"/>
            <a:ext cx="5577840" cy="22128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931920"/>
            <a:ext cx="4114800" cy="960120"/>
          </a:xfrm>
          <a:prstGeom prst="rect">
            <a:avLst/>
          </a:prstGeom>
          <a:noFill/>
        </p:spPr>
        <p:txBody>
          <a:bodyPr wrap="square">
            <a:spAutoFit/>
          </a:bodyPr>
          <a:lstStyle/>
          <a:p>
            <a:pPr algn="l"/>
            <a:r>
              <a:rPr sz="5600" b="1">
                <a:solidFill>
                  <a:srgbClr val="FFFFFF"/>
                </a:solidFill>
                <a:latin typeface="Calibri"/>
              </a:rPr>
              <a:t>71%</a:t>
            </a:r>
          </a:p>
        </p:txBody>
      </p:sp>
      <p:sp>
        <p:nvSpPr>
          <p:cNvPr id="13" name="TextBox 12"/>
          <p:cNvSpPr txBox="1"/>
          <p:nvPr/>
        </p:nvSpPr>
        <p:spPr>
          <a:xfrm>
            <a:off x="640080" y="4937760"/>
            <a:ext cx="5120640" cy="1005840"/>
          </a:xfrm>
          <a:prstGeom prst="rect">
            <a:avLst/>
          </a:prstGeom>
          <a:noFill/>
        </p:spPr>
        <p:txBody>
          <a:bodyPr wrap="square">
            <a:spAutoFit/>
          </a:bodyPr>
          <a:lstStyle/>
          <a:p>
            <a:pPr algn="l"/>
            <a:r>
              <a:rPr sz="1400" b="0">
                <a:solidFill>
                  <a:srgbClr val="FFFFFF"/>
                </a:solidFill>
                <a:latin typeface="Calibri"/>
              </a:rPr>
              <a:t>cree que la desinformacion
es una amenaza democratica</a:t>
            </a:r>
          </a:p>
        </p:txBody>
      </p:sp>
      <p:sp>
        <p:nvSpPr>
          <p:cNvPr id="14" name="Rectangle 13"/>
          <p:cNvSpPr/>
          <p:nvPr/>
        </p:nvSpPr>
        <p:spPr>
          <a:xfrm>
            <a:off x="6309360" y="3840480"/>
            <a:ext cx="5577840" cy="2212848"/>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931920"/>
            <a:ext cx="4114800" cy="960120"/>
          </a:xfrm>
          <a:prstGeom prst="rect">
            <a:avLst/>
          </a:prstGeom>
          <a:noFill/>
        </p:spPr>
        <p:txBody>
          <a:bodyPr wrap="square">
            <a:spAutoFit/>
          </a:bodyPr>
          <a:lstStyle/>
          <a:p>
            <a:pPr algn="l"/>
            <a:r>
              <a:rPr sz="5600" b="1">
                <a:solidFill>
                  <a:srgbClr val="FFFFFF"/>
                </a:solidFill>
                <a:latin typeface="Calibri"/>
              </a:rPr>
              <a:t>79%</a:t>
            </a:r>
          </a:p>
        </p:txBody>
      </p:sp>
      <p:sp>
        <p:nvSpPr>
          <p:cNvPr id="16" name="TextBox 15"/>
          <p:cNvSpPr txBox="1"/>
          <p:nvPr/>
        </p:nvSpPr>
        <p:spPr>
          <a:xfrm>
            <a:off x="6492240" y="4937760"/>
            <a:ext cx="5120640" cy="1005840"/>
          </a:xfrm>
          <a:prstGeom prst="rect">
            <a:avLst/>
          </a:prstGeom>
          <a:noFill/>
        </p:spPr>
        <p:txBody>
          <a:bodyPr wrap="square">
            <a:spAutoFit/>
          </a:bodyPr>
          <a:lstStyle/>
          <a:p>
            <a:pPr algn="l"/>
            <a:r>
              <a:rPr sz="1400" b="0">
                <a:solidFill>
                  <a:srgbClr val="FFFFFF"/>
                </a:solidFill>
                <a:latin typeface="Calibri"/>
              </a:rPr>
              <a:t>no confia en politicos
como fuente de informacion</a:t>
            </a:r>
          </a:p>
        </p:txBody>
      </p:sp>
      <p:sp>
        <p:nvSpPr>
          <p:cNvPr id="17" name="TextBox 16"/>
          <p:cNvSpPr txBox="1"/>
          <p:nvPr/>
        </p:nvSpPr>
        <p:spPr>
          <a:xfrm>
            <a:off x="457200" y="6492240"/>
            <a:ext cx="11247120" cy="292608"/>
          </a:xfrm>
          <a:prstGeom prst="rect">
            <a:avLst/>
          </a:prstGeom>
          <a:noFill/>
        </p:spPr>
        <p:txBody>
          <a:bodyPr wrap="square">
            <a:spAutoFit/>
          </a:bodyPr>
          <a:lstStyle/>
          <a:p>
            <a:pPr algn="l"/>
            <a:r>
              <a:rPr sz="1000" b="0">
                <a:solidFill>
                  <a:srgbClr val="8A9199"/>
                </a:solidFill>
                <a:latin typeface="Calibri"/>
              </a:rPr>
              <a:t>Fuente: Activa Knowledge for Action -- Fake News y Desinformacion en Chile y LatAm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IMPACTO EN LA CALIDAD DEL VOTO</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1C3A52"/>
                </a:solidFill>
                <a:latin typeface="Calibri"/>
              </a:rPr>
              <a:t>Los numeros no mienten</a:t>
            </a:r>
          </a:p>
        </p:txBody>
      </p:sp>
      <p:sp>
        <p:nvSpPr>
          <p:cNvPr id="5" name="Rectangle 4"/>
          <p:cNvSpPr/>
          <p:nvPr/>
        </p:nvSpPr>
        <p:spPr>
          <a:xfrm>
            <a:off x="548640" y="1280160"/>
            <a:ext cx="3136392"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316736"/>
            <a:ext cx="3017520" cy="320040"/>
          </a:xfrm>
          <a:prstGeom prst="rect">
            <a:avLst/>
          </a:prstGeom>
          <a:noFill/>
        </p:spPr>
        <p:txBody>
          <a:bodyPr wrap="square">
            <a:spAutoFit/>
          </a:bodyPr>
          <a:lstStyle/>
          <a:p>
            <a:pPr algn="ctr"/>
            <a:r>
              <a:rPr sz="1100" b="1">
                <a:solidFill>
                  <a:srgbClr val="FFFFFF"/>
                </a:solidFill>
                <a:latin typeface="Calibri"/>
              </a:rPr>
              <a:t>CARGO</a:t>
            </a:r>
          </a:p>
        </p:txBody>
      </p:sp>
      <p:sp>
        <p:nvSpPr>
          <p:cNvPr id="7" name="Rectangle 6"/>
          <p:cNvSpPr/>
          <p:nvPr/>
        </p:nvSpPr>
        <p:spPr>
          <a:xfrm>
            <a:off x="3794760" y="1280160"/>
            <a:ext cx="1764792"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67912" y="1316736"/>
            <a:ext cx="1645920" cy="320040"/>
          </a:xfrm>
          <a:prstGeom prst="rect">
            <a:avLst/>
          </a:prstGeom>
          <a:noFill/>
        </p:spPr>
        <p:txBody>
          <a:bodyPr wrap="square">
            <a:spAutoFit/>
          </a:bodyPr>
          <a:lstStyle/>
          <a:p>
            <a:pPr algn="ctr"/>
            <a:r>
              <a:rPr sz="1100" b="1">
                <a:solidFill>
                  <a:srgbClr val="FFFFFF"/>
                </a:solidFill>
                <a:latin typeface="Calibri"/>
              </a:rPr>
              <a:t>2021</a:t>
            </a:r>
          </a:p>
        </p:txBody>
      </p:sp>
      <p:sp>
        <p:nvSpPr>
          <p:cNvPr id="9" name="Rectangle 8"/>
          <p:cNvSpPr/>
          <p:nvPr/>
        </p:nvSpPr>
        <p:spPr>
          <a:xfrm>
            <a:off x="5669280" y="1280160"/>
            <a:ext cx="1764792"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42432" y="1316736"/>
            <a:ext cx="1645920" cy="320040"/>
          </a:xfrm>
          <a:prstGeom prst="rect">
            <a:avLst/>
          </a:prstGeom>
          <a:noFill/>
        </p:spPr>
        <p:txBody>
          <a:bodyPr wrap="square">
            <a:spAutoFit/>
          </a:bodyPr>
          <a:lstStyle/>
          <a:p>
            <a:pPr algn="ctr"/>
            <a:r>
              <a:rPr sz="1100" b="1">
                <a:solidFill>
                  <a:srgbClr val="FFFFFF"/>
                </a:solidFill>
                <a:latin typeface="Calibri"/>
              </a:rPr>
              <a:t>2024</a:t>
            </a:r>
          </a:p>
        </p:txBody>
      </p:sp>
      <p:sp>
        <p:nvSpPr>
          <p:cNvPr id="11" name="Rectangle 10"/>
          <p:cNvSpPr/>
          <p:nvPr/>
        </p:nvSpPr>
        <p:spPr>
          <a:xfrm>
            <a:off x="7543800" y="1280160"/>
            <a:ext cx="2221992"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316736"/>
            <a:ext cx="2103120" cy="320040"/>
          </a:xfrm>
          <a:prstGeom prst="rect">
            <a:avLst/>
          </a:prstGeom>
          <a:noFill/>
        </p:spPr>
        <p:txBody>
          <a:bodyPr wrap="square">
            <a:spAutoFit/>
          </a:bodyPr>
          <a:lstStyle/>
          <a:p>
            <a:pPr algn="ctr"/>
            <a:r>
              <a:rPr sz="1100" b="1">
                <a:solidFill>
                  <a:srgbClr val="FFFFFF"/>
                </a:solidFill>
                <a:latin typeface="Calibri"/>
              </a:rPr>
              <a:t>VARIACION</a:t>
            </a:r>
          </a:p>
        </p:txBody>
      </p:sp>
      <p:sp>
        <p:nvSpPr>
          <p:cNvPr id="13" name="Rectangle 12"/>
          <p:cNvSpPr/>
          <p:nvPr/>
        </p:nvSpPr>
        <p:spPr>
          <a:xfrm>
            <a:off x="548640" y="1709928"/>
            <a:ext cx="3136392" cy="603504"/>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55648"/>
            <a:ext cx="3017520" cy="502920"/>
          </a:xfrm>
          <a:prstGeom prst="rect">
            <a:avLst/>
          </a:prstGeom>
          <a:noFill/>
        </p:spPr>
        <p:txBody>
          <a:bodyPr wrap="square">
            <a:spAutoFit/>
          </a:bodyPr>
          <a:lstStyle/>
          <a:p>
            <a:pPr algn="ctr"/>
            <a:r>
              <a:rPr sz="1500" b="0">
                <a:solidFill>
                  <a:srgbClr val="FFFFFF"/>
                </a:solidFill>
                <a:latin typeface="Calibri"/>
              </a:rPr>
              <a:t>Alcalde</a:t>
            </a:r>
          </a:p>
        </p:txBody>
      </p:sp>
      <p:sp>
        <p:nvSpPr>
          <p:cNvPr id="15" name="Rectangle 14"/>
          <p:cNvSpPr/>
          <p:nvPr/>
        </p:nvSpPr>
        <p:spPr>
          <a:xfrm>
            <a:off x="3794760" y="1709928"/>
            <a:ext cx="1764792" cy="603504"/>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67912" y="1755648"/>
            <a:ext cx="1645920" cy="502920"/>
          </a:xfrm>
          <a:prstGeom prst="rect">
            <a:avLst/>
          </a:prstGeom>
          <a:noFill/>
        </p:spPr>
        <p:txBody>
          <a:bodyPr wrap="square">
            <a:spAutoFit/>
          </a:bodyPr>
          <a:lstStyle/>
          <a:p>
            <a:pPr algn="ctr"/>
            <a:r>
              <a:rPr sz="1500" b="0">
                <a:solidFill>
                  <a:srgbClr val="FFFFFF"/>
                </a:solidFill>
                <a:latin typeface="Calibri"/>
              </a:rPr>
              <a:t>1,93%</a:t>
            </a:r>
          </a:p>
        </p:txBody>
      </p:sp>
      <p:sp>
        <p:nvSpPr>
          <p:cNvPr id="17" name="Rectangle 16"/>
          <p:cNvSpPr/>
          <p:nvPr/>
        </p:nvSpPr>
        <p:spPr>
          <a:xfrm>
            <a:off x="5669280" y="1709928"/>
            <a:ext cx="1764792" cy="603504"/>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42432" y="1755648"/>
            <a:ext cx="1645920" cy="502920"/>
          </a:xfrm>
          <a:prstGeom prst="rect">
            <a:avLst/>
          </a:prstGeom>
          <a:noFill/>
        </p:spPr>
        <p:txBody>
          <a:bodyPr wrap="square">
            <a:spAutoFit/>
          </a:bodyPr>
          <a:lstStyle/>
          <a:p>
            <a:pPr algn="ctr"/>
            <a:r>
              <a:rPr sz="1500" b="0">
                <a:solidFill>
                  <a:srgbClr val="FFFFFF"/>
                </a:solidFill>
                <a:latin typeface="Calibri"/>
              </a:rPr>
              <a:t>10,80%</a:t>
            </a:r>
          </a:p>
        </p:txBody>
      </p:sp>
      <p:sp>
        <p:nvSpPr>
          <p:cNvPr id="19" name="Rectangle 18"/>
          <p:cNvSpPr/>
          <p:nvPr/>
        </p:nvSpPr>
        <p:spPr>
          <a:xfrm>
            <a:off x="7543800" y="1709928"/>
            <a:ext cx="2221992" cy="603504"/>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16952" y="1755648"/>
            <a:ext cx="2103120" cy="502920"/>
          </a:xfrm>
          <a:prstGeom prst="rect">
            <a:avLst/>
          </a:prstGeom>
          <a:noFill/>
        </p:spPr>
        <p:txBody>
          <a:bodyPr wrap="square">
            <a:spAutoFit/>
          </a:bodyPr>
          <a:lstStyle/>
          <a:p>
            <a:pPr algn="ctr"/>
            <a:r>
              <a:rPr sz="1500" b="1">
                <a:solidFill>
                  <a:srgbClr val="B85C5C"/>
                </a:solidFill>
                <a:latin typeface="Calibri"/>
              </a:rPr>
              <a:t>+460%</a:t>
            </a:r>
          </a:p>
        </p:txBody>
      </p:sp>
      <p:sp>
        <p:nvSpPr>
          <p:cNvPr id="21" name="Rectangle 20"/>
          <p:cNvSpPr/>
          <p:nvPr/>
        </p:nvSpPr>
        <p:spPr>
          <a:xfrm>
            <a:off x="548640" y="2350008"/>
            <a:ext cx="3136392" cy="603504"/>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2395728"/>
            <a:ext cx="3017520" cy="502920"/>
          </a:xfrm>
          <a:prstGeom prst="rect">
            <a:avLst/>
          </a:prstGeom>
          <a:noFill/>
        </p:spPr>
        <p:txBody>
          <a:bodyPr wrap="square">
            <a:spAutoFit/>
          </a:bodyPr>
          <a:lstStyle/>
          <a:p>
            <a:pPr algn="ctr"/>
            <a:r>
              <a:rPr sz="1500" b="0">
                <a:solidFill>
                  <a:srgbClr val="FFFFFF"/>
                </a:solidFill>
                <a:latin typeface="Calibri"/>
              </a:rPr>
              <a:t>Gobernador</a:t>
            </a:r>
          </a:p>
        </p:txBody>
      </p:sp>
      <p:sp>
        <p:nvSpPr>
          <p:cNvPr id="23" name="Rectangle 22"/>
          <p:cNvSpPr/>
          <p:nvPr/>
        </p:nvSpPr>
        <p:spPr>
          <a:xfrm>
            <a:off x="3794760" y="2350008"/>
            <a:ext cx="1764792" cy="603504"/>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67912" y="2395728"/>
            <a:ext cx="1645920" cy="502920"/>
          </a:xfrm>
          <a:prstGeom prst="rect">
            <a:avLst/>
          </a:prstGeom>
          <a:noFill/>
        </p:spPr>
        <p:txBody>
          <a:bodyPr wrap="square">
            <a:spAutoFit/>
          </a:bodyPr>
          <a:lstStyle/>
          <a:p>
            <a:pPr algn="ctr"/>
            <a:r>
              <a:rPr sz="1500" b="0">
                <a:solidFill>
                  <a:srgbClr val="FFFFFF"/>
                </a:solidFill>
                <a:latin typeface="Calibri"/>
              </a:rPr>
              <a:t>6,13%</a:t>
            </a:r>
          </a:p>
        </p:txBody>
      </p:sp>
      <p:sp>
        <p:nvSpPr>
          <p:cNvPr id="25" name="Rectangle 24"/>
          <p:cNvSpPr/>
          <p:nvPr/>
        </p:nvSpPr>
        <p:spPr>
          <a:xfrm>
            <a:off x="5669280" y="2350008"/>
            <a:ext cx="1764792" cy="603504"/>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42432" y="2395728"/>
            <a:ext cx="1645920" cy="502920"/>
          </a:xfrm>
          <a:prstGeom prst="rect">
            <a:avLst/>
          </a:prstGeom>
          <a:noFill/>
        </p:spPr>
        <p:txBody>
          <a:bodyPr wrap="square">
            <a:spAutoFit/>
          </a:bodyPr>
          <a:lstStyle/>
          <a:p>
            <a:pPr algn="ctr"/>
            <a:r>
              <a:rPr sz="1500" b="0">
                <a:solidFill>
                  <a:srgbClr val="FFFFFF"/>
                </a:solidFill>
                <a:latin typeface="Calibri"/>
              </a:rPr>
              <a:t>17,80%</a:t>
            </a:r>
          </a:p>
        </p:txBody>
      </p:sp>
      <p:sp>
        <p:nvSpPr>
          <p:cNvPr id="27" name="Rectangle 26"/>
          <p:cNvSpPr/>
          <p:nvPr/>
        </p:nvSpPr>
        <p:spPr>
          <a:xfrm>
            <a:off x="7543800" y="2350008"/>
            <a:ext cx="2221992" cy="603504"/>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16952" y="2395728"/>
            <a:ext cx="2103120" cy="502920"/>
          </a:xfrm>
          <a:prstGeom prst="rect">
            <a:avLst/>
          </a:prstGeom>
          <a:noFill/>
        </p:spPr>
        <p:txBody>
          <a:bodyPr wrap="square">
            <a:spAutoFit/>
          </a:bodyPr>
          <a:lstStyle/>
          <a:p>
            <a:pPr algn="ctr"/>
            <a:r>
              <a:rPr sz="1500" b="1">
                <a:solidFill>
                  <a:srgbClr val="B85C5C"/>
                </a:solidFill>
                <a:latin typeface="Calibri"/>
              </a:rPr>
              <a:t>+190%</a:t>
            </a:r>
          </a:p>
        </p:txBody>
      </p:sp>
      <p:sp>
        <p:nvSpPr>
          <p:cNvPr id="29" name="Rectangle 28"/>
          <p:cNvSpPr/>
          <p:nvPr/>
        </p:nvSpPr>
        <p:spPr>
          <a:xfrm>
            <a:off x="548640" y="2990088"/>
            <a:ext cx="3136392" cy="603504"/>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3035808"/>
            <a:ext cx="3017520" cy="502920"/>
          </a:xfrm>
          <a:prstGeom prst="rect">
            <a:avLst/>
          </a:prstGeom>
          <a:noFill/>
        </p:spPr>
        <p:txBody>
          <a:bodyPr wrap="square">
            <a:spAutoFit/>
          </a:bodyPr>
          <a:lstStyle/>
          <a:p>
            <a:pPr algn="ctr"/>
            <a:r>
              <a:rPr sz="1500" b="0">
                <a:solidFill>
                  <a:srgbClr val="FFFFFF"/>
                </a:solidFill>
                <a:latin typeface="Calibri"/>
              </a:rPr>
              <a:t>Concejal</a:t>
            </a:r>
          </a:p>
        </p:txBody>
      </p:sp>
      <p:sp>
        <p:nvSpPr>
          <p:cNvPr id="31" name="Rectangle 30"/>
          <p:cNvSpPr/>
          <p:nvPr/>
        </p:nvSpPr>
        <p:spPr>
          <a:xfrm>
            <a:off x="3794760" y="2990088"/>
            <a:ext cx="1764792" cy="603504"/>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67912" y="3035808"/>
            <a:ext cx="1645920" cy="502920"/>
          </a:xfrm>
          <a:prstGeom prst="rect">
            <a:avLst/>
          </a:prstGeom>
          <a:noFill/>
        </p:spPr>
        <p:txBody>
          <a:bodyPr wrap="square">
            <a:spAutoFit/>
          </a:bodyPr>
          <a:lstStyle/>
          <a:p>
            <a:pPr algn="ctr"/>
            <a:r>
              <a:rPr sz="1500" b="0">
                <a:solidFill>
                  <a:srgbClr val="FFFFFF"/>
                </a:solidFill>
                <a:latin typeface="Calibri"/>
              </a:rPr>
              <a:t>5,74%</a:t>
            </a:r>
          </a:p>
        </p:txBody>
      </p:sp>
      <p:sp>
        <p:nvSpPr>
          <p:cNvPr id="33" name="Rectangle 32"/>
          <p:cNvSpPr/>
          <p:nvPr/>
        </p:nvSpPr>
        <p:spPr>
          <a:xfrm>
            <a:off x="5669280" y="2990088"/>
            <a:ext cx="1764792" cy="603504"/>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42432" y="3035808"/>
            <a:ext cx="1645920" cy="502920"/>
          </a:xfrm>
          <a:prstGeom prst="rect">
            <a:avLst/>
          </a:prstGeom>
          <a:noFill/>
        </p:spPr>
        <p:txBody>
          <a:bodyPr wrap="square">
            <a:spAutoFit/>
          </a:bodyPr>
          <a:lstStyle/>
          <a:p>
            <a:pPr algn="ctr"/>
            <a:r>
              <a:rPr sz="1500" b="0">
                <a:solidFill>
                  <a:srgbClr val="FFFFFF"/>
                </a:solidFill>
                <a:latin typeface="Calibri"/>
              </a:rPr>
              <a:t>21,46%</a:t>
            </a:r>
          </a:p>
        </p:txBody>
      </p:sp>
      <p:sp>
        <p:nvSpPr>
          <p:cNvPr id="35" name="Rectangle 34"/>
          <p:cNvSpPr/>
          <p:nvPr/>
        </p:nvSpPr>
        <p:spPr>
          <a:xfrm>
            <a:off x="7543800" y="2990088"/>
            <a:ext cx="2221992" cy="603504"/>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16952" y="3035808"/>
            <a:ext cx="2103120" cy="502920"/>
          </a:xfrm>
          <a:prstGeom prst="rect">
            <a:avLst/>
          </a:prstGeom>
          <a:noFill/>
        </p:spPr>
        <p:txBody>
          <a:bodyPr wrap="square">
            <a:spAutoFit/>
          </a:bodyPr>
          <a:lstStyle/>
          <a:p>
            <a:pPr algn="ctr"/>
            <a:r>
              <a:rPr sz="1500" b="1">
                <a:solidFill>
                  <a:srgbClr val="B85C5C"/>
                </a:solidFill>
                <a:latin typeface="Calibri"/>
              </a:rPr>
              <a:t>+274%</a:t>
            </a:r>
          </a:p>
        </p:txBody>
      </p:sp>
      <p:sp>
        <p:nvSpPr>
          <p:cNvPr id="37" name="Rectangle 36"/>
          <p:cNvSpPr/>
          <p:nvPr/>
        </p:nvSpPr>
        <p:spPr>
          <a:xfrm>
            <a:off x="548640" y="3630168"/>
            <a:ext cx="3136392" cy="603504"/>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3675887"/>
            <a:ext cx="3017520" cy="502920"/>
          </a:xfrm>
          <a:prstGeom prst="rect">
            <a:avLst/>
          </a:prstGeom>
          <a:noFill/>
        </p:spPr>
        <p:txBody>
          <a:bodyPr wrap="square">
            <a:spAutoFit/>
          </a:bodyPr>
          <a:lstStyle/>
          <a:p>
            <a:pPr algn="ctr"/>
            <a:r>
              <a:rPr sz="1500" b="0">
                <a:solidFill>
                  <a:srgbClr val="FFFFFF"/>
                </a:solidFill>
                <a:latin typeface="Calibri"/>
              </a:rPr>
              <a:t>Cons. Regional</a:t>
            </a:r>
          </a:p>
        </p:txBody>
      </p:sp>
      <p:sp>
        <p:nvSpPr>
          <p:cNvPr id="39" name="Rectangle 38"/>
          <p:cNvSpPr/>
          <p:nvPr/>
        </p:nvSpPr>
        <p:spPr>
          <a:xfrm>
            <a:off x="3794760" y="3630168"/>
            <a:ext cx="1764792" cy="603504"/>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67912" y="3675887"/>
            <a:ext cx="1645920" cy="502920"/>
          </a:xfrm>
          <a:prstGeom prst="rect">
            <a:avLst/>
          </a:prstGeom>
          <a:noFill/>
        </p:spPr>
        <p:txBody>
          <a:bodyPr wrap="square">
            <a:spAutoFit/>
          </a:bodyPr>
          <a:lstStyle/>
          <a:p>
            <a:pPr algn="ctr"/>
            <a:r>
              <a:rPr sz="1500" b="0">
                <a:solidFill>
                  <a:srgbClr val="FFFFFF"/>
                </a:solidFill>
                <a:latin typeface="Calibri"/>
              </a:rPr>
              <a:t>13,10%</a:t>
            </a:r>
          </a:p>
        </p:txBody>
      </p:sp>
      <p:sp>
        <p:nvSpPr>
          <p:cNvPr id="41" name="Rectangle 40"/>
          <p:cNvSpPr/>
          <p:nvPr/>
        </p:nvSpPr>
        <p:spPr>
          <a:xfrm>
            <a:off x="5669280" y="3630168"/>
            <a:ext cx="1764792" cy="603504"/>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42432" y="3675887"/>
            <a:ext cx="1645920" cy="502920"/>
          </a:xfrm>
          <a:prstGeom prst="rect">
            <a:avLst/>
          </a:prstGeom>
          <a:noFill/>
        </p:spPr>
        <p:txBody>
          <a:bodyPr wrap="square">
            <a:spAutoFit/>
          </a:bodyPr>
          <a:lstStyle/>
          <a:p>
            <a:pPr algn="ctr"/>
            <a:r>
              <a:rPr sz="1500" b="0">
                <a:solidFill>
                  <a:srgbClr val="FFFFFF"/>
                </a:solidFill>
                <a:latin typeface="Calibri"/>
              </a:rPr>
              <a:t>25,78%</a:t>
            </a:r>
          </a:p>
        </p:txBody>
      </p:sp>
      <p:sp>
        <p:nvSpPr>
          <p:cNvPr id="43" name="Rectangle 42"/>
          <p:cNvSpPr/>
          <p:nvPr/>
        </p:nvSpPr>
        <p:spPr>
          <a:xfrm>
            <a:off x="7543800" y="3630168"/>
            <a:ext cx="2221992" cy="603504"/>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16952" y="3675887"/>
            <a:ext cx="2103120" cy="502920"/>
          </a:xfrm>
          <a:prstGeom prst="rect">
            <a:avLst/>
          </a:prstGeom>
          <a:noFill/>
        </p:spPr>
        <p:txBody>
          <a:bodyPr wrap="square">
            <a:spAutoFit/>
          </a:bodyPr>
          <a:lstStyle/>
          <a:p>
            <a:pPr algn="ctr"/>
            <a:r>
              <a:rPr sz="1500" b="1">
                <a:solidFill>
                  <a:srgbClr val="B85C5C"/>
                </a:solidFill>
                <a:latin typeface="Calibri"/>
              </a:rPr>
              <a:t> +97%</a:t>
            </a:r>
          </a:p>
        </p:txBody>
      </p:sp>
      <p:sp>
        <p:nvSpPr>
          <p:cNvPr id="45" name="Rectangle 44"/>
          <p:cNvSpPr/>
          <p:nvPr/>
        </p:nvSpPr>
        <p:spPr>
          <a:xfrm>
            <a:off x="548640" y="4480560"/>
            <a:ext cx="11064240" cy="141732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4617720"/>
            <a:ext cx="5486400" cy="347472"/>
          </a:xfrm>
          <a:prstGeom prst="rect">
            <a:avLst/>
          </a:prstGeom>
          <a:noFill/>
        </p:spPr>
        <p:txBody>
          <a:bodyPr wrap="square">
            <a:spAutoFit/>
          </a:bodyPr>
          <a:lstStyle/>
          <a:p>
            <a:pPr algn="l"/>
            <a:r>
              <a:rPr sz="1300" b="1">
                <a:solidFill>
                  <a:srgbClr val="FFFFFF"/>
                </a:solidFill>
                <a:latin typeface="Calibri"/>
              </a:rPr>
              <a:t>Procesos constitucionales:</a:t>
            </a:r>
          </a:p>
        </p:txBody>
      </p:sp>
      <p:sp>
        <p:nvSpPr>
          <p:cNvPr id="47" name="TextBox 46"/>
          <p:cNvSpPr txBox="1"/>
          <p:nvPr/>
        </p:nvSpPr>
        <p:spPr>
          <a:xfrm>
            <a:off x="731520" y="4983480"/>
            <a:ext cx="10058400" cy="548640"/>
          </a:xfrm>
          <a:prstGeom prst="rect">
            <a:avLst/>
          </a:prstGeom>
          <a:noFill/>
        </p:spPr>
        <p:txBody>
          <a:bodyPr wrap="square">
            <a:spAutoFit/>
          </a:bodyPr>
          <a:lstStyle/>
          <a:p>
            <a:pPr algn="l"/>
            <a:r>
              <a:rPr sz="2400" b="1">
                <a:solidFill>
                  <a:srgbClr val="FFFFFF"/>
                </a:solidFill>
                <a:latin typeface="Calibri"/>
              </a:rPr>
              <a:t>2.119.506 votos nulos -- 16,98% del total emitido</a:t>
            </a:r>
          </a:p>
        </p:txBody>
      </p:sp>
      <p:sp>
        <p:nvSpPr>
          <p:cNvPr id="48" name="TextBox 47"/>
          <p:cNvSpPr txBox="1"/>
          <p:nvPr/>
        </p:nvSpPr>
        <p:spPr>
          <a:xfrm>
            <a:off x="457200" y="6492240"/>
            <a:ext cx="11247120" cy="292608"/>
          </a:xfrm>
          <a:prstGeom prst="rect">
            <a:avLst/>
          </a:prstGeom>
          <a:noFill/>
        </p:spPr>
        <p:txBody>
          <a:bodyPr wrap="square">
            <a:spAutoFit/>
          </a:bodyPr>
          <a:lstStyle/>
          <a:p>
            <a:pPr algn="l"/>
            <a:r>
              <a:rPr sz="1000" b="0">
                <a:solidFill>
                  <a:srgbClr val="8A9199"/>
                </a:solidFill>
                <a:latin typeface="Calibri"/>
              </a:rPr>
              <a:t>Fuente: SERVEL -- Registros oficiales de resultados electorales 2021 y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EL PROBLEMA SUBYACENTE</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FFFFFF"/>
                </a:solidFill>
                <a:latin typeface="Calibri"/>
              </a:rPr>
              <a:t>La sobrecarga cognitiva del votante</a:t>
            </a:r>
          </a:p>
        </p:txBody>
      </p:sp>
      <p:sp>
        <p:nvSpPr>
          <p:cNvPr id="5" name="TextBox 4"/>
          <p:cNvSpPr txBox="1"/>
          <p:nvPr/>
        </p:nvSpPr>
        <p:spPr>
          <a:xfrm>
            <a:off x="548640" y="1143000"/>
            <a:ext cx="10972800" cy="411480"/>
          </a:xfrm>
          <a:prstGeom prst="rect">
            <a:avLst/>
          </a:prstGeom>
          <a:noFill/>
        </p:spPr>
        <p:txBody>
          <a:bodyPr wrap="square">
            <a:spAutoFit/>
          </a:bodyPr>
          <a:lstStyle/>
          <a:p>
            <a:pPr algn="l"/>
            <a:r>
              <a:rPr sz="1700" b="0">
                <a:solidFill>
                  <a:srgbClr val="CBD1CD"/>
                </a:solidFill>
                <a:latin typeface="Calibri"/>
              </a:rPr>
              <a:t>No es falta de informacion. Es exceso de informacion no procesable.</a:t>
            </a:r>
          </a:p>
        </p:txBody>
      </p:sp>
      <p:sp>
        <p:nvSpPr>
          <p:cNvPr id="6" name="Rectangle 5"/>
          <p:cNvSpPr/>
          <p:nvPr/>
        </p:nvSpPr>
        <p:spPr>
          <a:xfrm>
            <a:off x="457200" y="1719072"/>
            <a:ext cx="5577840" cy="2267712"/>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56231"/>
            <a:ext cx="5212080" cy="384048"/>
          </a:xfrm>
          <a:prstGeom prst="rect">
            <a:avLst/>
          </a:prstGeom>
          <a:noFill/>
        </p:spPr>
        <p:txBody>
          <a:bodyPr wrap="square">
            <a:spAutoFit/>
          </a:bodyPr>
          <a:lstStyle/>
          <a:p>
            <a:pPr algn="l"/>
            <a:r>
              <a:rPr sz="1200" b="1">
                <a:solidFill>
                  <a:srgbClr val="FFFFFF"/>
                </a:solidFill>
                <a:latin typeface="Calibri"/>
              </a:rPr>
              <a:t>Multiples candidatos por cargo</a:t>
            </a:r>
          </a:p>
        </p:txBody>
      </p:sp>
      <p:sp>
        <p:nvSpPr>
          <p:cNvPr id="8" name="Rectangle 7"/>
          <p:cNvSpPr/>
          <p:nvPr/>
        </p:nvSpPr>
        <p:spPr>
          <a:xfrm>
            <a:off x="640080" y="2267712"/>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377439"/>
            <a:ext cx="5212080" cy="1463040"/>
          </a:xfrm>
          <a:prstGeom prst="rect">
            <a:avLst/>
          </a:prstGeom>
          <a:noFill/>
        </p:spPr>
        <p:txBody>
          <a:bodyPr wrap="square">
            <a:spAutoFit/>
          </a:bodyPr>
          <a:lstStyle/>
          <a:p>
            <a:pPr algn="l"/>
            <a:r>
              <a:rPr sz="1200" b="0">
                <a:solidFill>
                  <a:srgbClr val="FFFFFF"/>
                </a:solidFill>
                <a:latin typeface="Calibri"/>
              </a:rPr>
              <a:t>En las elecciones municipales de 2024, algunos distritos
tenian mas de 20 candidatos a concejal.
Ninguna persona puede evaluar 20 programas en detalle.</a:t>
            </a:r>
          </a:p>
        </p:txBody>
      </p:sp>
      <p:sp>
        <p:nvSpPr>
          <p:cNvPr id="10" name="Rectangle 9"/>
          <p:cNvSpPr/>
          <p:nvPr/>
        </p:nvSpPr>
        <p:spPr>
          <a:xfrm>
            <a:off x="6309360" y="1719072"/>
            <a:ext cx="5577840" cy="226771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56231"/>
            <a:ext cx="5212080" cy="384048"/>
          </a:xfrm>
          <a:prstGeom prst="rect">
            <a:avLst/>
          </a:prstGeom>
          <a:noFill/>
        </p:spPr>
        <p:txBody>
          <a:bodyPr wrap="square">
            <a:spAutoFit/>
          </a:bodyPr>
          <a:lstStyle/>
          <a:p>
            <a:pPr algn="l"/>
            <a:r>
              <a:rPr sz="1200" b="1">
                <a:solidFill>
                  <a:srgbClr val="FFFFFF"/>
                </a:solidFill>
                <a:latin typeface="Calibri"/>
              </a:rPr>
              <a:t>Multiples cargos simultaneos</a:t>
            </a:r>
          </a:p>
        </p:txBody>
      </p:sp>
      <p:sp>
        <p:nvSpPr>
          <p:cNvPr id="12" name="Rectangle 11"/>
          <p:cNvSpPr/>
          <p:nvPr/>
        </p:nvSpPr>
        <p:spPr>
          <a:xfrm>
            <a:off x="6492240" y="2267712"/>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377439"/>
            <a:ext cx="5212080" cy="1463040"/>
          </a:xfrm>
          <a:prstGeom prst="rect">
            <a:avLst/>
          </a:prstGeom>
          <a:noFill/>
        </p:spPr>
        <p:txBody>
          <a:bodyPr wrap="square">
            <a:spAutoFit/>
          </a:bodyPr>
          <a:lstStyle/>
          <a:p>
            <a:pPr algn="l"/>
            <a:r>
              <a:rPr sz="1200" b="0">
                <a:solidFill>
                  <a:srgbClr val="FFFFFF"/>
                </a:solidFill>
                <a:latin typeface="Calibri"/>
              </a:rPr>
              <a:t>Alcalde + Concejales + Gobernador + Consejero Regional.
El votante debia decidir cuatro cargos distintos a la vez,
cada uno con su propia logica electoral.</a:t>
            </a:r>
          </a:p>
        </p:txBody>
      </p:sp>
      <p:sp>
        <p:nvSpPr>
          <p:cNvPr id="14" name="Rectangle 13"/>
          <p:cNvSpPr/>
          <p:nvPr/>
        </p:nvSpPr>
        <p:spPr>
          <a:xfrm>
            <a:off x="457200" y="4142231"/>
            <a:ext cx="5577840" cy="226771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79392"/>
            <a:ext cx="5212080" cy="384048"/>
          </a:xfrm>
          <a:prstGeom prst="rect">
            <a:avLst/>
          </a:prstGeom>
          <a:noFill/>
        </p:spPr>
        <p:txBody>
          <a:bodyPr wrap="square">
            <a:spAutoFit/>
          </a:bodyPr>
          <a:lstStyle/>
          <a:p>
            <a:pPr algn="l"/>
            <a:r>
              <a:rPr sz="1200" b="1">
                <a:solidFill>
                  <a:srgbClr val="FFFFFF"/>
                </a:solidFill>
                <a:latin typeface="Calibri"/>
              </a:rPr>
              <a:t>Informacion dispersa y de calidad variable</a:t>
            </a:r>
          </a:p>
        </p:txBody>
      </p:sp>
      <p:sp>
        <p:nvSpPr>
          <p:cNvPr id="16" name="Rectangle 15"/>
          <p:cNvSpPr/>
          <p:nvPr/>
        </p:nvSpPr>
        <p:spPr>
          <a:xfrm>
            <a:off x="640080" y="4690871"/>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800599"/>
            <a:ext cx="5212080" cy="1463040"/>
          </a:xfrm>
          <a:prstGeom prst="rect">
            <a:avLst/>
          </a:prstGeom>
          <a:noFill/>
        </p:spPr>
        <p:txBody>
          <a:bodyPr wrap="square">
            <a:spAutoFit/>
          </a:bodyPr>
          <a:lstStyle/>
          <a:p>
            <a:pPr algn="l"/>
            <a:r>
              <a:rPr sz="1200" b="0">
                <a:solidFill>
                  <a:srgbClr val="FFFFFF"/>
                </a:solidFill>
                <a:latin typeface="Calibri"/>
              </a:rPr>
              <a:t>Declaraciones de prensa, debates televisiados, publicidad,
redes sociales. Sin un formato comun que permita comparacion.
Sin mecanismo para distinguir promesa verificable de eslogan.</a:t>
            </a:r>
          </a:p>
        </p:txBody>
      </p:sp>
      <p:sp>
        <p:nvSpPr>
          <p:cNvPr id="18" name="Rectangle 17"/>
          <p:cNvSpPr/>
          <p:nvPr/>
        </p:nvSpPr>
        <p:spPr>
          <a:xfrm>
            <a:off x="6309360" y="4142231"/>
            <a:ext cx="5577840" cy="2267712"/>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279392"/>
            <a:ext cx="5212080" cy="384048"/>
          </a:xfrm>
          <a:prstGeom prst="rect">
            <a:avLst/>
          </a:prstGeom>
          <a:noFill/>
        </p:spPr>
        <p:txBody>
          <a:bodyPr wrap="square">
            <a:spAutoFit/>
          </a:bodyPr>
          <a:lstStyle/>
          <a:p>
            <a:pPr algn="l"/>
            <a:r>
              <a:rPr sz="1200" b="1">
                <a:solidFill>
                  <a:srgbClr val="FFFFFF"/>
                </a:solidFill>
                <a:latin typeface="Calibri"/>
              </a:rPr>
              <a:t>Heuristicas como atajo cognitivo</a:t>
            </a:r>
          </a:p>
        </p:txBody>
      </p:sp>
      <p:sp>
        <p:nvSpPr>
          <p:cNvPr id="20" name="Rectangle 19"/>
          <p:cNvSpPr/>
          <p:nvPr/>
        </p:nvSpPr>
        <p:spPr>
          <a:xfrm>
            <a:off x="6492240" y="4690871"/>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800599"/>
            <a:ext cx="5212080" cy="1463040"/>
          </a:xfrm>
          <a:prstGeom prst="rect">
            <a:avLst/>
          </a:prstGeom>
          <a:noFill/>
        </p:spPr>
        <p:txBody>
          <a:bodyPr wrap="square">
            <a:spAutoFit/>
          </a:bodyPr>
          <a:lstStyle/>
          <a:p>
            <a:pPr algn="l"/>
            <a:r>
              <a:rPr sz="1200" b="0">
                <a:solidFill>
                  <a:srgbClr val="FFFFFF"/>
                </a:solidFill>
                <a:latin typeface="Calibri"/>
              </a:rPr>
              <a:t>Ante la sobrecarga, los votantes recurren a atajos:
votan por el partido de siempre, por el mas conocido,
o por la recomendacion de alguien de confianza.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LA INVESTIGACION</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1C3A52"/>
                </a:solidFill>
                <a:latin typeface="Calibri"/>
              </a:rPr>
              <a:t>Como se documento el problema</a:t>
            </a:r>
          </a:p>
        </p:txBody>
      </p:sp>
      <p:sp>
        <p:nvSpPr>
          <p:cNvPr id="5" name="Rectangle 4"/>
          <p:cNvSpPr/>
          <p:nvPr/>
        </p:nvSpPr>
        <p:spPr>
          <a:xfrm>
            <a:off x="457200" y="1444752"/>
            <a:ext cx="3657600" cy="50292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72768"/>
            <a:ext cx="3291840" cy="411480"/>
          </a:xfrm>
          <a:prstGeom prst="rect">
            <a:avLst/>
          </a:prstGeom>
          <a:noFill/>
        </p:spPr>
        <p:txBody>
          <a:bodyPr wrap="square">
            <a:spAutoFit/>
          </a:bodyPr>
          <a:lstStyle/>
          <a:p>
            <a:pPr algn="l"/>
            <a:r>
              <a:rPr sz="1300" b="1">
                <a:solidFill>
                  <a:srgbClr val="FFFFFF"/>
                </a:solidFill>
                <a:latin typeface="Calibri"/>
              </a:rPr>
              <a:t>FUENTES SECUNDARIAS</a:t>
            </a:r>
          </a:p>
        </p:txBody>
      </p:sp>
      <p:sp>
        <p:nvSpPr>
          <p:cNvPr id="7" name="Rectangle 6"/>
          <p:cNvSpPr/>
          <p:nvPr/>
        </p:nvSpPr>
        <p:spPr>
          <a:xfrm>
            <a:off x="640080" y="201168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21408"/>
            <a:ext cx="3291840" cy="4023360"/>
          </a:xfrm>
          <a:prstGeom prst="rect">
            <a:avLst/>
          </a:prstGeom>
          <a:noFill/>
        </p:spPr>
        <p:txBody>
          <a:bodyPr wrap="square">
            <a:spAutoFit/>
          </a:bodyPr>
          <a:lstStyle/>
          <a:p>
            <a:pPr algn="l"/>
            <a:r>
              <a:rPr sz="1400" b="0">
                <a:solidFill>
                  <a:srgbClr val="FFFFFF"/>
                </a:solidFill>
                <a:latin typeface="Calibri"/>
              </a:rPr>
              <a:t>Estudio Activa Knowledge
Infome Claves Ipsos N.33
Registros SERVEL
Literatura academica VAAs</a:t>
            </a:r>
          </a:p>
        </p:txBody>
      </p:sp>
      <p:sp>
        <p:nvSpPr>
          <p:cNvPr id="9" name="Rectangle 8"/>
          <p:cNvSpPr/>
          <p:nvPr/>
        </p:nvSpPr>
        <p:spPr>
          <a:xfrm>
            <a:off x="4343400" y="1444752"/>
            <a:ext cx="3657600" cy="50292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572768"/>
            <a:ext cx="3291840" cy="411480"/>
          </a:xfrm>
          <a:prstGeom prst="rect">
            <a:avLst/>
          </a:prstGeom>
          <a:noFill/>
        </p:spPr>
        <p:txBody>
          <a:bodyPr wrap="square">
            <a:spAutoFit/>
          </a:bodyPr>
          <a:lstStyle/>
          <a:p>
            <a:pPr algn="l"/>
            <a:r>
              <a:rPr sz="1300" b="1">
                <a:solidFill>
                  <a:srgbClr val="FFFFFF"/>
                </a:solidFill>
                <a:latin typeface="Calibri"/>
              </a:rPr>
              <a:t>LEVANTAMIENTO DE CAMPO</a:t>
            </a:r>
          </a:p>
        </p:txBody>
      </p:sp>
      <p:sp>
        <p:nvSpPr>
          <p:cNvPr id="11" name="Rectangle 10"/>
          <p:cNvSpPr/>
          <p:nvPr/>
        </p:nvSpPr>
        <p:spPr>
          <a:xfrm>
            <a:off x="4526280" y="201168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121408"/>
            <a:ext cx="3291840" cy="4023360"/>
          </a:xfrm>
          <a:prstGeom prst="rect">
            <a:avLst/>
          </a:prstGeom>
          <a:noFill/>
        </p:spPr>
        <p:txBody>
          <a:bodyPr wrap="square">
            <a:spAutoFit/>
          </a:bodyPr>
          <a:lstStyle/>
          <a:p>
            <a:pPr algn="l"/>
            <a:r>
              <a:rPr sz="1400" b="0">
                <a:solidFill>
                  <a:srgbClr val="FFFFFF"/>
                </a:solidFill>
                <a:latin typeface="Calibri"/>
              </a:rPr>
              <a:t>12 entrevistas estructuradas
Playa Ancha / Vina del Mar / Quilpue
Perfiles socioeconomicos distintos
Octubre 2024</a:t>
            </a:r>
          </a:p>
        </p:txBody>
      </p:sp>
      <p:sp>
        <p:nvSpPr>
          <p:cNvPr id="13" name="Rectangle 12"/>
          <p:cNvSpPr/>
          <p:nvPr/>
        </p:nvSpPr>
        <p:spPr>
          <a:xfrm>
            <a:off x="8229600" y="1444752"/>
            <a:ext cx="3657600" cy="50292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572768"/>
            <a:ext cx="3291840" cy="411480"/>
          </a:xfrm>
          <a:prstGeom prst="rect">
            <a:avLst/>
          </a:prstGeom>
          <a:noFill/>
        </p:spPr>
        <p:txBody>
          <a:bodyPr wrap="square">
            <a:spAutoFit/>
          </a:bodyPr>
          <a:lstStyle/>
          <a:p>
            <a:pPr algn="l"/>
            <a:r>
              <a:rPr sz="1300" b="1">
                <a:solidFill>
                  <a:srgbClr val="FFFFFF"/>
                </a:solidFill>
                <a:latin typeface="Calibri"/>
              </a:rPr>
              <a:t>ESTADO DEL ARTE</a:t>
            </a:r>
          </a:p>
        </p:txBody>
      </p:sp>
      <p:sp>
        <p:nvSpPr>
          <p:cNvPr id="15" name="Rectangle 14"/>
          <p:cNvSpPr/>
          <p:nvPr/>
        </p:nvSpPr>
        <p:spPr>
          <a:xfrm>
            <a:off x="8412480" y="201168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2121408"/>
            <a:ext cx="3291840" cy="4023360"/>
          </a:xfrm>
          <a:prstGeom prst="rect">
            <a:avLst/>
          </a:prstGeom>
          <a:noFill/>
        </p:spPr>
        <p:txBody>
          <a:bodyPr wrap="square">
            <a:spAutoFit/>
          </a:bodyPr>
          <a:lstStyle/>
          <a:p>
            <a:pPr algn="l"/>
            <a:r>
              <a:rPr sz="1400" b="0">
                <a:solidFill>
                  <a:srgbClr val="FFFFFF"/>
                </a:solidFill>
                <a:latin typeface="Calibri"/>
              </a:rPr>
              <a:t>9 VAAs internacionales analizadas
4 iniciativas chilenas evaluadas
Brechas identificadas
Mejores practicas documentadas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HALLAZGOS DEL LEVANTAMIENTO DE CAMPO</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FFFFFF"/>
                </a:solidFill>
                <a:latin typeface="Calibri"/>
              </a:rPr>
              <a:t>12 entrevistas. Resultados contundentes.</a:t>
            </a:r>
          </a:p>
        </p:txBody>
      </p:sp>
      <p:sp>
        <p:nvSpPr>
          <p:cNvPr id="5" name="TextBox 4"/>
          <p:cNvSpPr txBox="1"/>
          <p:nvPr/>
        </p:nvSpPr>
        <p:spPr>
          <a:xfrm>
            <a:off x="548640" y="1115568"/>
            <a:ext cx="10972800" cy="384048"/>
          </a:xfrm>
          <a:prstGeom prst="rect">
            <a:avLst/>
          </a:prstGeom>
          <a:noFill/>
        </p:spPr>
        <p:txBody>
          <a:bodyPr wrap="square">
            <a:spAutoFit/>
          </a:bodyPr>
          <a:lstStyle/>
          <a:p>
            <a:pPr algn="l"/>
            <a:r>
              <a:rPr sz="1400" b="0">
                <a:solidFill>
                  <a:srgbClr val="CBD1CD"/>
                </a:solidFill>
                <a:latin typeface="Calibri"/>
              </a:rPr>
              <a:t>Tres comunas del area metropolitana de Valparaiso -- N=12 -- Octubre 2024</a:t>
            </a:r>
          </a:p>
        </p:txBody>
      </p:sp>
      <p:sp>
        <p:nvSpPr>
          <p:cNvPr id="6" name="Rectangle 5"/>
          <p:cNvSpPr/>
          <p:nvPr/>
        </p:nvSpPr>
        <p:spPr>
          <a:xfrm>
            <a:off x="457200" y="1691640"/>
            <a:ext cx="11247120" cy="111556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01368"/>
            <a:ext cx="1645920" cy="868680"/>
          </a:xfrm>
          <a:prstGeom prst="rect">
            <a:avLst/>
          </a:prstGeom>
          <a:noFill/>
        </p:spPr>
        <p:txBody>
          <a:bodyPr wrap="square">
            <a:spAutoFit/>
          </a:bodyPr>
          <a:lstStyle/>
          <a:p>
            <a:pPr algn="l"/>
            <a:r>
              <a:rPr sz="4200" b="1">
                <a:solidFill>
                  <a:srgbClr val="FFFFFF"/>
                </a:solidFill>
                <a:latin typeface="Calibri"/>
              </a:rPr>
              <a:t>100%</a:t>
            </a:r>
          </a:p>
        </p:txBody>
      </p:sp>
      <p:sp>
        <p:nvSpPr>
          <p:cNvPr id="8" name="TextBox 7"/>
          <p:cNvSpPr txBox="1"/>
          <p:nvPr/>
        </p:nvSpPr>
        <p:spPr>
          <a:xfrm>
            <a:off x="2468880" y="1801368"/>
            <a:ext cx="7132320" cy="411480"/>
          </a:xfrm>
          <a:prstGeom prst="rect">
            <a:avLst/>
          </a:prstGeom>
          <a:noFill/>
        </p:spPr>
        <p:txBody>
          <a:bodyPr wrap="square">
            <a:spAutoFit/>
          </a:bodyPr>
          <a:lstStyle/>
          <a:p>
            <a:pPr algn="l"/>
            <a:r>
              <a:rPr sz="1600" b="1">
                <a:solidFill>
                  <a:srgbClr val="FFFFFF"/>
                </a:solidFill>
                <a:latin typeface="Calibri"/>
              </a:rPr>
              <a:t>vio o conoce fake news electorales</a:t>
            </a:r>
          </a:p>
        </p:txBody>
      </p:sp>
      <p:sp>
        <p:nvSpPr>
          <p:cNvPr id="9" name="TextBox 8"/>
          <p:cNvSpPr txBox="1"/>
          <p:nvPr/>
        </p:nvSpPr>
        <p:spPr>
          <a:xfrm>
            <a:off x="2468880" y="2258568"/>
            <a:ext cx="7132320" cy="384048"/>
          </a:xfrm>
          <a:prstGeom prst="rect">
            <a:avLst/>
          </a:prstGeom>
          <a:noFill/>
        </p:spPr>
        <p:txBody>
          <a:bodyPr wrap="square">
            <a:spAutoFit/>
          </a:bodyPr>
          <a:lstStyle/>
          <a:p>
            <a:pPr algn="l"/>
            <a:r>
              <a:rPr sz="1300" b="0">
                <a:solidFill>
                  <a:srgbClr val="FFFFFF"/>
                </a:solidFill>
                <a:latin typeface="Calibri"/>
              </a:rPr>
              <a:t>1 de cada 1. Sin excepciones.</a:t>
            </a:r>
          </a:p>
        </p:txBody>
      </p:sp>
      <p:sp>
        <p:nvSpPr>
          <p:cNvPr id="10" name="Rectangle 9"/>
          <p:cNvSpPr/>
          <p:nvPr/>
        </p:nvSpPr>
        <p:spPr>
          <a:xfrm>
            <a:off x="9875520" y="2258568"/>
            <a:ext cx="16459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898648"/>
            <a:ext cx="11247120" cy="111556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08376"/>
            <a:ext cx="1645920" cy="868680"/>
          </a:xfrm>
          <a:prstGeom prst="rect">
            <a:avLst/>
          </a:prstGeom>
          <a:noFill/>
        </p:spPr>
        <p:txBody>
          <a:bodyPr wrap="square">
            <a:spAutoFit/>
          </a:bodyPr>
          <a:lstStyle/>
          <a:p>
            <a:pPr algn="l"/>
            <a:r>
              <a:rPr sz="4200" b="1">
                <a:solidFill>
                  <a:srgbClr val="FFFFFF"/>
                </a:solidFill>
                <a:latin typeface="Calibri"/>
              </a:rPr>
              <a:t>100%</a:t>
            </a:r>
          </a:p>
        </p:txBody>
      </p:sp>
      <p:sp>
        <p:nvSpPr>
          <p:cNvPr id="13" name="TextBox 12"/>
          <p:cNvSpPr txBox="1"/>
          <p:nvPr/>
        </p:nvSpPr>
        <p:spPr>
          <a:xfrm>
            <a:off x="2468880" y="3008376"/>
            <a:ext cx="7132320" cy="411480"/>
          </a:xfrm>
          <a:prstGeom prst="rect">
            <a:avLst/>
          </a:prstGeom>
          <a:noFill/>
        </p:spPr>
        <p:txBody>
          <a:bodyPr wrap="square">
            <a:spAutoFit/>
          </a:bodyPr>
          <a:lstStyle/>
          <a:p>
            <a:pPr algn="l"/>
            <a:r>
              <a:rPr sz="1600" b="1">
                <a:solidFill>
                  <a:srgbClr val="FFFFFF"/>
                </a:solidFill>
                <a:latin typeface="Calibri"/>
              </a:rPr>
              <a:t>cree que existe desinformacion en Chile</a:t>
            </a:r>
          </a:p>
        </p:txBody>
      </p:sp>
      <p:sp>
        <p:nvSpPr>
          <p:cNvPr id="14" name="TextBox 13"/>
          <p:cNvSpPr txBox="1"/>
          <p:nvPr/>
        </p:nvSpPr>
        <p:spPr>
          <a:xfrm>
            <a:off x="2468880" y="3465576"/>
            <a:ext cx="7132320" cy="384048"/>
          </a:xfrm>
          <a:prstGeom prst="rect">
            <a:avLst/>
          </a:prstGeom>
          <a:noFill/>
        </p:spPr>
        <p:txBody>
          <a:bodyPr wrap="square">
            <a:spAutoFit/>
          </a:bodyPr>
          <a:lstStyle/>
          <a:p>
            <a:pPr algn="l"/>
            <a:r>
              <a:rPr sz="1300" b="0">
                <a:solidFill>
                  <a:srgbClr val="FFFFFF"/>
                </a:solidFill>
                <a:latin typeface="Calibri"/>
              </a:rPr>
              <a:t>Unanime. No hay escepcion.</a:t>
            </a:r>
          </a:p>
        </p:txBody>
      </p:sp>
      <p:sp>
        <p:nvSpPr>
          <p:cNvPr id="15" name="Rectangle 14"/>
          <p:cNvSpPr/>
          <p:nvPr/>
        </p:nvSpPr>
        <p:spPr>
          <a:xfrm>
            <a:off x="9875520" y="3465576"/>
            <a:ext cx="16459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105656"/>
            <a:ext cx="11247120" cy="111556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15384"/>
            <a:ext cx="1645920" cy="868680"/>
          </a:xfrm>
          <a:prstGeom prst="rect">
            <a:avLst/>
          </a:prstGeom>
          <a:noFill/>
        </p:spPr>
        <p:txBody>
          <a:bodyPr wrap="square">
            <a:spAutoFit/>
          </a:bodyPr>
          <a:lstStyle/>
          <a:p>
            <a:pPr algn="l"/>
            <a:r>
              <a:rPr sz="4200" b="1">
                <a:solidFill>
                  <a:srgbClr val="FFFFFF"/>
                </a:solidFill>
                <a:latin typeface="Calibri"/>
              </a:rPr>
              <a:t>83%</a:t>
            </a:r>
          </a:p>
        </p:txBody>
      </p:sp>
      <p:sp>
        <p:nvSpPr>
          <p:cNvPr id="18" name="TextBox 17"/>
          <p:cNvSpPr txBox="1"/>
          <p:nvPr/>
        </p:nvSpPr>
        <p:spPr>
          <a:xfrm>
            <a:off x="2468880" y="4215384"/>
            <a:ext cx="7132320" cy="411480"/>
          </a:xfrm>
          <a:prstGeom prst="rect">
            <a:avLst/>
          </a:prstGeom>
          <a:noFill/>
        </p:spPr>
        <p:txBody>
          <a:bodyPr wrap="square">
            <a:spAutoFit/>
          </a:bodyPr>
          <a:lstStyle/>
          <a:p>
            <a:pPr algn="l"/>
            <a:r>
              <a:rPr sz="1600" b="1">
                <a:solidFill>
                  <a:srgbClr val="FFFFFF"/>
                </a:solidFill>
                <a:latin typeface="Calibri"/>
              </a:rPr>
              <a:t>se informa por redes sociales</a:t>
            </a:r>
          </a:p>
        </p:txBody>
      </p:sp>
      <p:sp>
        <p:nvSpPr>
          <p:cNvPr id="19" name="TextBox 18"/>
          <p:cNvSpPr txBox="1"/>
          <p:nvPr/>
        </p:nvSpPr>
        <p:spPr>
          <a:xfrm>
            <a:off x="2468880" y="4672584"/>
            <a:ext cx="7132320" cy="384048"/>
          </a:xfrm>
          <a:prstGeom prst="rect">
            <a:avLst/>
          </a:prstGeom>
          <a:noFill/>
        </p:spPr>
        <p:txBody>
          <a:bodyPr wrap="square">
            <a:spAutoFit/>
          </a:bodyPr>
          <a:lstStyle/>
          <a:p>
            <a:pPr algn="l"/>
            <a:r>
              <a:rPr sz="1300" b="0">
                <a:solidFill>
                  <a:srgbClr val="FFFFFF"/>
                </a:solidFill>
                <a:latin typeface="Calibri"/>
              </a:rPr>
              <a:t>~10 de 12 entrevistados</a:t>
            </a:r>
          </a:p>
        </p:txBody>
      </p:sp>
      <p:sp>
        <p:nvSpPr>
          <p:cNvPr id="20" name="Rectangle 19"/>
          <p:cNvSpPr/>
          <p:nvPr/>
        </p:nvSpPr>
        <p:spPr>
          <a:xfrm>
            <a:off x="9875520" y="4672584"/>
            <a:ext cx="16459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312664"/>
            <a:ext cx="11247120" cy="1115568"/>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422392"/>
            <a:ext cx="1645920" cy="868680"/>
          </a:xfrm>
          <a:prstGeom prst="rect">
            <a:avLst/>
          </a:prstGeom>
          <a:noFill/>
        </p:spPr>
        <p:txBody>
          <a:bodyPr wrap="square">
            <a:spAutoFit/>
          </a:bodyPr>
          <a:lstStyle/>
          <a:p>
            <a:pPr algn="l"/>
            <a:r>
              <a:rPr sz="4200" b="1">
                <a:solidFill>
                  <a:srgbClr val="FFFFFF"/>
                </a:solidFill>
                <a:latin typeface="Calibri"/>
              </a:rPr>
              <a:t>50%</a:t>
            </a:r>
          </a:p>
        </p:txBody>
      </p:sp>
      <p:sp>
        <p:nvSpPr>
          <p:cNvPr id="23" name="TextBox 22"/>
          <p:cNvSpPr txBox="1"/>
          <p:nvPr/>
        </p:nvSpPr>
        <p:spPr>
          <a:xfrm>
            <a:off x="2468880" y="5422392"/>
            <a:ext cx="7132320" cy="411480"/>
          </a:xfrm>
          <a:prstGeom prst="rect">
            <a:avLst/>
          </a:prstGeom>
          <a:noFill/>
        </p:spPr>
        <p:txBody>
          <a:bodyPr wrap="square">
            <a:spAutoFit/>
          </a:bodyPr>
          <a:lstStyle/>
          <a:p>
            <a:pPr algn="l"/>
            <a:r>
              <a:rPr sz="1600" b="1">
                <a:solidFill>
                  <a:srgbClr val="FFFFFF"/>
                </a:solidFill>
                <a:latin typeface="Calibri"/>
              </a:rPr>
              <a:t>no conocia a los candidatos</a:t>
            </a:r>
          </a:p>
        </p:txBody>
      </p:sp>
      <p:sp>
        <p:nvSpPr>
          <p:cNvPr id="24" name="TextBox 23"/>
          <p:cNvSpPr txBox="1"/>
          <p:nvPr/>
        </p:nvSpPr>
        <p:spPr>
          <a:xfrm>
            <a:off x="2468880" y="5879592"/>
            <a:ext cx="7132320" cy="384048"/>
          </a:xfrm>
          <a:prstGeom prst="rect">
            <a:avLst/>
          </a:prstGeom>
          <a:noFill/>
        </p:spPr>
        <p:txBody>
          <a:bodyPr wrap="square">
            <a:spAutoFit/>
          </a:bodyPr>
          <a:lstStyle/>
          <a:p>
            <a:pPr algn="l"/>
            <a:r>
              <a:rPr sz="1300" b="0">
                <a:solidFill>
                  <a:srgbClr val="FFFFFF"/>
                </a:solidFill>
                <a:latin typeface="Calibri"/>
              </a:rPr>
              <a:t>~6 de 12 entrevistados</a:t>
            </a:r>
          </a:p>
        </p:txBody>
      </p:sp>
      <p:sp>
        <p:nvSpPr>
          <p:cNvPr id="25" name="Rectangle 24"/>
          <p:cNvSpPr/>
          <p:nvPr/>
        </p:nvSpPr>
        <p:spPr>
          <a:xfrm>
            <a:off x="9875520" y="5879592"/>
            <a:ext cx="16459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EL ECOSISTEMA DE HERRAMIENTAS</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1C3A52"/>
                </a:solidFill>
                <a:latin typeface="Calibri"/>
              </a:rPr>
              <a:t>Que existia antes de VotoAFin</a:t>
            </a:r>
          </a:p>
        </p:txBody>
      </p:sp>
      <p:sp>
        <p:nvSpPr>
          <p:cNvPr id="5" name="Rectangle 4"/>
          <p:cNvSpPr/>
          <p:nvPr/>
        </p:nvSpPr>
        <p:spPr>
          <a:xfrm>
            <a:off x="365760" y="1417320"/>
            <a:ext cx="2212848" cy="498348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1527048"/>
            <a:ext cx="2011680" cy="457200"/>
          </a:xfrm>
          <a:prstGeom prst="rect">
            <a:avLst/>
          </a:prstGeom>
          <a:noFill/>
        </p:spPr>
        <p:txBody>
          <a:bodyPr wrap="square">
            <a:spAutoFit/>
          </a:bodyPr>
          <a:lstStyle/>
          <a:p>
            <a:pPr algn="l"/>
            <a:r>
              <a:rPr sz="1400" b="1">
                <a:solidFill>
                  <a:srgbClr val="FFFFFF"/>
                </a:solidFill>
                <a:latin typeface="Calibri"/>
              </a:rPr>
              <a:t>Voto Informado</a:t>
            </a:r>
          </a:p>
        </p:txBody>
      </p:sp>
      <p:sp>
        <p:nvSpPr>
          <p:cNvPr id="7" name="TextBox 6"/>
          <p:cNvSpPr txBox="1"/>
          <p:nvPr/>
        </p:nvSpPr>
        <p:spPr>
          <a:xfrm>
            <a:off x="475488" y="2029968"/>
            <a:ext cx="2011680" cy="347472"/>
          </a:xfrm>
          <a:prstGeom prst="rect">
            <a:avLst/>
          </a:prstGeom>
          <a:noFill/>
        </p:spPr>
        <p:txBody>
          <a:bodyPr wrap="square">
            <a:spAutoFit/>
          </a:bodyPr>
          <a:lstStyle/>
          <a:p>
            <a:pPr algn="l"/>
            <a:r>
              <a:rPr sz="1000" b="0">
                <a:solidFill>
                  <a:srgbClr val="FFFFFF"/>
                </a:solidFill>
                <a:latin typeface="Calibri"/>
              </a:rPr>
              <a:t>SERVEL + PNUD</a:t>
            </a:r>
          </a:p>
        </p:txBody>
      </p:sp>
      <p:sp>
        <p:nvSpPr>
          <p:cNvPr id="8" name="Rectangle 7"/>
          <p:cNvSpPr/>
          <p:nvPr/>
        </p:nvSpPr>
        <p:spPr>
          <a:xfrm>
            <a:off x="475488" y="2423160"/>
            <a:ext cx="173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2523744"/>
            <a:ext cx="2011680" cy="3657600"/>
          </a:xfrm>
          <a:prstGeom prst="rect">
            <a:avLst/>
          </a:prstGeom>
          <a:noFill/>
        </p:spPr>
        <p:txBody>
          <a:bodyPr wrap="square">
            <a:spAutoFit/>
          </a:bodyPr>
          <a:lstStyle/>
          <a:p>
            <a:pPr algn="l"/>
            <a:r>
              <a:rPr sz="1200" b="0">
                <a:solidFill>
                  <a:srgbClr val="FFFFFF"/>
                </a:solidFill>
                <a:latin typeface="Calibri"/>
              </a:rPr>
              <a:t>Sin algoritmo de matching.
Sin datos actualizados.
DISCONTINUADA.</a:t>
            </a:r>
          </a:p>
        </p:txBody>
      </p:sp>
      <p:sp>
        <p:nvSpPr>
          <p:cNvPr id="10" name="Rectangle 9"/>
          <p:cNvSpPr/>
          <p:nvPr/>
        </p:nvSpPr>
        <p:spPr>
          <a:xfrm>
            <a:off x="2697479" y="1417320"/>
            <a:ext cx="2212848" cy="49834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1527048"/>
            <a:ext cx="2011680" cy="457200"/>
          </a:xfrm>
          <a:prstGeom prst="rect">
            <a:avLst/>
          </a:prstGeom>
          <a:noFill/>
        </p:spPr>
        <p:txBody>
          <a:bodyPr wrap="square">
            <a:spAutoFit/>
          </a:bodyPr>
          <a:lstStyle/>
          <a:p>
            <a:pPr algn="l"/>
            <a:r>
              <a:rPr sz="1400" b="1">
                <a:solidFill>
                  <a:srgbClr val="FFFFFF"/>
                </a:solidFill>
                <a:latin typeface="Calibri"/>
              </a:rPr>
              <a:t>Decide Chile</a:t>
            </a:r>
          </a:p>
        </p:txBody>
      </p:sp>
      <p:sp>
        <p:nvSpPr>
          <p:cNvPr id="12" name="TextBox 11"/>
          <p:cNvSpPr txBox="1"/>
          <p:nvPr/>
        </p:nvSpPr>
        <p:spPr>
          <a:xfrm>
            <a:off x="2807208" y="2029968"/>
            <a:ext cx="2011680" cy="347472"/>
          </a:xfrm>
          <a:prstGeom prst="rect">
            <a:avLst/>
          </a:prstGeom>
          <a:noFill/>
        </p:spPr>
        <p:txBody>
          <a:bodyPr wrap="square">
            <a:spAutoFit/>
          </a:bodyPr>
          <a:lstStyle/>
          <a:p>
            <a:pPr algn="l"/>
            <a:r>
              <a:rPr sz="1000" b="0">
                <a:solidFill>
                  <a:srgbClr val="FFFFFF"/>
                </a:solidFill>
                <a:latin typeface="Calibri"/>
              </a:rPr>
              <a:t>Iniciativa ciudadana</a:t>
            </a:r>
          </a:p>
        </p:txBody>
      </p:sp>
      <p:sp>
        <p:nvSpPr>
          <p:cNvPr id="13" name="Rectangle 12"/>
          <p:cNvSpPr/>
          <p:nvPr/>
        </p:nvSpPr>
        <p:spPr>
          <a:xfrm>
            <a:off x="2807208" y="2423160"/>
            <a:ext cx="173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07208" y="2523744"/>
            <a:ext cx="2011680" cy="3657600"/>
          </a:xfrm>
          <a:prstGeom prst="rect">
            <a:avLst/>
          </a:prstGeom>
          <a:noFill/>
        </p:spPr>
        <p:txBody>
          <a:bodyPr wrap="square">
            <a:spAutoFit/>
          </a:bodyPr>
          <a:lstStyle/>
          <a:p>
            <a:pPr algn="l"/>
            <a:r>
              <a:rPr sz="1200" b="0">
                <a:solidFill>
                  <a:srgbClr val="FFFFFF"/>
                </a:solidFill>
                <a:latin typeface="Calibri"/>
              </a:rPr>
              <a:t>Tenia matching basico.
Fue discontinuada.
Sin mantenimiento.</a:t>
            </a:r>
          </a:p>
        </p:txBody>
      </p:sp>
      <p:sp>
        <p:nvSpPr>
          <p:cNvPr id="15" name="Rectangle 14"/>
          <p:cNvSpPr/>
          <p:nvPr/>
        </p:nvSpPr>
        <p:spPr>
          <a:xfrm>
            <a:off x="5029200" y="1417320"/>
            <a:ext cx="2212848" cy="4983480"/>
          </a:xfrm>
          <a:prstGeom prst="rect">
            <a:avLst/>
          </a:prstGeom>
          <a:solidFill>
            <a:srgbClr val="5A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1527048"/>
            <a:ext cx="2011680" cy="457200"/>
          </a:xfrm>
          <a:prstGeom prst="rect">
            <a:avLst/>
          </a:prstGeom>
          <a:noFill/>
        </p:spPr>
        <p:txBody>
          <a:bodyPr wrap="square">
            <a:spAutoFit/>
          </a:bodyPr>
          <a:lstStyle/>
          <a:p>
            <a:pPr algn="l"/>
            <a:r>
              <a:rPr sz="1400" b="1">
                <a:solidFill>
                  <a:srgbClr val="FFFFFF"/>
                </a:solidFill>
                <a:latin typeface="Calibri"/>
              </a:rPr>
              <a:t>iSideWith</a:t>
            </a:r>
          </a:p>
        </p:txBody>
      </p:sp>
      <p:sp>
        <p:nvSpPr>
          <p:cNvPr id="17" name="TextBox 16"/>
          <p:cNvSpPr txBox="1"/>
          <p:nvPr/>
        </p:nvSpPr>
        <p:spPr>
          <a:xfrm>
            <a:off x="5138928" y="2029968"/>
            <a:ext cx="2011680" cy="347472"/>
          </a:xfrm>
          <a:prstGeom prst="rect">
            <a:avLst/>
          </a:prstGeom>
          <a:noFill/>
        </p:spPr>
        <p:txBody>
          <a:bodyPr wrap="square">
            <a:spAutoFit/>
          </a:bodyPr>
          <a:lstStyle/>
          <a:p>
            <a:pPr algn="l"/>
            <a:r>
              <a:rPr sz="1000" b="0">
                <a:solidFill>
                  <a:srgbClr val="FFFFFF"/>
                </a:solidFill>
                <a:latin typeface="Calibri"/>
              </a:rPr>
              <a:t>Global</a:t>
            </a:r>
          </a:p>
        </p:txBody>
      </p:sp>
      <p:sp>
        <p:nvSpPr>
          <p:cNvPr id="18" name="Rectangle 17"/>
          <p:cNvSpPr/>
          <p:nvPr/>
        </p:nvSpPr>
        <p:spPr>
          <a:xfrm>
            <a:off x="5138928" y="2423160"/>
            <a:ext cx="173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2523744"/>
            <a:ext cx="2011680" cy="3657600"/>
          </a:xfrm>
          <a:prstGeom prst="rect">
            <a:avLst/>
          </a:prstGeom>
          <a:noFill/>
        </p:spPr>
        <p:txBody>
          <a:bodyPr wrap="square">
            <a:spAutoFit/>
          </a:bodyPr>
          <a:lstStyle/>
          <a:p>
            <a:pPr algn="l"/>
            <a:r>
              <a:rPr sz="1200" b="0">
                <a:solidFill>
                  <a:srgbClr val="FFFFFF"/>
                </a:solidFill>
                <a:latin typeface="Calibri"/>
              </a:rPr>
              <a:t>Cobertura superficial de Chile.
Sin verificacion local.
Contexto anglosajón.</a:t>
            </a:r>
          </a:p>
        </p:txBody>
      </p:sp>
      <p:sp>
        <p:nvSpPr>
          <p:cNvPr id="20" name="Rectangle 19"/>
          <p:cNvSpPr/>
          <p:nvPr/>
        </p:nvSpPr>
        <p:spPr>
          <a:xfrm>
            <a:off x="7360919" y="1417320"/>
            <a:ext cx="2212848" cy="4983480"/>
          </a:xfrm>
          <a:prstGeom prst="rect">
            <a:avLst/>
          </a:prstGeom>
          <a:solidFill>
            <a:srgbClr val="5A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70647" y="1527048"/>
            <a:ext cx="2011680" cy="457200"/>
          </a:xfrm>
          <a:prstGeom prst="rect">
            <a:avLst/>
          </a:prstGeom>
          <a:noFill/>
        </p:spPr>
        <p:txBody>
          <a:bodyPr wrap="square">
            <a:spAutoFit/>
          </a:bodyPr>
          <a:lstStyle/>
          <a:p>
            <a:pPr algn="l"/>
            <a:r>
              <a:rPr sz="1400" b="1">
                <a:solidFill>
                  <a:srgbClr val="FFFFFF"/>
                </a:solidFill>
                <a:latin typeface="Calibri"/>
              </a:rPr>
              <a:t>Wahl-O-Mat</a:t>
            </a:r>
          </a:p>
        </p:txBody>
      </p:sp>
      <p:sp>
        <p:nvSpPr>
          <p:cNvPr id="22" name="TextBox 21"/>
          <p:cNvSpPr txBox="1"/>
          <p:nvPr/>
        </p:nvSpPr>
        <p:spPr>
          <a:xfrm>
            <a:off x="7470647" y="2029968"/>
            <a:ext cx="2011680" cy="347472"/>
          </a:xfrm>
          <a:prstGeom prst="rect">
            <a:avLst/>
          </a:prstGeom>
          <a:noFill/>
        </p:spPr>
        <p:txBody>
          <a:bodyPr wrap="square">
            <a:spAutoFit/>
          </a:bodyPr>
          <a:lstStyle/>
          <a:p>
            <a:pPr algn="l"/>
            <a:r>
              <a:rPr sz="1000" b="0">
                <a:solidFill>
                  <a:srgbClr val="FFFFFF"/>
                </a:solidFill>
                <a:latin typeface="Calibri"/>
              </a:rPr>
              <a:t>Alemania</a:t>
            </a:r>
          </a:p>
        </p:txBody>
      </p:sp>
      <p:sp>
        <p:nvSpPr>
          <p:cNvPr id="23" name="Rectangle 22"/>
          <p:cNvSpPr/>
          <p:nvPr/>
        </p:nvSpPr>
        <p:spPr>
          <a:xfrm>
            <a:off x="7470647" y="2423160"/>
            <a:ext cx="173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7" y="2523744"/>
            <a:ext cx="2011680" cy="3657600"/>
          </a:xfrm>
          <a:prstGeom prst="rect">
            <a:avLst/>
          </a:prstGeom>
          <a:noFill/>
        </p:spPr>
        <p:txBody>
          <a:bodyPr wrap="square">
            <a:spAutoFit/>
          </a:bodyPr>
          <a:lstStyle/>
          <a:p>
            <a:pPr algn="l"/>
            <a:r>
              <a:rPr sz="1200" b="0">
                <a:solidFill>
                  <a:srgbClr val="FFFFFF"/>
                </a:solidFill>
                <a:latin typeface="Calibri"/>
              </a:rPr>
              <a:t>21M usos en 2021.
No cubre Chile.
Modelo a aprender.</a:t>
            </a:r>
          </a:p>
        </p:txBody>
      </p:sp>
      <p:sp>
        <p:nvSpPr>
          <p:cNvPr id="25" name="Rectangle 24"/>
          <p:cNvSpPr/>
          <p:nvPr/>
        </p:nvSpPr>
        <p:spPr>
          <a:xfrm>
            <a:off x="9692640" y="1417320"/>
            <a:ext cx="2212848" cy="498348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02367" y="1527048"/>
            <a:ext cx="2011680" cy="457200"/>
          </a:xfrm>
          <a:prstGeom prst="rect">
            <a:avLst/>
          </a:prstGeom>
          <a:noFill/>
        </p:spPr>
        <p:txBody>
          <a:bodyPr wrap="square">
            <a:spAutoFit/>
          </a:bodyPr>
          <a:lstStyle/>
          <a:p>
            <a:pPr algn="l"/>
            <a:r>
              <a:rPr sz="1400" b="1">
                <a:solidFill>
                  <a:srgbClr val="FFFFFF"/>
                </a:solidFill>
                <a:latin typeface="Calibri"/>
              </a:rPr>
              <a:t>VotoAFin</a:t>
            </a:r>
          </a:p>
        </p:txBody>
      </p:sp>
      <p:sp>
        <p:nvSpPr>
          <p:cNvPr id="27" name="TextBox 26"/>
          <p:cNvSpPr txBox="1"/>
          <p:nvPr/>
        </p:nvSpPr>
        <p:spPr>
          <a:xfrm>
            <a:off x="9802367" y="2029968"/>
            <a:ext cx="2011680" cy="347472"/>
          </a:xfrm>
          <a:prstGeom prst="rect">
            <a:avLst/>
          </a:prstGeom>
          <a:noFill/>
        </p:spPr>
        <p:txBody>
          <a:bodyPr wrap="square">
            <a:spAutoFit/>
          </a:bodyPr>
          <a:lstStyle/>
          <a:p>
            <a:pPr algn="l"/>
            <a:r>
              <a:rPr sz="1000" b="0">
                <a:solidFill>
                  <a:srgbClr val="FFFFFF"/>
                </a:solidFill>
                <a:latin typeface="Calibri"/>
              </a:rPr>
              <a:t>UTFSM 2026</a:t>
            </a:r>
          </a:p>
        </p:txBody>
      </p:sp>
      <p:sp>
        <p:nvSpPr>
          <p:cNvPr id="28" name="Rectangle 27"/>
          <p:cNvSpPr/>
          <p:nvPr/>
        </p:nvSpPr>
        <p:spPr>
          <a:xfrm>
            <a:off x="9802367" y="2423160"/>
            <a:ext cx="17373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2367" y="2523744"/>
            <a:ext cx="2011680" cy="3657600"/>
          </a:xfrm>
          <a:prstGeom prst="rect">
            <a:avLst/>
          </a:prstGeom>
          <a:noFill/>
        </p:spPr>
        <p:txBody>
          <a:bodyPr wrap="square">
            <a:spAutoFit/>
          </a:bodyPr>
          <a:lstStyle/>
          <a:p>
            <a:pPr algn="l"/>
            <a:r>
              <a:rPr sz="1200" b="0">
                <a:solidFill>
                  <a:srgbClr val="FFFFFF"/>
                </a:solidFill>
                <a:latin typeface="Calibri"/>
              </a:rPr>
              <a:t>Activa. Codigo abierto.
Datos verificados con fuente.
Contexto electoral chileno.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QUIEN SE VE MAS AFECTADO</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FFFFFF"/>
                </a:solidFill>
                <a:latin typeface="Calibri"/>
              </a:rPr>
              <a:t>Tres segmentos de mayor vulnerabilidad</a:t>
            </a:r>
          </a:p>
        </p:txBody>
      </p:sp>
      <p:sp>
        <p:nvSpPr>
          <p:cNvPr id="5" name="Rectangle 4"/>
          <p:cNvSpPr/>
          <p:nvPr/>
        </p:nvSpPr>
        <p:spPr>
          <a:xfrm>
            <a:off x="457200" y="1417320"/>
            <a:ext cx="3657600" cy="507492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36192"/>
            <a:ext cx="3291840" cy="438912"/>
          </a:xfrm>
          <a:prstGeom prst="rect">
            <a:avLst/>
          </a:prstGeom>
          <a:noFill/>
        </p:spPr>
        <p:txBody>
          <a:bodyPr wrap="square">
            <a:spAutoFit/>
          </a:bodyPr>
          <a:lstStyle/>
          <a:p>
            <a:pPr algn="l"/>
            <a:r>
              <a:rPr sz="1500" b="1">
                <a:solidFill>
                  <a:srgbClr val="FFFFFF"/>
                </a:solidFill>
                <a:latin typeface="Calibri"/>
              </a:rPr>
              <a:t>JOVENES VOTANTES</a:t>
            </a:r>
          </a:p>
        </p:txBody>
      </p:sp>
      <p:sp>
        <p:nvSpPr>
          <p:cNvPr id="7" name="Rectangle 6"/>
          <p:cNvSpPr/>
          <p:nvPr/>
        </p:nvSpPr>
        <p:spPr>
          <a:xfrm>
            <a:off x="640080" y="199339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03120"/>
            <a:ext cx="3291840" cy="640080"/>
          </a:xfrm>
          <a:prstGeom prst="rect">
            <a:avLst/>
          </a:prstGeom>
          <a:noFill/>
        </p:spPr>
        <p:txBody>
          <a:bodyPr wrap="square">
            <a:spAutoFit/>
          </a:bodyPr>
          <a:lstStyle/>
          <a:p>
            <a:pPr algn="l"/>
            <a:r>
              <a:rPr sz="1400" b="1">
                <a:solidFill>
                  <a:srgbClr val="FFFFFF"/>
                </a:solidFill>
                <a:latin typeface="Calibri"/>
              </a:rPr>
              <a:t>Mayor exposicion a
desinformacion digital.</a:t>
            </a:r>
          </a:p>
        </p:txBody>
      </p:sp>
      <p:sp>
        <p:nvSpPr>
          <p:cNvPr id="9" name="TextBox 8"/>
          <p:cNvSpPr txBox="1"/>
          <p:nvPr/>
        </p:nvSpPr>
        <p:spPr>
          <a:xfrm>
            <a:off x="640080" y="2788920"/>
            <a:ext cx="3291840" cy="3383280"/>
          </a:xfrm>
          <a:prstGeom prst="rect">
            <a:avLst/>
          </a:prstGeom>
          <a:noFill/>
        </p:spPr>
        <p:txBody>
          <a:bodyPr wrap="square">
            <a:spAutoFit/>
          </a:bodyPr>
          <a:lstStyle/>
          <a:p>
            <a:pPr algn="l"/>
            <a:r>
              <a:rPr sz="1300" b="0">
                <a:solidFill>
                  <a:srgbClr val="FFFFFF"/>
                </a:solidFill>
                <a:latin typeface="Calibri"/>
              </a:rPr>
              <a:t>Alta interaccion con redes sociales.
Menor consumo de medios verificados.
Paradoja: mayor potencial de
adopcion de solucion tecnologica.</a:t>
            </a:r>
          </a:p>
        </p:txBody>
      </p:sp>
      <p:sp>
        <p:nvSpPr>
          <p:cNvPr id="10" name="Rectangle 9"/>
          <p:cNvSpPr/>
          <p:nvPr/>
        </p:nvSpPr>
        <p:spPr>
          <a:xfrm>
            <a:off x="4343400" y="1417320"/>
            <a:ext cx="3657600" cy="507492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36192"/>
            <a:ext cx="3291840" cy="438912"/>
          </a:xfrm>
          <a:prstGeom prst="rect">
            <a:avLst/>
          </a:prstGeom>
          <a:noFill/>
        </p:spPr>
        <p:txBody>
          <a:bodyPr wrap="square">
            <a:spAutoFit/>
          </a:bodyPr>
          <a:lstStyle/>
          <a:p>
            <a:pPr algn="l"/>
            <a:r>
              <a:rPr sz="1500" b="1">
                <a:solidFill>
                  <a:srgbClr val="FFFFFF"/>
                </a:solidFill>
                <a:latin typeface="Calibri"/>
              </a:rPr>
              <a:t>ADULTOS MAYORES</a:t>
            </a:r>
          </a:p>
        </p:txBody>
      </p:sp>
      <p:sp>
        <p:nvSpPr>
          <p:cNvPr id="12" name="Rectangle 11"/>
          <p:cNvSpPr/>
          <p:nvPr/>
        </p:nvSpPr>
        <p:spPr>
          <a:xfrm>
            <a:off x="4526280" y="199339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103120"/>
            <a:ext cx="3291840" cy="640080"/>
          </a:xfrm>
          <a:prstGeom prst="rect">
            <a:avLst/>
          </a:prstGeom>
          <a:noFill/>
        </p:spPr>
        <p:txBody>
          <a:bodyPr wrap="square">
            <a:spAutoFit/>
          </a:bodyPr>
          <a:lstStyle/>
          <a:p>
            <a:pPr algn="l"/>
            <a:r>
              <a:rPr sz="1400" b="1">
                <a:solidFill>
                  <a:srgbClr val="FFFFFF"/>
                </a:solidFill>
                <a:latin typeface="Calibri"/>
              </a:rPr>
              <a:t>Dificultad para evaluar
confiabilidad de fuentes.</a:t>
            </a:r>
          </a:p>
        </p:txBody>
      </p:sp>
      <p:sp>
        <p:nvSpPr>
          <p:cNvPr id="14" name="TextBox 13"/>
          <p:cNvSpPr txBox="1"/>
          <p:nvPr/>
        </p:nvSpPr>
        <p:spPr>
          <a:xfrm>
            <a:off x="4526280" y="2788920"/>
            <a:ext cx="3291840" cy="3383280"/>
          </a:xfrm>
          <a:prstGeom prst="rect">
            <a:avLst/>
          </a:prstGeom>
          <a:noFill/>
        </p:spPr>
        <p:txBody>
          <a:bodyPr wrap="square">
            <a:spAutoFit/>
          </a:bodyPr>
          <a:lstStyle/>
          <a:p>
            <a:pPr algn="l"/>
            <a:r>
              <a:rPr sz="1300" b="0">
                <a:solidFill>
                  <a:srgbClr val="FFFFFF"/>
                </a:solidFill>
                <a:latin typeface="Calibri"/>
              </a:rPr>
              <a:t>Alta exposicion a fake news
en plataformas digitales.
Menor capacidad de verificacion
independiente de informacion.</a:t>
            </a:r>
          </a:p>
        </p:txBody>
      </p:sp>
      <p:sp>
        <p:nvSpPr>
          <p:cNvPr id="15" name="Rectangle 14"/>
          <p:cNvSpPr/>
          <p:nvPr/>
        </p:nvSpPr>
        <p:spPr>
          <a:xfrm>
            <a:off x="8229600" y="1417320"/>
            <a:ext cx="3657600" cy="507492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536192"/>
            <a:ext cx="3291840" cy="438912"/>
          </a:xfrm>
          <a:prstGeom prst="rect">
            <a:avLst/>
          </a:prstGeom>
          <a:noFill/>
        </p:spPr>
        <p:txBody>
          <a:bodyPr wrap="square">
            <a:spAutoFit/>
          </a:bodyPr>
          <a:lstStyle/>
          <a:p>
            <a:pPr algn="l"/>
            <a:r>
              <a:rPr sz="1500" b="1">
                <a:solidFill>
                  <a:srgbClr val="FFFFFF"/>
                </a:solidFill>
                <a:latin typeface="Calibri"/>
              </a:rPr>
              <a:t>VOTANTES INDECISOS</a:t>
            </a:r>
          </a:p>
        </p:txBody>
      </p:sp>
      <p:sp>
        <p:nvSpPr>
          <p:cNvPr id="17" name="Rectangle 16"/>
          <p:cNvSpPr/>
          <p:nvPr/>
        </p:nvSpPr>
        <p:spPr>
          <a:xfrm>
            <a:off x="8412480" y="199339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103120"/>
            <a:ext cx="3291840" cy="640080"/>
          </a:xfrm>
          <a:prstGeom prst="rect">
            <a:avLst/>
          </a:prstGeom>
          <a:noFill/>
        </p:spPr>
        <p:txBody>
          <a:bodyPr wrap="square">
            <a:spAutoFit/>
          </a:bodyPr>
          <a:lstStyle/>
          <a:p>
            <a:pPr algn="l"/>
            <a:r>
              <a:rPr sz="1400" b="1">
                <a:solidFill>
                  <a:srgbClr val="FFFFFF"/>
                </a:solidFill>
                <a:latin typeface="Calibri"/>
              </a:rPr>
              <a:t>Buscan informacion en
el peor momento.</a:t>
            </a:r>
          </a:p>
        </p:txBody>
      </p:sp>
      <p:sp>
        <p:nvSpPr>
          <p:cNvPr id="19" name="TextBox 18"/>
          <p:cNvSpPr txBox="1"/>
          <p:nvPr/>
        </p:nvSpPr>
        <p:spPr>
          <a:xfrm>
            <a:off x="8412480" y="2788920"/>
            <a:ext cx="3291840" cy="3383280"/>
          </a:xfrm>
          <a:prstGeom prst="rect">
            <a:avLst/>
          </a:prstGeom>
          <a:noFill/>
        </p:spPr>
        <p:txBody>
          <a:bodyPr wrap="square">
            <a:spAutoFit/>
          </a:bodyPr>
          <a:lstStyle/>
          <a:p>
            <a:pPr algn="l"/>
            <a:r>
              <a:rPr sz="1300" b="0">
                <a:solidFill>
                  <a:srgbClr val="FFFFFF"/>
                </a:solidFill>
                <a:latin typeface="Calibri"/>
              </a:rPr>
              <a:t>Proceso de busqueda en el
periodo pre-electoral inmediato.
Mayor intensidad de contenido
partidario y desinformacion.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LA OPORTUNIDAD DETECTADA</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200" b="1">
                <a:solidFill>
                  <a:srgbClr val="1C3A52"/>
                </a:solidFill>
                <a:latin typeface="Calibri"/>
              </a:rPr>
              <a:t>El espacio estaba vacio</a:t>
            </a:r>
          </a:p>
        </p:txBody>
      </p:sp>
      <p:sp>
        <p:nvSpPr>
          <p:cNvPr id="5" name="TextBox 4"/>
          <p:cNvSpPr txBox="1"/>
          <p:nvPr/>
        </p:nvSpPr>
        <p:spPr>
          <a:xfrm>
            <a:off x="548640" y="1143000"/>
            <a:ext cx="10972800" cy="411480"/>
          </a:xfrm>
          <a:prstGeom prst="rect">
            <a:avLst/>
          </a:prstGeom>
          <a:noFill/>
        </p:spPr>
        <p:txBody>
          <a:bodyPr wrap="square">
            <a:spAutoFit/>
          </a:bodyPr>
          <a:lstStyle/>
          <a:p>
            <a:pPr algn="l"/>
            <a:r>
              <a:rPr sz="1800" b="0">
                <a:solidFill>
                  <a:srgbClr val="5A6B73"/>
                </a:solidFill>
                <a:latin typeface="Calibri"/>
              </a:rPr>
              <a:t>El problema existia. La voluntad de resolverlo existia. Las herramientas no.</a:t>
            </a:r>
          </a:p>
        </p:txBody>
      </p:sp>
      <p:sp>
        <p:nvSpPr>
          <p:cNvPr id="6" name="Rectangle 5"/>
          <p:cNvSpPr/>
          <p:nvPr/>
        </p:nvSpPr>
        <p:spPr>
          <a:xfrm>
            <a:off x="457200" y="1874519"/>
            <a:ext cx="3657600" cy="45720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93392"/>
            <a:ext cx="3291840" cy="594360"/>
          </a:xfrm>
          <a:prstGeom prst="rect">
            <a:avLst/>
          </a:prstGeom>
          <a:noFill/>
        </p:spPr>
        <p:txBody>
          <a:bodyPr wrap="square">
            <a:spAutoFit/>
          </a:bodyPr>
          <a:lstStyle/>
          <a:p>
            <a:pPr algn="l"/>
            <a:r>
              <a:rPr sz="1400" b="1">
                <a:solidFill>
                  <a:srgbClr val="FFFFFF"/>
                </a:solidFill>
                <a:latin typeface="Calibri"/>
              </a:rPr>
              <a:t>Por que vale la pena?</a:t>
            </a:r>
          </a:p>
        </p:txBody>
      </p:sp>
      <p:sp>
        <p:nvSpPr>
          <p:cNvPr id="8" name="Rectangle 7"/>
          <p:cNvSpPr/>
          <p:nvPr/>
        </p:nvSpPr>
        <p:spPr>
          <a:xfrm>
            <a:off x="640080" y="263347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743200"/>
            <a:ext cx="3291840" cy="3474720"/>
          </a:xfrm>
          <a:prstGeom prst="rect">
            <a:avLst/>
          </a:prstGeom>
          <a:noFill/>
        </p:spPr>
        <p:txBody>
          <a:bodyPr wrap="square">
            <a:spAutoFit/>
          </a:bodyPr>
          <a:lstStyle/>
          <a:p>
            <a:pPr algn="l"/>
            <a:r>
              <a:rPr sz="1300" b="0">
                <a:solidFill>
                  <a:srgbClr val="FFFFFF"/>
                </a:solidFill>
                <a:latin typeface="Calibri"/>
              </a:rPr>
              <a:t>Preservar la integridad democratica
Fomentar el voto informado
Fortalecer la confianza institucional
Reducir el impacto de las fake news</a:t>
            </a:r>
          </a:p>
        </p:txBody>
      </p:sp>
      <p:sp>
        <p:nvSpPr>
          <p:cNvPr id="10" name="Rectangle 9"/>
          <p:cNvSpPr/>
          <p:nvPr/>
        </p:nvSpPr>
        <p:spPr>
          <a:xfrm>
            <a:off x="4343400" y="1874519"/>
            <a:ext cx="3657600" cy="45720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993392"/>
            <a:ext cx="3291840" cy="594360"/>
          </a:xfrm>
          <a:prstGeom prst="rect">
            <a:avLst/>
          </a:prstGeom>
          <a:noFill/>
        </p:spPr>
        <p:txBody>
          <a:bodyPr wrap="square">
            <a:spAutoFit/>
          </a:bodyPr>
          <a:lstStyle/>
          <a:p>
            <a:pPr algn="l"/>
            <a:r>
              <a:rPr sz="1400" b="1">
                <a:solidFill>
                  <a:srgbClr val="FFFFFF"/>
                </a:solidFill>
                <a:latin typeface="Calibri"/>
              </a:rPr>
              <a:t>Por que es abordable desde la ingenieria?</a:t>
            </a:r>
          </a:p>
        </p:txBody>
      </p:sp>
      <p:sp>
        <p:nvSpPr>
          <p:cNvPr id="12" name="Rectangle 11"/>
          <p:cNvSpPr/>
          <p:nvPr/>
        </p:nvSpPr>
        <p:spPr>
          <a:xfrm>
            <a:off x="4526280" y="263347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743200"/>
            <a:ext cx="3291840" cy="3474720"/>
          </a:xfrm>
          <a:prstGeom prst="rect">
            <a:avLst/>
          </a:prstGeom>
          <a:noFill/>
        </p:spPr>
        <p:txBody>
          <a:bodyPr wrap="square">
            <a:spAutoFit/>
          </a:bodyPr>
          <a:lstStyle/>
          <a:p>
            <a:pPr algn="l"/>
            <a:r>
              <a:rPr sz="1300" b="0">
                <a:solidFill>
                  <a:srgbClr val="FFFFFF"/>
                </a:solidFill>
                <a:latin typeface="Calibri"/>
              </a:rPr>
              <a:t>Es un problema de acceso, procesamiento y
presentacion de informacion.
Las posiciones de candidatos existen en el
registro publico -- falta la intermediacion.</a:t>
            </a:r>
          </a:p>
        </p:txBody>
      </p:sp>
      <p:sp>
        <p:nvSpPr>
          <p:cNvPr id="14" name="Rectangle 13"/>
          <p:cNvSpPr/>
          <p:nvPr/>
        </p:nvSpPr>
        <p:spPr>
          <a:xfrm>
            <a:off x="8229600" y="1874519"/>
            <a:ext cx="3657600" cy="457200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993392"/>
            <a:ext cx="3291840" cy="594360"/>
          </a:xfrm>
          <a:prstGeom prst="rect">
            <a:avLst/>
          </a:prstGeom>
          <a:noFill/>
        </p:spPr>
        <p:txBody>
          <a:bodyPr wrap="square">
            <a:spAutoFit/>
          </a:bodyPr>
          <a:lstStyle/>
          <a:p>
            <a:pPr algn="l"/>
            <a:r>
              <a:rPr sz="1400" b="1">
                <a:solidFill>
                  <a:srgbClr val="FFFFFF"/>
                </a:solidFill>
                <a:latin typeface="Calibri"/>
              </a:rPr>
              <a:t>Por que ahora?</a:t>
            </a:r>
          </a:p>
        </p:txBody>
      </p:sp>
      <p:sp>
        <p:nvSpPr>
          <p:cNvPr id="16" name="Rectangle 15"/>
          <p:cNvSpPr/>
          <p:nvPr/>
        </p:nvSpPr>
        <p:spPr>
          <a:xfrm>
            <a:off x="8412480" y="263347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743200"/>
            <a:ext cx="3291840" cy="3474720"/>
          </a:xfrm>
          <a:prstGeom prst="rect">
            <a:avLst/>
          </a:prstGeom>
          <a:noFill/>
        </p:spPr>
        <p:txBody>
          <a:bodyPr wrap="square">
            <a:spAutoFit/>
          </a:bodyPr>
          <a:lstStyle/>
          <a:p>
            <a:pPr algn="l"/>
            <a:r>
              <a:rPr sz="1300" b="0">
                <a:solidFill>
                  <a:srgbClr val="FFFFFF"/>
                </a:solidFill>
                <a:latin typeface="Calibri"/>
              </a:rPr>
              <a:t>Chile tuvo el peor registro de votos nulos
de su historia en 2024.
Ningunaherramienta activa cubria el contexto.
El espacio estaba literalmente vacio.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HIPOTESIS INICIALES</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FFFFFF"/>
                </a:solidFill>
                <a:latin typeface="Calibri"/>
              </a:rPr>
              <a:t>Las preguntas que guiaron la investigacion</a:t>
            </a:r>
          </a:p>
        </p:txBody>
      </p:sp>
      <p:sp>
        <p:nvSpPr>
          <p:cNvPr id="5" name="Rectangle 4"/>
          <p:cNvSpPr/>
          <p:nvPr/>
        </p:nvSpPr>
        <p:spPr>
          <a:xfrm>
            <a:off x="457200" y="1508760"/>
            <a:ext cx="3657600" cy="50292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3291840" cy="384048"/>
          </a:xfrm>
          <a:prstGeom prst="rect">
            <a:avLst/>
          </a:prstGeom>
          <a:noFill/>
        </p:spPr>
        <p:txBody>
          <a:bodyPr wrap="square">
            <a:spAutoFit/>
          </a:bodyPr>
          <a:lstStyle/>
          <a:p>
            <a:pPr algn="l"/>
            <a:r>
              <a:rPr sz="1200" b="1">
                <a:solidFill>
                  <a:srgbClr val="FFFFFF"/>
                </a:solidFill>
                <a:latin typeface="Calibri"/>
              </a:rPr>
              <a:t>HIPOTESIS 1</a:t>
            </a:r>
          </a:p>
        </p:txBody>
      </p:sp>
      <p:sp>
        <p:nvSpPr>
          <p:cNvPr id="7" name="Rectangle 6"/>
          <p:cNvSpPr/>
          <p:nvPr/>
        </p:nvSpPr>
        <p:spPr>
          <a:xfrm>
            <a:off x="640080" y="202996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21408"/>
            <a:ext cx="3291840" cy="2286000"/>
          </a:xfrm>
          <a:prstGeom prst="rect">
            <a:avLst/>
          </a:prstGeom>
          <a:noFill/>
        </p:spPr>
        <p:txBody>
          <a:bodyPr wrap="square">
            <a:spAutoFit/>
          </a:bodyPr>
          <a:lstStyle/>
          <a:p>
            <a:pPr algn="l"/>
            <a:r>
              <a:rPr sz="1300" b="0">
                <a:solidFill>
                  <a:srgbClr val="FFFFFF"/>
                </a:solidFill>
                <a:latin typeface="Calibri"/>
              </a:rPr>
              <a:t>Si los ciudadanos tuvieran acceso facil
a informacion estructurada sobre candidatos,
tomarian decisiones mas informadas.</a:t>
            </a:r>
          </a:p>
        </p:txBody>
      </p:sp>
      <p:sp>
        <p:nvSpPr>
          <p:cNvPr id="9" name="Rectangle 8"/>
          <p:cNvSpPr/>
          <p:nvPr/>
        </p:nvSpPr>
        <p:spPr>
          <a:xfrm>
            <a:off x="640080" y="44348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553712"/>
            <a:ext cx="3291840" cy="1691640"/>
          </a:xfrm>
          <a:prstGeom prst="rect">
            <a:avLst/>
          </a:prstGeom>
          <a:noFill/>
        </p:spPr>
        <p:txBody>
          <a:bodyPr wrap="square">
            <a:spAutoFit/>
          </a:bodyPr>
          <a:lstStyle/>
          <a:p>
            <a:pPr algn="l"/>
            <a:r>
              <a:rPr sz="1200" b="1">
                <a:solidFill>
                  <a:srgbClr val="FFFFFF"/>
                </a:solidFill>
                <a:latin typeface="Calibri"/>
              </a:rPr>
              <a:t>Valida pero incompleta --
el como importa tanto como el que.</a:t>
            </a:r>
          </a:p>
        </p:txBody>
      </p:sp>
      <p:sp>
        <p:nvSpPr>
          <p:cNvPr id="11" name="Rectangle 10"/>
          <p:cNvSpPr/>
          <p:nvPr/>
        </p:nvSpPr>
        <p:spPr>
          <a:xfrm>
            <a:off x="4343400" y="1508760"/>
            <a:ext cx="3657600" cy="50292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627632"/>
            <a:ext cx="3291840" cy="384048"/>
          </a:xfrm>
          <a:prstGeom prst="rect">
            <a:avLst/>
          </a:prstGeom>
          <a:noFill/>
        </p:spPr>
        <p:txBody>
          <a:bodyPr wrap="square">
            <a:spAutoFit/>
          </a:bodyPr>
          <a:lstStyle/>
          <a:p>
            <a:pPr algn="l"/>
            <a:r>
              <a:rPr sz="1200" b="1">
                <a:solidFill>
                  <a:srgbClr val="FFFFFF"/>
                </a:solidFill>
                <a:latin typeface="Calibri"/>
              </a:rPr>
              <a:t>HIPOTESIS 2</a:t>
            </a:r>
          </a:p>
        </p:txBody>
      </p:sp>
      <p:sp>
        <p:nvSpPr>
          <p:cNvPr id="13" name="Rectangle 12"/>
          <p:cNvSpPr/>
          <p:nvPr/>
        </p:nvSpPr>
        <p:spPr>
          <a:xfrm>
            <a:off x="4526280" y="202996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121408"/>
            <a:ext cx="3291840" cy="2286000"/>
          </a:xfrm>
          <a:prstGeom prst="rect">
            <a:avLst/>
          </a:prstGeom>
          <a:noFill/>
        </p:spPr>
        <p:txBody>
          <a:bodyPr wrap="square">
            <a:spAutoFit/>
          </a:bodyPr>
          <a:lstStyle/>
          <a:p>
            <a:pPr algn="l"/>
            <a:r>
              <a:rPr sz="1300" b="0">
                <a:solidFill>
                  <a:srgbClr val="FFFFFF"/>
                </a:solidFill>
                <a:latin typeface="Calibri"/>
              </a:rPr>
              <a:t>Si reducimos la friccion del acceso
a la informacion electoral,
mas personas participarian activamente.</a:t>
            </a:r>
          </a:p>
        </p:txBody>
      </p:sp>
      <p:sp>
        <p:nvSpPr>
          <p:cNvPr id="15" name="Rectangle 14"/>
          <p:cNvSpPr/>
          <p:nvPr/>
        </p:nvSpPr>
        <p:spPr>
          <a:xfrm>
            <a:off x="4526280" y="44348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4553712"/>
            <a:ext cx="3291840" cy="1691640"/>
          </a:xfrm>
          <a:prstGeom prst="rect">
            <a:avLst/>
          </a:prstGeom>
          <a:noFill/>
        </p:spPr>
        <p:txBody>
          <a:bodyPr wrap="square">
            <a:spAutoFit/>
          </a:bodyPr>
          <a:lstStyle/>
          <a:p>
            <a:pPr algn="l"/>
            <a:r>
              <a:rPr sz="1200" b="1">
                <a:solidFill>
                  <a:srgbClr val="FFFFFF"/>
                </a:solidFill>
                <a:latin typeface="Calibri"/>
              </a:rPr>
              <a:t>Valida -- pero 'reducir friccion'
puede significar muchas cosas.</a:t>
            </a:r>
          </a:p>
        </p:txBody>
      </p:sp>
      <p:sp>
        <p:nvSpPr>
          <p:cNvPr id="17" name="Rectangle 16"/>
          <p:cNvSpPr/>
          <p:nvPr/>
        </p:nvSpPr>
        <p:spPr>
          <a:xfrm>
            <a:off x="8229600" y="1508760"/>
            <a:ext cx="3657600" cy="50292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1627632"/>
            <a:ext cx="3291840" cy="384048"/>
          </a:xfrm>
          <a:prstGeom prst="rect">
            <a:avLst/>
          </a:prstGeom>
          <a:noFill/>
        </p:spPr>
        <p:txBody>
          <a:bodyPr wrap="square">
            <a:spAutoFit/>
          </a:bodyPr>
          <a:lstStyle/>
          <a:p>
            <a:pPr algn="l"/>
            <a:r>
              <a:rPr sz="1200" b="1">
                <a:solidFill>
                  <a:srgbClr val="FFFFFF"/>
                </a:solidFill>
                <a:latin typeface="Calibri"/>
              </a:rPr>
              <a:t>HIPOTESIS 3</a:t>
            </a:r>
          </a:p>
        </p:txBody>
      </p:sp>
      <p:sp>
        <p:nvSpPr>
          <p:cNvPr id="19" name="Rectangle 18"/>
          <p:cNvSpPr/>
          <p:nvPr/>
        </p:nvSpPr>
        <p:spPr>
          <a:xfrm>
            <a:off x="8412480" y="202996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2121408"/>
            <a:ext cx="3291840" cy="2286000"/>
          </a:xfrm>
          <a:prstGeom prst="rect">
            <a:avLst/>
          </a:prstGeom>
          <a:noFill/>
        </p:spPr>
        <p:txBody>
          <a:bodyPr wrap="square">
            <a:spAutoFit/>
          </a:bodyPr>
          <a:lstStyle/>
          <a:p>
            <a:pPr algn="l"/>
            <a:r>
              <a:rPr sz="1300" b="0">
                <a:solidFill>
                  <a:srgbClr val="FFFFFF"/>
                </a:solidFill>
                <a:latin typeface="Calibri"/>
              </a:rPr>
              <a:t>Si comparamos sistematicamente
las posturas del votante con las del candidato,
el resultado sera mas util que cualquier ranking externo.</a:t>
            </a:r>
          </a:p>
        </p:txBody>
      </p:sp>
      <p:sp>
        <p:nvSpPr>
          <p:cNvPr id="21" name="Rectangle 20"/>
          <p:cNvSpPr/>
          <p:nvPr/>
        </p:nvSpPr>
        <p:spPr>
          <a:xfrm>
            <a:off x="8412480" y="44348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4553712"/>
            <a:ext cx="3291840" cy="1691640"/>
          </a:xfrm>
          <a:prstGeom prst="rect">
            <a:avLst/>
          </a:prstGeom>
          <a:noFill/>
        </p:spPr>
        <p:txBody>
          <a:bodyPr wrap="square">
            <a:spAutoFit/>
          </a:bodyPr>
          <a:lstStyle/>
          <a:p>
            <a:pPr algn="l"/>
            <a:r>
              <a:rPr sz="1200" b="1">
                <a:solidFill>
                  <a:srgbClr val="FFFFFF"/>
                </a:solidFill>
                <a:latin typeface="Calibri"/>
              </a:rPr>
              <a:t>Esta fue la hipotesis
que se confirmo como correcta.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CONCLUSIONES DE LA ETAPA DE INVESTIGACION</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1C3A52"/>
                </a:solidFill>
                <a:latin typeface="Calibri"/>
              </a:rPr>
              <a:t>Lo que la investigacion demostro</a:t>
            </a:r>
          </a:p>
        </p:txBody>
      </p:sp>
      <p:sp>
        <p:nvSpPr>
          <p:cNvPr id="5" name="Rectangle 4"/>
          <p:cNvSpPr/>
          <p:nvPr/>
        </p:nvSpPr>
        <p:spPr>
          <a:xfrm>
            <a:off x="457200" y="1508760"/>
            <a:ext cx="11247120" cy="1536192"/>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18488"/>
            <a:ext cx="4114800" cy="384048"/>
          </a:xfrm>
          <a:prstGeom prst="rect">
            <a:avLst/>
          </a:prstGeom>
          <a:noFill/>
        </p:spPr>
        <p:txBody>
          <a:bodyPr wrap="square">
            <a:spAutoFit/>
          </a:bodyPr>
          <a:lstStyle/>
          <a:p>
            <a:pPr algn="l"/>
            <a:r>
              <a:rPr sz="1200" b="1">
                <a:solidFill>
                  <a:srgbClr val="FFFFFF"/>
                </a:solidFill>
                <a:latin typeface="Calibri"/>
              </a:rPr>
              <a:t>EL PROBLEMA ES REAL Y MEDIBLE</a:t>
            </a:r>
          </a:p>
        </p:txBody>
      </p:sp>
      <p:sp>
        <p:nvSpPr>
          <p:cNvPr id="7" name="TextBox 6"/>
          <p:cNvSpPr txBox="1"/>
          <p:nvPr/>
        </p:nvSpPr>
        <p:spPr>
          <a:xfrm>
            <a:off x="640080" y="1993392"/>
            <a:ext cx="10789920" cy="987552"/>
          </a:xfrm>
          <a:prstGeom prst="rect">
            <a:avLst/>
          </a:prstGeom>
          <a:noFill/>
        </p:spPr>
        <p:txBody>
          <a:bodyPr wrap="square">
            <a:spAutoFit/>
          </a:bodyPr>
          <a:lstStyle/>
          <a:p>
            <a:pPr algn="l"/>
            <a:r>
              <a:rPr sz="1300" b="0">
                <a:solidFill>
                  <a:srgbClr val="FFFFFF"/>
                </a:solidFill>
                <a:latin typeface="Calibri"/>
              </a:rPr>
              <a:t>+460% de votos nulos para alcalde en 3 anos.
81% expuesto a desinformacion semanalmente.
100% de los entrevistados vio fake news. Los datos son contundentes.</a:t>
            </a:r>
          </a:p>
        </p:txBody>
      </p:sp>
      <p:sp>
        <p:nvSpPr>
          <p:cNvPr id="8" name="Rectangle 7"/>
          <p:cNvSpPr/>
          <p:nvPr/>
        </p:nvSpPr>
        <p:spPr>
          <a:xfrm>
            <a:off x="457200" y="3172968"/>
            <a:ext cx="11247120" cy="153619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82696"/>
            <a:ext cx="4114800" cy="384048"/>
          </a:xfrm>
          <a:prstGeom prst="rect">
            <a:avLst/>
          </a:prstGeom>
          <a:noFill/>
        </p:spPr>
        <p:txBody>
          <a:bodyPr wrap="square">
            <a:spAutoFit/>
          </a:bodyPr>
          <a:lstStyle/>
          <a:p>
            <a:pPr algn="l"/>
            <a:r>
              <a:rPr sz="1200" b="1">
                <a:solidFill>
                  <a:srgbClr val="FFFFFF"/>
                </a:solidFill>
                <a:latin typeface="Calibri"/>
              </a:rPr>
              <a:t>LAS HERRAMIENTAS EXISTENTES SON INSUFICIENTES</a:t>
            </a:r>
          </a:p>
        </p:txBody>
      </p:sp>
      <p:sp>
        <p:nvSpPr>
          <p:cNvPr id="10" name="TextBox 9"/>
          <p:cNvSpPr txBox="1"/>
          <p:nvPr/>
        </p:nvSpPr>
        <p:spPr>
          <a:xfrm>
            <a:off x="640080" y="3657600"/>
            <a:ext cx="10789920" cy="987552"/>
          </a:xfrm>
          <a:prstGeom prst="rect">
            <a:avLst/>
          </a:prstGeom>
          <a:noFill/>
        </p:spPr>
        <p:txBody>
          <a:bodyPr wrap="square">
            <a:spAutoFit/>
          </a:bodyPr>
          <a:lstStyle/>
          <a:p>
            <a:pPr algn="l"/>
            <a:r>
              <a:rPr sz="1300" b="0">
                <a:solidFill>
                  <a:srgbClr val="FFFFFF"/>
                </a:solidFill>
                <a:latin typeface="Calibri"/>
              </a:rPr>
              <a:t>Chile no tenia ninguna VAA activa con metodologia
transparente al momento de iniciar el proyecto.
Las que existieron fueron discontinuadas por falta de sostenibilidad.</a:t>
            </a:r>
          </a:p>
        </p:txBody>
      </p:sp>
      <p:sp>
        <p:nvSpPr>
          <p:cNvPr id="11" name="Rectangle 10"/>
          <p:cNvSpPr/>
          <p:nvPr/>
        </p:nvSpPr>
        <p:spPr>
          <a:xfrm>
            <a:off x="457200" y="4837176"/>
            <a:ext cx="11247120" cy="153619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946904"/>
            <a:ext cx="4114800" cy="384048"/>
          </a:xfrm>
          <a:prstGeom prst="rect">
            <a:avLst/>
          </a:prstGeom>
          <a:noFill/>
        </p:spPr>
        <p:txBody>
          <a:bodyPr wrap="square">
            <a:spAutoFit/>
          </a:bodyPr>
          <a:lstStyle/>
          <a:p>
            <a:pPr algn="l"/>
            <a:r>
              <a:rPr sz="1200" b="1">
                <a:solidFill>
                  <a:srgbClr val="FFFFFF"/>
                </a:solidFill>
                <a:latin typeface="Calibri"/>
              </a:rPr>
              <a:t>EL PROBLEMA ES ABORDABLE DESDE LA INGENIERIA</a:t>
            </a:r>
          </a:p>
        </p:txBody>
      </p:sp>
      <p:sp>
        <p:nvSpPr>
          <p:cNvPr id="13" name="TextBox 12"/>
          <p:cNvSpPr txBox="1"/>
          <p:nvPr/>
        </p:nvSpPr>
        <p:spPr>
          <a:xfrm>
            <a:off x="640080" y="5321808"/>
            <a:ext cx="10789920" cy="987552"/>
          </a:xfrm>
          <a:prstGeom prst="rect">
            <a:avLst/>
          </a:prstGeom>
          <a:noFill/>
        </p:spPr>
        <p:txBody>
          <a:bodyPr wrap="square">
            <a:spAutoFit/>
          </a:bodyPr>
          <a:lstStyle/>
          <a:p>
            <a:pPr algn="l"/>
            <a:r>
              <a:rPr sz="1300" b="0">
                <a:solidFill>
                  <a:srgbClr val="FFFFFF"/>
                </a:solidFill>
                <a:latin typeface="Calibri"/>
              </a:rPr>
              <a:t>No es falta de informacion primaria: las posiciones de candidatos
existen en el registro publico. Es falta de intermediacion.
Eso es exactamente lo que el software puede resolver.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914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10332720" cy="1828800"/>
          </a:xfrm>
          <a:prstGeom prst="rect">
            <a:avLst/>
          </a:prstGeom>
          <a:noFill/>
        </p:spPr>
        <p:txBody>
          <a:bodyPr wrap="square">
            <a:spAutoFit/>
          </a:bodyPr>
          <a:lstStyle/>
          <a:p>
            <a:pPr algn="ctr"/>
            <a:r>
              <a:rPr sz="4400" b="1">
                <a:solidFill>
                  <a:srgbClr val="FFFFFF"/>
                </a:solidFill>
                <a:latin typeface="Calibri"/>
              </a:rPr>
              <a:t>Con el problema documentado,
la pregunta era: como resolverlo.</a:t>
            </a:r>
          </a:p>
        </p:txBody>
      </p:sp>
      <p:sp>
        <p:nvSpPr>
          <p:cNvPr id="5" name="TextBox 4"/>
          <p:cNvSpPr txBox="1"/>
          <p:nvPr/>
        </p:nvSpPr>
        <p:spPr>
          <a:xfrm>
            <a:off x="1371600" y="3291840"/>
            <a:ext cx="9418320" cy="1463040"/>
          </a:xfrm>
          <a:prstGeom prst="rect">
            <a:avLst/>
          </a:prstGeom>
          <a:noFill/>
        </p:spPr>
        <p:txBody>
          <a:bodyPr wrap="square">
            <a:spAutoFit/>
          </a:bodyPr>
          <a:lstStyle/>
          <a:p>
            <a:pPr algn="ctr"/>
            <a:r>
              <a:rPr sz="1800" b="0">
                <a:solidFill>
                  <a:srgbClr val="CBD1CD"/>
                </a:solidFill>
                <a:latin typeface="Calibri"/>
              </a:rPr>
              <a:t>La respuesta no llego de inmediato.
Evolucion a traves de dos propuestas descartadas
antes de encontrar el modelo correcto.</a:t>
            </a:r>
          </a:p>
        </p:txBody>
      </p:sp>
      <p:sp>
        <p:nvSpPr>
          <p:cNvPr id="6" name="Rectangle 5"/>
          <p:cNvSpPr/>
          <p:nvPr/>
        </p:nvSpPr>
        <p:spPr>
          <a:xfrm>
            <a:off x="4754880" y="4892040"/>
            <a:ext cx="2679192"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074920"/>
            <a:ext cx="9418320" cy="457200"/>
          </a:xfrm>
          <a:prstGeom prst="rect">
            <a:avLst/>
          </a:prstGeom>
          <a:noFill/>
        </p:spPr>
        <p:txBody>
          <a:bodyPr wrap="square">
            <a:spAutoFit/>
          </a:bodyPr>
          <a:lstStyle/>
          <a:p>
            <a:pPr algn="ctr"/>
            <a:r>
              <a:rPr sz="1600" b="1">
                <a:solidFill>
                  <a:srgbClr val="3A9E7A"/>
                </a:solidFill>
                <a:latin typeface="Calibri"/>
              </a:rPr>
              <a:t>Continua en: 02 Evolucion de la Idea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