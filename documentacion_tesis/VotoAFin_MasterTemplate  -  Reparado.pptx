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3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349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Template Master del sistema visual VotoAFin. Cada slide muestra un layout reutilizable con placeholders. Duplicar el slide y reemplazar el contenido de los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Paleta oficial. La identidad visual fue disenada con imparcialidad activa, no neutralidad pasiva.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fuente Calibri garantiza compatibilidad universal en PowerPoint. En implementaciones web usar Fraunces para titulos y Inter para cuerpo.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Usar estos componentes como bloques base. Nunca modificar los colores fuera de la paleta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COVER: Reemplazar los placeholders con titulo, subtitulo, autor y fecha. El elemento radar (circulos concentricos) es decorativo y puede moverse o eliminarse. Mantener la barra de acento superior e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DIVIDER: Usar para iniciar un capitulo o seccion. El numero grande puede usarse o eliminarse. Variar el color de fondo entre secciones si se desea diferenciacion.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AGENDA: Duplicar o eliminar filas segun necesidad. Cambiar el color de la franja izquierda para diferenciar bloques tematicos.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TITULO GRANDE: Solo una idea. Sin bullets. Sin cuerpo. Usar para momentos de transicion o afirmaciones clave. El texto debe poder leerse desde el fondo de la sala.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CONTENIDO GENERAL: Layout de proposito general. El area de contenido puede contener texto, bullets minimos o un elemento visual. Principio: una idea principal por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DOS COLUMNAS: Para comparaciones, ejemplos paralelos o dos bloques de contenido. Mantener equilibrio visual entre ambas columnas.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COLUMNAS: Para tres dimensiones, opciones o etapas paralelas. Cambiar los colores del header de cada columna segun la narrativa.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IMAGEN FULL: La imagen ocupa todo el slide. El caption oscuro en la parte inferior es opcional. Util para mockups, capturas de pantalla o fotografias de impacto.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IMAGEN + TEXTO: 55/40 split. Imagen a la izquierda, texto a la derecha. Invertir horizontalmente si la composicion lo requiere.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COMPARACION A/B: Para antes/despues, alternativas o contrastes. Color rojo-izquierda indica lo que se descarto o el estado anterior. Color verde-derecha indica la opcion adoptada o el estado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TIMELINE HORIZONTAL: Para cronologias o fases secuenciales. Agregar o quitar nodos segun el numero de etapas.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TIMELINE VERTICAL: Para procesos o historias cronologicas. La linea vertical central conecta los nodos. Usar color distinto por etapa para diferenciacion.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ROADMAP: Para mostrar evolucion del producto o proyecto en versiones/fases. Cambiar etiquetas de version y nombres de fase segun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PROCESO: Para metodologias, procesos o pasos secuenciales. El grid 3+2 puede adaptarse a 4+1 o 2+2+1 segun necesidad.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FLUJO: Para procesos lineales o funnels. Adaptar a embudo (funnel) reduciendo el ancho de cada bloque sucesivo.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USER JOURNEY: Para mapear la experiencia del usuario en etapas. Anadir mas filas segun dimensiones del journey (oportunidades, touchpoints,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ARQUITECTURA: Para diagramas de arquitectura en capas. Anadir una cuarta columna si la arquitectura tiene mas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SISTEMA: Para diagramas de componentes o sistemas interconectados. Mover los nodos satelite segun la estructura del sistema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DASHBOARD KPIs: Para mostrar metricas y resultados clave. Reemplazar [00] con el numero real. Reemplazar [Metrica N] con el nombre del indicador.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GRAFICO DE BARRAS: Este es un placeholder visual. Insertar un grafico real de PowerPoint o una imagen del grafico generado externamente. Mantener la paleta de colores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GRAFICO DE LINEAS: Placeholder visual. Insertar grafico real de PowerPoint o imagen exportada.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GRAFICO CIRCULAR: Placeholder con donut visual. Insertar grafico real de PowerPoint para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RESULTADOS: Para destacar tres metricas o logros clave. El numero grande debe ser la metrica mas impactante.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HALLAZGOS: Para presentar descubrimientos de investigacion. Cada bloque es un hallazgo autonomo. Usar maximo 4 por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INSIGHTS: Para presentar conclusiones o aprendizajes clave. Cada insight debe poder leerse independientemente.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QUOTE: Para citas impactantes o afirmaciones clave. El texto debe ser breve y poder leerse desde el fondo de la sala. Maximo 30-40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CONCLUSIONES: Una conclusion por bloque. Maximo 3-4 conclusiones por slide para mantener claridad.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PROXIMOS PASOS: Para roadmap de acciones o fases futuras. Agregar duración y responsable si aplica.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PREGUNTAS: Slide limpia para el momento de Q&amp;A. El unico contenido es el titulo y datos de contacto del presentador.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CLOSING: Slide final. Una sola idea memorable. No agregar informacion adicional. El publico debe irse con una sola cosa en 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Animaciones recomendadas. La regla de oro: si la animacion no suma claridad, sobra. Nunca usar efectos 3D, spirales, boomerangs ni nada que distraiga del mensaje.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680960" y="1861718"/>
            <a:ext cx="3840480" cy="3226003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21040" y="2399385"/>
            <a:ext cx="2560320" cy="21506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0" y="2937052"/>
            <a:ext cx="1280160" cy="1075334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9E7A"/>
                </a:solidFill>
                <a:latin typeface="Calibri"/>
              </a:rPr>
              <a:t>MASTER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2768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VotoAFin
Sistema de Presentacion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649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1CD"/>
                </a:solidFill>
                <a:latin typeface="Calibri"/>
              </a:rPr>
              <a:t>36 layouts editables  --  Sistema visual completo  --  Agosto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931920"/>
            <a:ext cx="45720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01-04  Guias del sistema (colores, tipografia, componentes)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45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05-10  Layouts de estructura (cover, agenda, contenido, columnas)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8406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11-18  Layouts de proceso (timelines, roadmap, flujo, arquitectura)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2975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19-25  Layouts de datos (KPIs, graficos, resultados, hallazgos)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618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1CD"/>
                </a:solidFill>
                <a:latin typeface="Calibri"/>
              </a:rPr>
              <a:t>26-36  Layouts de cierre (quote, conclusiones, preguntas, closing)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SISTEMA DE COLORES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Paleta oficial VotoAFin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COLORES PRIMARIOS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212848" cy="9601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#1C3A52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Azul Pizarron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Fondos hero, headers oscuros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600200"/>
            <a:ext cx="2212848" cy="96012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#2E5F7E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Azul Petroleo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Color primario, CTAs, bordes activos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600200"/>
            <a:ext cx="2212848" cy="9601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#3A9E7A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Verde Civico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Acento de marca, logros, confirmacion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600200"/>
            <a:ext cx="2212848" cy="960120"/>
          </a:xfrm>
          <a:prstGeom prst="rect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59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#F5F7F5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Fondo Suave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Background de slides claras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600200"/>
            <a:ext cx="2212848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2606040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A2B33"/>
                </a:solidFill>
                <a:latin typeface="Calibri"/>
              </a:rPr>
              <a:t>#FFFFFF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90779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3A52"/>
                </a:solidFill>
                <a:latin typeface="Calibri"/>
              </a:rPr>
              <a:t>Blanco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200400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B73"/>
                </a:solidFill>
                <a:latin typeface="Calibri"/>
              </a:rPr>
              <a:t>Cards, modals, superficies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307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COLORES SEMANTICOS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96512"/>
            <a:ext cx="1783080" cy="713232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Success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#6B9B7A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5728" y="4096512"/>
            <a:ext cx="1783080" cy="71323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95728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Warning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5728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#C89B5C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4096512"/>
            <a:ext cx="1783080" cy="71323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34256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Danger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#B85C5C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4096512"/>
            <a:ext cx="1783080" cy="713232"/>
          </a:xfrm>
          <a:prstGeom prst="rect">
            <a:avLst/>
          </a:prstGeom>
          <a:solidFill>
            <a:srgbClr val="1A2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72784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Texto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#1A2B33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2" y="4096512"/>
            <a:ext cx="1783080" cy="713232"/>
          </a:xfrm>
          <a:prstGeom prst="rect">
            <a:avLst/>
          </a:prstGeom>
          <a:solidFill>
            <a:srgbClr val="5A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11312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Texto2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#5A6B73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4096512"/>
            <a:ext cx="1783080" cy="713232"/>
          </a:xfrm>
          <a:prstGeom prst="rect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49840" y="48463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3A52"/>
                </a:solidFill>
                <a:latin typeface="Calibri"/>
              </a:rPr>
              <a:t>Texto3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512064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8A9199"/>
                </a:solidFill>
                <a:latin typeface="Calibri"/>
              </a:rPr>
              <a:t>#8A9199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669280"/>
            <a:ext cx="11247120" cy="65836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" y="577900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REGLAS DE USO: Nunca rojo+azul (tribalismo)  --  Verde civico no es verde de partido  --  Azul pizarron para fondos hero  --  Si un color puede asociarse a un partido politico chileno, esta prohibido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SISTEMA DE TIPOGRAFIA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Escala y jerarquia visual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08175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H1 -- TITULO HERO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72 pt  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408175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Portadas y slides de impacto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39112"/>
            <a:ext cx="11247120" cy="713232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854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H2 -- TITULO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488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44 pt  Bold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854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Header de cada slide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16352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9626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H3 -- SUBTITULO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260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28 pt  SemiBold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9626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Subtitulos y secciones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93591"/>
            <a:ext cx="11247120" cy="713232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3989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H4 -- SECCION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7033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18 pt  Bold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7398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Labels de seccion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70831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5171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Body -- CUERPO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480559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14 pt  Regular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51713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Contenido y bullets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148072"/>
            <a:ext cx="11247120" cy="713232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29437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Caption -- PIE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25780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10 pt  Regular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2943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Fuentes y notas al pie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25312"/>
            <a:ext cx="11247120" cy="713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6071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9E7A"/>
                </a:solidFill>
                <a:latin typeface="Calibri"/>
              </a:rPr>
              <a:t>Tag -- ETIQUETA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603504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9 pt  Bold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607161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1CD"/>
                </a:solidFill>
                <a:latin typeface="Calibri"/>
              </a:rPr>
              <a:t>Labels y badges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528816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C3A52"/>
                </a:solidFill>
                <a:latin typeface="Calibri"/>
              </a:rPr>
              <a:t>FUENTE: Calibri (PowerPoint nativo)  --  En implementacion web: Fraunces (display) + Inter (body)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COMPONENTES VISUALES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Building blocks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44752"/>
            <a:ext cx="1417320" cy="13258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Titulo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3391" y="1444752"/>
            <a:ext cx="1417320" cy="13258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Titulo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202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9584" y="1444752"/>
            <a:ext cx="1417320" cy="132588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1554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Titulo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1920240"/>
            <a:ext cx="1188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STATS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44752"/>
            <a:ext cx="1572768" cy="13258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1508760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99%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21284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8272" y="1444752"/>
            <a:ext cx="1572768" cy="132588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39712" y="1508760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2212848"/>
            <a:ext cx="13898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115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RADAR (ICONO DE MARCA)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1051560"/>
            <a:ext cx="1828800" cy="1645920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921240" y="1339595"/>
            <a:ext cx="1188720" cy="106984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41280" y="1627631"/>
            <a:ext cx="548640" cy="493776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BADGES / ESTADOS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337560"/>
            <a:ext cx="1719072" cy="4389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3337560"/>
            <a:ext cx="1719072" cy="43891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31720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337560"/>
            <a:ext cx="1719072" cy="43891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06240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BAJA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59" y="3337560"/>
            <a:ext cx="1719072" cy="438912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80759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CUMPLIDO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79" y="3337560"/>
            <a:ext cx="1719072" cy="43891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79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PARCIAL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3337560"/>
            <a:ext cx="1719072" cy="438912"/>
          </a:xfrm>
          <a:prstGeom prst="rect">
            <a:avLst/>
          </a:prstGeom>
          <a:solidFill>
            <a:srgbClr val="8A91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3401568"/>
            <a:ext cx="1719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PENDIENTE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005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SEPARADORES Y ACENTOS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343400"/>
            <a:ext cx="4572000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accent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4343400"/>
            <a:ext cx="4572000" cy="54864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9184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primary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343400"/>
            <a:ext cx="4572000" cy="54864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danger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4343400"/>
            <a:ext cx="4572000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6112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neutral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9560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5F7E"/>
                </a:solidFill>
                <a:latin typeface="Calibri"/>
              </a:rPr>
              <a:t>BARRAS DE ACENTO (top/bottom)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303520"/>
            <a:ext cx="11247120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200" y="5742432"/>
            <a:ext cx="11247120" cy="10972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7200" y="6172200"/>
            <a:ext cx="11247120" cy="10972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5440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3"/>
                </a:solidFill>
                <a:latin typeface="Calibri"/>
              </a:rPr>
              <a:t>accent -- verde civico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795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3"/>
                </a:solidFill>
                <a:latin typeface="Calibri"/>
              </a:rPr>
              <a:t>primary -- azul petroleo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3185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A6B73"/>
                </a:solidFill>
                <a:latin typeface="Calibri"/>
              </a:rPr>
              <a:t>danger -- terracota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COVER</a:t>
            </a:r>
          </a:p>
        </p:txBody>
      </p:sp>
      <p:sp>
        <p:nvSpPr>
          <p:cNvPr id="6" name="Oval 5"/>
          <p:cNvSpPr/>
          <p:nvPr/>
        </p:nvSpPr>
        <p:spPr>
          <a:xfrm>
            <a:off x="7680960" y="1861718"/>
            <a:ext cx="3840480" cy="3226003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21040" y="2399385"/>
            <a:ext cx="2560320" cy="21506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961120" y="2937052"/>
            <a:ext cx="1280160" cy="1075334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8A9199"/>
                </a:solidFill>
                <a:latin typeface="Calibri"/>
              </a:rPr>
              <a:t>[Titulo Principal del Proyecto]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B2E3F"/>
                </a:solidFill>
                <a:latin typeface="Calibri"/>
              </a:rPr>
              <a:t>[Subtitulo o descripcion breve]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45720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43C52"/>
                </a:solidFill>
                <a:latin typeface="Calibri"/>
              </a:rPr>
              <a:t>[Autor]  --  [Universidad]  --  [Fecha]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910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43C52"/>
                </a:solidFill>
                <a:latin typeface="Calibri"/>
              </a:rPr>
              <a:t>[Presentacion N de 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63240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SECTION DIVIDER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3A9E7A"/>
                </a:solidFill>
                <a:latin typeface="Calibri"/>
              </a:rPr>
              <a:t>[N]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17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[Nombre de la Seccion]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735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1CD"/>
                </a:solidFill>
                <a:latin typeface="Calibri"/>
              </a:rPr>
              <a:t>[Descripcion breve opcional]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[ETIQUETA DE SECCION]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[Titulo del Orden del Dia]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502920" cy="7772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453895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8132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67128"/>
            <a:ext cx="11247120" cy="777240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67128"/>
            <a:ext cx="502920" cy="7772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32257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35000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35808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035808"/>
            <a:ext cx="502920" cy="777240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319125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2186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04487"/>
            <a:ext cx="11247120" cy="777240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904487"/>
            <a:ext cx="502920" cy="7772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4059935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08736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04]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73168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773168"/>
            <a:ext cx="502920" cy="777240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92861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95604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05]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41848"/>
            <a:ext cx="11247120" cy="777240"/>
          </a:xfrm>
          <a:prstGeom prst="rect">
            <a:avLst/>
          </a:prstGeom>
          <a:solidFill>
            <a:srgbClr val="EA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5641848"/>
            <a:ext cx="502920" cy="777240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5797296"/>
            <a:ext cx="38404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82472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3A52"/>
                </a:solidFill>
                <a:latin typeface="Calibri"/>
              </a:rPr>
              <a:t>[Punto de agenda 06]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TITULO GRANDE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8A9199"/>
                </a:solidFill>
                <a:latin typeface="Calibri"/>
              </a:rPr>
              <a:t>[Una idea principal. Una sola.]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43C52"/>
                </a:solidFill>
                <a:latin typeface="Calibri"/>
              </a:rPr>
              <a:t>[Contexto o dato de apoyo opcional]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[ETIQUETA]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CONTENIDO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[Titulo del Slide]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61872"/>
            <a:ext cx="36576" cy="52578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3776" y="1261872"/>
            <a:ext cx="11210544" cy="525780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707891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CA7"/>
                </a:solidFill>
                <a:latin typeface="Calibri"/>
              </a:rPr>
              <a:t>[Contenido principal: texto, lista o diagrama aqui]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[ETIQUETA]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DOS COLUMNAS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" cy="52852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3776" y="1234440"/>
            <a:ext cx="5541264" cy="528523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69417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CA7"/>
                </a:solidFill>
                <a:latin typeface="Calibri"/>
              </a:rPr>
              <a:t>[Columna izquierda]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36576" cy="52852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36208" y="1234440"/>
            <a:ext cx="5449824" cy="528523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36941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ACA7"/>
                </a:solidFill>
                <a:latin typeface="Calibri"/>
              </a:rPr>
              <a:t>[Columna derecha]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[ETIQUETA]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TRES COLUMNAS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39312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984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6576" cy="47823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3776" y="1737360"/>
            <a:ext cx="3602736" cy="47823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94563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[Columna 01]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639312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984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37360"/>
            <a:ext cx="36576" cy="47823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79976" y="1737360"/>
            <a:ext cx="3602736" cy="47823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394563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[Columna 02]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639312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2984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6576" cy="47823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66175" y="1737360"/>
            <a:ext cx="3602736" cy="47823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3945636"/>
            <a:ext cx="33649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[Columna 03]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IMAGEN FULL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3246120"/>
            <a:ext cx="11914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9199"/>
                </a:solidFill>
                <a:latin typeface="Calibri"/>
              </a:rPr>
              <a:t>[IMAGEN O VISUAL A TODO ANCHO -- sin margenes]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77900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[Titulo o caption]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1CD"/>
                </a:solidFill>
                <a:latin typeface="Calibri"/>
              </a:rPr>
              <a:t>[Fuente o nota]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IMAGEN + TEXTO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36576" cy="64008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384048"/>
            <a:ext cx="6364224" cy="640080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CA7"/>
                </a:solidFill>
                <a:latin typeface="Calibri"/>
              </a:rPr>
              <a:t>[IMAGEN, MOCKUP O VISUAL]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85800"/>
            <a:ext cx="4754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444752"/>
            <a:ext cx="36576" cy="516636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68896" y="1444752"/>
            <a:ext cx="4535424" cy="516636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0" y="384505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[Texto de apoyo, descripcion o bullets]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[COMPARACION]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COMPARACION A/B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 la comparacion]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394960" cy="5285232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[A]  /  ANTES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5029200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8816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 la opcion A
o del estado anterior]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3375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5F7E"/>
                </a:solidFill>
                <a:latin typeface="Calibri"/>
              </a:rP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234440"/>
            <a:ext cx="5394960" cy="52852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353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3A52"/>
                </a:solidFill>
                <a:latin typeface="Calibri"/>
              </a:rPr>
              <a:t>[B]  /  AHORA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73952" y="1847088"/>
            <a:ext cx="5029200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1112" y="38816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 la opcion B
o del estado actual]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[CRONOLOGIA]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TIMELINE HORIZONTAL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73552"/>
            <a:ext cx="10881360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2971800"/>
            <a:ext cx="658368" cy="658368"/>
          </a:xfrm>
          <a:prstGeom prst="ellipse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9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89B5C"/>
                </a:solidFill>
                <a:latin typeface="Calibri"/>
              </a:rPr>
              <a:t>[2021]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39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015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1]</a:t>
            </a:r>
          </a:p>
        </p:txBody>
      </p:sp>
      <p:sp>
        <p:nvSpPr>
          <p:cNvPr id="14" name="Oval 13"/>
          <p:cNvSpPr/>
          <p:nvPr/>
        </p:nvSpPr>
        <p:spPr>
          <a:xfrm>
            <a:off x="2816352" y="2971800"/>
            <a:ext cx="658368" cy="658368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5F7E"/>
                </a:solidFill>
                <a:latin typeface="Calibri"/>
              </a:rPr>
              <a:t>[2022]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04288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50592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2]</a:t>
            </a:r>
          </a:p>
        </p:txBody>
      </p:sp>
      <p:sp>
        <p:nvSpPr>
          <p:cNvPr id="20" name="Oval 19"/>
          <p:cNvSpPr/>
          <p:nvPr/>
        </p:nvSpPr>
        <p:spPr>
          <a:xfrm>
            <a:off x="4992624" y="2971800"/>
            <a:ext cx="658368" cy="6583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02352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A9E7A"/>
                </a:solidFill>
                <a:latin typeface="Calibri"/>
              </a:rPr>
              <a:t>[2023]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26864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3]</a:t>
            </a:r>
          </a:p>
        </p:txBody>
      </p:sp>
      <p:sp>
        <p:nvSpPr>
          <p:cNvPr id="26" name="Oval 25"/>
          <p:cNvSpPr/>
          <p:nvPr/>
        </p:nvSpPr>
        <p:spPr>
          <a:xfrm>
            <a:off x="7168896" y="2971800"/>
            <a:ext cx="658368" cy="658368"/>
          </a:xfrm>
          <a:prstGeom prst="ellipse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78624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C3A52"/>
                </a:solidFill>
                <a:latin typeface="Calibri"/>
              </a:rPr>
              <a:t>[2024]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0256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56832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03136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4]</a:t>
            </a:r>
          </a:p>
        </p:txBody>
      </p:sp>
      <p:sp>
        <p:nvSpPr>
          <p:cNvPr id="32" name="Oval 31"/>
          <p:cNvSpPr/>
          <p:nvPr/>
        </p:nvSpPr>
        <p:spPr>
          <a:xfrm>
            <a:off x="9345167" y="2971800"/>
            <a:ext cx="658368" cy="658368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54895" y="3035808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7" y="2212848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9B7A"/>
                </a:solidFill>
                <a:latin typeface="Calibri"/>
              </a:rPr>
              <a:t>[2025]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96528" y="3822191"/>
            <a:ext cx="36576" cy="24871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833103" y="3822191"/>
            <a:ext cx="1700784" cy="24871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79407" y="488289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[Evento 5]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TIMELINE VERTICAL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[CRONOLOGIA VERTICAL]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2928" y="1234440"/>
            <a:ext cx="73152" cy="54864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42032" y="1389888"/>
            <a:ext cx="658368" cy="658368"/>
          </a:xfrm>
          <a:prstGeom prst="ellipse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46120" y="1371600"/>
            <a:ext cx="36576" cy="11155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82696" y="1371600"/>
            <a:ext cx="7735824" cy="111556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74650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813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89B5C"/>
                </a:solidFill>
                <a:latin typeface="Calibri"/>
              </a:rPr>
              <a:t>[Etapa 01]</a:t>
            </a:r>
          </a:p>
        </p:txBody>
      </p:sp>
      <p:sp>
        <p:nvSpPr>
          <p:cNvPr id="13" name="Oval 12"/>
          <p:cNvSpPr/>
          <p:nvPr/>
        </p:nvSpPr>
        <p:spPr>
          <a:xfrm>
            <a:off x="2542032" y="2715768"/>
            <a:ext cx="658368" cy="658368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46120" y="2697480"/>
            <a:ext cx="36576" cy="11155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82696" y="2697480"/>
            <a:ext cx="7735824" cy="111556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307238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0720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2E5F7E"/>
                </a:solidFill>
                <a:latin typeface="Calibri"/>
              </a:rPr>
              <a:t>[Etapa 02]</a:t>
            </a:r>
          </a:p>
        </p:txBody>
      </p:sp>
      <p:sp>
        <p:nvSpPr>
          <p:cNvPr id="18" name="Oval 17"/>
          <p:cNvSpPr/>
          <p:nvPr/>
        </p:nvSpPr>
        <p:spPr>
          <a:xfrm>
            <a:off x="2542032" y="4041648"/>
            <a:ext cx="658368" cy="6583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4023360"/>
            <a:ext cx="36576" cy="11155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82696" y="4023360"/>
            <a:ext cx="7735824" cy="111556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439826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3308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3A9E7A"/>
                </a:solidFill>
                <a:latin typeface="Calibri"/>
              </a:rPr>
              <a:t>[Etapa 03]</a:t>
            </a:r>
          </a:p>
        </p:txBody>
      </p:sp>
      <p:sp>
        <p:nvSpPr>
          <p:cNvPr id="23" name="Oval 22"/>
          <p:cNvSpPr/>
          <p:nvPr/>
        </p:nvSpPr>
        <p:spPr>
          <a:xfrm>
            <a:off x="2542032" y="5367527"/>
            <a:ext cx="658368" cy="658368"/>
          </a:xfrm>
          <a:prstGeom prst="ellipse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46120" y="5349240"/>
            <a:ext cx="36576" cy="11155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82696" y="5349240"/>
            <a:ext cx="7735824" cy="111556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29000" y="5724144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5896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C3A52"/>
                </a:solidFill>
                <a:latin typeface="Calibri"/>
              </a:rPr>
              <a:t>[Etapa 04]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[ROADMAP]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del Roadmap]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532180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[Fase Inicial]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514600"/>
            <a:ext cx="2487168" cy="38404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251959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[Items del
roadmap aqui]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2743200" cy="53218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74519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[Expansion]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0" y="2514600"/>
            <a:ext cx="2487168" cy="38404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11879" y="4251959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[Items del
roadmap aqui]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34440"/>
            <a:ext cx="2743200" cy="53218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74519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[Mejoras]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514600"/>
            <a:ext cx="2487168" cy="38404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251959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[Items del
roadmap aqui]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234440"/>
            <a:ext cx="2743200" cy="532180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3544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v1.0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874519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[Lanzamiento]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395728"/>
            <a:ext cx="21945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35440" y="2514600"/>
            <a:ext cx="2487168" cy="38404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72600" y="4251959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[Items del
roadmap aqui]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[PROCESO / METODOLOGIA]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PROCESO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del Proceso]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47548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3776" y="1737360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597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3657600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280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37360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79976" y="1737360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80" y="24597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657600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280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66175" y="1737360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245973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03]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21608"/>
            <a:ext cx="3657600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3767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04]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24528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3776" y="4224528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9469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04]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721608"/>
            <a:ext cx="3657600" cy="47548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0" y="3767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72" y="3767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[Paso 05]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224528"/>
            <a:ext cx="36576" cy="181051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79976" y="4224528"/>
            <a:ext cx="3621024" cy="1810512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494690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CA7"/>
                </a:solidFill>
                <a:latin typeface="Calibri"/>
              </a:rPr>
              <a:t>[Descripcion del paso 05]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[FLUJO]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FLUJO / EMBUDO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 del Flujo]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2980944"/>
            <a:ext cx="2926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88920" y="2907792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084831"/>
            <a:ext cx="2103120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[Entrada]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980944"/>
            <a:ext cx="2926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0" y="2907792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8920" y="2084831"/>
            <a:ext cx="2103120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7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[Paso 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79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2]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59" y="2980944"/>
            <a:ext cx="2926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59" y="2907792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20640" y="2084831"/>
            <a:ext cx="2103120" cy="47548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9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7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[Paso 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57800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3]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2980944"/>
            <a:ext cx="29260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84080" y="2907792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52359" y="2084831"/>
            <a:ext cx="2103120" cy="47548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43799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[Paso 4]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59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19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4]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84080" y="2084831"/>
            <a:ext cx="2103120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875519" y="214884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42448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[Salida]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2633472"/>
            <a:ext cx="2103120" cy="3822191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21240" y="4361688"/>
            <a:ext cx="18287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[Detalle
5]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[USER JOURNEY]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[Nombre del Journey]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121408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[Inicio]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3776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3776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1234440"/>
            <a:ext cx="2121408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0360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[Descubrir]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25496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2]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25496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71800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25496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71800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234440"/>
            <a:ext cx="2121408" cy="47548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12079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[Usar]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57216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0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3]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157216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0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57216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0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59" y="1234440"/>
            <a:ext cx="2121408" cy="47548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43799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[Completar]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59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488935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35239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4]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59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488935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35239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59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488935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35239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1234440"/>
            <a:ext cx="2121408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5519" y="12984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[Resultado]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1783080"/>
            <a:ext cx="36576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820655" y="1783080"/>
            <a:ext cx="2084831" cy="157276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966959" y="238658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[Accion
5]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784080" y="3429000"/>
            <a:ext cx="36576" cy="12984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20655" y="3429000"/>
            <a:ext cx="2084831" cy="1298448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66959" y="3895344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[Emocion]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4800600"/>
            <a:ext cx="36576" cy="1783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820655" y="4800600"/>
            <a:ext cx="2084831" cy="178308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966959" y="5509259"/>
            <a:ext cx="1847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CA7"/>
                </a:solidFill>
                <a:latin typeface="Calibri"/>
              </a:rPr>
              <a:t>[Punto de
dolor]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" y="2148840"/>
            <a:ext cx="320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199"/>
                </a:solidFill>
                <a:latin typeface="Calibri"/>
              </a:rPr>
              <a:t>ACCIONES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" y="3630168"/>
            <a:ext cx="320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199"/>
                </a:solidFill>
                <a:latin typeface="Calibri"/>
              </a:rPr>
              <a:t>EMOCIONES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" y="5111496"/>
            <a:ext cx="320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8A9199"/>
                </a:solidFill>
                <a:latin typeface="Calibri"/>
              </a:rPr>
              <a:t>PUNTOS DE DOLOR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[ARQUITECTURA]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52578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[Capa Frontal]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[Tecnologia]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3291840" cy="38862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1559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 la capa frontal]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3657600" cy="52578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3533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[Capa Media]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82880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19385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[Tecnologia]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2395728"/>
            <a:ext cx="3291840" cy="38862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41559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 la capa media / API]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34440"/>
            <a:ext cx="3657600" cy="52578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13533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[Capa Base]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828800"/>
            <a:ext cx="3017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19385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9E7A"/>
                </a:solidFill>
                <a:latin typeface="Calibri"/>
              </a:rPr>
              <a:t>[Tecnologia]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2395728"/>
            <a:ext cx="3291840" cy="38862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49640" y="41559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 la capa de datos / backend]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[SISTEMA / DIAGRAMA]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del Sistema]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2793491"/>
            <a:ext cx="1554480" cy="1399032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0" y="325983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[NUCLEO]</a:t>
            </a:r>
          </a:p>
        </p:txBody>
      </p:sp>
      <p:sp>
        <p:nvSpPr>
          <p:cNvPr id="9" name="Oval 8"/>
          <p:cNvSpPr/>
          <p:nvPr/>
        </p:nvSpPr>
        <p:spPr>
          <a:xfrm>
            <a:off x="2148840" y="1476756"/>
            <a:ext cx="1188720" cy="106984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40" y="18333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A]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359152"/>
            <a:ext cx="289864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286000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86400" y="854964"/>
            <a:ext cx="1188720" cy="1069848"/>
          </a:xfrm>
          <a:prstGeom prst="ellipse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12115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B]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737360"/>
            <a:ext cx="0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664208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23960" y="1476756"/>
            <a:ext cx="1188720" cy="1069848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1833372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C]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359152"/>
            <a:ext cx="289864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2286000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148840" y="4421124"/>
            <a:ext cx="1188720" cy="1069848"/>
          </a:xfrm>
          <a:prstGeom prst="ellipse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48840" y="47777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D]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840480"/>
            <a:ext cx="289864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767328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23960" y="4421124"/>
            <a:ext cx="1188720" cy="1069848"/>
          </a:xfrm>
          <a:prstGeom prst="ellipse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23960" y="477774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[Mod E]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840480"/>
            <a:ext cx="2898648" cy="54864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509760" y="3767328"/>
            <a:ext cx="228600" cy="201168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[DASHBOARD / KPIs]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DASHBOARD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 del Dashboard]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2697480" cy="22128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35607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96896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298448"/>
            <a:ext cx="2697480" cy="22128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435607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96896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B]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98448"/>
            <a:ext cx="2697480" cy="221284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435607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96896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C]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98448"/>
            <a:ext cx="2697480" cy="221284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435607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596896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D]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94176"/>
            <a:ext cx="2697480" cy="221284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831336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92624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3694176"/>
            <a:ext cx="2697480" cy="221284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3831336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992624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F]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694176"/>
            <a:ext cx="2697480" cy="22128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3831336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992624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G]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3694176"/>
            <a:ext cx="2697480" cy="22128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35440" y="3831336"/>
            <a:ext cx="24231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992624"/>
            <a:ext cx="2423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[Metrica H]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[GRAFICO DE BARRAS]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GRAFICO BARRAS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del Grafico]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0789920" cy="36576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61872"/>
            <a:ext cx="36576" cy="525780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2090318"/>
            <a:ext cx="1389888" cy="4447641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2928" y="3611880"/>
            <a:ext cx="1389888" cy="29260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8576" y="1271016"/>
            <a:ext cx="1389888" cy="5266944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3]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4431182"/>
            <a:ext cx="1389888" cy="2106777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1" y="2792577"/>
            <a:ext cx="1389888" cy="3745382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9871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5]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19" y="3260750"/>
            <a:ext cx="1389888" cy="3277209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19" y="6601968"/>
            <a:ext cx="1389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A9199"/>
                </a:solidFill>
                <a:latin typeface="Calibri"/>
              </a:rPr>
              <a:t>[Cat 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Calibri"/>
              </a:rPr>
              <a:t>[Nota o fuente del grafico]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[GRAFICO DE LINEAS]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GRAFICO LINEAS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0789920" cy="36576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61872"/>
            <a:ext cx="36576" cy="525780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475488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0" y="347472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411480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0" y="256032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292608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0" y="1737360"/>
            <a:ext cx="91440" cy="9144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5839" y="4663440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468879" y="3383279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023360" y="4023360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94960" y="2468879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040880" y="2834640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95360" y="1645919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49840" y="2194560"/>
            <a:ext cx="182880" cy="182880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[T1]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[T2]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[T4]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660196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1CD"/>
                </a:solidFill>
                <a:latin typeface="Calibri"/>
              </a:rPr>
              <a:t>[T6]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325880"/>
            <a:ext cx="2743200" cy="182880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2057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199"/>
                </a:solidFill>
                <a:latin typeface="Calibri"/>
              </a:rPr>
              <a:t>[Leyenda]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[GRAFICO CIRCULAR]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GRAFICO CIRCULAR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[Titulo]</a:t>
            </a:r>
          </a:p>
        </p:txBody>
      </p:sp>
      <p:sp>
        <p:nvSpPr>
          <p:cNvPr id="7" name="Oval 6"/>
          <p:cNvSpPr/>
          <p:nvPr/>
        </p:nvSpPr>
        <p:spPr>
          <a:xfrm>
            <a:off x="2194560" y="1923897"/>
            <a:ext cx="3840480" cy="3686860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743200" y="2450592"/>
            <a:ext cx="2743200" cy="2633472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291840" y="2977286"/>
            <a:ext cx="1645920" cy="1580083"/>
          </a:xfrm>
          <a:prstGeom prst="ellipse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03320" y="3372307"/>
            <a:ext cx="822960" cy="790041"/>
          </a:xfrm>
          <a:prstGeom prst="ellipse">
            <a:avLst/>
          </a:prstGeom>
          <a:solidFill>
            <a:srgbClr val="F5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34747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C3A52"/>
                </a:solidFill>
                <a:latin typeface="Calibri"/>
              </a:rPr>
              <a:t>[%]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965960"/>
            <a:ext cx="384048" cy="3840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965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[Categoria A]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96596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E5F7E"/>
                </a:solidFill>
                <a:latin typeface="Calibri"/>
              </a:rPr>
              <a:t>[00%]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971800"/>
            <a:ext cx="384048" cy="3840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29718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[Categoria B]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97180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3A9E7A"/>
                </a:solidFill>
                <a:latin typeface="Calibri"/>
              </a:rPr>
              <a:t>[00%]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3977639"/>
            <a:ext cx="384048" cy="38404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3977639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[Categoria C]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3977639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C89B5C"/>
                </a:solidFill>
                <a:latin typeface="Calibri"/>
              </a:rPr>
              <a:t>[00%]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4983480"/>
            <a:ext cx="384048" cy="384048"/>
          </a:xfrm>
          <a:prstGeom prst="rect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49834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3A52"/>
                </a:solidFill>
                <a:latin typeface="Calibri"/>
              </a:rPr>
              <a:t>[Categoria 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49834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B9B7A"/>
                </a:solidFill>
                <a:latin typeface="Calibri"/>
              </a:rPr>
              <a:t>[00%]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[RESULTADOS]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 de Resultados]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528523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[Resultado A]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3291840" cy="22402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50063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del
resultado obtenido]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657600" cy="5285232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38988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015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[Resultado B]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4069080"/>
            <a:ext cx="3291840" cy="22402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50063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del
resultado obtenido]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34440"/>
            <a:ext cx="3657600" cy="5285232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38988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[00]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40156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[Resultado C]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069080"/>
            <a:ext cx="3291840" cy="22402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500634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[Descripcion del
resultado obtenido]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[HALLAZGOS]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HALLAZGOS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 Hallazgos]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577840" cy="475488"/>
          </a:xfrm>
          <a:prstGeom prst="rect">
            <a:avLst/>
          </a:prstGeom>
          <a:solidFill>
            <a:srgbClr val="B8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930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2893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[Hallazgo 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3776" y="1737360"/>
            <a:ext cx="5541264" cy="2084831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[Descripcion del hallazgo 01]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577840" cy="47548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289304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2893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[Hallazgo 02]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36576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45936" y="1737360"/>
            <a:ext cx="5541264" cy="2084831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59689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[Descripcion del hallazgo 02]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95928"/>
            <a:ext cx="5577840" cy="47548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050791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5079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[Hallazgo 03]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98848"/>
            <a:ext cx="36576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3776" y="4498848"/>
            <a:ext cx="5541264" cy="2084831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358383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[Descripcion del hallazgo 03]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995928"/>
            <a:ext cx="5577840" cy="47548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050791"/>
            <a:ext cx="566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4050791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[Hallazgo 04]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498848"/>
            <a:ext cx="36576" cy="2084831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45936" y="4498848"/>
            <a:ext cx="5541264" cy="2084831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5358383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CA7"/>
                </a:solidFill>
                <a:latin typeface="Calibri"/>
              </a:rPr>
              <a:t>[Descripcion del hallazgo 04]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[INSIGHTS]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[Titulo]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157276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8132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[Insight 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920240"/>
            <a:ext cx="9875520" cy="7772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19" y="2125979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del insight con evidencia de apoyo]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1247120" cy="157276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36976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23697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[Insight 02]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3675887"/>
            <a:ext cx="9875520" cy="7772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19" y="3881627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del insight con evidencia de apoyo]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64608"/>
            <a:ext cx="11247120" cy="157276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992624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9262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[Insight 03]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5431536"/>
            <a:ext cx="9875520" cy="7772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19" y="5637275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del insight con evidencia de apoyo]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QUOTE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09728" cy="475488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9199"/>
                </a:solidFill>
                <a:latin typeface="Calibri"/>
              </a:rPr>
              <a:t>"[Cita o afirmacion de impacto que define el mensaje central del slide]"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45152"/>
            <a:ext cx="32004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28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43C52"/>
                </a:solidFill>
                <a:latin typeface="Calibri"/>
              </a:rPr>
              <a:t>[Atribucion -- Nombre, Rol o Fuente]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[CONCLUSIONES]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[Titulo de Conclusiones]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11247120" cy="16002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173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[Conclusion 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828800"/>
            <a:ext cx="9875520" cy="8686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19" y="208026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concisa de la conclusion]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54096"/>
            <a:ext cx="11247120" cy="160020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729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[Conclusion 02]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3584448"/>
            <a:ext cx="9875520" cy="8686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45919" y="3835907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concisa de la conclusion]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09744"/>
            <a:ext cx="11247120" cy="160020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928616"/>
            <a:ext cx="713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286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[Conclusion 03]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5340096"/>
            <a:ext cx="9875520" cy="86868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19" y="5591555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A9199"/>
                </a:solidFill>
                <a:latin typeface="Calibri"/>
              </a:rPr>
              <a:t>[Descripcion concisa de la conclusion]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9E7A"/>
                </a:solidFill>
                <a:latin typeface="Calibri"/>
              </a:rPr>
              <a:t>[PROXIMOS PASOS]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PROXIMOS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[Que sigue]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532180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[Fase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38528"/>
            <a:ext cx="2487168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97306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[Acciones,
entregables
y responsables]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2743200" cy="53218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[Fase 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938528"/>
            <a:ext cx="2487168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79" y="397306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[Acciones,
entregables
y responsables]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2743200" cy="532180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508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[Fase 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938528"/>
            <a:ext cx="2487168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97306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[Acciones,
entregables
y responsables]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34440"/>
            <a:ext cx="2743200" cy="532180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353312"/>
            <a:ext cx="2487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[Fase 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938528"/>
            <a:ext cx="2487168" cy="4434840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397306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9199"/>
                </a:solidFill>
                <a:latin typeface="Calibri"/>
              </a:rPr>
              <a:t>[Acciones,
entregables
y responsables]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8A9199"/>
                </a:solidFill>
                <a:latin typeface="Calibri"/>
              </a:rPr>
              <a:t>[Preguntas]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50992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43C52"/>
                </a:solidFill>
                <a:latin typeface="Calibri"/>
              </a:rPr>
              <a:t>[contacto@proyecto.com  --  github.com/proyecto  --  licencia]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199632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2E3F"/>
                </a:solidFill>
                <a:latin typeface="Calibri"/>
              </a:rPr>
              <a:t>[Nombre  --  Universidad  --  Fecha]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CLOSING</a:t>
            </a:r>
          </a:p>
        </p:txBody>
      </p:sp>
      <p:sp>
        <p:nvSpPr>
          <p:cNvPr id="6" name="Oval 5"/>
          <p:cNvSpPr/>
          <p:nvPr/>
        </p:nvSpPr>
        <p:spPr>
          <a:xfrm>
            <a:off x="7955280" y="1907438"/>
            <a:ext cx="3840480" cy="3226003"/>
          </a:xfrm>
          <a:prstGeom prst="ellipse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0" y="2445105"/>
            <a:ext cx="2560320" cy="2150668"/>
          </a:xfrm>
          <a:prstGeom prst="ellipse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235440" y="2982772"/>
            <a:ext cx="1280160" cy="1075334"/>
          </a:xfrm>
          <a:prstGeom prst="ellipse">
            <a:avLst/>
          </a:prstGeom>
          <a:solidFill>
            <a:srgbClr val="6B9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8A9199"/>
                </a:solidFill>
                <a:latin typeface="Calibri"/>
              </a:rPr>
              <a:t>[Mensaje final.
Una sola idea que el publico
llevara consigo.]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80560"/>
            <a:ext cx="41148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7091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43C52"/>
                </a:solidFill>
                <a:latin typeface="Calibri"/>
              </a:rPr>
              <a:t>[Tagline o proposito del proyecto]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362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B2E3F"/>
                </a:solidFill>
                <a:latin typeface="Calibri"/>
              </a:rPr>
              <a:t>[Autor  --  Institucion  --  Fecha]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F7E"/>
                </a:solidFill>
                <a:latin typeface="Calibri"/>
              </a:rPr>
              <a:t>GUIA DE ANIMACIONES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109728"/>
            <a:ext cx="1627632" cy="292608"/>
          </a:xfrm>
          <a:prstGeom prst="rect">
            <a:avLst/>
          </a:prstGeom>
          <a:solidFill>
            <a:srgbClr val="243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128016"/>
            <a:ext cx="16276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A9E7A"/>
                </a:solidFill>
                <a:latin typeface="Calibri"/>
              </a:rPr>
              <a:t>LAYOUT: GUIA ANIMACIONES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3A52"/>
                </a:solidFill>
                <a:latin typeface="Calibri"/>
              </a:rPr>
              <a:t>Recomendaciones de animacion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47120" cy="47548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PRINCIPIO: animaciones simples, sutiles y consistentes. Nunca exageradas.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577840" cy="2212848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FADE (Desvanecer)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0.3-0.5s  Ease 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34640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Aparicion de texto y contenido general.
El mas versatil y profesional.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920240"/>
            <a:ext cx="5577840" cy="2212848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WIPE FROM LEFT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871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0.4s  Ease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834640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Para timelines, procesos y elementos
que aparecen de forma secuencial.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15968"/>
            <a:ext cx="5577840" cy="2212848"/>
          </a:xfrm>
          <a:prstGeom prst="rect">
            <a:avLst/>
          </a:prstGeom>
          <a:solidFill>
            <a:srgbClr val="C8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4531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FLY IN FROM BOTTOM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828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0.3s  Ease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23036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36752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Para tarjetas, KPIs y elementos
de datos que quieren impacto.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315968"/>
            <a:ext cx="5577840" cy="221284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4531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NONE (Sin animacion)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8828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0s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230368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5367528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Para slides de cierre, portada y
cualquier elemento decorativo.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2613</Words>
  <Application>Microsoft Office PowerPoint</Application>
  <PresentationFormat>Personalizado</PresentationFormat>
  <Paragraphs>458</Paragraphs>
  <Slides>35</Slides>
  <Notes>35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Jennifer Castillo - Vendor</cp:lastModifiedBy>
  <cp:revision>2</cp:revision>
  <dcterms:created xsi:type="dcterms:W3CDTF">2013-01-27T09:14:16Z</dcterms:created>
  <dcterms:modified xsi:type="dcterms:W3CDTF">2026-08-04T17:03:55Z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2026-08-04T17:03:51Z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b7f230c3-d8df-4cd1-a49a-677fb1ff2cb0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