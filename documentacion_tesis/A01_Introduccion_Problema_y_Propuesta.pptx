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Bienvenida. Esta presentacion cubre el origen del proyecto: el problema que lo origina, por que merece ser resuelto, la propuesta de solucion y los objetivos formales.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la agenda rapidamente. 15-20 minutos en total.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'3 D' de Claudio Fuentes (UDP). No es una percepcion subjetiva: es un fenomeno documentado con instrumentos de investigacion social. 8 elecciones en 4 anos genero una fatiga cognitiva estructural en el electorado.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tiene cuatro dimensiones que se refuerzan mutuamente. No basta con dar mas informacion: la sobrecarga ya existe. La clave es estructurar y filtrar la informacion de manera que sea procesable.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datos no son estimaciones: provienen de estudios de opinion publica, registros oficiales del SERVEL y trabajo de campo propio. El +460% de votos nulos para alcalde es el indicador objetivo mas contundente.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argumento central de la tesis: este no es un problema de aplicacion movil. Es un problema de infraestructura democratica. La tecnologia puede contribuir a que mas ciudadanos ejerzan su derecho con mayor comprension.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brecha de producto era concreta. Chile tuvo herramientas en el pasado pero fueron discontinuadas. El espacio estaba literalmente vacio.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VotoAFin no le dice al usuario por quien votar. Le muestra con quien coincide, segun sus propias posturas declaradas. La distincion entre asistencia y prescripcion es el principio de diseno mas importante.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diseno centrado en el segmento mas vulnerable es la decision correcta: si la herramienta funciona para alguien sin conocimiento politico previo, funciona para todos.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no es tecnologico: es civico. La tecnologia es el medio. El fin es contribuir a que mas ciudadanos puedan ejercer su derecho a voto con mayor comprension.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OE7 fue parcialmente cumplido: la documentacion existe pero requiere expansion para onboarding real de contribuidores externos.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10 etapas representan el proceso metodologico estructurado del proyecto. Cada etapa tiene un objetivo diferenciado y un entregable verificable. El proceso fue iterativo: las etapas se retroalimentan entre 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alcance fue definido de manera deliberada. Lo que queda fuera no es un olvido: es una decision de MVP consciente.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limitacion se documenta con honestidad academica. El sistema comunica el nivel de confianza de cada resultado (ALTA/MEDIA/BAJA) precisamente para no ocultar esta incertidumbre al usuario.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sostenibilidad de los datos es el problema que mato a Decide Chile. VotoAFin lo reconoce explicitamente en el roadmap. El codigo abierto y el modelo de importacion con CSV validados son la primera respuesta estructural a este desafio.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tecnologia fue elegida porque resuelve un problema especifico, no por popularidad. React Native da cobertura multiplataforma. OpenAPI convierte el contrato de API en una restriccion de diseno, no en documentacion.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Cierra con conviccion. El problema quedo establecido con datos. La siguiente presentacion muestra como se investigaron las soluciones.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10972800" cy="1097280"/>
          </a:xfrm>
          <a:prstGeom prst="rect">
            <a:avLst/>
          </a:prstGeom>
          <a:noFill/>
        </p:spPr>
        <p:txBody>
          <a:bodyPr wrap="square">
            <a:spAutoFit/>
          </a:bodyPr>
          <a:lstStyle/>
          <a:p>
            <a:pPr algn="l"/>
            <a:r>
              <a:rPr sz="7200" b="1">
                <a:solidFill>
                  <a:srgbClr val="FFFFFF"/>
                </a:solidFill>
                <a:latin typeface="Calibri"/>
              </a:rPr>
              <a:t>VotoAFin</a:t>
            </a:r>
          </a:p>
        </p:txBody>
      </p:sp>
      <p:sp>
        <p:nvSpPr>
          <p:cNvPr id="5" name="TextBox 4"/>
          <p:cNvSpPr txBox="1"/>
          <p:nvPr/>
        </p:nvSpPr>
        <p:spPr>
          <a:xfrm>
            <a:off x="640080" y="1965960"/>
            <a:ext cx="10058400" cy="822960"/>
          </a:xfrm>
          <a:prstGeom prst="rect">
            <a:avLst/>
          </a:prstGeom>
          <a:noFill/>
        </p:spPr>
        <p:txBody>
          <a:bodyPr wrap="square">
            <a:spAutoFit/>
          </a:bodyPr>
          <a:lstStyle/>
          <a:p>
            <a:pPr algn="l"/>
            <a:r>
              <a:rPr sz="2200" b="0">
                <a:solidFill>
                  <a:srgbClr val="CBD1CD"/>
                </a:solidFill>
                <a:latin typeface="Calibri"/>
              </a:rPr>
              <a:t>Diseno e Implementacion de una Voting Advice Application
para el Contexto Electoral Chileno</a:t>
            </a:r>
          </a:p>
        </p:txBody>
      </p:sp>
      <p:sp>
        <p:nvSpPr>
          <p:cNvPr id="6" name="Rectangle 5"/>
          <p:cNvSpPr/>
          <p:nvPr/>
        </p:nvSpPr>
        <p:spPr>
          <a:xfrm>
            <a:off x="640080" y="3017520"/>
            <a:ext cx="4572000" cy="36576"/>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200400"/>
            <a:ext cx="10058400" cy="384048"/>
          </a:xfrm>
          <a:prstGeom prst="rect">
            <a:avLst/>
          </a:prstGeom>
          <a:noFill/>
        </p:spPr>
        <p:txBody>
          <a:bodyPr wrap="square">
            <a:spAutoFit/>
          </a:bodyPr>
          <a:lstStyle/>
          <a:p>
            <a:pPr algn="l"/>
            <a:r>
              <a:rPr sz="1400" b="1">
                <a:solidFill>
                  <a:srgbClr val="B85C5C"/>
                </a:solidFill>
                <a:latin typeface="Calibri"/>
              </a:rPr>
              <a:t>Presentacion 01 -- Introduccion, Problema y Propuesta</a:t>
            </a:r>
          </a:p>
        </p:txBody>
      </p:sp>
      <p:sp>
        <p:nvSpPr>
          <p:cNvPr id="8" name="TextBox 7"/>
          <p:cNvSpPr txBox="1"/>
          <p:nvPr/>
        </p:nvSpPr>
        <p:spPr>
          <a:xfrm>
            <a:off x="640080" y="6291072"/>
            <a:ext cx="10972800" cy="384048"/>
          </a:xfrm>
          <a:prstGeom prst="rect">
            <a:avLst/>
          </a:prstGeom>
          <a:noFill/>
        </p:spPr>
        <p:txBody>
          <a:bodyPr wrap="square">
            <a:spAutoFit/>
          </a:bodyPr>
          <a:lstStyle/>
          <a:p>
            <a:pPr algn="l"/>
            <a:r>
              <a:rPr sz="1200" b="0">
                <a:solidFill>
                  <a:srgbClr val="8A9199"/>
                </a:solidFill>
                <a:latin typeface="Calibri"/>
              </a:rPr>
              <a:t>Jenifer Castillo  --  Ingenieria en Informatica  --  UTFSM  --  Agosto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AGENDA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1C3A52"/>
                </a:solidFill>
                <a:latin typeface="Calibri"/>
              </a:rPr>
              <a:t>Lo que veremos hoy</a:t>
            </a:r>
          </a:p>
        </p:txBody>
      </p:sp>
      <p:sp>
        <p:nvSpPr>
          <p:cNvPr id="5" name="Rectangle 4"/>
          <p:cNvSpPr/>
          <p:nvPr/>
        </p:nvSpPr>
        <p:spPr>
          <a:xfrm>
            <a:off x="457200" y="1298448"/>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98448"/>
            <a:ext cx="502920" cy="77724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08176"/>
            <a:ext cx="365760" cy="530352"/>
          </a:xfrm>
          <a:prstGeom prst="rect">
            <a:avLst/>
          </a:prstGeom>
          <a:noFill/>
        </p:spPr>
        <p:txBody>
          <a:bodyPr wrap="square">
            <a:spAutoFit/>
          </a:bodyPr>
          <a:lstStyle/>
          <a:p>
            <a:pPr algn="ctr"/>
            <a:r>
              <a:rPr sz="1400" b="1">
                <a:solidFill>
                  <a:srgbClr val="FFFFFF"/>
                </a:solidFill>
                <a:latin typeface="Calibri"/>
              </a:rPr>
              <a:t>01</a:t>
            </a:r>
          </a:p>
        </p:txBody>
      </p:sp>
      <p:sp>
        <p:nvSpPr>
          <p:cNvPr id="8" name="TextBox 7"/>
          <p:cNvSpPr txBox="1"/>
          <p:nvPr/>
        </p:nvSpPr>
        <p:spPr>
          <a:xfrm>
            <a:off x="1097280" y="1463039"/>
            <a:ext cx="9875520" cy="438912"/>
          </a:xfrm>
          <a:prstGeom prst="rect">
            <a:avLst/>
          </a:prstGeom>
          <a:noFill/>
        </p:spPr>
        <p:txBody>
          <a:bodyPr wrap="square">
            <a:spAutoFit/>
          </a:bodyPr>
          <a:lstStyle/>
          <a:p>
            <a:pPr algn="l"/>
            <a:r>
              <a:rPr sz="1600" b="1">
                <a:solidFill>
                  <a:srgbClr val="1C3A52"/>
                </a:solidFill>
                <a:latin typeface="Calibri"/>
              </a:rPr>
              <a:t>Contexto y motivacion</a:t>
            </a:r>
          </a:p>
        </p:txBody>
      </p:sp>
      <p:sp>
        <p:nvSpPr>
          <p:cNvPr id="9" name="Rectangle 8"/>
          <p:cNvSpPr/>
          <p:nvPr/>
        </p:nvSpPr>
        <p:spPr>
          <a:xfrm>
            <a:off x="457200" y="2167128"/>
            <a:ext cx="11247120" cy="777240"/>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67128"/>
            <a:ext cx="502920" cy="7772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76856"/>
            <a:ext cx="365760" cy="530352"/>
          </a:xfrm>
          <a:prstGeom prst="rect">
            <a:avLst/>
          </a:prstGeom>
          <a:noFill/>
        </p:spPr>
        <p:txBody>
          <a:bodyPr wrap="square">
            <a:spAutoFit/>
          </a:bodyPr>
          <a:lstStyle/>
          <a:p>
            <a:pPr algn="ctr"/>
            <a:r>
              <a:rPr sz="1400" b="1">
                <a:solidFill>
                  <a:srgbClr val="FFFFFF"/>
                </a:solidFill>
                <a:latin typeface="Calibri"/>
              </a:rPr>
              <a:t>02</a:t>
            </a:r>
          </a:p>
        </p:txBody>
      </p:sp>
      <p:sp>
        <p:nvSpPr>
          <p:cNvPr id="12" name="TextBox 11"/>
          <p:cNvSpPr txBox="1"/>
          <p:nvPr/>
        </p:nvSpPr>
        <p:spPr>
          <a:xfrm>
            <a:off x="1097280" y="2331720"/>
            <a:ext cx="9875520" cy="438912"/>
          </a:xfrm>
          <a:prstGeom prst="rect">
            <a:avLst/>
          </a:prstGeom>
          <a:noFill/>
        </p:spPr>
        <p:txBody>
          <a:bodyPr wrap="square">
            <a:spAutoFit/>
          </a:bodyPr>
          <a:lstStyle/>
          <a:p>
            <a:pPr algn="l"/>
            <a:r>
              <a:rPr sz="1600" b="0">
                <a:solidFill>
                  <a:srgbClr val="1C3A52"/>
                </a:solidFill>
                <a:latin typeface="Calibri"/>
              </a:rPr>
              <a:t>Definicion del problema</a:t>
            </a:r>
          </a:p>
        </p:txBody>
      </p:sp>
      <p:sp>
        <p:nvSpPr>
          <p:cNvPr id="13" name="Rectangle 12"/>
          <p:cNvSpPr/>
          <p:nvPr/>
        </p:nvSpPr>
        <p:spPr>
          <a:xfrm>
            <a:off x="457200" y="3035808"/>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35808"/>
            <a:ext cx="502920" cy="7772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45536"/>
            <a:ext cx="365760" cy="530352"/>
          </a:xfrm>
          <a:prstGeom prst="rect">
            <a:avLst/>
          </a:prstGeom>
          <a:noFill/>
        </p:spPr>
        <p:txBody>
          <a:bodyPr wrap="square">
            <a:spAutoFit/>
          </a:bodyPr>
          <a:lstStyle/>
          <a:p>
            <a:pPr algn="ctr"/>
            <a:r>
              <a:rPr sz="1400" b="1">
                <a:solidFill>
                  <a:srgbClr val="FFFFFF"/>
                </a:solidFill>
                <a:latin typeface="Calibri"/>
              </a:rPr>
              <a:t>03</a:t>
            </a:r>
          </a:p>
        </p:txBody>
      </p:sp>
      <p:sp>
        <p:nvSpPr>
          <p:cNvPr id="16" name="TextBox 15"/>
          <p:cNvSpPr txBox="1"/>
          <p:nvPr/>
        </p:nvSpPr>
        <p:spPr>
          <a:xfrm>
            <a:off x="1097280" y="3200400"/>
            <a:ext cx="9875520" cy="438912"/>
          </a:xfrm>
          <a:prstGeom prst="rect">
            <a:avLst/>
          </a:prstGeom>
          <a:noFill/>
        </p:spPr>
        <p:txBody>
          <a:bodyPr wrap="square">
            <a:spAutoFit/>
          </a:bodyPr>
          <a:lstStyle/>
          <a:p>
            <a:pPr algn="l"/>
            <a:r>
              <a:rPr sz="1600" b="0">
                <a:solidFill>
                  <a:srgbClr val="1C3A52"/>
                </a:solidFill>
                <a:latin typeface="Calibri"/>
              </a:rPr>
              <a:t>Oportunidad y propuesta de solucion</a:t>
            </a:r>
          </a:p>
        </p:txBody>
      </p:sp>
      <p:sp>
        <p:nvSpPr>
          <p:cNvPr id="17" name="Rectangle 16"/>
          <p:cNvSpPr/>
          <p:nvPr/>
        </p:nvSpPr>
        <p:spPr>
          <a:xfrm>
            <a:off x="457200" y="3904487"/>
            <a:ext cx="11247120" cy="777240"/>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04487"/>
            <a:ext cx="502920" cy="77724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014215"/>
            <a:ext cx="365760" cy="530352"/>
          </a:xfrm>
          <a:prstGeom prst="rect">
            <a:avLst/>
          </a:prstGeom>
          <a:noFill/>
        </p:spPr>
        <p:txBody>
          <a:bodyPr wrap="square">
            <a:spAutoFit/>
          </a:bodyPr>
          <a:lstStyle/>
          <a:p>
            <a:pPr algn="ctr"/>
            <a:r>
              <a:rPr sz="1400" b="1">
                <a:solidFill>
                  <a:srgbClr val="FFFFFF"/>
                </a:solidFill>
                <a:latin typeface="Calibri"/>
              </a:rPr>
              <a:t>04</a:t>
            </a:r>
          </a:p>
        </p:txBody>
      </p:sp>
      <p:sp>
        <p:nvSpPr>
          <p:cNvPr id="20" name="TextBox 19"/>
          <p:cNvSpPr txBox="1"/>
          <p:nvPr/>
        </p:nvSpPr>
        <p:spPr>
          <a:xfrm>
            <a:off x="1097280" y="4069079"/>
            <a:ext cx="9875520" cy="438912"/>
          </a:xfrm>
          <a:prstGeom prst="rect">
            <a:avLst/>
          </a:prstGeom>
          <a:noFill/>
        </p:spPr>
        <p:txBody>
          <a:bodyPr wrap="square">
            <a:spAutoFit/>
          </a:bodyPr>
          <a:lstStyle/>
          <a:p>
            <a:pPr algn="l"/>
            <a:r>
              <a:rPr sz="1600" b="0">
                <a:solidFill>
                  <a:srgbClr val="1C3A52"/>
                </a:solidFill>
                <a:latin typeface="Calibri"/>
              </a:rPr>
              <a:t>Objetivos y alcance</a:t>
            </a:r>
          </a:p>
        </p:txBody>
      </p:sp>
      <p:sp>
        <p:nvSpPr>
          <p:cNvPr id="21" name="Rectangle 20"/>
          <p:cNvSpPr/>
          <p:nvPr/>
        </p:nvSpPr>
        <p:spPr>
          <a:xfrm>
            <a:off x="457200" y="4773168"/>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773168"/>
            <a:ext cx="502920" cy="77724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882896"/>
            <a:ext cx="365760" cy="530352"/>
          </a:xfrm>
          <a:prstGeom prst="rect">
            <a:avLst/>
          </a:prstGeom>
          <a:noFill/>
        </p:spPr>
        <p:txBody>
          <a:bodyPr wrap="square">
            <a:spAutoFit/>
          </a:bodyPr>
          <a:lstStyle/>
          <a:p>
            <a:pPr algn="ctr"/>
            <a:r>
              <a:rPr sz="1400" b="1">
                <a:solidFill>
                  <a:srgbClr val="FFFFFF"/>
                </a:solidFill>
                <a:latin typeface="Calibri"/>
              </a:rPr>
              <a:t>05</a:t>
            </a:r>
          </a:p>
        </p:txBody>
      </p:sp>
      <p:sp>
        <p:nvSpPr>
          <p:cNvPr id="24" name="TextBox 23"/>
          <p:cNvSpPr txBox="1"/>
          <p:nvPr/>
        </p:nvSpPr>
        <p:spPr>
          <a:xfrm>
            <a:off x="1097280" y="4937759"/>
            <a:ext cx="9875520" cy="438912"/>
          </a:xfrm>
          <a:prstGeom prst="rect">
            <a:avLst/>
          </a:prstGeom>
          <a:noFill/>
        </p:spPr>
        <p:txBody>
          <a:bodyPr wrap="square">
            <a:spAutoFit/>
          </a:bodyPr>
          <a:lstStyle/>
          <a:p>
            <a:pPr algn="l"/>
            <a:r>
              <a:rPr sz="1600" b="0">
                <a:solidFill>
                  <a:srgbClr val="1C3A52"/>
                </a:solidFill>
                <a:latin typeface="Calibri"/>
              </a:rPr>
              <a:t>Metodologia del proyecto</a:t>
            </a:r>
          </a:p>
        </p:txBody>
      </p:sp>
      <p:sp>
        <p:nvSpPr>
          <p:cNvPr id="25" name="Rectangle 24"/>
          <p:cNvSpPr/>
          <p:nvPr/>
        </p:nvSpPr>
        <p:spPr>
          <a:xfrm>
            <a:off x="457200" y="5641848"/>
            <a:ext cx="11247120" cy="777240"/>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641848"/>
            <a:ext cx="502920" cy="777240"/>
          </a:xfrm>
          <a:prstGeom prst="rect">
            <a:avLst/>
          </a:prstGeom>
          <a:solidFill>
            <a:srgbClr val="5A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751576"/>
            <a:ext cx="365760" cy="530352"/>
          </a:xfrm>
          <a:prstGeom prst="rect">
            <a:avLst/>
          </a:prstGeom>
          <a:noFill/>
        </p:spPr>
        <p:txBody>
          <a:bodyPr wrap="square">
            <a:spAutoFit/>
          </a:bodyPr>
          <a:lstStyle/>
          <a:p>
            <a:pPr algn="ctr"/>
            <a:r>
              <a:rPr sz="1400" b="1">
                <a:solidFill>
                  <a:srgbClr val="FFFFFF"/>
                </a:solidFill>
                <a:latin typeface="Calibri"/>
              </a:rPr>
              <a:t>06</a:t>
            </a:r>
          </a:p>
        </p:txBody>
      </p:sp>
      <p:sp>
        <p:nvSpPr>
          <p:cNvPr id="28" name="TextBox 27"/>
          <p:cNvSpPr txBox="1"/>
          <p:nvPr/>
        </p:nvSpPr>
        <p:spPr>
          <a:xfrm>
            <a:off x="1097280" y="5806440"/>
            <a:ext cx="9875520" cy="438912"/>
          </a:xfrm>
          <a:prstGeom prst="rect">
            <a:avLst/>
          </a:prstGeom>
          <a:noFill/>
        </p:spPr>
        <p:txBody>
          <a:bodyPr wrap="square">
            <a:spAutoFit/>
          </a:bodyPr>
          <a:lstStyle/>
          <a:p>
            <a:pPr algn="l"/>
            <a:r>
              <a:rPr sz="1600" b="0">
                <a:solidFill>
                  <a:srgbClr val="1C3A52"/>
                </a:solidFill>
                <a:latin typeface="Calibri"/>
              </a:rPr>
              <a:t>Tecnologias utilizadas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CONTEXTO</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200" b="1">
                <a:solidFill>
                  <a:srgbClr val="FFFFFF"/>
                </a:solidFill>
                <a:latin typeface="Calibri"/>
              </a:rPr>
              <a:t>Chile: 8 elecciones en 4 anos</a:t>
            </a:r>
          </a:p>
        </p:txBody>
      </p:sp>
      <p:sp>
        <p:nvSpPr>
          <p:cNvPr id="5" name="TextBox 4"/>
          <p:cNvSpPr txBox="1"/>
          <p:nvPr/>
        </p:nvSpPr>
        <p:spPr>
          <a:xfrm>
            <a:off x="548640" y="1143000"/>
            <a:ext cx="10972800" cy="411480"/>
          </a:xfrm>
          <a:prstGeom prst="rect">
            <a:avLst/>
          </a:prstGeom>
          <a:noFill/>
        </p:spPr>
        <p:txBody>
          <a:bodyPr wrap="square">
            <a:spAutoFit/>
          </a:bodyPr>
          <a:lstStyle/>
          <a:p>
            <a:pPr algn="l"/>
            <a:r>
              <a:rPr sz="1700" b="0">
                <a:solidFill>
                  <a:srgbClr val="CBD1CD"/>
                </a:solidFill>
                <a:latin typeface="Calibri"/>
              </a:rPr>
              <a:t>2020-2024 -- Densidad electoral sin precedentes en la historia democratica reciente del pais.</a:t>
            </a:r>
          </a:p>
        </p:txBody>
      </p:sp>
      <p:sp>
        <p:nvSpPr>
          <p:cNvPr id="6" name="Rectangle 5"/>
          <p:cNvSpPr/>
          <p:nvPr/>
        </p:nvSpPr>
        <p:spPr>
          <a:xfrm>
            <a:off x="548640" y="2359152"/>
            <a:ext cx="10881360" cy="45720"/>
          </a:xfrm>
          <a:prstGeom prst="rect">
            <a:avLst/>
          </a:prstGeom>
          <a:solidFill>
            <a:srgbClr val="CBD1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31136"/>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719072"/>
            <a:ext cx="1645920" cy="457200"/>
          </a:xfrm>
          <a:prstGeom prst="rect">
            <a:avLst/>
          </a:prstGeom>
          <a:noFill/>
        </p:spPr>
        <p:txBody>
          <a:bodyPr wrap="square">
            <a:spAutoFit/>
          </a:bodyPr>
          <a:lstStyle/>
          <a:p>
            <a:pPr algn="ctr"/>
            <a:r>
              <a:rPr sz="1000" b="1">
                <a:solidFill>
                  <a:srgbClr val="B85C5C"/>
                </a:solidFill>
                <a:latin typeface="Calibri"/>
              </a:rPr>
              <a:t>Oct 2020</a:t>
            </a:r>
          </a:p>
        </p:txBody>
      </p:sp>
      <p:sp>
        <p:nvSpPr>
          <p:cNvPr id="9" name="TextBox 8"/>
          <p:cNvSpPr txBox="1"/>
          <p:nvPr/>
        </p:nvSpPr>
        <p:spPr>
          <a:xfrm>
            <a:off x="0" y="2487168"/>
            <a:ext cx="1645920" cy="685800"/>
          </a:xfrm>
          <a:prstGeom prst="rect">
            <a:avLst/>
          </a:prstGeom>
          <a:noFill/>
        </p:spPr>
        <p:txBody>
          <a:bodyPr wrap="square">
            <a:spAutoFit/>
          </a:bodyPr>
          <a:lstStyle/>
          <a:p>
            <a:pPr algn="ctr"/>
            <a:r>
              <a:rPr sz="1000" b="0">
                <a:solidFill>
                  <a:srgbClr val="CBD1CD"/>
                </a:solidFill>
                <a:latin typeface="Calibri"/>
              </a:rPr>
              <a:t>Plebiscito
entrada</a:t>
            </a:r>
          </a:p>
        </p:txBody>
      </p:sp>
      <p:sp>
        <p:nvSpPr>
          <p:cNvPr id="10" name="Rectangle 9"/>
          <p:cNvSpPr/>
          <p:nvPr/>
        </p:nvSpPr>
        <p:spPr>
          <a:xfrm>
            <a:off x="2121408" y="2231136"/>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72767" y="1719072"/>
            <a:ext cx="1645920" cy="457200"/>
          </a:xfrm>
          <a:prstGeom prst="rect">
            <a:avLst/>
          </a:prstGeom>
          <a:noFill/>
        </p:spPr>
        <p:txBody>
          <a:bodyPr wrap="square">
            <a:spAutoFit/>
          </a:bodyPr>
          <a:lstStyle/>
          <a:p>
            <a:pPr algn="ctr"/>
            <a:r>
              <a:rPr sz="1000" b="1">
                <a:solidFill>
                  <a:srgbClr val="B85C5C"/>
                </a:solidFill>
                <a:latin typeface="Calibri"/>
              </a:rPr>
              <a:t>Nov 2021</a:t>
            </a:r>
          </a:p>
        </p:txBody>
      </p:sp>
      <p:sp>
        <p:nvSpPr>
          <p:cNvPr id="12" name="TextBox 11"/>
          <p:cNvSpPr txBox="1"/>
          <p:nvPr/>
        </p:nvSpPr>
        <p:spPr>
          <a:xfrm>
            <a:off x="1572767" y="2487168"/>
            <a:ext cx="1645920" cy="685800"/>
          </a:xfrm>
          <a:prstGeom prst="rect">
            <a:avLst/>
          </a:prstGeom>
          <a:noFill/>
        </p:spPr>
        <p:txBody>
          <a:bodyPr wrap="square">
            <a:spAutoFit/>
          </a:bodyPr>
          <a:lstStyle/>
          <a:p>
            <a:pPr algn="ctr"/>
            <a:r>
              <a:rPr sz="1000" b="0">
                <a:solidFill>
                  <a:srgbClr val="CBD1CD"/>
                </a:solidFill>
                <a:latin typeface="Calibri"/>
              </a:rPr>
              <a:t>Constitucional
+ Presidencial</a:t>
            </a:r>
          </a:p>
        </p:txBody>
      </p:sp>
      <p:sp>
        <p:nvSpPr>
          <p:cNvPr id="13" name="Rectangle 12"/>
          <p:cNvSpPr/>
          <p:nvPr/>
        </p:nvSpPr>
        <p:spPr>
          <a:xfrm>
            <a:off x="3694176" y="2231136"/>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45536" y="1719072"/>
            <a:ext cx="1645920" cy="457200"/>
          </a:xfrm>
          <a:prstGeom prst="rect">
            <a:avLst/>
          </a:prstGeom>
          <a:noFill/>
        </p:spPr>
        <p:txBody>
          <a:bodyPr wrap="square">
            <a:spAutoFit/>
          </a:bodyPr>
          <a:lstStyle/>
          <a:p>
            <a:pPr algn="ctr"/>
            <a:r>
              <a:rPr sz="1000" b="1">
                <a:solidFill>
                  <a:srgbClr val="B85C5C"/>
                </a:solidFill>
                <a:latin typeface="Calibri"/>
              </a:rPr>
              <a:t>Dic 2021</a:t>
            </a:r>
          </a:p>
        </p:txBody>
      </p:sp>
      <p:sp>
        <p:nvSpPr>
          <p:cNvPr id="15" name="TextBox 14"/>
          <p:cNvSpPr txBox="1"/>
          <p:nvPr/>
        </p:nvSpPr>
        <p:spPr>
          <a:xfrm>
            <a:off x="3145536" y="2487168"/>
            <a:ext cx="1645920" cy="685800"/>
          </a:xfrm>
          <a:prstGeom prst="rect">
            <a:avLst/>
          </a:prstGeom>
          <a:noFill/>
        </p:spPr>
        <p:txBody>
          <a:bodyPr wrap="square">
            <a:spAutoFit/>
          </a:bodyPr>
          <a:lstStyle/>
          <a:p>
            <a:pPr algn="ctr"/>
            <a:r>
              <a:rPr sz="1000" b="0">
                <a:solidFill>
                  <a:srgbClr val="CBD1CD"/>
                </a:solidFill>
                <a:latin typeface="Calibri"/>
              </a:rPr>
              <a:t>2a vuelta</a:t>
            </a:r>
          </a:p>
        </p:txBody>
      </p:sp>
      <p:sp>
        <p:nvSpPr>
          <p:cNvPr id="16" name="Rectangle 15"/>
          <p:cNvSpPr/>
          <p:nvPr/>
        </p:nvSpPr>
        <p:spPr>
          <a:xfrm>
            <a:off x="5266944" y="2231136"/>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18304" y="1719072"/>
            <a:ext cx="1645920" cy="457200"/>
          </a:xfrm>
          <a:prstGeom prst="rect">
            <a:avLst/>
          </a:prstGeom>
          <a:noFill/>
        </p:spPr>
        <p:txBody>
          <a:bodyPr wrap="square">
            <a:spAutoFit/>
          </a:bodyPr>
          <a:lstStyle/>
          <a:p>
            <a:pPr algn="ctr"/>
            <a:r>
              <a:rPr sz="1000" b="1">
                <a:solidFill>
                  <a:srgbClr val="B85C5C"/>
                </a:solidFill>
                <a:latin typeface="Calibri"/>
              </a:rPr>
              <a:t>Sep 2022</a:t>
            </a:r>
          </a:p>
        </p:txBody>
      </p:sp>
      <p:sp>
        <p:nvSpPr>
          <p:cNvPr id="18" name="TextBox 17"/>
          <p:cNvSpPr txBox="1"/>
          <p:nvPr/>
        </p:nvSpPr>
        <p:spPr>
          <a:xfrm>
            <a:off x="4718304" y="2487168"/>
            <a:ext cx="1645920" cy="685800"/>
          </a:xfrm>
          <a:prstGeom prst="rect">
            <a:avLst/>
          </a:prstGeom>
          <a:noFill/>
        </p:spPr>
        <p:txBody>
          <a:bodyPr wrap="square">
            <a:spAutoFit/>
          </a:bodyPr>
          <a:lstStyle/>
          <a:p>
            <a:pPr algn="ctr"/>
            <a:r>
              <a:rPr sz="1000" b="0">
                <a:solidFill>
                  <a:srgbClr val="CBD1CD"/>
                </a:solidFill>
                <a:latin typeface="Calibri"/>
              </a:rPr>
              <a:t>Plebiscito
salida #1</a:t>
            </a:r>
          </a:p>
        </p:txBody>
      </p:sp>
      <p:sp>
        <p:nvSpPr>
          <p:cNvPr id="19" name="Rectangle 18"/>
          <p:cNvSpPr/>
          <p:nvPr/>
        </p:nvSpPr>
        <p:spPr>
          <a:xfrm>
            <a:off x="6839712" y="2231136"/>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719072"/>
            <a:ext cx="1645920" cy="457200"/>
          </a:xfrm>
          <a:prstGeom prst="rect">
            <a:avLst/>
          </a:prstGeom>
          <a:noFill/>
        </p:spPr>
        <p:txBody>
          <a:bodyPr wrap="square">
            <a:spAutoFit/>
          </a:bodyPr>
          <a:lstStyle/>
          <a:p>
            <a:pPr algn="ctr"/>
            <a:r>
              <a:rPr sz="1000" b="1">
                <a:solidFill>
                  <a:srgbClr val="B85C5C"/>
                </a:solidFill>
                <a:latin typeface="Calibri"/>
              </a:rPr>
              <a:t>May 2023</a:t>
            </a:r>
          </a:p>
        </p:txBody>
      </p:sp>
      <p:sp>
        <p:nvSpPr>
          <p:cNvPr id="21" name="TextBox 20"/>
          <p:cNvSpPr txBox="1"/>
          <p:nvPr/>
        </p:nvSpPr>
        <p:spPr>
          <a:xfrm>
            <a:off x="6291072" y="2487168"/>
            <a:ext cx="1645920" cy="685800"/>
          </a:xfrm>
          <a:prstGeom prst="rect">
            <a:avLst/>
          </a:prstGeom>
          <a:noFill/>
        </p:spPr>
        <p:txBody>
          <a:bodyPr wrap="square">
            <a:spAutoFit/>
          </a:bodyPr>
          <a:lstStyle/>
          <a:p>
            <a:pPr algn="ctr"/>
            <a:r>
              <a:rPr sz="1000" b="0">
                <a:solidFill>
                  <a:srgbClr val="CBD1CD"/>
                </a:solidFill>
                <a:latin typeface="Calibri"/>
              </a:rPr>
              <a:t>Consejo
Const.</a:t>
            </a:r>
          </a:p>
        </p:txBody>
      </p:sp>
      <p:sp>
        <p:nvSpPr>
          <p:cNvPr id="22" name="Rectangle 21"/>
          <p:cNvSpPr/>
          <p:nvPr/>
        </p:nvSpPr>
        <p:spPr>
          <a:xfrm>
            <a:off x="8412480" y="2231136"/>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1719072"/>
            <a:ext cx="1645920" cy="457200"/>
          </a:xfrm>
          <a:prstGeom prst="rect">
            <a:avLst/>
          </a:prstGeom>
          <a:noFill/>
        </p:spPr>
        <p:txBody>
          <a:bodyPr wrap="square">
            <a:spAutoFit/>
          </a:bodyPr>
          <a:lstStyle/>
          <a:p>
            <a:pPr algn="ctr"/>
            <a:r>
              <a:rPr sz="1000" b="1">
                <a:solidFill>
                  <a:srgbClr val="B85C5C"/>
                </a:solidFill>
                <a:latin typeface="Calibri"/>
              </a:rPr>
              <a:t>Dic 2023</a:t>
            </a:r>
          </a:p>
        </p:txBody>
      </p:sp>
      <p:sp>
        <p:nvSpPr>
          <p:cNvPr id="24" name="TextBox 23"/>
          <p:cNvSpPr txBox="1"/>
          <p:nvPr/>
        </p:nvSpPr>
        <p:spPr>
          <a:xfrm>
            <a:off x="7863840" y="2487168"/>
            <a:ext cx="1645920" cy="685800"/>
          </a:xfrm>
          <a:prstGeom prst="rect">
            <a:avLst/>
          </a:prstGeom>
          <a:noFill/>
        </p:spPr>
        <p:txBody>
          <a:bodyPr wrap="square">
            <a:spAutoFit/>
          </a:bodyPr>
          <a:lstStyle/>
          <a:p>
            <a:pPr algn="ctr"/>
            <a:r>
              <a:rPr sz="1000" b="0">
                <a:solidFill>
                  <a:srgbClr val="CBD1CD"/>
                </a:solidFill>
                <a:latin typeface="Calibri"/>
              </a:rPr>
              <a:t>Plebiscito
salida #2</a:t>
            </a:r>
          </a:p>
        </p:txBody>
      </p:sp>
      <p:sp>
        <p:nvSpPr>
          <p:cNvPr id="25" name="Rectangle 24"/>
          <p:cNvSpPr/>
          <p:nvPr/>
        </p:nvSpPr>
        <p:spPr>
          <a:xfrm>
            <a:off x="9985248" y="2231136"/>
            <a:ext cx="64008" cy="1828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36608" y="1719072"/>
            <a:ext cx="1645920" cy="457200"/>
          </a:xfrm>
          <a:prstGeom prst="rect">
            <a:avLst/>
          </a:prstGeom>
          <a:noFill/>
        </p:spPr>
        <p:txBody>
          <a:bodyPr wrap="square">
            <a:spAutoFit/>
          </a:bodyPr>
          <a:lstStyle/>
          <a:p>
            <a:pPr algn="ctr"/>
            <a:r>
              <a:rPr sz="1000" b="1">
                <a:solidFill>
                  <a:srgbClr val="B85C5C"/>
                </a:solidFill>
                <a:latin typeface="Calibri"/>
              </a:rPr>
              <a:t>Oct 2024</a:t>
            </a:r>
          </a:p>
        </p:txBody>
      </p:sp>
      <p:sp>
        <p:nvSpPr>
          <p:cNvPr id="27" name="TextBox 26"/>
          <p:cNvSpPr txBox="1"/>
          <p:nvPr/>
        </p:nvSpPr>
        <p:spPr>
          <a:xfrm>
            <a:off x="9436608" y="2487168"/>
            <a:ext cx="1645920" cy="685800"/>
          </a:xfrm>
          <a:prstGeom prst="rect">
            <a:avLst/>
          </a:prstGeom>
          <a:noFill/>
        </p:spPr>
        <p:txBody>
          <a:bodyPr wrap="square">
            <a:spAutoFit/>
          </a:bodyPr>
          <a:lstStyle/>
          <a:p>
            <a:pPr algn="ctr"/>
            <a:r>
              <a:rPr sz="1000" b="0">
                <a:solidFill>
                  <a:srgbClr val="CBD1CD"/>
                </a:solidFill>
                <a:latin typeface="Calibri"/>
              </a:rPr>
              <a:t>Municipal
+ Regional</a:t>
            </a:r>
          </a:p>
        </p:txBody>
      </p:sp>
      <p:sp>
        <p:nvSpPr>
          <p:cNvPr id="28" name="Rectangle 27"/>
          <p:cNvSpPr/>
          <p:nvPr/>
        </p:nvSpPr>
        <p:spPr>
          <a:xfrm>
            <a:off x="731520" y="3310128"/>
            <a:ext cx="3520440" cy="299923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429000"/>
            <a:ext cx="3154680" cy="384048"/>
          </a:xfrm>
          <a:prstGeom prst="rect">
            <a:avLst/>
          </a:prstGeom>
          <a:noFill/>
        </p:spPr>
        <p:txBody>
          <a:bodyPr wrap="square">
            <a:spAutoFit/>
          </a:bodyPr>
          <a:lstStyle/>
          <a:p>
            <a:pPr algn="l"/>
            <a:r>
              <a:rPr sz="1300" b="1">
                <a:solidFill>
                  <a:srgbClr val="FFFFFF"/>
                </a:solidFill>
                <a:latin typeface="Calibri"/>
              </a:rPr>
              <a:t>DESINFORMACION</a:t>
            </a:r>
          </a:p>
        </p:txBody>
      </p:sp>
      <p:sp>
        <p:nvSpPr>
          <p:cNvPr id="30" name="TextBox 29"/>
          <p:cNvSpPr txBox="1"/>
          <p:nvPr/>
        </p:nvSpPr>
        <p:spPr>
          <a:xfrm>
            <a:off x="914400" y="3886200"/>
            <a:ext cx="3154680" cy="2240280"/>
          </a:xfrm>
          <a:prstGeom prst="rect">
            <a:avLst/>
          </a:prstGeom>
          <a:noFill/>
        </p:spPr>
        <p:txBody>
          <a:bodyPr wrap="square">
            <a:spAutoFit/>
          </a:bodyPr>
          <a:lstStyle/>
          <a:p>
            <a:pPr algn="l"/>
            <a:r>
              <a:rPr sz="3000" b="1">
                <a:solidFill>
                  <a:srgbClr val="FFFFFF"/>
                </a:solidFill>
                <a:latin typeface="Calibri"/>
              </a:rPr>
              <a:t>81% del electorado
expuesto semanalmente</a:t>
            </a:r>
          </a:p>
        </p:txBody>
      </p:sp>
      <p:sp>
        <p:nvSpPr>
          <p:cNvPr id="31" name="Rectangle 30"/>
          <p:cNvSpPr/>
          <p:nvPr/>
        </p:nvSpPr>
        <p:spPr>
          <a:xfrm>
            <a:off x="4526280" y="3310128"/>
            <a:ext cx="3520440" cy="299923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60" y="3429000"/>
            <a:ext cx="3154680" cy="384048"/>
          </a:xfrm>
          <a:prstGeom prst="rect">
            <a:avLst/>
          </a:prstGeom>
          <a:noFill/>
        </p:spPr>
        <p:txBody>
          <a:bodyPr wrap="square">
            <a:spAutoFit/>
          </a:bodyPr>
          <a:lstStyle/>
          <a:p>
            <a:pPr algn="l"/>
            <a:r>
              <a:rPr sz="1300" b="1">
                <a:solidFill>
                  <a:srgbClr val="FFFFFF"/>
                </a:solidFill>
                <a:latin typeface="Calibri"/>
              </a:rPr>
              <a:t>DESINTERES</a:t>
            </a:r>
          </a:p>
        </p:txBody>
      </p:sp>
      <p:sp>
        <p:nvSpPr>
          <p:cNvPr id="33" name="TextBox 32"/>
          <p:cNvSpPr txBox="1"/>
          <p:nvPr/>
        </p:nvSpPr>
        <p:spPr>
          <a:xfrm>
            <a:off x="4709160" y="3886200"/>
            <a:ext cx="3154680" cy="2240280"/>
          </a:xfrm>
          <a:prstGeom prst="rect">
            <a:avLst/>
          </a:prstGeom>
          <a:noFill/>
        </p:spPr>
        <p:txBody>
          <a:bodyPr wrap="square">
            <a:spAutoFit/>
          </a:bodyPr>
          <a:lstStyle/>
          <a:p>
            <a:pPr algn="l"/>
            <a:r>
              <a:rPr sz="3000" b="1">
                <a:solidFill>
                  <a:srgbClr val="FFFFFF"/>
                </a:solidFill>
                <a:latin typeface="Calibri"/>
              </a:rPr>
              <a:t>21% se reconoce
muy informado</a:t>
            </a:r>
          </a:p>
        </p:txBody>
      </p:sp>
      <p:sp>
        <p:nvSpPr>
          <p:cNvPr id="34" name="Rectangle 33"/>
          <p:cNvSpPr/>
          <p:nvPr/>
        </p:nvSpPr>
        <p:spPr>
          <a:xfrm>
            <a:off x="8321040" y="3310128"/>
            <a:ext cx="3520440" cy="29992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3429000"/>
            <a:ext cx="3154680" cy="384048"/>
          </a:xfrm>
          <a:prstGeom prst="rect">
            <a:avLst/>
          </a:prstGeom>
          <a:noFill/>
        </p:spPr>
        <p:txBody>
          <a:bodyPr wrap="square">
            <a:spAutoFit/>
          </a:bodyPr>
          <a:lstStyle/>
          <a:p>
            <a:pPr algn="l"/>
            <a:r>
              <a:rPr sz="1300" b="1">
                <a:solidFill>
                  <a:srgbClr val="FFFFFF"/>
                </a:solidFill>
                <a:latin typeface="Calibri"/>
              </a:rPr>
              <a:t>DESCONFIANZA</a:t>
            </a:r>
          </a:p>
        </p:txBody>
      </p:sp>
      <p:sp>
        <p:nvSpPr>
          <p:cNvPr id="36" name="TextBox 35"/>
          <p:cNvSpPr txBox="1"/>
          <p:nvPr/>
        </p:nvSpPr>
        <p:spPr>
          <a:xfrm>
            <a:off x="8503920" y="3886200"/>
            <a:ext cx="3154680" cy="2240280"/>
          </a:xfrm>
          <a:prstGeom prst="rect">
            <a:avLst/>
          </a:prstGeom>
          <a:noFill/>
        </p:spPr>
        <p:txBody>
          <a:bodyPr wrap="square">
            <a:spAutoFit/>
          </a:bodyPr>
          <a:lstStyle/>
          <a:p>
            <a:pPr algn="l"/>
            <a:r>
              <a:rPr sz="3000" b="1">
                <a:solidFill>
                  <a:srgbClr val="FFFFFF"/>
                </a:solidFill>
                <a:latin typeface="Calibri"/>
              </a:rPr>
              <a:t>79% desconfia
de los politicos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EL PROBLEMA</a:t>
            </a:r>
          </a:p>
        </p:txBody>
      </p:sp>
      <p:sp>
        <p:nvSpPr>
          <p:cNvPr id="4" name="TextBox 3"/>
          <p:cNvSpPr txBox="1"/>
          <p:nvPr/>
        </p:nvSpPr>
        <p:spPr>
          <a:xfrm>
            <a:off x="548640" y="411480"/>
            <a:ext cx="10972800" cy="1097280"/>
          </a:xfrm>
          <a:prstGeom prst="rect">
            <a:avLst/>
          </a:prstGeom>
          <a:noFill/>
        </p:spPr>
        <p:txBody>
          <a:bodyPr wrap="square">
            <a:spAutoFit/>
          </a:bodyPr>
          <a:lstStyle/>
          <a:p>
            <a:pPr algn="l"/>
            <a:r>
              <a:rPr sz="4400" b="1">
                <a:solidFill>
                  <a:srgbClr val="1C3A52"/>
                </a:solidFill>
                <a:latin typeface="Calibri"/>
              </a:rPr>
              <a:t>Votar bien es mas dificil
de lo que parece.</a:t>
            </a:r>
          </a:p>
        </p:txBody>
      </p:sp>
      <p:sp>
        <p:nvSpPr>
          <p:cNvPr id="5" name="Rectangle 4"/>
          <p:cNvSpPr/>
          <p:nvPr/>
        </p:nvSpPr>
        <p:spPr>
          <a:xfrm>
            <a:off x="457200" y="1783080"/>
            <a:ext cx="5577840" cy="217627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5212080" cy="384048"/>
          </a:xfrm>
          <a:prstGeom prst="rect">
            <a:avLst/>
          </a:prstGeom>
          <a:noFill/>
        </p:spPr>
        <p:txBody>
          <a:bodyPr wrap="square">
            <a:spAutoFit/>
          </a:bodyPr>
          <a:lstStyle/>
          <a:p>
            <a:pPr algn="l"/>
            <a:r>
              <a:rPr sz="1200" b="1">
                <a:solidFill>
                  <a:srgbClr val="FFFFFF"/>
                </a:solidFill>
                <a:latin typeface="Calibri"/>
              </a:rPr>
              <a:t>DESINFORMACION</a:t>
            </a:r>
          </a:p>
        </p:txBody>
      </p:sp>
      <p:sp>
        <p:nvSpPr>
          <p:cNvPr id="7" name="Rectangle 6"/>
          <p:cNvSpPr/>
          <p:nvPr/>
        </p:nvSpPr>
        <p:spPr>
          <a:xfrm>
            <a:off x="640080" y="2331720"/>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41448"/>
            <a:ext cx="5212080" cy="1389888"/>
          </a:xfrm>
          <a:prstGeom prst="rect">
            <a:avLst/>
          </a:prstGeom>
          <a:noFill/>
        </p:spPr>
        <p:txBody>
          <a:bodyPr wrap="square">
            <a:spAutoFit/>
          </a:bodyPr>
          <a:lstStyle/>
          <a:p>
            <a:pPr algn="l"/>
            <a:r>
              <a:rPr sz="1300" b="0">
                <a:solidFill>
                  <a:srgbClr val="FFFFFF"/>
                </a:solidFill>
                <a:latin typeface="Calibri"/>
              </a:rPr>
              <a:t>Informacion falsa o distorsionada
circula con mas velocidad que la verificada.</a:t>
            </a:r>
          </a:p>
        </p:txBody>
      </p:sp>
      <p:sp>
        <p:nvSpPr>
          <p:cNvPr id="9" name="Rectangle 8"/>
          <p:cNvSpPr/>
          <p:nvPr/>
        </p:nvSpPr>
        <p:spPr>
          <a:xfrm>
            <a:off x="6309360" y="1783080"/>
            <a:ext cx="5577840" cy="217627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5212080" cy="384048"/>
          </a:xfrm>
          <a:prstGeom prst="rect">
            <a:avLst/>
          </a:prstGeom>
          <a:noFill/>
        </p:spPr>
        <p:txBody>
          <a:bodyPr wrap="square">
            <a:spAutoFit/>
          </a:bodyPr>
          <a:lstStyle/>
          <a:p>
            <a:pPr algn="l"/>
            <a:r>
              <a:rPr sz="1200" b="1">
                <a:solidFill>
                  <a:srgbClr val="FFFFFF"/>
                </a:solidFill>
                <a:latin typeface="Calibri"/>
              </a:rPr>
              <a:t>SOBRECARGA INFORMATIVA</a:t>
            </a:r>
          </a:p>
        </p:txBody>
      </p:sp>
      <p:sp>
        <p:nvSpPr>
          <p:cNvPr id="11" name="Rectangle 10"/>
          <p:cNvSpPr/>
          <p:nvPr/>
        </p:nvSpPr>
        <p:spPr>
          <a:xfrm>
            <a:off x="6492240" y="2331720"/>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441448"/>
            <a:ext cx="5212080" cy="1389888"/>
          </a:xfrm>
          <a:prstGeom prst="rect">
            <a:avLst/>
          </a:prstGeom>
          <a:noFill/>
        </p:spPr>
        <p:txBody>
          <a:bodyPr wrap="square">
            <a:spAutoFit/>
          </a:bodyPr>
          <a:lstStyle/>
          <a:p>
            <a:pPr algn="l"/>
            <a:r>
              <a:rPr sz="1300" b="0">
                <a:solidFill>
                  <a:srgbClr val="FFFFFF"/>
                </a:solidFill>
                <a:latin typeface="Calibri"/>
              </a:rPr>
              <a:t>Multiples candidatos, multiples cargos,
fuentes de calidad variable y sin formato comun.</a:t>
            </a:r>
          </a:p>
        </p:txBody>
      </p:sp>
      <p:sp>
        <p:nvSpPr>
          <p:cNvPr id="13" name="Rectangle 12"/>
          <p:cNvSpPr/>
          <p:nvPr/>
        </p:nvSpPr>
        <p:spPr>
          <a:xfrm>
            <a:off x="457200" y="4114800"/>
            <a:ext cx="5577840" cy="217627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251960"/>
            <a:ext cx="5212080" cy="384048"/>
          </a:xfrm>
          <a:prstGeom prst="rect">
            <a:avLst/>
          </a:prstGeom>
          <a:noFill/>
        </p:spPr>
        <p:txBody>
          <a:bodyPr wrap="square">
            <a:spAutoFit/>
          </a:bodyPr>
          <a:lstStyle/>
          <a:p>
            <a:pPr algn="l"/>
            <a:r>
              <a:rPr sz="1200" b="1">
                <a:solidFill>
                  <a:srgbClr val="FFFFFF"/>
                </a:solidFill>
                <a:latin typeface="Calibri"/>
              </a:rPr>
              <a:t>COMPLEJIDAD DECISIONAL</a:t>
            </a:r>
          </a:p>
        </p:txBody>
      </p:sp>
      <p:sp>
        <p:nvSpPr>
          <p:cNvPr id="15" name="Rectangle 14"/>
          <p:cNvSpPr/>
          <p:nvPr/>
        </p:nvSpPr>
        <p:spPr>
          <a:xfrm>
            <a:off x="640080" y="4663440"/>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773168"/>
            <a:ext cx="5212080" cy="1389888"/>
          </a:xfrm>
          <a:prstGeom prst="rect">
            <a:avLst/>
          </a:prstGeom>
          <a:noFill/>
        </p:spPr>
        <p:txBody>
          <a:bodyPr wrap="square">
            <a:spAutoFit/>
          </a:bodyPr>
          <a:lstStyle/>
          <a:p>
            <a:pPr algn="l"/>
            <a:r>
              <a:rPr sz="1300" b="0">
                <a:solidFill>
                  <a:srgbClr val="FFFFFF"/>
                </a:solidFill>
                <a:latin typeface="Calibri"/>
              </a:rPr>
              <a:t>Evaluar programas completos en el periodo
previo a la eleccion es cognitivamente inabordable.</a:t>
            </a:r>
          </a:p>
        </p:txBody>
      </p:sp>
      <p:sp>
        <p:nvSpPr>
          <p:cNvPr id="17" name="Rectangle 16"/>
          <p:cNvSpPr/>
          <p:nvPr/>
        </p:nvSpPr>
        <p:spPr>
          <a:xfrm>
            <a:off x="6309360" y="4114800"/>
            <a:ext cx="5577840" cy="2176272"/>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251960"/>
            <a:ext cx="5212080" cy="384048"/>
          </a:xfrm>
          <a:prstGeom prst="rect">
            <a:avLst/>
          </a:prstGeom>
          <a:noFill/>
        </p:spPr>
        <p:txBody>
          <a:bodyPr wrap="square">
            <a:spAutoFit/>
          </a:bodyPr>
          <a:lstStyle/>
          <a:p>
            <a:pPr algn="l"/>
            <a:r>
              <a:rPr sz="1200" b="1">
                <a:solidFill>
                  <a:srgbClr val="FFFFFF"/>
                </a:solidFill>
                <a:latin typeface="Calibri"/>
              </a:rPr>
              <a:t>APATIA POLITICA</a:t>
            </a:r>
          </a:p>
        </p:txBody>
      </p:sp>
      <p:sp>
        <p:nvSpPr>
          <p:cNvPr id="19" name="Rectangle 18"/>
          <p:cNvSpPr/>
          <p:nvPr/>
        </p:nvSpPr>
        <p:spPr>
          <a:xfrm>
            <a:off x="6492240" y="4663440"/>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773168"/>
            <a:ext cx="5212080" cy="1389888"/>
          </a:xfrm>
          <a:prstGeom prst="rect">
            <a:avLst/>
          </a:prstGeom>
          <a:noFill/>
        </p:spPr>
        <p:txBody>
          <a:bodyPr wrap="square">
            <a:spAutoFit/>
          </a:bodyPr>
          <a:lstStyle/>
          <a:p>
            <a:pPr algn="l"/>
            <a:r>
              <a:rPr sz="1300" b="0">
                <a:solidFill>
                  <a:srgbClr val="FFFFFF"/>
                </a:solidFill>
                <a:latin typeface="Calibri"/>
              </a:rPr>
              <a:t>La acumulacion de procesos genera fatiga.
El ciudadano deja de intentar informarse.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EVIDENCIA EMPIRICA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FFFFFF"/>
                </a:solidFill>
                <a:latin typeface="Calibri"/>
              </a:rPr>
              <a:t>Los datos confirman la magnitud</a:t>
            </a:r>
          </a:p>
        </p:txBody>
      </p:sp>
      <p:sp>
        <p:nvSpPr>
          <p:cNvPr id="5" name="Rectangle 4"/>
          <p:cNvSpPr/>
          <p:nvPr/>
        </p:nvSpPr>
        <p:spPr>
          <a:xfrm>
            <a:off x="457200" y="1444752"/>
            <a:ext cx="5577840" cy="230428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36192"/>
            <a:ext cx="5212080" cy="1005840"/>
          </a:xfrm>
          <a:prstGeom prst="rect">
            <a:avLst/>
          </a:prstGeom>
          <a:noFill/>
        </p:spPr>
        <p:txBody>
          <a:bodyPr wrap="square">
            <a:spAutoFit/>
          </a:bodyPr>
          <a:lstStyle/>
          <a:p>
            <a:pPr algn="l"/>
            <a:r>
              <a:rPr sz="5600" b="1">
                <a:solidFill>
                  <a:srgbClr val="FFFFFF"/>
                </a:solidFill>
                <a:latin typeface="Calibri"/>
              </a:rPr>
              <a:t>81%</a:t>
            </a:r>
          </a:p>
        </p:txBody>
      </p:sp>
      <p:sp>
        <p:nvSpPr>
          <p:cNvPr id="7" name="TextBox 6"/>
          <p:cNvSpPr txBox="1"/>
          <p:nvPr/>
        </p:nvSpPr>
        <p:spPr>
          <a:xfrm>
            <a:off x="640080" y="2615184"/>
            <a:ext cx="5212080" cy="1005840"/>
          </a:xfrm>
          <a:prstGeom prst="rect">
            <a:avLst/>
          </a:prstGeom>
          <a:noFill/>
        </p:spPr>
        <p:txBody>
          <a:bodyPr wrap="square">
            <a:spAutoFit/>
          </a:bodyPr>
          <a:lstStyle/>
          <a:p>
            <a:pPr algn="l"/>
            <a:r>
              <a:rPr sz="1300" b="0">
                <a:solidFill>
                  <a:srgbClr val="FFFFFF"/>
                </a:solidFill>
                <a:latin typeface="Calibri"/>
              </a:rPr>
              <a:t>del electorado expuesto a
desinformacion cada semana</a:t>
            </a:r>
          </a:p>
        </p:txBody>
      </p:sp>
      <p:sp>
        <p:nvSpPr>
          <p:cNvPr id="8" name="Rectangle 7"/>
          <p:cNvSpPr/>
          <p:nvPr/>
        </p:nvSpPr>
        <p:spPr>
          <a:xfrm>
            <a:off x="6309360" y="1444752"/>
            <a:ext cx="5577840" cy="230428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536192"/>
            <a:ext cx="5212080" cy="1005840"/>
          </a:xfrm>
          <a:prstGeom prst="rect">
            <a:avLst/>
          </a:prstGeom>
          <a:noFill/>
        </p:spPr>
        <p:txBody>
          <a:bodyPr wrap="square">
            <a:spAutoFit/>
          </a:bodyPr>
          <a:lstStyle/>
          <a:p>
            <a:pPr algn="l"/>
            <a:r>
              <a:rPr sz="5600" b="1">
                <a:solidFill>
                  <a:srgbClr val="FFFFFF"/>
                </a:solidFill>
                <a:latin typeface="Calibri"/>
              </a:rPr>
              <a:t>21%</a:t>
            </a:r>
          </a:p>
        </p:txBody>
      </p:sp>
      <p:sp>
        <p:nvSpPr>
          <p:cNvPr id="10" name="TextBox 9"/>
          <p:cNvSpPr txBox="1"/>
          <p:nvPr/>
        </p:nvSpPr>
        <p:spPr>
          <a:xfrm>
            <a:off x="6492240" y="2615184"/>
            <a:ext cx="5212080" cy="1005840"/>
          </a:xfrm>
          <a:prstGeom prst="rect">
            <a:avLst/>
          </a:prstGeom>
          <a:noFill/>
        </p:spPr>
        <p:txBody>
          <a:bodyPr wrap="square">
            <a:spAutoFit/>
          </a:bodyPr>
          <a:lstStyle/>
          <a:p>
            <a:pPr algn="l"/>
            <a:r>
              <a:rPr sz="1300" b="0">
                <a:solidFill>
                  <a:srgbClr val="FFFFFF"/>
                </a:solidFill>
                <a:latin typeface="Calibri"/>
              </a:rPr>
              <a:t>se reconocia muy informado
antes de las municipales 2024</a:t>
            </a:r>
          </a:p>
        </p:txBody>
      </p:sp>
      <p:sp>
        <p:nvSpPr>
          <p:cNvPr id="11" name="Rectangle 10"/>
          <p:cNvSpPr/>
          <p:nvPr/>
        </p:nvSpPr>
        <p:spPr>
          <a:xfrm>
            <a:off x="457200" y="3931920"/>
            <a:ext cx="5577840" cy="230428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023360"/>
            <a:ext cx="5212080" cy="1005840"/>
          </a:xfrm>
          <a:prstGeom prst="rect">
            <a:avLst/>
          </a:prstGeom>
          <a:noFill/>
        </p:spPr>
        <p:txBody>
          <a:bodyPr wrap="square">
            <a:spAutoFit/>
          </a:bodyPr>
          <a:lstStyle/>
          <a:p>
            <a:pPr algn="l"/>
            <a:r>
              <a:rPr sz="5600" b="1">
                <a:solidFill>
                  <a:srgbClr val="FFFFFF"/>
                </a:solidFill>
                <a:latin typeface="Calibri"/>
              </a:rPr>
              <a:t>100%</a:t>
            </a:r>
          </a:p>
        </p:txBody>
      </p:sp>
      <p:sp>
        <p:nvSpPr>
          <p:cNvPr id="13" name="TextBox 12"/>
          <p:cNvSpPr txBox="1"/>
          <p:nvPr/>
        </p:nvSpPr>
        <p:spPr>
          <a:xfrm>
            <a:off x="640080" y="5102352"/>
            <a:ext cx="5212080" cy="1005840"/>
          </a:xfrm>
          <a:prstGeom prst="rect">
            <a:avLst/>
          </a:prstGeom>
          <a:noFill/>
        </p:spPr>
        <p:txBody>
          <a:bodyPr wrap="square">
            <a:spAutoFit/>
          </a:bodyPr>
          <a:lstStyle/>
          <a:p>
            <a:pPr algn="l"/>
            <a:r>
              <a:rPr sz="1300" b="0">
                <a:solidFill>
                  <a:srgbClr val="FFFFFF"/>
                </a:solidFill>
                <a:latin typeface="Calibri"/>
              </a:rPr>
              <a:t>de los entrevistados
vio fake news electorales</a:t>
            </a:r>
          </a:p>
        </p:txBody>
      </p:sp>
      <p:sp>
        <p:nvSpPr>
          <p:cNvPr id="14" name="Rectangle 13"/>
          <p:cNvSpPr/>
          <p:nvPr/>
        </p:nvSpPr>
        <p:spPr>
          <a:xfrm>
            <a:off x="6309360" y="3931920"/>
            <a:ext cx="5577840" cy="230428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023360"/>
            <a:ext cx="5212080" cy="1005840"/>
          </a:xfrm>
          <a:prstGeom prst="rect">
            <a:avLst/>
          </a:prstGeom>
          <a:noFill/>
        </p:spPr>
        <p:txBody>
          <a:bodyPr wrap="square">
            <a:spAutoFit/>
          </a:bodyPr>
          <a:lstStyle/>
          <a:p>
            <a:pPr algn="l"/>
            <a:r>
              <a:rPr sz="5600" b="1">
                <a:solidFill>
                  <a:srgbClr val="FFFFFF"/>
                </a:solidFill>
                <a:latin typeface="Calibri"/>
              </a:rPr>
              <a:t>+460%</a:t>
            </a:r>
          </a:p>
        </p:txBody>
      </p:sp>
      <p:sp>
        <p:nvSpPr>
          <p:cNvPr id="16" name="TextBox 15"/>
          <p:cNvSpPr txBox="1"/>
          <p:nvPr/>
        </p:nvSpPr>
        <p:spPr>
          <a:xfrm>
            <a:off x="6492240" y="5102352"/>
            <a:ext cx="5212080" cy="1005840"/>
          </a:xfrm>
          <a:prstGeom prst="rect">
            <a:avLst/>
          </a:prstGeom>
          <a:noFill/>
        </p:spPr>
        <p:txBody>
          <a:bodyPr wrap="square">
            <a:spAutoFit/>
          </a:bodyPr>
          <a:lstStyle/>
          <a:p>
            <a:pPr algn="l"/>
            <a:r>
              <a:rPr sz="1300" b="0">
                <a:solidFill>
                  <a:srgbClr val="FFFFFF"/>
                </a:solidFill>
                <a:latin typeface="Calibri"/>
              </a:rPr>
              <a:t>de votos nulos para alcalde
entre 2021 y 2024</a:t>
            </a:r>
          </a:p>
        </p:txBody>
      </p:sp>
      <p:sp>
        <p:nvSpPr>
          <p:cNvPr id="17" name="TextBox 16"/>
          <p:cNvSpPr txBox="1"/>
          <p:nvPr/>
        </p:nvSpPr>
        <p:spPr>
          <a:xfrm>
            <a:off x="457200" y="6492240"/>
            <a:ext cx="11247120" cy="292608"/>
          </a:xfrm>
          <a:prstGeom prst="rect">
            <a:avLst/>
          </a:prstGeom>
          <a:noFill/>
        </p:spPr>
        <p:txBody>
          <a:bodyPr wrap="square">
            <a:spAutoFit/>
          </a:bodyPr>
          <a:lstStyle/>
          <a:p>
            <a:pPr algn="l"/>
            <a:r>
              <a:rPr sz="1000" b="0">
                <a:solidFill>
                  <a:srgbClr val="8A9199"/>
                </a:solidFill>
                <a:latin typeface="Calibri"/>
              </a:rPr>
              <a:t>Fuentes: Activa Knowledge  |  Informe Claves Ipsos N.33  |  SERVEL  |  Levantamiento propio N=12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POR QUE IMPORTA</a:t>
            </a:r>
          </a:p>
        </p:txBody>
      </p:sp>
      <p:sp>
        <p:nvSpPr>
          <p:cNvPr id="4" name="TextBox 3"/>
          <p:cNvSpPr txBox="1"/>
          <p:nvPr/>
        </p:nvSpPr>
        <p:spPr>
          <a:xfrm>
            <a:off x="548640" y="411480"/>
            <a:ext cx="10972800" cy="1097280"/>
          </a:xfrm>
          <a:prstGeom prst="rect">
            <a:avLst/>
          </a:prstGeom>
          <a:noFill/>
        </p:spPr>
        <p:txBody>
          <a:bodyPr wrap="square">
            <a:spAutoFit/>
          </a:bodyPr>
          <a:lstStyle/>
          <a:p>
            <a:pPr algn="l"/>
            <a:r>
              <a:rPr sz="4200" b="1">
                <a:solidFill>
                  <a:srgbClr val="1C3A52"/>
                </a:solidFill>
                <a:latin typeface="Calibri"/>
              </a:rPr>
              <a:t>La calidad del voto determina
la calidad de la representacion.</a:t>
            </a:r>
          </a:p>
        </p:txBody>
      </p:sp>
      <p:sp>
        <p:nvSpPr>
          <p:cNvPr id="5" name="Rectangle 4"/>
          <p:cNvSpPr/>
          <p:nvPr/>
        </p:nvSpPr>
        <p:spPr>
          <a:xfrm>
            <a:off x="457200" y="1755648"/>
            <a:ext cx="11247120" cy="14173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698480" cy="1170432"/>
          </a:xfrm>
          <a:prstGeom prst="rect">
            <a:avLst/>
          </a:prstGeom>
          <a:noFill/>
        </p:spPr>
        <p:txBody>
          <a:bodyPr wrap="square">
            <a:spAutoFit/>
          </a:bodyPr>
          <a:lstStyle/>
          <a:p>
            <a:pPr algn="l"/>
            <a:r>
              <a:rPr sz="1400" b="0">
                <a:solidFill>
                  <a:srgbClr val="FFFFFF"/>
                </a:solidFill>
                <a:latin typeface="Calibri"/>
              </a:rPr>
              <a:t>En un sistema representativo, la informacion con que los ciudadanos ejercen su derecho electoral determina en ultima instancia la calidad de la representacion que obtienen. Un voto emitido sin informacion sobre las posturas del candidato electo no puede racionalizar ni evaluar la gestion posterior de ese representante.</a:t>
            </a:r>
          </a:p>
        </p:txBody>
      </p:sp>
      <p:sp>
        <p:nvSpPr>
          <p:cNvPr id="7" name="Rectangle 6"/>
          <p:cNvSpPr/>
          <p:nvPr/>
        </p:nvSpPr>
        <p:spPr>
          <a:xfrm>
            <a:off x="457200" y="3401568"/>
            <a:ext cx="3657600" cy="29260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520440"/>
            <a:ext cx="3291840" cy="594360"/>
          </a:xfrm>
          <a:prstGeom prst="rect">
            <a:avLst/>
          </a:prstGeom>
          <a:noFill/>
        </p:spPr>
        <p:txBody>
          <a:bodyPr wrap="square">
            <a:spAutoFit/>
          </a:bodyPr>
          <a:lstStyle/>
          <a:p>
            <a:pPr algn="l"/>
            <a:r>
              <a:rPr sz="1300" b="1">
                <a:solidFill>
                  <a:srgbClr val="FFFFFF"/>
                </a:solidFill>
                <a:latin typeface="Calibri"/>
              </a:rPr>
              <a:t>Preservar la integridad democratica</a:t>
            </a:r>
          </a:p>
        </p:txBody>
      </p:sp>
      <p:sp>
        <p:nvSpPr>
          <p:cNvPr id="9" name="Rectangle 8"/>
          <p:cNvSpPr/>
          <p:nvPr/>
        </p:nvSpPr>
        <p:spPr>
          <a:xfrm>
            <a:off x="640080" y="4133087"/>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251960"/>
            <a:ext cx="3291840" cy="1874519"/>
          </a:xfrm>
          <a:prstGeom prst="rect">
            <a:avLst/>
          </a:prstGeom>
          <a:noFill/>
        </p:spPr>
        <p:txBody>
          <a:bodyPr wrap="square">
            <a:spAutoFit/>
          </a:bodyPr>
          <a:lstStyle/>
          <a:p>
            <a:pPr algn="l"/>
            <a:r>
              <a:rPr sz="1200" b="0">
                <a:solidFill>
                  <a:srgbClr val="FFFFFF"/>
                </a:solidFill>
                <a:latin typeface="Calibri"/>
              </a:rPr>
              <a:t>El voto informado es la base de la legitimidad del sistema.</a:t>
            </a:r>
          </a:p>
        </p:txBody>
      </p:sp>
      <p:sp>
        <p:nvSpPr>
          <p:cNvPr id="11" name="Rectangle 10"/>
          <p:cNvSpPr/>
          <p:nvPr/>
        </p:nvSpPr>
        <p:spPr>
          <a:xfrm>
            <a:off x="4343400" y="3401568"/>
            <a:ext cx="3657600" cy="292608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520440"/>
            <a:ext cx="3291840" cy="594360"/>
          </a:xfrm>
          <a:prstGeom prst="rect">
            <a:avLst/>
          </a:prstGeom>
          <a:noFill/>
        </p:spPr>
        <p:txBody>
          <a:bodyPr wrap="square">
            <a:spAutoFit/>
          </a:bodyPr>
          <a:lstStyle/>
          <a:p>
            <a:pPr algn="l"/>
            <a:r>
              <a:rPr sz="1300" b="1">
                <a:solidFill>
                  <a:srgbClr val="FFFFFF"/>
                </a:solidFill>
                <a:latin typeface="Calibri"/>
              </a:rPr>
              <a:t>Reducir el impacto de las fake news</a:t>
            </a:r>
          </a:p>
        </p:txBody>
      </p:sp>
      <p:sp>
        <p:nvSpPr>
          <p:cNvPr id="13" name="Rectangle 12"/>
          <p:cNvSpPr/>
          <p:nvPr/>
        </p:nvSpPr>
        <p:spPr>
          <a:xfrm>
            <a:off x="4526280" y="4133087"/>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4251960"/>
            <a:ext cx="3291840" cy="1874519"/>
          </a:xfrm>
          <a:prstGeom prst="rect">
            <a:avLst/>
          </a:prstGeom>
          <a:noFill/>
        </p:spPr>
        <p:txBody>
          <a:bodyPr wrap="square">
            <a:spAutoFit/>
          </a:bodyPr>
          <a:lstStyle/>
          <a:p>
            <a:pPr algn="l"/>
            <a:r>
              <a:rPr sz="1200" b="0">
                <a:solidFill>
                  <a:srgbClr val="FFFFFF"/>
                </a:solidFill>
                <a:latin typeface="Calibri"/>
              </a:rPr>
              <a:t>La desinformacion afecta desproporcionadamente a segmentos vulnerables.</a:t>
            </a:r>
          </a:p>
        </p:txBody>
      </p:sp>
      <p:sp>
        <p:nvSpPr>
          <p:cNvPr id="15" name="Rectangle 14"/>
          <p:cNvSpPr/>
          <p:nvPr/>
        </p:nvSpPr>
        <p:spPr>
          <a:xfrm>
            <a:off x="8229600" y="3401568"/>
            <a:ext cx="3657600" cy="292608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3520440"/>
            <a:ext cx="3291840" cy="594360"/>
          </a:xfrm>
          <a:prstGeom prst="rect">
            <a:avLst/>
          </a:prstGeom>
          <a:noFill/>
        </p:spPr>
        <p:txBody>
          <a:bodyPr wrap="square">
            <a:spAutoFit/>
          </a:bodyPr>
          <a:lstStyle/>
          <a:p>
            <a:pPr algn="l"/>
            <a:r>
              <a:rPr sz="1300" b="1">
                <a:solidFill>
                  <a:srgbClr val="FFFFFF"/>
                </a:solidFill>
                <a:latin typeface="Calibri"/>
              </a:rPr>
              <a:t>Fortalecer la confianza institucional</a:t>
            </a:r>
          </a:p>
        </p:txBody>
      </p:sp>
      <p:sp>
        <p:nvSpPr>
          <p:cNvPr id="17" name="Rectangle 16"/>
          <p:cNvSpPr/>
          <p:nvPr/>
        </p:nvSpPr>
        <p:spPr>
          <a:xfrm>
            <a:off x="8412480" y="4133087"/>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4251960"/>
            <a:ext cx="3291840" cy="1874519"/>
          </a:xfrm>
          <a:prstGeom prst="rect">
            <a:avLst/>
          </a:prstGeom>
          <a:noFill/>
        </p:spPr>
        <p:txBody>
          <a:bodyPr wrap="square">
            <a:spAutoFit/>
          </a:bodyPr>
          <a:lstStyle/>
          <a:p>
            <a:pPr algn="l"/>
            <a:r>
              <a:rPr sz="1200" b="0">
                <a:solidFill>
                  <a:srgbClr val="FFFFFF"/>
                </a:solidFill>
                <a:latin typeface="Calibri"/>
              </a:rPr>
              <a:t>Ciudadanos con herramientas confian mas en el proceso electoral.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LA OPORTUNIDAD DETECTADA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400" b="1">
                <a:solidFill>
                  <a:srgbClr val="FFFFFF"/>
                </a:solidFill>
                <a:latin typeface="Calibri"/>
              </a:rPr>
              <a:t>El espacio estaba vacio.</a:t>
            </a:r>
          </a:p>
        </p:txBody>
      </p:sp>
      <p:sp>
        <p:nvSpPr>
          <p:cNvPr id="5" name="TextBox 4"/>
          <p:cNvSpPr txBox="1"/>
          <p:nvPr/>
        </p:nvSpPr>
        <p:spPr>
          <a:xfrm>
            <a:off x="548640" y="1078992"/>
            <a:ext cx="10972800" cy="384048"/>
          </a:xfrm>
          <a:prstGeom prst="rect">
            <a:avLst/>
          </a:prstGeom>
          <a:noFill/>
        </p:spPr>
        <p:txBody>
          <a:bodyPr wrap="square">
            <a:spAutoFit/>
          </a:bodyPr>
          <a:lstStyle/>
          <a:p>
            <a:pPr algn="l"/>
            <a:r>
              <a:rPr sz="1800" b="0">
                <a:solidFill>
                  <a:srgbClr val="CBD1CD"/>
                </a:solidFill>
                <a:latin typeface="Calibri"/>
              </a:rPr>
              <a:t>No existia en Chile una VAA activa con metodologia transparente y datos verificables.</a:t>
            </a:r>
          </a:p>
        </p:txBody>
      </p:sp>
      <p:sp>
        <p:nvSpPr>
          <p:cNvPr id="6" name="Rectangle 5"/>
          <p:cNvSpPr/>
          <p:nvPr/>
        </p:nvSpPr>
        <p:spPr>
          <a:xfrm>
            <a:off x="457200" y="1719072"/>
            <a:ext cx="2743200" cy="477316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28800"/>
            <a:ext cx="2487168" cy="438912"/>
          </a:xfrm>
          <a:prstGeom prst="rect">
            <a:avLst/>
          </a:prstGeom>
          <a:noFill/>
        </p:spPr>
        <p:txBody>
          <a:bodyPr wrap="square">
            <a:spAutoFit/>
          </a:bodyPr>
          <a:lstStyle/>
          <a:p>
            <a:pPr algn="l"/>
            <a:r>
              <a:rPr sz="1400" b="1">
                <a:solidFill>
                  <a:srgbClr val="FFFFFF"/>
                </a:solidFill>
                <a:latin typeface="Calibri"/>
              </a:rPr>
              <a:t>Voto Informado</a:t>
            </a:r>
          </a:p>
        </p:txBody>
      </p:sp>
      <p:sp>
        <p:nvSpPr>
          <p:cNvPr id="8" name="TextBox 7"/>
          <p:cNvSpPr txBox="1"/>
          <p:nvPr/>
        </p:nvSpPr>
        <p:spPr>
          <a:xfrm>
            <a:off x="594360" y="2304288"/>
            <a:ext cx="2487168" cy="347472"/>
          </a:xfrm>
          <a:prstGeom prst="rect">
            <a:avLst/>
          </a:prstGeom>
          <a:noFill/>
        </p:spPr>
        <p:txBody>
          <a:bodyPr wrap="square">
            <a:spAutoFit/>
          </a:bodyPr>
          <a:lstStyle/>
          <a:p>
            <a:pPr algn="l"/>
            <a:r>
              <a:rPr sz="1000" b="1">
                <a:solidFill>
                  <a:srgbClr val="FFFFFF"/>
                </a:solidFill>
                <a:latin typeface="Calibri"/>
              </a:rPr>
              <a:t>DISCONTINUADA</a:t>
            </a:r>
          </a:p>
        </p:txBody>
      </p:sp>
      <p:sp>
        <p:nvSpPr>
          <p:cNvPr id="9" name="Rectangle 8"/>
          <p:cNvSpPr/>
          <p:nvPr/>
        </p:nvSpPr>
        <p:spPr>
          <a:xfrm>
            <a:off x="594360" y="2697480"/>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816352"/>
            <a:ext cx="2487168" cy="3383280"/>
          </a:xfrm>
          <a:prstGeom prst="rect">
            <a:avLst/>
          </a:prstGeom>
          <a:noFill/>
        </p:spPr>
        <p:txBody>
          <a:bodyPr wrap="square">
            <a:spAutoFit/>
          </a:bodyPr>
          <a:lstStyle/>
          <a:p>
            <a:pPr algn="l"/>
            <a:r>
              <a:rPr sz="1300" b="0">
                <a:solidFill>
                  <a:srgbClr val="FFFFFF"/>
                </a:solidFill>
                <a:latin typeface="Calibri"/>
              </a:rPr>
              <a:t>Sin matching, sin actualizacion.</a:t>
            </a:r>
          </a:p>
        </p:txBody>
      </p:sp>
      <p:sp>
        <p:nvSpPr>
          <p:cNvPr id="11" name="Rectangle 10"/>
          <p:cNvSpPr/>
          <p:nvPr/>
        </p:nvSpPr>
        <p:spPr>
          <a:xfrm>
            <a:off x="3337560" y="1719072"/>
            <a:ext cx="2743200" cy="477316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828800"/>
            <a:ext cx="2487168" cy="438912"/>
          </a:xfrm>
          <a:prstGeom prst="rect">
            <a:avLst/>
          </a:prstGeom>
          <a:noFill/>
        </p:spPr>
        <p:txBody>
          <a:bodyPr wrap="square">
            <a:spAutoFit/>
          </a:bodyPr>
          <a:lstStyle/>
          <a:p>
            <a:pPr algn="l"/>
            <a:r>
              <a:rPr sz="1400" b="1">
                <a:solidFill>
                  <a:srgbClr val="FFFFFF"/>
                </a:solidFill>
                <a:latin typeface="Calibri"/>
              </a:rPr>
              <a:t>Decide Chile</a:t>
            </a:r>
          </a:p>
        </p:txBody>
      </p:sp>
      <p:sp>
        <p:nvSpPr>
          <p:cNvPr id="13" name="TextBox 12"/>
          <p:cNvSpPr txBox="1"/>
          <p:nvPr/>
        </p:nvSpPr>
        <p:spPr>
          <a:xfrm>
            <a:off x="3474720" y="2304288"/>
            <a:ext cx="2487168" cy="347472"/>
          </a:xfrm>
          <a:prstGeom prst="rect">
            <a:avLst/>
          </a:prstGeom>
          <a:noFill/>
        </p:spPr>
        <p:txBody>
          <a:bodyPr wrap="square">
            <a:spAutoFit/>
          </a:bodyPr>
          <a:lstStyle/>
          <a:p>
            <a:pPr algn="l"/>
            <a:r>
              <a:rPr sz="1000" b="1">
                <a:solidFill>
                  <a:srgbClr val="FFFFFF"/>
                </a:solidFill>
                <a:latin typeface="Calibri"/>
              </a:rPr>
              <a:t>DISCONTINUADA</a:t>
            </a:r>
          </a:p>
        </p:txBody>
      </p:sp>
      <p:sp>
        <p:nvSpPr>
          <p:cNvPr id="14" name="Rectangle 13"/>
          <p:cNvSpPr/>
          <p:nvPr/>
        </p:nvSpPr>
        <p:spPr>
          <a:xfrm>
            <a:off x="3474720" y="2697480"/>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2816352"/>
            <a:ext cx="2487168" cy="3383280"/>
          </a:xfrm>
          <a:prstGeom prst="rect">
            <a:avLst/>
          </a:prstGeom>
          <a:noFill/>
        </p:spPr>
        <p:txBody>
          <a:bodyPr wrap="square">
            <a:spAutoFit/>
          </a:bodyPr>
          <a:lstStyle/>
          <a:p>
            <a:pPr algn="l"/>
            <a:r>
              <a:rPr sz="1300" b="0">
                <a:solidFill>
                  <a:srgbClr val="FFFFFF"/>
                </a:solidFill>
                <a:latin typeface="Calibri"/>
              </a:rPr>
              <a:t>Tenia matching basico. No se mantuvo.</a:t>
            </a:r>
          </a:p>
        </p:txBody>
      </p:sp>
      <p:sp>
        <p:nvSpPr>
          <p:cNvPr id="16" name="Rectangle 15"/>
          <p:cNvSpPr/>
          <p:nvPr/>
        </p:nvSpPr>
        <p:spPr>
          <a:xfrm>
            <a:off x="6217920" y="1719072"/>
            <a:ext cx="2743200" cy="4773168"/>
          </a:xfrm>
          <a:prstGeom prst="rect">
            <a:avLst/>
          </a:prstGeom>
          <a:solidFill>
            <a:srgbClr val="5A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828800"/>
            <a:ext cx="2487168" cy="438912"/>
          </a:xfrm>
          <a:prstGeom prst="rect">
            <a:avLst/>
          </a:prstGeom>
          <a:noFill/>
        </p:spPr>
        <p:txBody>
          <a:bodyPr wrap="square">
            <a:spAutoFit/>
          </a:bodyPr>
          <a:lstStyle/>
          <a:p>
            <a:pPr algn="l"/>
            <a:r>
              <a:rPr sz="1400" b="1">
                <a:solidFill>
                  <a:srgbClr val="FFFFFF"/>
                </a:solidFill>
                <a:latin typeface="Calibri"/>
              </a:rPr>
              <a:t>iSideWith</a:t>
            </a:r>
          </a:p>
        </p:txBody>
      </p:sp>
      <p:sp>
        <p:nvSpPr>
          <p:cNvPr id="18" name="TextBox 17"/>
          <p:cNvSpPr txBox="1"/>
          <p:nvPr/>
        </p:nvSpPr>
        <p:spPr>
          <a:xfrm>
            <a:off x="6355080" y="2304288"/>
            <a:ext cx="2487168" cy="347472"/>
          </a:xfrm>
          <a:prstGeom prst="rect">
            <a:avLst/>
          </a:prstGeom>
          <a:noFill/>
        </p:spPr>
        <p:txBody>
          <a:bodyPr wrap="square">
            <a:spAutoFit/>
          </a:bodyPr>
          <a:lstStyle/>
          <a:p>
            <a:pPr algn="l"/>
            <a:r>
              <a:rPr sz="1000" b="1">
                <a:solidFill>
                  <a:srgbClr val="FFFFFF"/>
                </a:solidFill>
                <a:latin typeface="Calibri"/>
              </a:rPr>
              <a:t>SIN COBERTURA LOCAL</a:t>
            </a:r>
          </a:p>
        </p:txBody>
      </p:sp>
      <p:sp>
        <p:nvSpPr>
          <p:cNvPr id="19" name="Rectangle 18"/>
          <p:cNvSpPr/>
          <p:nvPr/>
        </p:nvSpPr>
        <p:spPr>
          <a:xfrm>
            <a:off x="6355080" y="2697480"/>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816352"/>
            <a:ext cx="2487168" cy="3383280"/>
          </a:xfrm>
          <a:prstGeom prst="rect">
            <a:avLst/>
          </a:prstGeom>
          <a:noFill/>
        </p:spPr>
        <p:txBody>
          <a:bodyPr wrap="square">
            <a:spAutoFit/>
          </a:bodyPr>
          <a:lstStyle/>
          <a:p>
            <a:pPr algn="l"/>
            <a:r>
              <a:rPr sz="1300" b="0">
                <a:solidFill>
                  <a:srgbClr val="FFFFFF"/>
                </a:solidFill>
                <a:latin typeface="Calibri"/>
              </a:rPr>
              <a:t>Global pero sin contexto chileno.</a:t>
            </a:r>
          </a:p>
        </p:txBody>
      </p:sp>
      <p:sp>
        <p:nvSpPr>
          <p:cNvPr id="21" name="Rectangle 20"/>
          <p:cNvSpPr/>
          <p:nvPr/>
        </p:nvSpPr>
        <p:spPr>
          <a:xfrm>
            <a:off x="9098280" y="1719072"/>
            <a:ext cx="2743200" cy="47731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828800"/>
            <a:ext cx="2487168" cy="438912"/>
          </a:xfrm>
          <a:prstGeom prst="rect">
            <a:avLst/>
          </a:prstGeom>
          <a:noFill/>
        </p:spPr>
        <p:txBody>
          <a:bodyPr wrap="square">
            <a:spAutoFit/>
          </a:bodyPr>
          <a:lstStyle/>
          <a:p>
            <a:pPr algn="l"/>
            <a:r>
              <a:rPr sz="1400" b="1">
                <a:solidFill>
                  <a:srgbClr val="FFFFFF"/>
                </a:solidFill>
                <a:latin typeface="Calibri"/>
              </a:rPr>
              <a:t>VotoAFin</a:t>
            </a:r>
          </a:p>
        </p:txBody>
      </p:sp>
      <p:sp>
        <p:nvSpPr>
          <p:cNvPr id="23" name="TextBox 22"/>
          <p:cNvSpPr txBox="1"/>
          <p:nvPr/>
        </p:nvSpPr>
        <p:spPr>
          <a:xfrm>
            <a:off x="9235440" y="2304288"/>
            <a:ext cx="2487168" cy="347472"/>
          </a:xfrm>
          <a:prstGeom prst="rect">
            <a:avLst/>
          </a:prstGeom>
          <a:noFill/>
        </p:spPr>
        <p:txBody>
          <a:bodyPr wrap="square">
            <a:spAutoFit/>
          </a:bodyPr>
          <a:lstStyle/>
          <a:p>
            <a:pPr algn="l"/>
            <a:r>
              <a:rPr sz="1000" b="1">
                <a:solidFill>
                  <a:srgbClr val="FFFFFF"/>
                </a:solidFill>
                <a:latin typeface="Calibri"/>
              </a:rPr>
              <a:t>ACTIVA 2026</a:t>
            </a:r>
          </a:p>
        </p:txBody>
      </p:sp>
      <p:sp>
        <p:nvSpPr>
          <p:cNvPr id="24" name="Rectangle 23"/>
          <p:cNvSpPr/>
          <p:nvPr/>
        </p:nvSpPr>
        <p:spPr>
          <a:xfrm>
            <a:off x="9235440" y="2697480"/>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2816352"/>
            <a:ext cx="2487168" cy="3383280"/>
          </a:xfrm>
          <a:prstGeom prst="rect">
            <a:avLst/>
          </a:prstGeom>
          <a:noFill/>
        </p:spPr>
        <p:txBody>
          <a:bodyPr wrap="square">
            <a:spAutoFit/>
          </a:bodyPr>
          <a:lstStyle/>
          <a:p>
            <a:pPr algn="l"/>
            <a:r>
              <a:rPr sz="1300" b="0">
                <a:solidFill>
                  <a:srgbClr val="FFFFFF"/>
                </a:solidFill>
                <a:latin typeface="Calibri"/>
              </a:rPr>
              <a:t>Codigo abierto. Datos verificados. Chile.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LA PROPUESTA DE SOLUCION</a:t>
            </a:r>
          </a:p>
        </p:txBody>
      </p:sp>
      <p:sp>
        <p:nvSpPr>
          <p:cNvPr id="4" name="TextBox 3"/>
          <p:cNvSpPr txBox="1"/>
          <p:nvPr/>
        </p:nvSpPr>
        <p:spPr>
          <a:xfrm>
            <a:off x="548640" y="411480"/>
            <a:ext cx="4572000" cy="731520"/>
          </a:xfrm>
          <a:prstGeom prst="rect">
            <a:avLst/>
          </a:prstGeom>
          <a:noFill/>
        </p:spPr>
        <p:txBody>
          <a:bodyPr wrap="square">
            <a:spAutoFit/>
          </a:bodyPr>
          <a:lstStyle/>
          <a:p>
            <a:pPr algn="l"/>
            <a:r>
              <a:rPr sz="5200" b="1">
                <a:solidFill>
                  <a:srgbClr val="1C3A52"/>
                </a:solidFill>
                <a:latin typeface="Calibri"/>
              </a:rPr>
              <a:t>VotoAFin</a:t>
            </a:r>
          </a:p>
        </p:txBody>
      </p:sp>
      <p:sp>
        <p:nvSpPr>
          <p:cNvPr id="5" name="TextBox 4"/>
          <p:cNvSpPr txBox="1"/>
          <p:nvPr/>
        </p:nvSpPr>
        <p:spPr>
          <a:xfrm>
            <a:off x="548640" y="1234440"/>
            <a:ext cx="7315200" cy="640080"/>
          </a:xfrm>
          <a:prstGeom prst="rect">
            <a:avLst/>
          </a:prstGeom>
          <a:noFill/>
        </p:spPr>
        <p:txBody>
          <a:bodyPr wrap="square">
            <a:spAutoFit/>
          </a:bodyPr>
          <a:lstStyle/>
          <a:p>
            <a:pPr algn="l"/>
            <a:r>
              <a:rPr sz="1800" b="0">
                <a:solidFill>
                  <a:srgbClr val="5A6B73"/>
                </a:solidFill>
                <a:latin typeface="Calibri"/>
              </a:rPr>
              <a:t>Voting Advice Application de codigo abierto
para el contexto electoral chileno.</a:t>
            </a:r>
          </a:p>
        </p:txBody>
      </p:sp>
      <p:sp>
        <p:nvSpPr>
          <p:cNvPr id="6" name="Rectangle 5"/>
          <p:cNvSpPr/>
          <p:nvPr/>
        </p:nvSpPr>
        <p:spPr>
          <a:xfrm>
            <a:off x="457200" y="2029968"/>
            <a:ext cx="11247120" cy="141732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48840"/>
            <a:ext cx="10698480" cy="1170432"/>
          </a:xfrm>
          <a:prstGeom prst="rect">
            <a:avLst/>
          </a:prstGeom>
          <a:noFill/>
        </p:spPr>
        <p:txBody>
          <a:bodyPr wrap="square">
            <a:spAutoFit/>
          </a:bodyPr>
          <a:lstStyle/>
          <a:p>
            <a:pPr algn="l"/>
            <a:r>
              <a:rPr sz="1500" b="0">
                <a:solidFill>
                  <a:srgbClr val="FFFFFF"/>
                </a:solidFill>
                <a:latin typeface="Calibri"/>
              </a:rPr>
              <a:t>El sistema permite a cualquier ciudadano responder un cuestionario sobre politica publica, indicar que temas le importan mas, y obtener un ranking de afinidad con los candidatos, desglosado por ejes tematicos y acompanado de un indicador de confianza del resultado.</a:t>
            </a:r>
          </a:p>
        </p:txBody>
      </p:sp>
      <p:sp>
        <p:nvSpPr>
          <p:cNvPr id="8" name="Rectangle 7"/>
          <p:cNvSpPr/>
          <p:nvPr/>
        </p:nvSpPr>
        <p:spPr>
          <a:xfrm>
            <a:off x="457200" y="3657600"/>
            <a:ext cx="3657600" cy="30175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767328"/>
            <a:ext cx="3291840" cy="438912"/>
          </a:xfrm>
          <a:prstGeom prst="rect">
            <a:avLst/>
          </a:prstGeom>
          <a:noFill/>
        </p:spPr>
        <p:txBody>
          <a:bodyPr wrap="square">
            <a:spAutoFit/>
          </a:bodyPr>
          <a:lstStyle/>
          <a:p>
            <a:pPr algn="l"/>
            <a:r>
              <a:rPr sz="1600" b="1">
                <a:solidFill>
                  <a:srgbClr val="FFFFFF"/>
                </a:solidFill>
                <a:latin typeface="Calibri"/>
              </a:rPr>
              <a:t>RESPONDE</a:t>
            </a:r>
          </a:p>
        </p:txBody>
      </p:sp>
      <p:sp>
        <p:nvSpPr>
          <p:cNvPr id="10" name="Rectangle 9"/>
          <p:cNvSpPr/>
          <p:nvPr/>
        </p:nvSpPr>
        <p:spPr>
          <a:xfrm>
            <a:off x="640080" y="425196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370832"/>
            <a:ext cx="3291840" cy="2103120"/>
          </a:xfrm>
          <a:prstGeom prst="rect">
            <a:avLst/>
          </a:prstGeom>
          <a:noFill/>
        </p:spPr>
        <p:txBody>
          <a:bodyPr wrap="square">
            <a:spAutoFit/>
          </a:bodyPr>
          <a:lstStyle/>
          <a:p>
            <a:pPr algn="l"/>
            <a:r>
              <a:rPr sz="1400" b="0">
                <a:solidFill>
                  <a:srgbClr val="FFFFFF"/>
                </a:solidFill>
                <a:latin typeface="Calibri"/>
              </a:rPr>
              <a:t>Cuestionario de 12 preguntas
en 5-15 minutos</a:t>
            </a:r>
          </a:p>
        </p:txBody>
      </p:sp>
      <p:sp>
        <p:nvSpPr>
          <p:cNvPr id="12" name="Rectangle 11"/>
          <p:cNvSpPr/>
          <p:nvPr/>
        </p:nvSpPr>
        <p:spPr>
          <a:xfrm>
            <a:off x="4343400" y="3657600"/>
            <a:ext cx="3657600" cy="301752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3767328"/>
            <a:ext cx="3291840" cy="438912"/>
          </a:xfrm>
          <a:prstGeom prst="rect">
            <a:avLst/>
          </a:prstGeom>
          <a:noFill/>
        </p:spPr>
        <p:txBody>
          <a:bodyPr wrap="square">
            <a:spAutoFit/>
          </a:bodyPr>
          <a:lstStyle/>
          <a:p>
            <a:pPr algn="l"/>
            <a:r>
              <a:rPr sz="1600" b="1">
                <a:solidFill>
                  <a:srgbClr val="FFFFFF"/>
                </a:solidFill>
                <a:latin typeface="Calibri"/>
              </a:rPr>
              <a:t>PONDERA</a:t>
            </a:r>
          </a:p>
        </p:txBody>
      </p:sp>
      <p:sp>
        <p:nvSpPr>
          <p:cNvPr id="14" name="Rectangle 13"/>
          <p:cNvSpPr/>
          <p:nvPr/>
        </p:nvSpPr>
        <p:spPr>
          <a:xfrm>
            <a:off x="4526280" y="425196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4370832"/>
            <a:ext cx="3291840" cy="2103120"/>
          </a:xfrm>
          <a:prstGeom prst="rect">
            <a:avLst/>
          </a:prstGeom>
          <a:noFill/>
        </p:spPr>
        <p:txBody>
          <a:bodyPr wrap="square">
            <a:spAutoFit/>
          </a:bodyPr>
          <a:lstStyle/>
          <a:p>
            <a:pPr algn="l"/>
            <a:r>
              <a:rPr sz="1400" b="0">
                <a:solidFill>
                  <a:srgbClr val="FFFFFF"/>
                </a:solidFill>
                <a:latin typeface="Calibri"/>
              </a:rPr>
              <a:t>Indica que temas te
importan mas</a:t>
            </a:r>
          </a:p>
        </p:txBody>
      </p:sp>
      <p:sp>
        <p:nvSpPr>
          <p:cNvPr id="16" name="Rectangle 15"/>
          <p:cNvSpPr/>
          <p:nvPr/>
        </p:nvSpPr>
        <p:spPr>
          <a:xfrm>
            <a:off x="8229600" y="3657600"/>
            <a:ext cx="3657600" cy="301752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3767328"/>
            <a:ext cx="3291840" cy="438912"/>
          </a:xfrm>
          <a:prstGeom prst="rect">
            <a:avLst/>
          </a:prstGeom>
          <a:noFill/>
        </p:spPr>
        <p:txBody>
          <a:bodyPr wrap="square">
            <a:spAutoFit/>
          </a:bodyPr>
          <a:lstStyle/>
          <a:p>
            <a:pPr algn="l"/>
            <a:r>
              <a:rPr sz="1600" b="1">
                <a:solidFill>
                  <a:srgbClr val="FFFFFF"/>
                </a:solidFill>
                <a:latin typeface="Calibri"/>
              </a:rPr>
              <a:t>DESCUBRE</a:t>
            </a:r>
          </a:p>
        </p:txBody>
      </p:sp>
      <p:sp>
        <p:nvSpPr>
          <p:cNvPr id="18" name="Rectangle 17"/>
          <p:cNvSpPr/>
          <p:nvPr/>
        </p:nvSpPr>
        <p:spPr>
          <a:xfrm>
            <a:off x="8412480" y="425196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4370832"/>
            <a:ext cx="3291840" cy="2103120"/>
          </a:xfrm>
          <a:prstGeom prst="rect">
            <a:avLst/>
          </a:prstGeom>
          <a:noFill/>
        </p:spPr>
        <p:txBody>
          <a:bodyPr wrap="square">
            <a:spAutoFit/>
          </a:bodyPr>
          <a:lstStyle/>
          <a:p>
            <a:pPr algn="l"/>
            <a:r>
              <a:rPr sz="1400" b="0">
                <a:solidFill>
                  <a:srgbClr val="FFFFFF"/>
                </a:solidFill>
                <a:latin typeface="Calibri"/>
              </a:rPr>
              <a:t>Ranking de afinidad
con indicador de confianza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PARA QUIEN EXISTE</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FFFFFF"/>
                </a:solidFill>
                <a:latin typeface="Calibri"/>
              </a:rPr>
              <a:t>Tres segmentos, una necesidad comun.</a:t>
            </a:r>
          </a:p>
        </p:txBody>
      </p:sp>
      <p:sp>
        <p:nvSpPr>
          <p:cNvPr id="5" name="Rectangle 4"/>
          <p:cNvSpPr/>
          <p:nvPr/>
        </p:nvSpPr>
        <p:spPr>
          <a:xfrm>
            <a:off x="457200" y="1325880"/>
            <a:ext cx="3657600" cy="333756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3291840" cy="438912"/>
          </a:xfrm>
          <a:prstGeom prst="rect">
            <a:avLst/>
          </a:prstGeom>
          <a:noFill/>
        </p:spPr>
        <p:txBody>
          <a:bodyPr wrap="square">
            <a:spAutoFit/>
          </a:bodyPr>
          <a:lstStyle/>
          <a:p>
            <a:pPr algn="l"/>
            <a:r>
              <a:rPr sz="1300" b="1">
                <a:solidFill>
                  <a:srgbClr val="FFFFFF"/>
                </a:solidFill>
                <a:latin typeface="Calibri"/>
              </a:rPr>
              <a:t>JOVENES VOTANTES</a:t>
            </a:r>
          </a:p>
        </p:txBody>
      </p:sp>
      <p:sp>
        <p:nvSpPr>
          <p:cNvPr id="7" name="Rectangle 6"/>
          <p:cNvSpPr/>
          <p:nvPr/>
        </p:nvSpPr>
        <p:spPr>
          <a:xfrm>
            <a:off x="640080" y="19202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29968"/>
            <a:ext cx="3291840" cy="2468880"/>
          </a:xfrm>
          <a:prstGeom prst="rect">
            <a:avLst/>
          </a:prstGeom>
          <a:noFill/>
        </p:spPr>
        <p:txBody>
          <a:bodyPr wrap="square">
            <a:spAutoFit/>
          </a:bodyPr>
          <a:lstStyle/>
          <a:p>
            <a:pPr algn="l"/>
            <a:r>
              <a:rPr sz="1300" b="0">
                <a:solidFill>
                  <a:srgbClr val="FFFFFF"/>
                </a:solidFill>
                <a:latin typeface="Calibri"/>
              </a:rPr>
              <a:t>Alta exposicion a desinformacion digital.
Mayor potencial de adopcion tecnologica.</a:t>
            </a:r>
          </a:p>
        </p:txBody>
      </p:sp>
      <p:sp>
        <p:nvSpPr>
          <p:cNvPr id="9" name="Rectangle 8"/>
          <p:cNvSpPr/>
          <p:nvPr/>
        </p:nvSpPr>
        <p:spPr>
          <a:xfrm>
            <a:off x="4343400" y="1325880"/>
            <a:ext cx="3657600" cy="333756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444752"/>
            <a:ext cx="3291840" cy="438912"/>
          </a:xfrm>
          <a:prstGeom prst="rect">
            <a:avLst/>
          </a:prstGeom>
          <a:noFill/>
        </p:spPr>
        <p:txBody>
          <a:bodyPr wrap="square">
            <a:spAutoFit/>
          </a:bodyPr>
          <a:lstStyle/>
          <a:p>
            <a:pPr algn="l"/>
            <a:r>
              <a:rPr sz="1300" b="1">
                <a:solidFill>
                  <a:srgbClr val="FFFFFF"/>
                </a:solidFill>
                <a:latin typeface="Calibri"/>
              </a:rPr>
              <a:t>ADULTOS MAYORES</a:t>
            </a:r>
          </a:p>
        </p:txBody>
      </p:sp>
      <p:sp>
        <p:nvSpPr>
          <p:cNvPr id="11" name="Rectangle 10"/>
          <p:cNvSpPr/>
          <p:nvPr/>
        </p:nvSpPr>
        <p:spPr>
          <a:xfrm>
            <a:off x="4526280" y="19202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029968"/>
            <a:ext cx="3291840" cy="2468880"/>
          </a:xfrm>
          <a:prstGeom prst="rect">
            <a:avLst/>
          </a:prstGeom>
          <a:noFill/>
        </p:spPr>
        <p:txBody>
          <a:bodyPr wrap="square">
            <a:spAutoFit/>
          </a:bodyPr>
          <a:lstStyle/>
          <a:p>
            <a:pPr algn="l"/>
            <a:r>
              <a:rPr sz="1300" b="0">
                <a:solidFill>
                  <a:srgbClr val="FFFFFF"/>
                </a:solidFill>
                <a:latin typeface="Calibri"/>
              </a:rPr>
              <a:t>Dificultad para evaluar fuentes digitales.
Requiere lenguaje accesible y flujo claro.</a:t>
            </a:r>
          </a:p>
        </p:txBody>
      </p:sp>
      <p:sp>
        <p:nvSpPr>
          <p:cNvPr id="13" name="Rectangle 12"/>
          <p:cNvSpPr/>
          <p:nvPr/>
        </p:nvSpPr>
        <p:spPr>
          <a:xfrm>
            <a:off x="8229600" y="1325880"/>
            <a:ext cx="3657600" cy="333756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444752"/>
            <a:ext cx="3291840" cy="438912"/>
          </a:xfrm>
          <a:prstGeom prst="rect">
            <a:avLst/>
          </a:prstGeom>
          <a:noFill/>
        </p:spPr>
        <p:txBody>
          <a:bodyPr wrap="square">
            <a:spAutoFit/>
          </a:bodyPr>
          <a:lstStyle/>
          <a:p>
            <a:pPr algn="l"/>
            <a:r>
              <a:rPr sz="1300" b="1">
                <a:solidFill>
                  <a:srgbClr val="FFFFFF"/>
                </a:solidFill>
                <a:latin typeface="Calibri"/>
              </a:rPr>
              <a:t>VOTANTES INDECISOS</a:t>
            </a:r>
          </a:p>
        </p:txBody>
      </p:sp>
      <p:sp>
        <p:nvSpPr>
          <p:cNvPr id="15" name="Rectangle 14"/>
          <p:cNvSpPr/>
          <p:nvPr/>
        </p:nvSpPr>
        <p:spPr>
          <a:xfrm>
            <a:off x="8412480" y="19202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2029968"/>
            <a:ext cx="3291840" cy="2468880"/>
          </a:xfrm>
          <a:prstGeom prst="rect">
            <a:avLst/>
          </a:prstGeom>
          <a:noFill/>
        </p:spPr>
        <p:txBody>
          <a:bodyPr wrap="square">
            <a:spAutoFit/>
          </a:bodyPr>
          <a:lstStyle/>
          <a:p>
            <a:pPr algn="l"/>
            <a:r>
              <a:rPr sz="1300" b="0">
                <a:solidFill>
                  <a:srgbClr val="FFFFFF"/>
                </a:solidFill>
                <a:latin typeface="Calibri"/>
              </a:rPr>
              <a:t>Buscan informacion en los dias previos.
Necesitan respuesta rapida y verificable.</a:t>
            </a:r>
          </a:p>
        </p:txBody>
      </p:sp>
      <p:sp>
        <p:nvSpPr>
          <p:cNvPr id="17" name="Rectangle 16"/>
          <p:cNvSpPr/>
          <p:nvPr/>
        </p:nvSpPr>
        <p:spPr>
          <a:xfrm>
            <a:off x="457200" y="4846320"/>
            <a:ext cx="11247120" cy="16642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956048"/>
            <a:ext cx="3657600" cy="320040"/>
          </a:xfrm>
          <a:prstGeom prst="rect">
            <a:avLst/>
          </a:prstGeom>
          <a:noFill/>
        </p:spPr>
        <p:txBody>
          <a:bodyPr wrap="square">
            <a:spAutoFit/>
          </a:bodyPr>
          <a:lstStyle/>
          <a:p>
            <a:pPr algn="l"/>
            <a:r>
              <a:rPr sz="1100" b="1">
                <a:solidFill>
                  <a:srgbClr val="3A9E7A"/>
                </a:solidFill>
                <a:latin typeface="Calibri"/>
              </a:rPr>
              <a:t>NECESIDAD COMUN</a:t>
            </a:r>
          </a:p>
        </p:txBody>
      </p:sp>
      <p:sp>
        <p:nvSpPr>
          <p:cNvPr id="19" name="TextBox 18"/>
          <p:cNvSpPr txBox="1"/>
          <p:nvPr/>
        </p:nvSpPr>
        <p:spPr>
          <a:xfrm>
            <a:off x="640080" y="5321808"/>
            <a:ext cx="10698480" cy="1024128"/>
          </a:xfrm>
          <a:prstGeom prst="rect">
            <a:avLst/>
          </a:prstGeom>
          <a:noFill/>
        </p:spPr>
        <p:txBody>
          <a:bodyPr wrap="square">
            <a:spAutoFit/>
          </a:bodyPr>
          <a:lstStyle/>
          <a:p>
            <a:pPr algn="l"/>
            <a:r>
              <a:rPr sz="1500" b="0">
                <a:solidFill>
                  <a:srgbClr val="FFFFFF"/>
                </a:solidFill>
                <a:latin typeface="Calibri"/>
              </a:rPr>
              <a:t>Acceso a informacion confiable, estructurada y procesable en un tiempo razonable, presentada en un formato que no requiere conocimiento politico previo para ser interpretada.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OBJETIVO GENERAL</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1C3A52"/>
                </a:solidFill>
                <a:latin typeface="Calibri"/>
              </a:rPr>
              <a:t>La pregunta central de la tesis.</a:t>
            </a:r>
          </a:p>
        </p:txBody>
      </p:sp>
      <p:sp>
        <p:nvSpPr>
          <p:cNvPr id="5" name="Rectangle 4"/>
          <p:cNvSpPr/>
          <p:nvPr/>
        </p:nvSpPr>
        <p:spPr>
          <a:xfrm>
            <a:off x="457200" y="1298448"/>
            <a:ext cx="11247120" cy="2267712"/>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10698480" cy="1993392"/>
          </a:xfrm>
          <a:prstGeom prst="rect">
            <a:avLst/>
          </a:prstGeom>
          <a:noFill/>
        </p:spPr>
        <p:txBody>
          <a:bodyPr wrap="square">
            <a:spAutoFit/>
          </a:bodyPr>
          <a:lstStyle/>
          <a:p>
            <a:pPr algn="l"/>
            <a:r>
              <a:rPr sz="1600" b="0">
                <a:solidFill>
                  <a:srgbClr val="FFFFFF"/>
                </a:solidFill>
                <a:latin typeface="Calibri"/>
              </a:rPr>
              <a:t>Disenar e implementar una Voting Advice Application de codigo abierto
orientada al contexto electoral chileno,
que permita a los ciudadanos comparar sus posturas personales sobre politica publica
con las posiciones documentadas de los candidatos,
obteniendo un resultado de afinidad transparente, ponderado por preferencias
y contextualizado por nivel de confianza.</a:t>
            </a:r>
          </a:p>
        </p:txBody>
      </p:sp>
      <p:sp>
        <p:nvSpPr>
          <p:cNvPr id="7" name="TextBox 6"/>
          <p:cNvSpPr txBox="1"/>
          <p:nvPr/>
        </p:nvSpPr>
        <p:spPr>
          <a:xfrm>
            <a:off x="548640" y="3767328"/>
            <a:ext cx="10972800" cy="320040"/>
          </a:xfrm>
          <a:prstGeom prst="rect">
            <a:avLst/>
          </a:prstGeom>
          <a:noFill/>
        </p:spPr>
        <p:txBody>
          <a:bodyPr wrap="square">
            <a:spAutoFit/>
          </a:bodyPr>
          <a:lstStyle/>
          <a:p>
            <a:pPr algn="l"/>
            <a:r>
              <a:rPr sz="1100" b="1">
                <a:solidFill>
                  <a:srgbClr val="2E5F7E"/>
                </a:solidFill>
                <a:latin typeface="Calibri"/>
              </a:rPr>
              <a:t>DIMENSIONES DEL OBJETIVO</a:t>
            </a:r>
          </a:p>
        </p:txBody>
      </p:sp>
      <p:sp>
        <p:nvSpPr>
          <p:cNvPr id="8" name="Rectangle 7"/>
          <p:cNvSpPr/>
          <p:nvPr/>
        </p:nvSpPr>
        <p:spPr>
          <a:xfrm>
            <a:off x="457200" y="4187952"/>
            <a:ext cx="2743200" cy="25146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4297680"/>
            <a:ext cx="2487168" cy="384048"/>
          </a:xfrm>
          <a:prstGeom prst="rect">
            <a:avLst/>
          </a:prstGeom>
          <a:noFill/>
        </p:spPr>
        <p:txBody>
          <a:bodyPr wrap="square">
            <a:spAutoFit/>
          </a:bodyPr>
          <a:lstStyle/>
          <a:p>
            <a:pPr algn="l"/>
            <a:r>
              <a:rPr sz="1300" b="1">
                <a:solidFill>
                  <a:srgbClr val="FFFFFF"/>
                </a:solidFill>
                <a:latin typeface="Calibri"/>
              </a:rPr>
              <a:t>Tecnica</a:t>
            </a:r>
          </a:p>
        </p:txBody>
      </p:sp>
      <p:sp>
        <p:nvSpPr>
          <p:cNvPr id="10" name="TextBox 9"/>
          <p:cNvSpPr txBox="1"/>
          <p:nvPr/>
        </p:nvSpPr>
        <p:spPr>
          <a:xfrm>
            <a:off x="594360" y="4754880"/>
            <a:ext cx="2487168" cy="1719072"/>
          </a:xfrm>
          <a:prstGeom prst="rect">
            <a:avLst/>
          </a:prstGeom>
          <a:noFill/>
        </p:spPr>
        <p:txBody>
          <a:bodyPr wrap="square">
            <a:spAutoFit/>
          </a:bodyPr>
          <a:lstStyle/>
          <a:p>
            <a:pPr algn="l"/>
            <a:r>
              <a:rPr sz="1200" b="0">
                <a:solidFill>
                  <a:srgbClr val="FFFFFF"/>
                </a:solidFill>
                <a:latin typeface="Calibri"/>
              </a:rPr>
              <a:t>Sistema funcional multiplataforma</a:t>
            </a:r>
          </a:p>
        </p:txBody>
      </p:sp>
      <p:sp>
        <p:nvSpPr>
          <p:cNvPr id="11" name="Rectangle 10"/>
          <p:cNvSpPr/>
          <p:nvPr/>
        </p:nvSpPr>
        <p:spPr>
          <a:xfrm>
            <a:off x="3337560" y="4187952"/>
            <a:ext cx="2743200" cy="25146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4297680"/>
            <a:ext cx="2487168" cy="384048"/>
          </a:xfrm>
          <a:prstGeom prst="rect">
            <a:avLst/>
          </a:prstGeom>
          <a:noFill/>
        </p:spPr>
        <p:txBody>
          <a:bodyPr wrap="square">
            <a:spAutoFit/>
          </a:bodyPr>
          <a:lstStyle/>
          <a:p>
            <a:pPr algn="l"/>
            <a:r>
              <a:rPr sz="1300" b="1">
                <a:solidFill>
                  <a:srgbClr val="FFFFFF"/>
                </a:solidFill>
                <a:latin typeface="Calibri"/>
              </a:rPr>
              <a:t>Metodologica</a:t>
            </a:r>
          </a:p>
        </p:txBody>
      </p:sp>
      <p:sp>
        <p:nvSpPr>
          <p:cNvPr id="13" name="TextBox 12"/>
          <p:cNvSpPr txBox="1"/>
          <p:nvPr/>
        </p:nvSpPr>
        <p:spPr>
          <a:xfrm>
            <a:off x="3474720" y="4754880"/>
            <a:ext cx="2487168" cy="1719072"/>
          </a:xfrm>
          <a:prstGeom prst="rect">
            <a:avLst/>
          </a:prstGeom>
          <a:noFill/>
        </p:spPr>
        <p:txBody>
          <a:bodyPr wrap="square">
            <a:spAutoFit/>
          </a:bodyPr>
          <a:lstStyle/>
          <a:p>
            <a:pPr algn="l"/>
            <a:r>
              <a:rPr sz="1200" b="0">
                <a:solidFill>
                  <a:srgbClr val="FFFFFF"/>
                </a:solidFill>
                <a:latin typeface="Calibri"/>
              </a:rPr>
              <a:t>Algoritmo transparente y auditable</a:t>
            </a:r>
          </a:p>
        </p:txBody>
      </p:sp>
      <p:sp>
        <p:nvSpPr>
          <p:cNvPr id="14" name="Rectangle 13"/>
          <p:cNvSpPr/>
          <p:nvPr/>
        </p:nvSpPr>
        <p:spPr>
          <a:xfrm>
            <a:off x="6217920" y="4187952"/>
            <a:ext cx="2743200" cy="25146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297680"/>
            <a:ext cx="2487168" cy="384048"/>
          </a:xfrm>
          <a:prstGeom prst="rect">
            <a:avLst/>
          </a:prstGeom>
          <a:noFill/>
        </p:spPr>
        <p:txBody>
          <a:bodyPr wrap="square">
            <a:spAutoFit/>
          </a:bodyPr>
          <a:lstStyle/>
          <a:p>
            <a:pPr algn="l"/>
            <a:r>
              <a:rPr sz="1300" b="1">
                <a:solidFill>
                  <a:srgbClr val="FFFFFF"/>
                </a:solidFill>
                <a:latin typeface="Calibri"/>
              </a:rPr>
              <a:t>Civica</a:t>
            </a:r>
          </a:p>
        </p:txBody>
      </p:sp>
      <p:sp>
        <p:nvSpPr>
          <p:cNvPr id="16" name="TextBox 15"/>
          <p:cNvSpPr txBox="1"/>
          <p:nvPr/>
        </p:nvSpPr>
        <p:spPr>
          <a:xfrm>
            <a:off x="6355080" y="4754880"/>
            <a:ext cx="2487168" cy="1719072"/>
          </a:xfrm>
          <a:prstGeom prst="rect">
            <a:avLst/>
          </a:prstGeom>
          <a:noFill/>
        </p:spPr>
        <p:txBody>
          <a:bodyPr wrap="square">
            <a:spAutoFit/>
          </a:bodyPr>
          <a:lstStyle/>
          <a:p>
            <a:pPr algn="l"/>
            <a:r>
              <a:rPr sz="1200" b="0">
                <a:solidFill>
                  <a:srgbClr val="FFFFFF"/>
                </a:solidFill>
                <a:latin typeface="Calibri"/>
              </a:rPr>
              <a:t>Herramienta de interes publico AGPL-3.0</a:t>
            </a:r>
          </a:p>
        </p:txBody>
      </p:sp>
      <p:sp>
        <p:nvSpPr>
          <p:cNvPr id="17" name="Rectangle 16"/>
          <p:cNvSpPr/>
          <p:nvPr/>
        </p:nvSpPr>
        <p:spPr>
          <a:xfrm>
            <a:off x="9098280" y="4187952"/>
            <a:ext cx="2743200" cy="25146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4297680"/>
            <a:ext cx="2487168" cy="384048"/>
          </a:xfrm>
          <a:prstGeom prst="rect">
            <a:avLst/>
          </a:prstGeom>
          <a:noFill/>
        </p:spPr>
        <p:txBody>
          <a:bodyPr wrap="square">
            <a:spAutoFit/>
          </a:bodyPr>
          <a:lstStyle/>
          <a:p>
            <a:pPr algn="l"/>
            <a:r>
              <a:rPr sz="1300" b="1">
                <a:solidFill>
                  <a:srgbClr val="FFFFFF"/>
                </a:solidFill>
                <a:latin typeface="Calibri"/>
              </a:rPr>
              <a:t>Academica</a:t>
            </a:r>
          </a:p>
        </p:txBody>
      </p:sp>
      <p:sp>
        <p:nvSpPr>
          <p:cNvPr id="19" name="TextBox 18"/>
          <p:cNvSpPr txBox="1"/>
          <p:nvPr/>
        </p:nvSpPr>
        <p:spPr>
          <a:xfrm>
            <a:off x="9235440" y="4754880"/>
            <a:ext cx="2487168" cy="1719072"/>
          </a:xfrm>
          <a:prstGeom prst="rect">
            <a:avLst/>
          </a:prstGeom>
          <a:noFill/>
        </p:spPr>
        <p:txBody>
          <a:bodyPr wrap="square">
            <a:spAutoFit/>
          </a:bodyPr>
          <a:lstStyle/>
          <a:p>
            <a:pPr algn="l"/>
            <a:r>
              <a:rPr sz="1200" b="0">
                <a:solidFill>
                  <a:srgbClr val="FFFFFF"/>
                </a:solidFill>
                <a:latin typeface="Calibri"/>
              </a:rPr>
              <a:t>Documentacion replicable en LatAm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OBJETIVOS ESPECIFICOS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FFFFFF"/>
                </a:solidFill>
                <a:latin typeface="Calibri"/>
              </a:rPr>
              <a:t>7 objetivos, 6 completamente cumplidos.</a:t>
            </a:r>
          </a:p>
        </p:txBody>
      </p:sp>
      <p:sp>
        <p:nvSpPr>
          <p:cNvPr id="5" name="Rectangle 4"/>
          <p:cNvSpPr/>
          <p:nvPr/>
        </p:nvSpPr>
        <p:spPr>
          <a:xfrm>
            <a:off x="457200" y="1417320"/>
            <a:ext cx="11247120" cy="603504"/>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81328"/>
            <a:ext cx="731520" cy="457200"/>
          </a:xfrm>
          <a:prstGeom prst="rect">
            <a:avLst/>
          </a:prstGeom>
          <a:noFill/>
        </p:spPr>
        <p:txBody>
          <a:bodyPr wrap="square">
            <a:spAutoFit/>
          </a:bodyPr>
          <a:lstStyle/>
          <a:p>
            <a:pPr algn="l"/>
            <a:r>
              <a:rPr sz="1100" b="1">
                <a:solidFill>
                  <a:srgbClr val="3A9E7A"/>
                </a:solidFill>
                <a:latin typeface="Calibri"/>
              </a:rPr>
              <a:t>OE1</a:t>
            </a:r>
          </a:p>
        </p:txBody>
      </p:sp>
      <p:sp>
        <p:nvSpPr>
          <p:cNvPr id="7" name="TextBox 6"/>
          <p:cNvSpPr txBox="1"/>
          <p:nvPr/>
        </p:nvSpPr>
        <p:spPr>
          <a:xfrm>
            <a:off x="1463040" y="1481328"/>
            <a:ext cx="9144000" cy="457200"/>
          </a:xfrm>
          <a:prstGeom prst="rect">
            <a:avLst/>
          </a:prstGeom>
          <a:noFill/>
        </p:spPr>
        <p:txBody>
          <a:bodyPr wrap="square">
            <a:spAutoFit/>
          </a:bodyPr>
          <a:lstStyle/>
          <a:p>
            <a:pPr algn="l"/>
            <a:r>
              <a:rPr sz="1200" b="0">
                <a:solidFill>
                  <a:srgbClr val="FFFFFF"/>
                </a:solidFill>
                <a:latin typeface="Calibri"/>
              </a:rPr>
              <a:t>Investigar el deficit informativo electoral con evidencia empirica</a:t>
            </a:r>
          </a:p>
        </p:txBody>
      </p:sp>
      <p:sp>
        <p:nvSpPr>
          <p:cNvPr id="8" name="TextBox 7"/>
          <p:cNvSpPr txBox="1"/>
          <p:nvPr/>
        </p:nvSpPr>
        <p:spPr>
          <a:xfrm>
            <a:off x="10515600" y="1481328"/>
            <a:ext cx="1097280" cy="457200"/>
          </a:xfrm>
          <a:prstGeom prst="rect">
            <a:avLst/>
          </a:prstGeom>
          <a:noFill/>
        </p:spPr>
        <p:txBody>
          <a:bodyPr wrap="square">
            <a:spAutoFit/>
          </a:bodyPr>
          <a:lstStyle/>
          <a:p>
            <a:pPr algn="r"/>
            <a:r>
              <a:rPr sz="900" b="1">
                <a:solidFill>
                  <a:srgbClr val="3A9E7A"/>
                </a:solidFill>
                <a:latin typeface="Calibri"/>
              </a:rPr>
              <a:t>CUMPLIDO</a:t>
            </a:r>
          </a:p>
        </p:txBody>
      </p:sp>
      <p:sp>
        <p:nvSpPr>
          <p:cNvPr id="9" name="Rectangle 8"/>
          <p:cNvSpPr/>
          <p:nvPr/>
        </p:nvSpPr>
        <p:spPr>
          <a:xfrm>
            <a:off x="457200" y="2057400"/>
            <a:ext cx="11247120" cy="603504"/>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21408"/>
            <a:ext cx="731520" cy="457200"/>
          </a:xfrm>
          <a:prstGeom prst="rect">
            <a:avLst/>
          </a:prstGeom>
          <a:noFill/>
        </p:spPr>
        <p:txBody>
          <a:bodyPr wrap="square">
            <a:spAutoFit/>
          </a:bodyPr>
          <a:lstStyle/>
          <a:p>
            <a:pPr algn="l"/>
            <a:r>
              <a:rPr sz="1100" b="1">
                <a:solidFill>
                  <a:srgbClr val="3A9E7A"/>
                </a:solidFill>
                <a:latin typeface="Calibri"/>
              </a:rPr>
              <a:t>OE2</a:t>
            </a:r>
          </a:p>
        </p:txBody>
      </p:sp>
      <p:sp>
        <p:nvSpPr>
          <p:cNvPr id="11" name="TextBox 10"/>
          <p:cNvSpPr txBox="1"/>
          <p:nvPr/>
        </p:nvSpPr>
        <p:spPr>
          <a:xfrm>
            <a:off x="1463040" y="2121408"/>
            <a:ext cx="9144000" cy="457200"/>
          </a:xfrm>
          <a:prstGeom prst="rect">
            <a:avLst/>
          </a:prstGeom>
          <a:noFill/>
        </p:spPr>
        <p:txBody>
          <a:bodyPr wrap="square">
            <a:spAutoFit/>
          </a:bodyPr>
          <a:lstStyle/>
          <a:p>
            <a:pPr algn="l"/>
            <a:r>
              <a:rPr sz="1200" b="0">
                <a:solidFill>
                  <a:srgbClr val="FFFFFF"/>
                </a:solidFill>
                <a:latin typeface="Calibri"/>
              </a:rPr>
              <a:t>Analizar el estado del arte en VAAs e identificar brechas locales</a:t>
            </a:r>
          </a:p>
        </p:txBody>
      </p:sp>
      <p:sp>
        <p:nvSpPr>
          <p:cNvPr id="12" name="TextBox 11"/>
          <p:cNvSpPr txBox="1"/>
          <p:nvPr/>
        </p:nvSpPr>
        <p:spPr>
          <a:xfrm>
            <a:off x="10515600" y="2121408"/>
            <a:ext cx="1097280" cy="457200"/>
          </a:xfrm>
          <a:prstGeom prst="rect">
            <a:avLst/>
          </a:prstGeom>
          <a:noFill/>
        </p:spPr>
        <p:txBody>
          <a:bodyPr wrap="square">
            <a:spAutoFit/>
          </a:bodyPr>
          <a:lstStyle/>
          <a:p>
            <a:pPr algn="r"/>
            <a:r>
              <a:rPr sz="900" b="1">
                <a:solidFill>
                  <a:srgbClr val="3A9E7A"/>
                </a:solidFill>
                <a:latin typeface="Calibri"/>
              </a:rPr>
              <a:t>CUMPLIDO</a:t>
            </a:r>
          </a:p>
        </p:txBody>
      </p:sp>
      <p:sp>
        <p:nvSpPr>
          <p:cNvPr id="13" name="Rectangle 12"/>
          <p:cNvSpPr/>
          <p:nvPr/>
        </p:nvSpPr>
        <p:spPr>
          <a:xfrm>
            <a:off x="457200" y="2697480"/>
            <a:ext cx="11247120" cy="603504"/>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761488"/>
            <a:ext cx="731520" cy="457200"/>
          </a:xfrm>
          <a:prstGeom prst="rect">
            <a:avLst/>
          </a:prstGeom>
          <a:noFill/>
        </p:spPr>
        <p:txBody>
          <a:bodyPr wrap="square">
            <a:spAutoFit/>
          </a:bodyPr>
          <a:lstStyle/>
          <a:p>
            <a:pPr algn="l"/>
            <a:r>
              <a:rPr sz="1100" b="1">
                <a:solidFill>
                  <a:srgbClr val="3A9E7A"/>
                </a:solidFill>
                <a:latin typeface="Calibri"/>
              </a:rPr>
              <a:t>OE3</a:t>
            </a:r>
          </a:p>
        </p:txBody>
      </p:sp>
      <p:sp>
        <p:nvSpPr>
          <p:cNvPr id="15" name="TextBox 14"/>
          <p:cNvSpPr txBox="1"/>
          <p:nvPr/>
        </p:nvSpPr>
        <p:spPr>
          <a:xfrm>
            <a:off x="1463040" y="2761488"/>
            <a:ext cx="9144000" cy="457200"/>
          </a:xfrm>
          <a:prstGeom prst="rect">
            <a:avLst/>
          </a:prstGeom>
          <a:noFill/>
        </p:spPr>
        <p:txBody>
          <a:bodyPr wrap="square">
            <a:spAutoFit/>
          </a:bodyPr>
          <a:lstStyle/>
          <a:p>
            <a:pPr algn="l"/>
            <a:r>
              <a:rPr sz="1200" b="0">
                <a:solidFill>
                  <a:srgbClr val="FFFFFF"/>
                </a:solidFill>
                <a:latin typeface="Calibri"/>
              </a:rPr>
              <a:t>Disenar la UX para votantes sin conocimiento politico especializado</a:t>
            </a:r>
          </a:p>
        </p:txBody>
      </p:sp>
      <p:sp>
        <p:nvSpPr>
          <p:cNvPr id="16" name="TextBox 15"/>
          <p:cNvSpPr txBox="1"/>
          <p:nvPr/>
        </p:nvSpPr>
        <p:spPr>
          <a:xfrm>
            <a:off x="10515600" y="2761488"/>
            <a:ext cx="1097280" cy="457200"/>
          </a:xfrm>
          <a:prstGeom prst="rect">
            <a:avLst/>
          </a:prstGeom>
          <a:noFill/>
        </p:spPr>
        <p:txBody>
          <a:bodyPr wrap="square">
            <a:spAutoFit/>
          </a:bodyPr>
          <a:lstStyle/>
          <a:p>
            <a:pPr algn="r"/>
            <a:r>
              <a:rPr sz="900" b="1">
                <a:solidFill>
                  <a:srgbClr val="3A9E7A"/>
                </a:solidFill>
                <a:latin typeface="Calibri"/>
              </a:rPr>
              <a:t>CUMPLIDO</a:t>
            </a:r>
          </a:p>
        </p:txBody>
      </p:sp>
      <p:sp>
        <p:nvSpPr>
          <p:cNvPr id="17" name="Rectangle 16"/>
          <p:cNvSpPr/>
          <p:nvPr/>
        </p:nvSpPr>
        <p:spPr>
          <a:xfrm>
            <a:off x="457200" y="3337559"/>
            <a:ext cx="11247120" cy="603504"/>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401568"/>
            <a:ext cx="731520" cy="457200"/>
          </a:xfrm>
          <a:prstGeom prst="rect">
            <a:avLst/>
          </a:prstGeom>
          <a:noFill/>
        </p:spPr>
        <p:txBody>
          <a:bodyPr wrap="square">
            <a:spAutoFit/>
          </a:bodyPr>
          <a:lstStyle/>
          <a:p>
            <a:pPr algn="l"/>
            <a:r>
              <a:rPr sz="1100" b="1">
                <a:solidFill>
                  <a:srgbClr val="3A9E7A"/>
                </a:solidFill>
                <a:latin typeface="Calibri"/>
              </a:rPr>
              <a:t>OE4</a:t>
            </a:r>
          </a:p>
        </p:txBody>
      </p:sp>
      <p:sp>
        <p:nvSpPr>
          <p:cNvPr id="19" name="TextBox 18"/>
          <p:cNvSpPr txBox="1"/>
          <p:nvPr/>
        </p:nvSpPr>
        <p:spPr>
          <a:xfrm>
            <a:off x="1463040" y="3401568"/>
            <a:ext cx="9144000" cy="457200"/>
          </a:xfrm>
          <a:prstGeom prst="rect">
            <a:avLst/>
          </a:prstGeom>
          <a:noFill/>
        </p:spPr>
        <p:txBody>
          <a:bodyPr wrap="square">
            <a:spAutoFit/>
          </a:bodyPr>
          <a:lstStyle/>
          <a:p>
            <a:pPr algn="l"/>
            <a:r>
              <a:rPr sz="1200" b="0">
                <a:solidFill>
                  <a:srgbClr val="FFFFFF"/>
                </a:solidFill>
                <a:latin typeface="Calibri"/>
              </a:rPr>
              <a:t>Definir el algoritmo de matching con ponderacion e indicador de confianza</a:t>
            </a:r>
          </a:p>
        </p:txBody>
      </p:sp>
      <p:sp>
        <p:nvSpPr>
          <p:cNvPr id="20" name="TextBox 19"/>
          <p:cNvSpPr txBox="1"/>
          <p:nvPr/>
        </p:nvSpPr>
        <p:spPr>
          <a:xfrm>
            <a:off x="10515600" y="3401568"/>
            <a:ext cx="1097280" cy="457200"/>
          </a:xfrm>
          <a:prstGeom prst="rect">
            <a:avLst/>
          </a:prstGeom>
          <a:noFill/>
        </p:spPr>
        <p:txBody>
          <a:bodyPr wrap="square">
            <a:spAutoFit/>
          </a:bodyPr>
          <a:lstStyle/>
          <a:p>
            <a:pPr algn="r"/>
            <a:r>
              <a:rPr sz="900" b="1">
                <a:solidFill>
                  <a:srgbClr val="3A9E7A"/>
                </a:solidFill>
                <a:latin typeface="Calibri"/>
              </a:rPr>
              <a:t>CUMPLIDO</a:t>
            </a:r>
          </a:p>
        </p:txBody>
      </p:sp>
      <p:sp>
        <p:nvSpPr>
          <p:cNvPr id="21" name="Rectangle 20"/>
          <p:cNvSpPr/>
          <p:nvPr/>
        </p:nvSpPr>
        <p:spPr>
          <a:xfrm>
            <a:off x="457200" y="3977639"/>
            <a:ext cx="11247120" cy="603504"/>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41648"/>
            <a:ext cx="731520" cy="457200"/>
          </a:xfrm>
          <a:prstGeom prst="rect">
            <a:avLst/>
          </a:prstGeom>
          <a:noFill/>
        </p:spPr>
        <p:txBody>
          <a:bodyPr wrap="square">
            <a:spAutoFit/>
          </a:bodyPr>
          <a:lstStyle/>
          <a:p>
            <a:pPr algn="l"/>
            <a:r>
              <a:rPr sz="1100" b="1">
                <a:solidFill>
                  <a:srgbClr val="3A9E7A"/>
                </a:solidFill>
                <a:latin typeface="Calibri"/>
              </a:rPr>
              <a:t>OE5</a:t>
            </a:r>
          </a:p>
        </p:txBody>
      </p:sp>
      <p:sp>
        <p:nvSpPr>
          <p:cNvPr id="23" name="TextBox 22"/>
          <p:cNvSpPr txBox="1"/>
          <p:nvPr/>
        </p:nvSpPr>
        <p:spPr>
          <a:xfrm>
            <a:off x="1463040" y="4041648"/>
            <a:ext cx="9144000" cy="457200"/>
          </a:xfrm>
          <a:prstGeom prst="rect">
            <a:avLst/>
          </a:prstGeom>
          <a:noFill/>
        </p:spPr>
        <p:txBody>
          <a:bodyPr wrap="square">
            <a:spAutoFit/>
          </a:bodyPr>
          <a:lstStyle/>
          <a:p>
            <a:pPr algn="l"/>
            <a:r>
              <a:rPr sz="1200" b="0">
                <a:solidFill>
                  <a:srgbClr val="FFFFFF"/>
                </a:solidFill>
                <a:latin typeface="Calibri"/>
              </a:rPr>
              <a:t>Implementar la arquitectura cliente-servidor con contrato OpenAPI 3.1</a:t>
            </a:r>
          </a:p>
        </p:txBody>
      </p:sp>
      <p:sp>
        <p:nvSpPr>
          <p:cNvPr id="24" name="TextBox 23"/>
          <p:cNvSpPr txBox="1"/>
          <p:nvPr/>
        </p:nvSpPr>
        <p:spPr>
          <a:xfrm>
            <a:off x="10515600" y="4041648"/>
            <a:ext cx="1097280" cy="457200"/>
          </a:xfrm>
          <a:prstGeom prst="rect">
            <a:avLst/>
          </a:prstGeom>
          <a:noFill/>
        </p:spPr>
        <p:txBody>
          <a:bodyPr wrap="square">
            <a:spAutoFit/>
          </a:bodyPr>
          <a:lstStyle/>
          <a:p>
            <a:pPr algn="r"/>
            <a:r>
              <a:rPr sz="900" b="1">
                <a:solidFill>
                  <a:srgbClr val="3A9E7A"/>
                </a:solidFill>
                <a:latin typeface="Calibri"/>
              </a:rPr>
              <a:t>CUMPLIDO</a:t>
            </a:r>
          </a:p>
        </p:txBody>
      </p:sp>
      <p:sp>
        <p:nvSpPr>
          <p:cNvPr id="25" name="Rectangle 24"/>
          <p:cNvSpPr/>
          <p:nvPr/>
        </p:nvSpPr>
        <p:spPr>
          <a:xfrm>
            <a:off x="457200" y="4617720"/>
            <a:ext cx="11247120" cy="603504"/>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681728"/>
            <a:ext cx="731520" cy="457200"/>
          </a:xfrm>
          <a:prstGeom prst="rect">
            <a:avLst/>
          </a:prstGeom>
          <a:noFill/>
        </p:spPr>
        <p:txBody>
          <a:bodyPr wrap="square">
            <a:spAutoFit/>
          </a:bodyPr>
          <a:lstStyle/>
          <a:p>
            <a:pPr algn="l"/>
            <a:r>
              <a:rPr sz="1100" b="1">
                <a:solidFill>
                  <a:srgbClr val="3A9E7A"/>
                </a:solidFill>
                <a:latin typeface="Calibri"/>
              </a:rPr>
              <a:t>OE6</a:t>
            </a:r>
          </a:p>
        </p:txBody>
      </p:sp>
      <p:sp>
        <p:nvSpPr>
          <p:cNvPr id="27" name="TextBox 26"/>
          <p:cNvSpPr txBox="1"/>
          <p:nvPr/>
        </p:nvSpPr>
        <p:spPr>
          <a:xfrm>
            <a:off x="1463040" y="4681728"/>
            <a:ext cx="9144000" cy="457200"/>
          </a:xfrm>
          <a:prstGeom prst="rect">
            <a:avLst/>
          </a:prstGeom>
          <a:noFill/>
        </p:spPr>
        <p:txBody>
          <a:bodyPr wrap="square">
            <a:spAutoFit/>
          </a:bodyPr>
          <a:lstStyle/>
          <a:p>
            <a:pPr algn="l"/>
            <a:r>
              <a:rPr sz="1200" b="0">
                <a:solidFill>
                  <a:srgbClr val="FFFFFF"/>
                </a:solidFill>
                <a:latin typeface="Calibri"/>
              </a:rPr>
              <a:t>Establecer modelo de datos con verificacion obligatoria de fuentes</a:t>
            </a:r>
          </a:p>
        </p:txBody>
      </p:sp>
      <p:sp>
        <p:nvSpPr>
          <p:cNvPr id="28" name="TextBox 27"/>
          <p:cNvSpPr txBox="1"/>
          <p:nvPr/>
        </p:nvSpPr>
        <p:spPr>
          <a:xfrm>
            <a:off x="10515600" y="4681728"/>
            <a:ext cx="1097280" cy="457200"/>
          </a:xfrm>
          <a:prstGeom prst="rect">
            <a:avLst/>
          </a:prstGeom>
          <a:noFill/>
        </p:spPr>
        <p:txBody>
          <a:bodyPr wrap="square">
            <a:spAutoFit/>
          </a:bodyPr>
          <a:lstStyle/>
          <a:p>
            <a:pPr algn="r"/>
            <a:r>
              <a:rPr sz="900" b="1">
                <a:solidFill>
                  <a:srgbClr val="3A9E7A"/>
                </a:solidFill>
                <a:latin typeface="Calibri"/>
              </a:rPr>
              <a:t>CUMPLIDO</a:t>
            </a:r>
          </a:p>
        </p:txBody>
      </p:sp>
      <p:sp>
        <p:nvSpPr>
          <p:cNvPr id="29" name="Rectangle 28"/>
          <p:cNvSpPr/>
          <p:nvPr/>
        </p:nvSpPr>
        <p:spPr>
          <a:xfrm>
            <a:off x="457200" y="5257799"/>
            <a:ext cx="11247120" cy="603504"/>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321807"/>
            <a:ext cx="731520" cy="457200"/>
          </a:xfrm>
          <a:prstGeom prst="rect">
            <a:avLst/>
          </a:prstGeom>
          <a:noFill/>
        </p:spPr>
        <p:txBody>
          <a:bodyPr wrap="square">
            <a:spAutoFit/>
          </a:bodyPr>
          <a:lstStyle/>
          <a:p>
            <a:pPr algn="l"/>
            <a:r>
              <a:rPr sz="1100" b="1">
                <a:solidFill>
                  <a:srgbClr val="C89B5C"/>
                </a:solidFill>
                <a:latin typeface="Calibri"/>
              </a:rPr>
              <a:t>OE7</a:t>
            </a:r>
          </a:p>
        </p:txBody>
      </p:sp>
      <p:sp>
        <p:nvSpPr>
          <p:cNvPr id="31" name="TextBox 30"/>
          <p:cNvSpPr txBox="1"/>
          <p:nvPr/>
        </p:nvSpPr>
        <p:spPr>
          <a:xfrm>
            <a:off x="1463040" y="5321807"/>
            <a:ext cx="9144000" cy="457200"/>
          </a:xfrm>
          <a:prstGeom prst="rect">
            <a:avLst/>
          </a:prstGeom>
          <a:noFill/>
        </p:spPr>
        <p:txBody>
          <a:bodyPr wrap="square">
            <a:spAutoFit/>
          </a:bodyPr>
          <a:lstStyle/>
          <a:p>
            <a:pPr algn="l"/>
            <a:r>
              <a:rPr sz="1200" b="0">
                <a:solidFill>
                  <a:srgbClr val="FFFFFF"/>
                </a:solidFill>
                <a:latin typeface="Calibri"/>
              </a:rPr>
              <a:t>Documentar el sistema para contribuidores externos y otros contextos</a:t>
            </a:r>
          </a:p>
        </p:txBody>
      </p:sp>
      <p:sp>
        <p:nvSpPr>
          <p:cNvPr id="32" name="TextBox 31"/>
          <p:cNvSpPr txBox="1"/>
          <p:nvPr/>
        </p:nvSpPr>
        <p:spPr>
          <a:xfrm>
            <a:off x="10515600" y="5321807"/>
            <a:ext cx="1097280" cy="457200"/>
          </a:xfrm>
          <a:prstGeom prst="rect">
            <a:avLst/>
          </a:prstGeom>
          <a:noFill/>
        </p:spPr>
        <p:txBody>
          <a:bodyPr wrap="square">
            <a:spAutoFit/>
          </a:bodyPr>
          <a:lstStyle/>
          <a:p>
            <a:pPr algn="r"/>
            <a:r>
              <a:rPr sz="900" b="1">
                <a:solidFill>
                  <a:srgbClr val="C89B5C"/>
                </a:solidFill>
                <a:latin typeface="Calibri"/>
              </a:rPr>
              <a:t>PARCIAL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METODOLOGIA DEL PROYECTO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1C3A52"/>
                </a:solidFill>
                <a:latin typeface="Calibri"/>
              </a:rPr>
              <a:t>10 etapas de desarrollo iterativo</a:t>
            </a:r>
          </a:p>
        </p:txBody>
      </p:sp>
      <p:sp>
        <p:nvSpPr>
          <p:cNvPr id="5" name="Rectangle 4"/>
          <p:cNvSpPr/>
          <p:nvPr/>
        </p:nvSpPr>
        <p:spPr>
          <a:xfrm>
            <a:off x="457200" y="1353312"/>
            <a:ext cx="2212848" cy="21214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90472"/>
            <a:ext cx="1938528" cy="475488"/>
          </a:xfrm>
          <a:prstGeom prst="rect">
            <a:avLst/>
          </a:prstGeom>
          <a:noFill/>
        </p:spPr>
        <p:txBody>
          <a:bodyPr wrap="square">
            <a:spAutoFit/>
          </a:bodyPr>
          <a:lstStyle/>
          <a:p>
            <a:pPr algn="l"/>
            <a:r>
              <a:rPr sz="2200" b="1">
                <a:solidFill>
                  <a:srgbClr val="FFFFFF"/>
                </a:solidFill>
                <a:latin typeface="Calibri"/>
              </a:rPr>
              <a:t>01</a:t>
            </a:r>
          </a:p>
        </p:txBody>
      </p:sp>
      <p:sp>
        <p:nvSpPr>
          <p:cNvPr id="7" name="TextBox 6"/>
          <p:cNvSpPr txBox="1"/>
          <p:nvPr/>
        </p:nvSpPr>
        <p:spPr>
          <a:xfrm>
            <a:off x="594360" y="2039112"/>
            <a:ext cx="1938528" cy="1261872"/>
          </a:xfrm>
          <a:prstGeom prst="rect">
            <a:avLst/>
          </a:prstGeom>
          <a:noFill/>
        </p:spPr>
        <p:txBody>
          <a:bodyPr wrap="square">
            <a:spAutoFit/>
          </a:bodyPr>
          <a:lstStyle/>
          <a:p>
            <a:pPr algn="l"/>
            <a:r>
              <a:rPr sz="1200" b="0">
                <a:solidFill>
                  <a:srgbClr val="FFFFFF"/>
                </a:solidFill>
                <a:latin typeface="Calibri"/>
              </a:rPr>
              <a:t>Descubrimiento del Problema</a:t>
            </a:r>
          </a:p>
        </p:txBody>
      </p:sp>
      <p:sp>
        <p:nvSpPr>
          <p:cNvPr id="8" name="Rectangle 7"/>
          <p:cNvSpPr/>
          <p:nvPr/>
        </p:nvSpPr>
        <p:spPr>
          <a:xfrm>
            <a:off x="2788920" y="1353312"/>
            <a:ext cx="2212848" cy="212140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79" y="1490472"/>
            <a:ext cx="1938528" cy="475488"/>
          </a:xfrm>
          <a:prstGeom prst="rect">
            <a:avLst/>
          </a:prstGeom>
          <a:noFill/>
        </p:spPr>
        <p:txBody>
          <a:bodyPr wrap="square">
            <a:spAutoFit/>
          </a:bodyPr>
          <a:lstStyle/>
          <a:p>
            <a:pPr algn="l"/>
            <a:r>
              <a:rPr sz="2200" b="1">
                <a:solidFill>
                  <a:srgbClr val="FFFFFF"/>
                </a:solidFill>
                <a:latin typeface="Calibri"/>
              </a:rPr>
              <a:t>02</a:t>
            </a:r>
          </a:p>
        </p:txBody>
      </p:sp>
      <p:sp>
        <p:nvSpPr>
          <p:cNvPr id="10" name="TextBox 9"/>
          <p:cNvSpPr txBox="1"/>
          <p:nvPr/>
        </p:nvSpPr>
        <p:spPr>
          <a:xfrm>
            <a:off x="2926079" y="2039112"/>
            <a:ext cx="1938528" cy="1261872"/>
          </a:xfrm>
          <a:prstGeom prst="rect">
            <a:avLst/>
          </a:prstGeom>
          <a:noFill/>
        </p:spPr>
        <p:txBody>
          <a:bodyPr wrap="square">
            <a:spAutoFit/>
          </a:bodyPr>
          <a:lstStyle/>
          <a:p>
            <a:pPr algn="l"/>
            <a:r>
              <a:rPr sz="1200" b="0">
                <a:solidFill>
                  <a:srgbClr val="FFFFFF"/>
                </a:solidFill>
                <a:latin typeface="Calibri"/>
              </a:rPr>
              <a:t>Investigacion y Validacion</a:t>
            </a:r>
          </a:p>
        </p:txBody>
      </p:sp>
      <p:sp>
        <p:nvSpPr>
          <p:cNvPr id="11" name="Rectangle 10"/>
          <p:cNvSpPr/>
          <p:nvPr/>
        </p:nvSpPr>
        <p:spPr>
          <a:xfrm>
            <a:off x="5120640" y="1353312"/>
            <a:ext cx="2212848" cy="21214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7800" y="1490472"/>
            <a:ext cx="1938528" cy="475488"/>
          </a:xfrm>
          <a:prstGeom prst="rect">
            <a:avLst/>
          </a:prstGeom>
          <a:noFill/>
        </p:spPr>
        <p:txBody>
          <a:bodyPr wrap="square">
            <a:spAutoFit/>
          </a:bodyPr>
          <a:lstStyle/>
          <a:p>
            <a:pPr algn="l"/>
            <a:r>
              <a:rPr sz="2200" b="1">
                <a:solidFill>
                  <a:srgbClr val="FFFFFF"/>
                </a:solidFill>
                <a:latin typeface="Calibri"/>
              </a:rPr>
              <a:t>03</a:t>
            </a:r>
          </a:p>
        </p:txBody>
      </p:sp>
      <p:sp>
        <p:nvSpPr>
          <p:cNvPr id="13" name="TextBox 12"/>
          <p:cNvSpPr txBox="1"/>
          <p:nvPr/>
        </p:nvSpPr>
        <p:spPr>
          <a:xfrm>
            <a:off x="5257800" y="2039112"/>
            <a:ext cx="1938528" cy="1261872"/>
          </a:xfrm>
          <a:prstGeom prst="rect">
            <a:avLst/>
          </a:prstGeom>
          <a:noFill/>
        </p:spPr>
        <p:txBody>
          <a:bodyPr wrap="square">
            <a:spAutoFit/>
          </a:bodyPr>
          <a:lstStyle/>
          <a:p>
            <a:pPr algn="l"/>
            <a:r>
              <a:rPr sz="1200" b="0">
                <a:solidFill>
                  <a:srgbClr val="FFFFFF"/>
                </a:solidFill>
                <a:latin typeface="Calibri"/>
              </a:rPr>
              <a:t>Definicion de Requerimientos</a:t>
            </a:r>
          </a:p>
        </p:txBody>
      </p:sp>
      <p:sp>
        <p:nvSpPr>
          <p:cNvPr id="14" name="Rectangle 13"/>
          <p:cNvSpPr/>
          <p:nvPr/>
        </p:nvSpPr>
        <p:spPr>
          <a:xfrm>
            <a:off x="7452359" y="1353312"/>
            <a:ext cx="2212848" cy="21214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19" y="1490472"/>
            <a:ext cx="1938528" cy="475488"/>
          </a:xfrm>
          <a:prstGeom prst="rect">
            <a:avLst/>
          </a:prstGeom>
          <a:noFill/>
        </p:spPr>
        <p:txBody>
          <a:bodyPr wrap="square">
            <a:spAutoFit/>
          </a:bodyPr>
          <a:lstStyle/>
          <a:p>
            <a:pPr algn="l"/>
            <a:r>
              <a:rPr sz="2200" b="1">
                <a:solidFill>
                  <a:srgbClr val="FFFFFF"/>
                </a:solidFill>
                <a:latin typeface="Calibri"/>
              </a:rPr>
              <a:t>04</a:t>
            </a:r>
          </a:p>
        </p:txBody>
      </p:sp>
      <p:sp>
        <p:nvSpPr>
          <p:cNvPr id="16" name="TextBox 15"/>
          <p:cNvSpPr txBox="1"/>
          <p:nvPr/>
        </p:nvSpPr>
        <p:spPr>
          <a:xfrm>
            <a:off x="7589519" y="2039112"/>
            <a:ext cx="1938528" cy="1261872"/>
          </a:xfrm>
          <a:prstGeom prst="rect">
            <a:avLst/>
          </a:prstGeom>
          <a:noFill/>
        </p:spPr>
        <p:txBody>
          <a:bodyPr wrap="square">
            <a:spAutoFit/>
          </a:bodyPr>
          <a:lstStyle/>
          <a:p>
            <a:pPr algn="l"/>
            <a:r>
              <a:rPr sz="1200" b="0">
                <a:solidFill>
                  <a:srgbClr val="FFFFFF"/>
                </a:solidFill>
                <a:latin typeface="Calibri"/>
              </a:rPr>
              <a:t>Diseno Conceptual</a:t>
            </a:r>
          </a:p>
        </p:txBody>
      </p:sp>
      <p:sp>
        <p:nvSpPr>
          <p:cNvPr id="17" name="Rectangle 16"/>
          <p:cNvSpPr/>
          <p:nvPr/>
        </p:nvSpPr>
        <p:spPr>
          <a:xfrm>
            <a:off x="9784080" y="1353312"/>
            <a:ext cx="2212848" cy="2121408"/>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21240" y="1490472"/>
            <a:ext cx="1938528" cy="475488"/>
          </a:xfrm>
          <a:prstGeom prst="rect">
            <a:avLst/>
          </a:prstGeom>
          <a:noFill/>
        </p:spPr>
        <p:txBody>
          <a:bodyPr wrap="square">
            <a:spAutoFit/>
          </a:bodyPr>
          <a:lstStyle/>
          <a:p>
            <a:pPr algn="l"/>
            <a:r>
              <a:rPr sz="2200" b="1">
                <a:solidFill>
                  <a:srgbClr val="FFFFFF"/>
                </a:solidFill>
                <a:latin typeface="Calibri"/>
              </a:rPr>
              <a:t>05</a:t>
            </a:r>
          </a:p>
        </p:txBody>
      </p:sp>
      <p:sp>
        <p:nvSpPr>
          <p:cNvPr id="19" name="TextBox 18"/>
          <p:cNvSpPr txBox="1"/>
          <p:nvPr/>
        </p:nvSpPr>
        <p:spPr>
          <a:xfrm>
            <a:off x="9921240" y="2039112"/>
            <a:ext cx="1938528" cy="1261872"/>
          </a:xfrm>
          <a:prstGeom prst="rect">
            <a:avLst/>
          </a:prstGeom>
          <a:noFill/>
        </p:spPr>
        <p:txBody>
          <a:bodyPr wrap="square">
            <a:spAutoFit/>
          </a:bodyPr>
          <a:lstStyle/>
          <a:p>
            <a:pPr algn="l"/>
            <a:r>
              <a:rPr sz="1200" b="0">
                <a:solidFill>
                  <a:srgbClr val="FFFFFF"/>
                </a:solidFill>
                <a:latin typeface="Calibri"/>
              </a:rPr>
              <a:t>Diseno de Experiencia</a:t>
            </a:r>
          </a:p>
        </p:txBody>
      </p:sp>
      <p:sp>
        <p:nvSpPr>
          <p:cNvPr id="20" name="Rectangle 19"/>
          <p:cNvSpPr/>
          <p:nvPr/>
        </p:nvSpPr>
        <p:spPr>
          <a:xfrm>
            <a:off x="457200" y="3657600"/>
            <a:ext cx="2212848" cy="21214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794760"/>
            <a:ext cx="1938528" cy="475488"/>
          </a:xfrm>
          <a:prstGeom prst="rect">
            <a:avLst/>
          </a:prstGeom>
          <a:noFill/>
        </p:spPr>
        <p:txBody>
          <a:bodyPr wrap="square">
            <a:spAutoFit/>
          </a:bodyPr>
          <a:lstStyle/>
          <a:p>
            <a:pPr algn="l"/>
            <a:r>
              <a:rPr sz="2200" b="1">
                <a:solidFill>
                  <a:srgbClr val="FFFFFF"/>
                </a:solidFill>
                <a:latin typeface="Calibri"/>
              </a:rPr>
              <a:t>06</a:t>
            </a:r>
          </a:p>
        </p:txBody>
      </p:sp>
      <p:sp>
        <p:nvSpPr>
          <p:cNvPr id="22" name="TextBox 21"/>
          <p:cNvSpPr txBox="1"/>
          <p:nvPr/>
        </p:nvSpPr>
        <p:spPr>
          <a:xfrm>
            <a:off x="594360" y="4343400"/>
            <a:ext cx="1938528" cy="1261872"/>
          </a:xfrm>
          <a:prstGeom prst="rect">
            <a:avLst/>
          </a:prstGeom>
          <a:noFill/>
        </p:spPr>
        <p:txBody>
          <a:bodyPr wrap="square">
            <a:spAutoFit/>
          </a:bodyPr>
          <a:lstStyle/>
          <a:p>
            <a:pPr algn="l"/>
            <a:r>
              <a:rPr sz="1200" b="0">
                <a:solidFill>
                  <a:srgbClr val="FFFFFF"/>
                </a:solidFill>
                <a:latin typeface="Calibri"/>
              </a:rPr>
              <a:t>Diseno de Solucion</a:t>
            </a:r>
          </a:p>
        </p:txBody>
      </p:sp>
      <p:sp>
        <p:nvSpPr>
          <p:cNvPr id="23" name="Rectangle 22"/>
          <p:cNvSpPr/>
          <p:nvPr/>
        </p:nvSpPr>
        <p:spPr>
          <a:xfrm>
            <a:off x="2788920" y="3657600"/>
            <a:ext cx="2212848" cy="21214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79" y="3794760"/>
            <a:ext cx="1938528" cy="475488"/>
          </a:xfrm>
          <a:prstGeom prst="rect">
            <a:avLst/>
          </a:prstGeom>
          <a:noFill/>
        </p:spPr>
        <p:txBody>
          <a:bodyPr wrap="square">
            <a:spAutoFit/>
          </a:bodyPr>
          <a:lstStyle/>
          <a:p>
            <a:pPr algn="l"/>
            <a:r>
              <a:rPr sz="2200" b="1">
                <a:solidFill>
                  <a:srgbClr val="FFFFFF"/>
                </a:solidFill>
                <a:latin typeface="Calibri"/>
              </a:rPr>
              <a:t>07</a:t>
            </a:r>
          </a:p>
        </p:txBody>
      </p:sp>
      <p:sp>
        <p:nvSpPr>
          <p:cNvPr id="25" name="TextBox 24"/>
          <p:cNvSpPr txBox="1"/>
          <p:nvPr/>
        </p:nvSpPr>
        <p:spPr>
          <a:xfrm>
            <a:off x="2926079" y="4343400"/>
            <a:ext cx="1938528" cy="1261872"/>
          </a:xfrm>
          <a:prstGeom prst="rect">
            <a:avLst/>
          </a:prstGeom>
          <a:noFill/>
        </p:spPr>
        <p:txBody>
          <a:bodyPr wrap="square">
            <a:spAutoFit/>
          </a:bodyPr>
          <a:lstStyle/>
          <a:p>
            <a:pPr algn="l"/>
            <a:r>
              <a:rPr sz="1200" b="0">
                <a:solidFill>
                  <a:srgbClr val="FFFFFF"/>
                </a:solidFill>
                <a:latin typeface="Calibri"/>
              </a:rPr>
              <a:t>Desarrollo Iterativo</a:t>
            </a:r>
          </a:p>
        </p:txBody>
      </p:sp>
      <p:sp>
        <p:nvSpPr>
          <p:cNvPr id="26" name="Rectangle 25"/>
          <p:cNvSpPr/>
          <p:nvPr/>
        </p:nvSpPr>
        <p:spPr>
          <a:xfrm>
            <a:off x="5120640" y="3657600"/>
            <a:ext cx="2212848" cy="212140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57800" y="3794760"/>
            <a:ext cx="1938528" cy="475488"/>
          </a:xfrm>
          <a:prstGeom prst="rect">
            <a:avLst/>
          </a:prstGeom>
          <a:noFill/>
        </p:spPr>
        <p:txBody>
          <a:bodyPr wrap="square">
            <a:spAutoFit/>
          </a:bodyPr>
          <a:lstStyle/>
          <a:p>
            <a:pPr algn="l"/>
            <a:r>
              <a:rPr sz="2200" b="1">
                <a:solidFill>
                  <a:srgbClr val="FFFFFF"/>
                </a:solidFill>
                <a:latin typeface="Calibri"/>
              </a:rPr>
              <a:t>08</a:t>
            </a:r>
          </a:p>
        </p:txBody>
      </p:sp>
      <p:sp>
        <p:nvSpPr>
          <p:cNvPr id="28" name="TextBox 27"/>
          <p:cNvSpPr txBox="1"/>
          <p:nvPr/>
        </p:nvSpPr>
        <p:spPr>
          <a:xfrm>
            <a:off x="5257800" y="4343400"/>
            <a:ext cx="1938528" cy="1261872"/>
          </a:xfrm>
          <a:prstGeom prst="rect">
            <a:avLst/>
          </a:prstGeom>
          <a:noFill/>
        </p:spPr>
        <p:txBody>
          <a:bodyPr wrap="square">
            <a:spAutoFit/>
          </a:bodyPr>
          <a:lstStyle/>
          <a:p>
            <a:pPr algn="l"/>
            <a:r>
              <a:rPr sz="1200" b="0">
                <a:solidFill>
                  <a:srgbClr val="FFFFFF"/>
                </a:solidFill>
                <a:latin typeface="Calibri"/>
              </a:rPr>
              <a:t>Validacion</a:t>
            </a:r>
          </a:p>
        </p:txBody>
      </p:sp>
      <p:sp>
        <p:nvSpPr>
          <p:cNvPr id="29" name="Rectangle 28"/>
          <p:cNvSpPr/>
          <p:nvPr/>
        </p:nvSpPr>
        <p:spPr>
          <a:xfrm>
            <a:off x="7452359" y="3657600"/>
            <a:ext cx="2212848" cy="21214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19" y="3794760"/>
            <a:ext cx="1938528" cy="475488"/>
          </a:xfrm>
          <a:prstGeom prst="rect">
            <a:avLst/>
          </a:prstGeom>
          <a:noFill/>
        </p:spPr>
        <p:txBody>
          <a:bodyPr wrap="square">
            <a:spAutoFit/>
          </a:bodyPr>
          <a:lstStyle/>
          <a:p>
            <a:pPr algn="l"/>
            <a:r>
              <a:rPr sz="2200" b="1">
                <a:solidFill>
                  <a:srgbClr val="FFFFFF"/>
                </a:solidFill>
                <a:latin typeface="Calibri"/>
              </a:rPr>
              <a:t>09</a:t>
            </a:r>
          </a:p>
        </p:txBody>
      </p:sp>
      <p:sp>
        <p:nvSpPr>
          <p:cNvPr id="31" name="TextBox 30"/>
          <p:cNvSpPr txBox="1"/>
          <p:nvPr/>
        </p:nvSpPr>
        <p:spPr>
          <a:xfrm>
            <a:off x="7589519" y="4343400"/>
            <a:ext cx="1938528" cy="1261872"/>
          </a:xfrm>
          <a:prstGeom prst="rect">
            <a:avLst/>
          </a:prstGeom>
          <a:noFill/>
        </p:spPr>
        <p:txBody>
          <a:bodyPr wrap="square">
            <a:spAutoFit/>
          </a:bodyPr>
          <a:lstStyle/>
          <a:p>
            <a:pPr algn="l"/>
            <a:r>
              <a:rPr sz="1200" b="0">
                <a:solidFill>
                  <a:srgbClr val="FFFFFF"/>
                </a:solidFill>
                <a:latin typeface="Calibri"/>
              </a:rPr>
              <a:t>Refinamiento</a:t>
            </a:r>
          </a:p>
        </p:txBody>
      </p:sp>
      <p:sp>
        <p:nvSpPr>
          <p:cNvPr id="32" name="Rectangle 31"/>
          <p:cNvSpPr/>
          <p:nvPr/>
        </p:nvSpPr>
        <p:spPr>
          <a:xfrm>
            <a:off x="9784080" y="3657600"/>
            <a:ext cx="2212848" cy="212140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21240" y="3794760"/>
            <a:ext cx="1938528" cy="475488"/>
          </a:xfrm>
          <a:prstGeom prst="rect">
            <a:avLst/>
          </a:prstGeom>
          <a:noFill/>
        </p:spPr>
        <p:txBody>
          <a:bodyPr wrap="square">
            <a:spAutoFit/>
          </a:bodyPr>
          <a:lstStyle/>
          <a:p>
            <a:pPr algn="l"/>
            <a:r>
              <a:rPr sz="2200" b="1">
                <a:solidFill>
                  <a:srgbClr val="FFFFFF"/>
                </a:solidFill>
                <a:latin typeface="Calibri"/>
              </a:rPr>
              <a:t>10</a:t>
            </a:r>
          </a:p>
        </p:txBody>
      </p:sp>
      <p:sp>
        <p:nvSpPr>
          <p:cNvPr id="34" name="TextBox 33"/>
          <p:cNvSpPr txBox="1"/>
          <p:nvPr/>
        </p:nvSpPr>
        <p:spPr>
          <a:xfrm>
            <a:off x="9921240" y="4343400"/>
            <a:ext cx="1938528" cy="1261872"/>
          </a:xfrm>
          <a:prstGeom prst="rect">
            <a:avLst/>
          </a:prstGeom>
          <a:noFill/>
        </p:spPr>
        <p:txBody>
          <a:bodyPr wrap="square">
            <a:spAutoFit/>
          </a:bodyPr>
          <a:lstStyle/>
          <a:p>
            <a:pPr algn="l"/>
            <a:r>
              <a:rPr sz="1200" b="0">
                <a:solidFill>
                  <a:srgbClr val="FFFFFF"/>
                </a:solidFill>
                <a:latin typeface="Calibri"/>
              </a:rPr>
              <a:t>Consolidacion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ALCANCE DEL PROYECTO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200" b="1">
                <a:solidFill>
                  <a:srgbClr val="FFFFFF"/>
                </a:solidFill>
                <a:latin typeface="Calibri"/>
              </a:rPr>
              <a:t>Que cubre esta tesis.</a:t>
            </a:r>
          </a:p>
        </p:txBody>
      </p:sp>
      <p:sp>
        <p:nvSpPr>
          <p:cNvPr id="5" name="Rectangle 4"/>
          <p:cNvSpPr/>
          <p:nvPr/>
        </p:nvSpPr>
        <p:spPr>
          <a:xfrm>
            <a:off x="457200" y="1298448"/>
            <a:ext cx="5577840" cy="52303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5212080" cy="384048"/>
          </a:xfrm>
          <a:prstGeom prst="rect">
            <a:avLst/>
          </a:prstGeom>
          <a:noFill/>
        </p:spPr>
        <p:txBody>
          <a:bodyPr wrap="square">
            <a:spAutoFit/>
          </a:bodyPr>
          <a:lstStyle/>
          <a:p>
            <a:pPr algn="l"/>
            <a:r>
              <a:rPr sz="1200" b="1">
                <a:solidFill>
                  <a:srgbClr val="FFFFFF"/>
                </a:solidFill>
                <a:latin typeface="Calibri"/>
              </a:rPr>
              <a:t>DENTRO DEL ALCANCE</a:t>
            </a:r>
          </a:p>
        </p:txBody>
      </p:sp>
      <p:sp>
        <p:nvSpPr>
          <p:cNvPr id="7" name="Rectangle 6"/>
          <p:cNvSpPr/>
          <p:nvPr/>
        </p:nvSpPr>
        <p:spPr>
          <a:xfrm>
            <a:off x="640080" y="1828800"/>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65960"/>
            <a:ext cx="5212080" cy="658368"/>
          </a:xfrm>
          <a:prstGeom prst="rect">
            <a:avLst/>
          </a:prstGeom>
          <a:noFill/>
        </p:spPr>
        <p:txBody>
          <a:bodyPr wrap="square">
            <a:spAutoFit/>
          </a:bodyPr>
          <a:lstStyle/>
          <a:p>
            <a:pPr algn="l"/>
            <a:r>
              <a:rPr sz="1200" b="0">
                <a:solidFill>
                  <a:srgbClr val="FFFFFF"/>
                </a:solidFill>
                <a:latin typeface="Calibri"/>
              </a:rPr>
              <a:t>  Cuestionario con 12 preguntas en 7 ejes tematicos</a:t>
            </a:r>
          </a:p>
        </p:txBody>
      </p:sp>
      <p:sp>
        <p:nvSpPr>
          <p:cNvPr id="9" name="TextBox 8"/>
          <p:cNvSpPr txBox="1"/>
          <p:nvPr/>
        </p:nvSpPr>
        <p:spPr>
          <a:xfrm>
            <a:off x="640080" y="2697480"/>
            <a:ext cx="5212080" cy="658368"/>
          </a:xfrm>
          <a:prstGeom prst="rect">
            <a:avLst/>
          </a:prstGeom>
          <a:noFill/>
        </p:spPr>
        <p:txBody>
          <a:bodyPr wrap="square">
            <a:spAutoFit/>
          </a:bodyPr>
          <a:lstStyle/>
          <a:p>
            <a:pPr algn="l"/>
            <a:r>
              <a:rPr sz="1200" b="0">
                <a:solidFill>
                  <a:srgbClr val="FFFFFF"/>
                </a:solidFill>
                <a:latin typeface="Calibri"/>
              </a:rPr>
              <a:t>  Algoritmo de matching con ponderacion e indicador de confianza</a:t>
            </a:r>
          </a:p>
        </p:txBody>
      </p:sp>
      <p:sp>
        <p:nvSpPr>
          <p:cNvPr id="10" name="TextBox 9"/>
          <p:cNvSpPr txBox="1"/>
          <p:nvPr/>
        </p:nvSpPr>
        <p:spPr>
          <a:xfrm>
            <a:off x="640080" y="3429000"/>
            <a:ext cx="5212080" cy="658368"/>
          </a:xfrm>
          <a:prstGeom prst="rect">
            <a:avLst/>
          </a:prstGeom>
          <a:noFill/>
        </p:spPr>
        <p:txBody>
          <a:bodyPr wrap="square">
            <a:spAutoFit/>
          </a:bodyPr>
          <a:lstStyle/>
          <a:p>
            <a:pPr algn="l"/>
            <a:r>
              <a:rPr sz="1200" b="0">
                <a:solidFill>
                  <a:srgbClr val="FFFFFF"/>
                </a:solidFill>
                <a:latin typeface="Calibri"/>
              </a:rPr>
              <a:t>  Plataforma multiplataforma (web, iOS, Android)</a:t>
            </a:r>
          </a:p>
        </p:txBody>
      </p:sp>
      <p:sp>
        <p:nvSpPr>
          <p:cNvPr id="11" name="TextBox 10"/>
          <p:cNvSpPr txBox="1"/>
          <p:nvPr/>
        </p:nvSpPr>
        <p:spPr>
          <a:xfrm>
            <a:off x="640080" y="4160520"/>
            <a:ext cx="5212080" cy="658368"/>
          </a:xfrm>
          <a:prstGeom prst="rect">
            <a:avLst/>
          </a:prstGeom>
          <a:noFill/>
        </p:spPr>
        <p:txBody>
          <a:bodyPr wrap="square">
            <a:spAutoFit/>
          </a:bodyPr>
          <a:lstStyle/>
          <a:p>
            <a:pPr algn="l"/>
            <a:r>
              <a:rPr sz="1200" b="0">
                <a:solidFill>
                  <a:srgbClr val="FFFFFF"/>
                </a:solidFill>
                <a:latin typeface="Calibri"/>
              </a:rPr>
              <a:t>  Candidatos presidenciales y diputados 2025</a:t>
            </a:r>
          </a:p>
        </p:txBody>
      </p:sp>
      <p:sp>
        <p:nvSpPr>
          <p:cNvPr id="12" name="TextBox 11"/>
          <p:cNvSpPr txBox="1"/>
          <p:nvPr/>
        </p:nvSpPr>
        <p:spPr>
          <a:xfrm>
            <a:off x="640080" y="4892040"/>
            <a:ext cx="5212080" cy="658368"/>
          </a:xfrm>
          <a:prstGeom prst="rect">
            <a:avLst/>
          </a:prstGeom>
          <a:noFill/>
        </p:spPr>
        <p:txBody>
          <a:bodyPr wrap="square">
            <a:spAutoFit/>
          </a:bodyPr>
          <a:lstStyle/>
          <a:p>
            <a:pPr algn="l"/>
            <a:r>
              <a:rPr sz="1200" b="0">
                <a:solidFill>
                  <a:srgbClr val="FFFFFF"/>
                </a:solidFill>
                <a:latin typeface="Calibri"/>
              </a:rPr>
              <a:t>  Codigo abierto bajo licencia AGPL-3.0</a:t>
            </a:r>
          </a:p>
        </p:txBody>
      </p:sp>
      <p:sp>
        <p:nvSpPr>
          <p:cNvPr id="13" name="TextBox 12"/>
          <p:cNvSpPr txBox="1"/>
          <p:nvPr/>
        </p:nvSpPr>
        <p:spPr>
          <a:xfrm>
            <a:off x="640080" y="5623560"/>
            <a:ext cx="5212080" cy="658368"/>
          </a:xfrm>
          <a:prstGeom prst="rect">
            <a:avLst/>
          </a:prstGeom>
          <a:noFill/>
        </p:spPr>
        <p:txBody>
          <a:bodyPr wrap="square">
            <a:spAutoFit/>
          </a:bodyPr>
          <a:lstStyle/>
          <a:p>
            <a:pPr algn="l"/>
            <a:r>
              <a:rPr sz="1200" b="0">
                <a:solidFill>
                  <a:srgbClr val="FFFFFF"/>
                </a:solidFill>
                <a:latin typeface="Calibri"/>
              </a:rPr>
              <a:t>  Suite de 370 tests automatizados</a:t>
            </a:r>
          </a:p>
        </p:txBody>
      </p:sp>
      <p:sp>
        <p:nvSpPr>
          <p:cNvPr id="14" name="Rectangle 13"/>
          <p:cNvSpPr/>
          <p:nvPr/>
        </p:nvSpPr>
        <p:spPr>
          <a:xfrm>
            <a:off x="6080760" y="1298448"/>
            <a:ext cx="5577840" cy="523036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417320"/>
            <a:ext cx="5212080" cy="384048"/>
          </a:xfrm>
          <a:prstGeom prst="rect">
            <a:avLst/>
          </a:prstGeom>
          <a:noFill/>
        </p:spPr>
        <p:txBody>
          <a:bodyPr wrap="square">
            <a:spAutoFit/>
          </a:bodyPr>
          <a:lstStyle/>
          <a:p>
            <a:pPr algn="l"/>
            <a:r>
              <a:rPr sz="1200" b="1">
                <a:solidFill>
                  <a:srgbClr val="FFFFFF"/>
                </a:solidFill>
                <a:latin typeface="Calibri"/>
              </a:rPr>
              <a:t>FUERA DEL ALCANCE</a:t>
            </a:r>
          </a:p>
        </p:txBody>
      </p:sp>
      <p:sp>
        <p:nvSpPr>
          <p:cNvPr id="16" name="Rectangle 15"/>
          <p:cNvSpPr/>
          <p:nvPr/>
        </p:nvSpPr>
        <p:spPr>
          <a:xfrm>
            <a:off x="6263640" y="1828800"/>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965960"/>
            <a:ext cx="5212080" cy="658368"/>
          </a:xfrm>
          <a:prstGeom prst="rect">
            <a:avLst/>
          </a:prstGeom>
          <a:noFill/>
        </p:spPr>
        <p:txBody>
          <a:bodyPr wrap="square">
            <a:spAutoFit/>
          </a:bodyPr>
          <a:lstStyle/>
          <a:p>
            <a:pPr algn="l"/>
            <a:r>
              <a:rPr sz="1200" b="0">
                <a:solidFill>
                  <a:srgbClr val="FFFFFF"/>
                </a:solidFill>
                <a:latin typeface="Calibri"/>
              </a:rPr>
              <a:t>  Verificacion completa de todas las posturas de candidatos</a:t>
            </a:r>
          </a:p>
        </p:txBody>
      </p:sp>
      <p:sp>
        <p:nvSpPr>
          <p:cNvPr id="18" name="TextBox 17"/>
          <p:cNvSpPr txBox="1"/>
          <p:nvPr/>
        </p:nvSpPr>
        <p:spPr>
          <a:xfrm>
            <a:off x="6263640" y="2697480"/>
            <a:ext cx="5212080" cy="658368"/>
          </a:xfrm>
          <a:prstGeom prst="rect">
            <a:avLst/>
          </a:prstGeom>
          <a:noFill/>
        </p:spPr>
        <p:txBody>
          <a:bodyPr wrap="square">
            <a:spAutoFit/>
          </a:bodyPr>
          <a:lstStyle/>
          <a:p>
            <a:pPr algn="l"/>
            <a:r>
              <a:rPr sz="1200" b="0">
                <a:solidFill>
                  <a:srgbClr val="FFFFFF"/>
                </a:solidFill>
                <a:latin typeface="Calibri"/>
              </a:rPr>
              <a:t>  Elecciones municipales y regionales</a:t>
            </a:r>
          </a:p>
        </p:txBody>
      </p:sp>
      <p:sp>
        <p:nvSpPr>
          <p:cNvPr id="19" name="TextBox 18"/>
          <p:cNvSpPr txBox="1"/>
          <p:nvPr/>
        </p:nvSpPr>
        <p:spPr>
          <a:xfrm>
            <a:off x="6263640" y="3429000"/>
            <a:ext cx="5212080" cy="658368"/>
          </a:xfrm>
          <a:prstGeom prst="rect">
            <a:avLst/>
          </a:prstGeom>
          <a:noFill/>
        </p:spPr>
        <p:txBody>
          <a:bodyPr wrap="square">
            <a:spAutoFit/>
          </a:bodyPr>
          <a:lstStyle/>
          <a:p>
            <a:pPr algn="l"/>
            <a:r>
              <a:rPr sz="1200" b="0">
                <a:solidFill>
                  <a:srgbClr val="FFFFFF"/>
                </a:solidFill>
                <a:latin typeface="Calibri"/>
              </a:rPr>
              <a:t>  Lanzamiento publico en produccion</a:t>
            </a:r>
          </a:p>
        </p:txBody>
      </p:sp>
      <p:sp>
        <p:nvSpPr>
          <p:cNvPr id="20" name="TextBox 19"/>
          <p:cNvSpPr txBox="1"/>
          <p:nvPr/>
        </p:nvSpPr>
        <p:spPr>
          <a:xfrm>
            <a:off x="6263640" y="4160520"/>
            <a:ext cx="5212080" cy="658368"/>
          </a:xfrm>
          <a:prstGeom prst="rect">
            <a:avLst/>
          </a:prstGeom>
          <a:noFill/>
        </p:spPr>
        <p:txBody>
          <a:bodyPr wrap="square">
            <a:spAutoFit/>
          </a:bodyPr>
          <a:lstStyle/>
          <a:p>
            <a:pPr algn="l"/>
            <a:r>
              <a:rPr sz="1200" b="0">
                <a:solidFill>
                  <a:srgbClr val="FFFFFF"/>
                </a:solidFill>
                <a:latin typeface="Calibri"/>
              </a:rPr>
              <a:t>  Tests automatizados del frontend</a:t>
            </a:r>
          </a:p>
        </p:txBody>
      </p:sp>
      <p:sp>
        <p:nvSpPr>
          <p:cNvPr id="21" name="TextBox 20"/>
          <p:cNvSpPr txBox="1"/>
          <p:nvPr/>
        </p:nvSpPr>
        <p:spPr>
          <a:xfrm>
            <a:off x="6263640" y="4892040"/>
            <a:ext cx="5212080" cy="658368"/>
          </a:xfrm>
          <a:prstGeom prst="rect">
            <a:avLst/>
          </a:prstGeom>
          <a:noFill/>
        </p:spPr>
        <p:txBody>
          <a:bodyPr wrap="square">
            <a:spAutoFit/>
          </a:bodyPr>
          <a:lstStyle/>
          <a:p>
            <a:pPr algn="l"/>
            <a:r>
              <a:rPr sz="1200" b="0">
                <a:solidFill>
                  <a:srgbClr val="FFFFFF"/>
                </a:solidFill>
                <a:latin typeface="Calibri"/>
              </a:rPr>
              <a:t>  Alianzas institucionales para sostenibilidad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LIMITACION CRITICA</a:t>
            </a:r>
          </a:p>
        </p:txBody>
      </p:sp>
      <p:sp>
        <p:nvSpPr>
          <p:cNvPr id="4" name="TextBox 3"/>
          <p:cNvSpPr txBox="1"/>
          <p:nvPr/>
        </p:nvSpPr>
        <p:spPr>
          <a:xfrm>
            <a:off x="548640" y="411480"/>
            <a:ext cx="10972800" cy="1097280"/>
          </a:xfrm>
          <a:prstGeom prst="rect">
            <a:avLst/>
          </a:prstGeom>
          <a:noFill/>
        </p:spPr>
        <p:txBody>
          <a:bodyPr wrap="square">
            <a:spAutoFit/>
          </a:bodyPr>
          <a:lstStyle/>
          <a:p>
            <a:pPr algn="l"/>
            <a:r>
              <a:rPr sz="4000" b="1">
                <a:solidFill>
                  <a:srgbClr val="1C3A52"/>
                </a:solidFill>
                <a:latin typeface="Calibri"/>
              </a:rPr>
              <a:t>Verificacion de informacion
de candidatos y programas.</a:t>
            </a:r>
          </a:p>
        </p:txBody>
      </p:sp>
      <p:sp>
        <p:nvSpPr>
          <p:cNvPr id="5" name="Rectangle 4"/>
          <p:cNvSpPr/>
          <p:nvPr/>
        </p:nvSpPr>
        <p:spPr>
          <a:xfrm>
            <a:off x="457200" y="1719072"/>
            <a:ext cx="11247120" cy="148132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3657600" cy="320040"/>
          </a:xfrm>
          <a:prstGeom prst="rect">
            <a:avLst/>
          </a:prstGeom>
          <a:noFill/>
        </p:spPr>
        <p:txBody>
          <a:bodyPr wrap="square">
            <a:spAutoFit/>
          </a:bodyPr>
          <a:lstStyle/>
          <a:p>
            <a:pPr algn="l"/>
            <a:r>
              <a:rPr sz="1100" b="1">
                <a:solidFill>
                  <a:srgbClr val="FFFFFF"/>
                </a:solidFill>
                <a:latin typeface="Calibri"/>
              </a:rPr>
              <a:t>POR QUE ES UNA LIMITACION</a:t>
            </a:r>
          </a:p>
        </p:txBody>
      </p:sp>
      <p:sp>
        <p:nvSpPr>
          <p:cNvPr id="7" name="TextBox 6"/>
          <p:cNvSpPr txBox="1"/>
          <p:nvPr/>
        </p:nvSpPr>
        <p:spPr>
          <a:xfrm>
            <a:off x="640080" y="2176272"/>
            <a:ext cx="10698480" cy="914400"/>
          </a:xfrm>
          <a:prstGeom prst="rect">
            <a:avLst/>
          </a:prstGeom>
          <a:noFill/>
        </p:spPr>
        <p:txBody>
          <a:bodyPr wrap="square">
            <a:spAutoFit/>
          </a:bodyPr>
          <a:lstStyle/>
          <a:p>
            <a:pPr algn="l"/>
            <a:r>
              <a:rPr sz="1300" b="0">
                <a:solidFill>
                  <a:srgbClr val="FFFFFF"/>
                </a:solidFill>
                <a:latin typeface="Calibri"/>
              </a:rPr>
              <a:t>Las posiciones de los candidatos chilenos no estan sistematizadas en ninguna base de datos publica. Cada postura requiere consultar fuentes primarias dispersas: declaraciones de prensa, votaciones del Congreso, plataformas de campana y compromisos en debates. Este trabajo de curaduria es intensivo en tiempo humano y no puede ser automatizado de manera confiable.</a:t>
            </a:r>
          </a:p>
        </p:txBody>
      </p:sp>
      <p:sp>
        <p:nvSpPr>
          <p:cNvPr id="8" name="Rectangle 7"/>
          <p:cNvSpPr/>
          <p:nvPr/>
        </p:nvSpPr>
        <p:spPr>
          <a:xfrm>
            <a:off x="457200" y="3401568"/>
            <a:ext cx="3657600" cy="29718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520440"/>
            <a:ext cx="3291840" cy="594360"/>
          </a:xfrm>
          <a:prstGeom prst="rect">
            <a:avLst/>
          </a:prstGeom>
          <a:noFill/>
        </p:spPr>
        <p:txBody>
          <a:bodyPr wrap="square">
            <a:spAutoFit/>
          </a:bodyPr>
          <a:lstStyle/>
          <a:p>
            <a:pPr algn="l"/>
            <a:r>
              <a:rPr sz="1200" b="1">
                <a:solidFill>
                  <a:srgbClr val="FFFFFF"/>
                </a:solidFill>
                <a:latin typeface="Calibri"/>
              </a:rPr>
              <a:t>ES RELEVANTE PARA EL PROBLEMA</a:t>
            </a:r>
          </a:p>
        </p:txBody>
      </p:sp>
      <p:sp>
        <p:nvSpPr>
          <p:cNvPr id="10" name="Rectangle 9"/>
          <p:cNvSpPr/>
          <p:nvPr/>
        </p:nvSpPr>
        <p:spPr>
          <a:xfrm>
            <a:off x="640080" y="4133087"/>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251960"/>
            <a:ext cx="3291840" cy="1920240"/>
          </a:xfrm>
          <a:prstGeom prst="rect">
            <a:avLst/>
          </a:prstGeom>
          <a:noFill/>
        </p:spPr>
        <p:txBody>
          <a:bodyPr wrap="square">
            <a:spAutoFit/>
          </a:bodyPr>
          <a:lstStyle/>
          <a:p>
            <a:pPr algn="l"/>
            <a:r>
              <a:rPr sz="1300" b="0">
                <a:solidFill>
                  <a:srgbClr val="FFFFFF"/>
                </a:solidFill>
                <a:latin typeface="Calibri"/>
              </a:rPr>
              <a:t>La calidad del matching depende directamente
de la precision de las posturas.</a:t>
            </a:r>
          </a:p>
        </p:txBody>
      </p:sp>
      <p:sp>
        <p:nvSpPr>
          <p:cNvPr id="12" name="Rectangle 11"/>
          <p:cNvSpPr/>
          <p:nvPr/>
        </p:nvSpPr>
        <p:spPr>
          <a:xfrm>
            <a:off x="4343400" y="3401568"/>
            <a:ext cx="3657600" cy="29718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3520440"/>
            <a:ext cx="3291840" cy="594360"/>
          </a:xfrm>
          <a:prstGeom prst="rect">
            <a:avLst/>
          </a:prstGeom>
          <a:noFill/>
        </p:spPr>
        <p:txBody>
          <a:bodyPr wrap="square">
            <a:spAutoFit/>
          </a:bodyPr>
          <a:lstStyle/>
          <a:p>
            <a:pPr algn="l"/>
            <a:r>
              <a:rPr sz="1200" b="1">
                <a:solidFill>
                  <a:srgbClr val="FFFFFF"/>
                </a:solidFill>
                <a:latin typeface="Calibri"/>
              </a:rPr>
              <a:t>ESTA EN LA VISION DE LARGO PLAZO</a:t>
            </a:r>
          </a:p>
        </p:txBody>
      </p:sp>
      <p:sp>
        <p:nvSpPr>
          <p:cNvPr id="14" name="Rectangle 13"/>
          <p:cNvSpPr/>
          <p:nvPr/>
        </p:nvSpPr>
        <p:spPr>
          <a:xfrm>
            <a:off x="4526280" y="4133087"/>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4251960"/>
            <a:ext cx="3291840" cy="1920240"/>
          </a:xfrm>
          <a:prstGeom prst="rect">
            <a:avLst/>
          </a:prstGeom>
          <a:noFill/>
        </p:spPr>
        <p:txBody>
          <a:bodyPr wrap="square">
            <a:spAutoFit/>
          </a:bodyPr>
          <a:lstStyle/>
          <a:p>
            <a:pPr algn="l"/>
            <a:r>
              <a:rPr sz="1300" b="0">
                <a:solidFill>
                  <a:srgbClr val="FFFFFF"/>
                </a:solidFill>
                <a:latin typeface="Calibri"/>
              </a:rPr>
              <a:t>La verificacion completa es el primer
paso del roadmap (v0.2).</a:t>
            </a:r>
          </a:p>
        </p:txBody>
      </p:sp>
      <p:sp>
        <p:nvSpPr>
          <p:cNvPr id="16" name="Rectangle 15"/>
          <p:cNvSpPr/>
          <p:nvPr/>
        </p:nvSpPr>
        <p:spPr>
          <a:xfrm>
            <a:off x="8229600" y="3401568"/>
            <a:ext cx="3657600" cy="29718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3520440"/>
            <a:ext cx="3291840" cy="594360"/>
          </a:xfrm>
          <a:prstGeom prst="rect">
            <a:avLst/>
          </a:prstGeom>
          <a:noFill/>
        </p:spPr>
        <p:txBody>
          <a:bodyPr wrap="square">
            <a:spAutoFit/>
          </a:bodyPr>
          <a:lstStyle/>
          <a:p>
            <a:pPr algn="l"/>
            <a:r>
              <a:rPr sz="1200" b="1">
                <a:solidFill>
                  <a:srgbClr val="FFFFFF"/>
                </a:solidFill>
                <a:latin typeface="Calibri"/>
              </a:rPr>
              <a:t>REQUIERE PROCESOS COMPLEJOS</a:t>
            </a:r>
          </a:p>
        </p:txBody>
      </p:sp>
      <p:sp>
        <p:nvSpPr>
          <p:cNvPr id="18" name="Rectangle 17"/>
          <p:cNvSpPr/>
          <p:nvPr/>
        </p:nvSpPr>
        <p:spPr>
          <a:xfrm>
            <a:off x="8412480" y="4133087"/>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4251960"/>
            <a:ext cx="3291840" cy="1920240"/>
          </a:xfrm>
          <a:prstGeom prst="rect">
            <a:avLst/>
          </a:prstGeom>
          <a:noFill/>
        </p:spPr>
        <p:txBody>
          <a:bodyPr wrap="square">
            <a:spAutoFit/>
          </a:bodyPr>
          <a:lstStyle/>
          <a:p>
            <a:pPr algn="l"/>
            <a:r>
              <a:rPr sz="1300" b="0">
                <a:solidFill>
                  <a:srgbClr val="FFFFFF"/>
                </a:solidFill>
                <a:latin typeface="Calibri"/>
              </a:rPr>
              <a:t>Validacion con especialistas politicos,
fuentes primarias y changelog publico.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B85C5C"/>
                </a:solidFill>
                <a:latin typeface="Calibri"/>
              </a:rPr>
              <a:t>TRABAJO FUTURO RELACIONADO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FFFFFF"/>
                </a:solidFill>
                <a:latin typeface="Calibri"/>
              </a:rPr>
              <a:t>Calidad y veracidad de datos</a:t>
            </a:r>
          </a:p>
        </p:txBody>
      </p:sp>
      <p:sp>
        <p:nvSpPr>
          <p:cNvPr id="5" name="TextBox 4"/>
          <p:cNvSpPr txBox="1"/>
          <p:nvPr/>
        </p:nvSpPr>
        <p:spPr>
          <a:xfrm>
            <a:off x="548640" y="1078992"/>
            <a:ext cx="10972800" cy="384048"/>
          </a:xfrm>
          <a:prstGeom prst="rect">
            <a:avLst/>
          </a:prstGeom>
          <a:noFill/>
        </p:spPr>
        <p:txBody>
          <a:bodyPr wrap="square">
            <a:spAutoFit/>
          </a:bodyPr>
          <a:lstStyle/>
          <a:p>
            <a:pPr algn="l"/>
            <a:r>
              <a:rPr sz="1600" b="0">
                <a:solidFill>
                  <a:srgbClr val="CBD1CD"/>
                </a:solidFill>
                <a:latin typeface="Calibri"/>
              </a:rPr>
              <a:t>La verificacion completa de posturas es la deuda mas relevante del roadmap.</a:t>
            </a:r>
          </a:p>
        </p:txBody>
      </p:sp>
      <p:sp>
        <p:nvSpPr>
          <p:cNvPr id="6" name="Rectangle 5"/>
          <p:cNvSpPr/>
          <p:nvPr/>
        </p:nvSpPr>
        <p:spPr>
          <a:xfrm>
            <a:off x="457200" y="1664208"/>
            <a:ext cx="11247120" cy="150876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4114800" cy="384048"/>
          </a:xfrm>
          <a:prstGeom prst="rect">
            <a:avLst/>
          </a:prstGeom>
          <a:noFill/>
        </p:spPr>
        <p:txBody>
          <a:bodyPr wrap="square">
            <a:spAutoFit/>
          </a:bodyPr>
          <a:lstStyle/>
          <a:p>
            <a:pPr algn="l"/>
            <a:r>
              <a:rPr sz="1200" b="1">
                <a:solidFill>
                  <a:srgbClr val="FFFFFF"/>
                </a:solidFill>
                <a:latin typeface="Calibri"/>
              </a:rPr>
              <a:t>v0.2 -- VERIFICACION COMPLETA</a:t>
            </a:r>
          </a:p>
        </p:txBody>
      </p:sp>
      <p:sp>
        <p:nvSpPr>
          <p:cNvPr id="8" name="TextBox 7"/>
          <p:cNvSpPr txBox="1"/>
          <p:nvPr/>
        </p:nvSpPr>
        <p:spPr>
          <a:xfrm>
            <a:off x="640080" y="2176272"/>
            <a:ext cx="10789920" cy="960120"/>
          </a:xfrm>
          <a:prstGeom prst="rect">
            <a:avLst/>
          </a:prstGeom>
          <a:noFill/>
        </p:spPr>
        <p:txBody>
          <a:bodyPr wrap="square">
            <a:spAutoFit/>
          </a:bodyPr>
          <a:lstStyle/>
          <a:p>
            <a:pPr algn="l"/>
            <a:r>
              <a:rPr sz="1300" b="0">
                <a:solidFill>
                  <a:srgbClr val="FFFFFF"/>
                </a:solidFill>
                <a:latin typeface="Calibri"/>
              </a:rPr>
              <a:t>Verificar todas las posturas contra fuentes primarias.
Publicar changelog publico de cada verificacion.
Indicar fecha y fuente por cada postura ingresada.</a:t>
            </a:r>
          </a:p>
        </p:txBody>
      </p:sp>
      <p:sp>
        <p:nvSpPr>
          <p:cNvPr id="9" name="Rectangle 8"/>
          <p:cNvSpPr/>
          <p:nvPr/>
        </p:nvSpPr>
        <p:spPr>
          <a:xfrm>
            <a:off x="457200" y="3310128"/>
            <a:ext cx="11247120" cy="150876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429000"/>
            <a:ext cx="4114800" cy="384048"/>
          </a:xfrm>
          <a:prstGeom prst="rect">
            <a:avLst/>
          </a:prstGeom>
          <a:noFill/>
        </p:spPr>
        <p:txBody>
          <a:bodyPr wrap="square">
            <a:spAutoFit/>
          </a:bodyPr>
          <a:lstStyle/>
          <a:p>
            <a:pPr algn="l"/>
            <a:r>
              <a:rPr sz="1200" b="1">
                <a:solidFill>
                  <a:srgbClr val="FFFFFF"/>
                </a:solidFill>
                <a:latin typeface="Calibri"/>
              </a:rPr>
              <a:t>v0.3 -- EXPLICABILIDAD</a:t>
            </a:r>
          </a:p>
        </p:txBody>
      </p:sp>
      <p:sp>
        <p:nvSpPr>
          <p:cNvPr id="11" name="TextBox 10"/>
          <p:cNvSpPr txBox="1"/>
          <p:nvPr/>
        </p:nvSpPr>
        <p:spPr>
          <a:xfrm>
            <a:off x="640080" y="3822191"/>
            <a:ext cx="10789920" cy="960120"/>
          </a:xfrm>
          <a:prstGeom prst="rect">
            <a:avLst/>
          </a:prstGeom>
          <a:noFill/>
        </p:spPr>
        <p:txBody>
          <a:bodyPr wrap="square">
            <a:spAutoFit/>
          </a:bodyPr>
          <a:lstStyle/>
          <a:p>
            <a:pPr algn="l"/>
            <a:r>
              <a:rPr sz="1300" b="0">
                <a:solidFill>
                  <a:srgbClr val="FFFFFF"/>
                </a:solidFill>
                <a:latin typeface="Calibri"/>
              </a:rPr>
              <a:t>Mostrar que preguntas causaron el resultado de matching.
Simulador de sensibilidad del resultado.
Transparencia completa del algoritmo para el usuario final.</a:t>
            </a:r>
          </a:p>
        </p:txBody>
      </p:sp>
      <p:sp>
        <p:nvSpPr>
          <p:cNvPr id="12" name="Rectangle 11"/>
          <p:cNvSpPr/>
          <p:nvPr/>
        </p:nvSpPr>
        <p:spPr>
          <a:xfrm>
            <a:off x="457200" y="4956048"/>
            <a:ext cx="11247120" cy="150876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74920"/>
            <a:ext cx="4114800" cy="384048"/>
          </a:xfrm>
          <a:prstGeom prst="rect">
            <a:avLst/>
          </a:prstGeom>
          <a:noFill/>
        </p:spPr>
        <p:txBody>
          <a:bodyPr wrap="square">
            <a:spAutoFit/>
          </a:bodyPr>
          <a:lstStyle/>
          <a:p>
            <a:pPr algn="l"/>
            <a:r>
              <a:rPr sz="1200" b="1">
                <a:solidFill>
                  <a:srgbClr val="FFFFFF"/>
                </a:solidFill>
                <a:latin typeface="Calibri"/>
              </a:rPr>
              <a:t>LARGO PLAZO -- INSTITUCIONALIDAD</a:t>
            </a:r>
          </a:p>
        </p:txBody>
      </p:sp>
      <p:sp>
        <p:nvSpPr>
          <p:cNvPr id="14" name="TextBox 13"/>
          <p:cNvSpPr txBox="1"/>
          <p:nvPr/>
        </p:nvSpPr>
        <p:spPr>
          <a:xfrm>
            <a:off x="640080" y="5468112"/>
            <a:ext cx="10789920" cy="960120"/>
          </a:xfrm>
          <a:prstGeom prst="rect">
            <a:avLst/>
          </a:prstGeom>
          <a:noFill/>
        </p:spPr>
        <p:txBody>
          <a:bodyPr wrap="square">
            <a:spAutoFit/>
          </a:bodyPr>
          <a:lstStyle/>
          <a:p>
            <a:pPr algn="l"/>
            <a:r>
              <a:rPr sz="1300" b="0">
                <a:solidFill>
                  <a:srgbClr val="FFFFFF"/>
                </a:solidFill>
                <a:latin typeface="Calibri"/>
              </a:rPr>
              <a:t>Alianza con SERVEL, universidades o medios para curaduria.
Modelo de onboarding del candidato (autodeclaracion verificada).
Referente: Vote Compass + CBC Canada.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TECNOLOGIAS UTILIZADAS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1C3A52"/>
                </a:solidFill>
                <a:latin typeface="Calibri"/>
              </a:rPr>
              <a:t>Cada decision tiene una razon.</a:t>
            </a:r>
          </a:p>
        </p:txBody>
      </p:sp>
      <p:sp>
        <p:nvSpPr>
          <p:cNvPr id="5" name="Rectangle 4"/>
          <p:cNvSpPr/>
          <p:nvPr/>
        </p:nvSpPr>
        <p:spPr>
          <a:xfrm>
            <a:off x="457200" y="1353312"/>
            <a:ext cx="5577840" cy="242316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2286000" cy="384048"/>
          </a:xfrm>
          <a:prstGeom prst="rect">
            <a:avLst/>
          </a:prstGeom>
          <a:noFill/>
        </p:spPr>
        <p:txBody>
          <a:bodyPr wrap="square">
            <a:spAutoFit/>
          </a:bodyPr>
          <a:lstStyle/>
          <a:p>
            <a:pPr algn="l"/>
            <a:r>
              <a:rPr sz="1100" b="1">
                <a:solidFill>
                  <a:srgbClr val="FFFFFF"/>
                </a:solidFill>
                <a:latin typeface="Calibri"/>
              </a:rPr>
              <a:t>FRONTEND</a:t>
            </a:r>
          </a:p>
        </p:txBody>
      </p:sp>
      <p:sp>
        <p:nvSpPr>
          <p:cNvPr id="7" name="TextBox 6"/>
          <p:cNvSpPr txBox="1"/>
          <p:nvPr/>
        </p:nvSpPr>
        <p:spPr>
          <a:xfrm>
            <a:off x="640080" y="1901952"/>
            <a:ext cx="5212080" cy="411480"/>
          </a:xfrm>
          <a:prstGeom prst="rect">
            <a:avLst/>
          </a:prstGeom>
          <a:noFill/>
        </p:spPr>
        <p:txBody>
          <a:bodyPr wrap="square">
            <a:spAutoFit/>
          </a:bodyPr>
          <a:lstStyle/>
          <a:p>
            <a:pPr algn="l"/>
            <a:r>
              <a:rPr sz="1600" b="1">
                <a:solidFill>
                  <a:srgbClr val="FFFFFF"/>
                </a:solidFill>
                <a:latin typeface="Calibri"/>
              </a:rPr>
              <a:t>React Native (Expo)</a:t>
            </a:r>
          </a:p>
        </p:txBody>
      </p:sp>
      <p:sp>
        <p:nvSpPr>
          <p:cNvPr id="8" name="Rectangle 7"/>
          <p:cNvSpPr/>
          <p:nvPr/>
        </p:nvSpPr>
        <p:spPr>
          <a:xfrm>
            <a:off x="640080" y="2340864"/>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468880"/>
            <a:ext cx="5212080" cy="1188720"/>
          </a:xfrm>
          <a:prstGeom prst="rect">
            <a:avLst/>
          </a:prstGeom>
          <a:noFill/>
        </p:spPr>
        <p:txBody>
          <a:bodyPr wrap="square">
            <a:spAutoFit/>
          </a:bodyPr>
          <a:lstStyle/>
          <a:p>
            <a:pPr algn="l"/>
            <a:r>
              <a:rPr sz="1200" b="0">
                <a:solidFill>
                  <a:srgbClr val="FFFFFF"/>
                </a:solidFill>
                <a:latin typeface="Calibri"/>
              </a:rPr>
              <a:t>Web + iOS + Android en una base de codigo.
TypeScript para seguridad de tipos.
React Query para cache y sincronizacion.</a:t>
            </a:r>
          </a:p>
        </p:txBody>
      </p:sp>
      <p:sp>
        <p:nvSpPr>
          <p:cNvPr id="10" name="Rectangle 9"/>
          <p:cNvSpPr/>
          <p:nvPr/>
        </p:nvSpPr>
        <p:spPr>
          <a:xfrm>
            <a:off x="6309360" y="1353312"/>
            <a:ext cx="5577840" cy="242316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90472"/>
            <a:ext cx="2286000" cy="384048"/>
          </a:xfrm>
          <a:prstGeom prst="rect">
            <a:avLst/>
          </a:prstGeom>
          <a:noFill/>
        </p:spPr>
        <p:txBody>
          <a:bodyPr wrap="square">
            <a:spAutoFit/>
          </a:bodyPr>
          <a:lstStyle/>
          <a:p>
            <a:pPr algn="l"/>
            <a:r>
              <a:rPr sz="1100" b="1">
                <a:solidFill>
                  <a:srgbClr val="FFFFFF"/>
                </a:solidFill>
                <a:latin typeface="Calibri"/>
              </a:rPr>
              <a:t>BACKEND</a:t>
            </a:r>
          </a:p>
        </p:txBody>
      </p:sp>
      <p:sp>
        <p:nvSpPr>
          <p:cNvPr id="12" name="TextBox 11"/>
          <p:cNvSpPr txBox="1"/>
          <p:nvPr/>
        </p:nvSpPr>
        <p:spPr>
          <a:xfrm>
            <a:off x="6492240" y="1901952"/>
            <a:ext cx="5212080" cy="411480"/>
          </a:xfrm>
          <a:prstGeom prst="rect">
            <a:avLst/>
          </a:prstGeom>
          <a:noFill/>
        </p:spPr>
        <p:txBody>
          <a:bodyPr wrap="square">
            <a:spAutoFit/>
          </a:bodyPr>
          <a:lstStyle/>
          <a:p>
            <a:pPr algn="l"/>
            <a:r>
              <a:rPr sz="1600" b="1">
                <a:solidFill>
                  <a:srgbClr val="FFFFFF"/>
                </a:solidFill>
                <a:latin typeface="Calibri"/>
              </a:rPr>
              <a:t>Django + Python</a:t>
            </a:r>
          </a:p>
        </p:txBody>
      </p:sp>
      <p:sp>
        <p:nvSpPr>
          <p:cNvPr id="13" name="Rectangle 12"/>
          <p:cNvSpPr/>
          <p:nvPr/>
        </p:nvSpPr>
        <p:spPr>
          <a:xfrm>
            <a:off x="6492240" y="2340864"/>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68880"/>
            <a:ext cx="5212080" cy="1188720"/>
          </a:xfrm>
          <a:prstGeom prst="rect">
            <a:avLst/>
          </a:prstGeom>
          <a:noFill/>
        </p:spPr>
        <p:txBody>
          <a:bodyPr wrap="square">
            <a:spAutoFit/>
          </a:bodyPr>
          <a:lstStyle/>
          <a:p>
            <a:pPr algn="l"/>
            <a:r>
              <a:rPr sz="1200" b="0">
                <a:solidFill>
                  <a:srgbClr val="FFFFFF"/>
                </a:solidFill>
                <a:latin typeface="Calibri"/>
              </a:rPr>
              <a:t>Framework maduro con ORM robusto.
42 migraciones sin conflictos.
Admin para gestion de datos.</a:t>
            </a:r>
          </a:p>
        </p:txBody>
      </p:sp>
      <p:sp>
        <p:nvSpPr>
          <p:cNvPr id="15" name="Rectangle 14"/>
          <p:cNvSpPr/>
          <p:nvPr/>
        </p:nvSpPr>
        <p:spPr>
          <a:xfrm>
            <a:off x="457200" y="3959352"/>
            <a:ext cx="5577840" cy="242316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96512"/>
            <a:ext cx="2286000" cy="384048"/>
          </a:xfrm>
          <a:prstGeom prst="rect">
            <a:avLst/>
          </a:prstGeom>
          <a:noFill/>
        </p:spPr>
        <p:txBody>
          <a:bodyPr wrap="square">
            <a:spAutoFit/>
          </a:bodyPr>
          <a:lstStyle/>
          <a:p>
            <a:pPr algn="l"/>
            <a:r>
              <a:rPr sz="1100" b="1">
                <a:solidFill>
                  <a:srgbClr val="FFFFFF"/>
                </a:solidFill>
                <a:latin typeface="Calibri"/>
              </a:rPr>
              <a:t>CONTRATO</a:t>
            </a:r>
          </a:p>
        </p:txBody>
      </p:sp>
      <p:sp>
        <p:nvSpPr>
          <p:cNvPr id="17" name="TextBox 16"/>
          <p:cNvSpPr txBox="1"/>
          <p:nvPr/>
        </p:nvSpPr>
        <p:spPr>
          <a:xfrm>
            <a:off x="640080" y="4507992"/>
            <a:ext cx="5212080" cy="411480"/>
          </a:xfrm>
          <a:prstGeom prst="rect">
            <a:avLst/>
          </a:prstGeom>
          <a:noFill/>
        </p:spPr>
        <p:txBody>
          <a:bodyPr wrap="square">
            <a:spAutoFit/>
          </a:bodyPr>
          <a:lstStyle/>
          <a:p>
            <a:pPr algn="l"/>
            <a:r>
              <a:rPr sz="1600" b="1">
                <a:solidFill>
                  <a:srgbClr val="FFFFFF"/>
                </a:solidFill>
                <a:latin typeface="Calibri"/>
              </a:rPr>
              <a:t>OpenAPI 3.1</a:t>
            </a:r>
          </a:p>
        </p:txBody>
      </p:sp>
      <p:sp>
        <p:nvSpPr>
          <p:cNvPr id="18" name="Rectangle 17"/>
          <p:cNvSpPr/>
          <p:nvPr/>
        </p:nvSpPr>
        <p:spPr>
          <a:xfrm>
            <a:off x="640080" y="4946904"/>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074920"/>
            <a:ext cx="5212080" cy="1188720"/>
          </a:xfrm>
          <a:prstGeom prst="rect">
            <a:avLst/>
          </a:prstGeom>
          <a:noFill/>
        </p:spPr>
        <p:txBody>
          <a:bodyPr wrap="square">
            <a:spAutoFit/>
          </a:bodyPr>
          <a:lstStyle/>
          <a:p>
            <a:pPr algn="l"/>
            <a:r>
              <a:rPr sz="1200" b="0">
                <a:solidFill>
                  <a:srgbClr val="FFFFFF"/>
                </a:solidFill>
                <a:latin typeface="Calibri"/>
              </a:rPr>
              <a:t>Schema generado automaticamente desde el backend.
Tipos TypeScript del frontend derivados del schema.
Incompatibilidades detectadas en compilacion.</a:t>
            </a:r>
          </a:p>
        </p:txBody>
      </p:sp>
      <p:sp>
        <p:nvSpPr>
          <p:cNvPr id="20" name="Rectangle 19"/>
          <p:cNvSpPr/>
          <p:nvPr/>
        </p:nvSpPr>
        <p:spPr>
          <a:xfrm>
            <a:off x="6309360" y="3959352"/>
            <a:ext cx="5577840" cy="242316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2286000" cy="384048"/>
          </a:xfrm>
          <a:prstGeom prst="rect">
            <a:avLst/>
          </a:prstGeom>
          <a:noFill/>
        </p:spPr>
        <p:txBody>
          <a:bodyPr wrap="square">
            <a:spAutoFit/>
          </a:bodyPr>
          <a:lstStyle/>
          <a:p>
            <a:pPr algn="l"/>
            <a:r>
              <a:rPr sz="1100" b="1">
                <a:solidFill>
                  <a:srgbClr val="FFFFFF"/>
                </a:solidFill>
                <a:latin typeface="Calibri"/>
              </a:rPr>
              <a:t>LICENCIA</a:t>
            </a:r>
          </a:p>
        </p:txBody>
      </p:sp>
      <p:sp>
        <p:nvSpPr>
          <p:cNvPr id="22" name="TextBox 21"/>
          <p:cNvSpPr txBox="1"/>
          <p:nvPr/>
        </p:nvSpPr>
        <p:spPr>
          <a:xfrm>
            <a:off x="6492240" y="4507992"/>
            <a:ext cx="5212080" cy="411480"/>
          </a:xfrm>
          <a:prstGeom prst="rect">
            <a:avLst/>
          </a:prstGeom>
          <a:noFill/>
        </p:spPr>
        <p:txBody>
          <a:bodyPr wrap="square">
            <a:spAutoFit/>
          </a:bodyPr>
          <a:lstStyle/>
          <a:p>
            <a:pPr algn="l"/>
            <a:r>
              <a:rPr sz="1600" b="1">
                <a:solidFill>
                  <a:srgbClr val="FFFFFF"/>
                </a:solidFill>
                <a:latin typeface="Calibri"/>
              </a:rPr>
              <a:t>AGPL-3.0</a:t>
            </a:r>
          </a:p>
        </p:txBody>
      </p:sp>
      <p:sp>
        <p:nvSpPr>
          <p:cNvPr id="23" name="Rectangle 22"/>
          <p:cNvSpPr/>
          <p:nvPr/>
        </p:nvSpPr>
        <p:spPr>
          <a:xfrm>
            <a:off x="6492240" y="4946904"/>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5074920"/>
            <a:ext cx="5212080" cy="1188720"/>
          </a:xfrm>
          <a:prstGeom prst="rect">
            <a:avLst/>
          </a:prstGeom>
          <a:noFill/>
        </p:spPr>
        <p:txBody>
          <a:bodyPr wrap="square">
            <a:spAutoFit/>
          </a:bodyPr>
          <a:lstStyle/>
          <a:p>
            <a:pPr algn="l"/>
            <a:r>
              <a:rPr sz="1200" b="0">
                <a:solidFill>
                  <a:srgbClr val="FFFFFF"/>
                </a:solidFill>
                <a:latin typeface="Calibri"/>
              </a:rPr>
              <a:t>Cualquier version modificada desplegada publicamente
debe compartir sus cambios.
Tecnologia electoral como infraestructura publica.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914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32720" cy="2011680"/>
          </a:xfrm>
          <a:prstGeom prst="rect">
            <a:avLst/>
          </a:prstGeom>
          <a:noFill/>
        </p:spPr>
        <p:txBody>
          <a:bodyPr wrap="square">
            <a:spAutoFit/>
          </a:bodyPr>
          <a:lstStyle/>
          <a:p>
            <a:pPr algn="ctr"/>
            <a:r>
              <a:rPr sz="4400" b="1">
                <a:solidFill>
                  <a:srgbClr val="FFFFFF"/>
                </a:solidFill>
                <a:latin typeface="Calibri"/>
              </a:rPr>
              <a:t>El problema es real.
La oportunidad existe.
La solucion es posible.</a:t>
            </a:r>
          </a:p>
        </p:txBody>
      </p:sp>
      <p:sp>
        <p:nvSpPr>
          <p:cNvPr id="5" name="TextBox 4"/>
          <p:cNvSpPr txBox="1"/>
          <p:nvPr/>
        </p:nvSpPr>
        <p:spPr>
          <a:xfrm>
            <a:off x="1371600" y="3611880"/>
            <a:ext cx="9418320" cy="594360"/>
          </a:xfrm>
          <a:prstGeom prst="rect">
            <a:avLst/>
          </a:prstGeom>
          <a:noFill/>
        </p:spPr>
        <p:txBody>
          <a:bodyPr wrap="square">
            <a:spAutoFit/>
          </a:bodyPr>
          <a:lstStyle/>
          <a:p>
            <a:pPr algn="ctr"/>
            <a:r>
              <a:rPr sz="2000" b="0">
                <a:solidFill>
                  <a:srgbClr val="CBD1CD"/>
                </a:solidFill>
                <a:latin typeface="Calibri"/>
              </a:rPr>
              <a:t>VotoAFin es la respuesta tecnologica a un problema civico concreto.</a:t>
            </a:r>
          </a:p>
        </p:txBody>
      </p:sp>
      <p:sp>
        <p:nvSpPr>
          <p:cNvPr id="6" name="Rectangle 5"/>
          <p:cNvSpPr/>
          <p:nvPr/>
        </p:nvSpPr>
        <p:spPr>
          <a:xfrm>
            <a:off x="4754880" y="4407408"/>
            <a:ext cx="2679192"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617720"/>
            <a:ext cx="9418320" cy="457200"/>
          </a:xfrm>
          <a:prstGeom prst="rect">
            <a:avLst/>
          </a:prstGeom>
          <a:noFill/>
        </p:spPr>
        <p:txBody>
          <a:bodyPr wrap="square">
            <a:spAutoFit/>
          </a:bodyPr>
          <a:lstStyle/>
          <a:p>
            <a:pPr algn="ctr"/>
            <a:r>
              <a:rPr sz="1500" b="1">
                <a:solidFill>
                  <a:srgbClr val="3A9E7A"/>
                </a:solidFill>
                <a:latin typeface="Calibri"/>
              </a:rPr>
              <a:t>Continua en: 02 Metodologia, Marco Teorico y Estado del Arte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