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Presentacion Presentacion 03 de 04: Solucion, Diseno y Producto. VotoAFin como Voting Advice Application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VAAs pertenecen a la categoria de 'filtrado basado en conocimiento': el usuario declara sus preferencias y el sistema las compara con caracteristicas de los candidatos. No dependen de historiales de comportamiento. Son reproducibles y auditables.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Ninguna de las 5 dimensiones es arbitraria. Cada una responde a una falla de las alternativas anteriores: Voto Informado no tenia algoritmo, Decide Chile no tenia trazabilidad, ninguna tenia indicador de confianza, ninguna tenia codigo abierto.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diseno centrado en el usuario mas vulnerable es la decision correcta: si la herramienta funciona para alguien sin conocimiento politico previo, funciona para todos. Si solo funciona para expertos, no cumple su proposito.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orden del flujo es deliberado: primero las preguntas sobre TEMAS, luego los candidatos. Esto reduce el sesgo de identificacion partidaria. El usuario revela sus preferencias antes de saber con quien coincide.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filosofia de diseno del home es: el usuario ya quiere votar bien. No necesita que le vendamos el producto. Necesita una herramienta que funcione sin explicaciones innecesarias.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contexto educativo por pregunta es un diferenciador frente a VAAs simples. Cada pregunta incluye una explicacion del tema y sus implicaciones en 5 dimensiones (economica, social, cultural, ambiental, institucional) redactada en tono neutral.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Louwerse y Rosema (2014): la funcion euclidiana -- que eleva al cuadrado la diferencia -- es la metrica que mejor refleja la intuicion politica sobre distancia entre posiciones. Un usuario en posicion 5 (muy de acuerdo) frente a un candidato en posicion 1 (muy en desacuerdo) deberia pesar mas negativamente que la misma distancia numérica en otro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resultado no celebra ni prescribe. Informa. El numero no es lo primero que se ve -- el radar chart lo complementa antes de reducirlo a un porcentaje. La jerarquia: quien es, por que coinciden, donde difieren.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pantalla de comparacion es donde la marca se materializa mas visualmente. Dos poligonos que convergen -- el area de interseccion iluminada -- es la imagen mas honesta de lo que hace 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postura requiere justificacion textual minima y URL de fuente primaria verificable. El importador de datos rechaza entradas sin esos campos. El nivel de confianza (ALTA/MEDIA/BAJA) comunica al usuario cuando una postura esta completamente verificada versus cuando hay incertidumbre.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principio diferencia a VotoAFin de herramientas academicas que son correctas pero inutilizables para el votante promedio. La sofisticacion es un medio, no un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Principio 6 del sistema de decisiones de marca: 'Si un color puede asociarse a un partido politico chileno, esta prohibido -- aunque sea accidentalmente.' La paleta fue diseñada con imparcialidad activa, no neutralidad pasiva.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transformacion del usuario: de 'no se a quien votar y me da verguenza' a 'se por que vote lo que vote y puedo explicarlo'. De espectador pasivo a participante consciente. Esa es la propuesta de valor real de VotoAFin.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Cierra la presentacion 03. La siguiente cuenta como se construyo desde el punto de vista de ingenieria.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9E7A"/>
                </a:solidFill>
                <a:latin typeface="Calibri"/>
              </a:rPr>
              <a:t>Presentacion 03 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Solucion, Diseno y Producto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1CD"/>
                </a:solidFill>
                <a:latin typeface="Calibri"/>
              </a:rPr>
              <a:t>VotoAFin como Voting Advice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41148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1CD"/>
                </a:solidFill>
                <a:latin typeface="Calibri"/>
              </a:rPr>
              <a:t>Que hace. Como funciona. Por que esta disenado 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199"/>
                </a:solidFill>
                <a:latin typeface="Calibri"/>
              </a:rPr>
              <a:t>Jenifer Castillo  --  Universidad Tecnica Federico Santa Maria  --  Agosto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EL MODELO CONCEPTUAL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Que es una Voting Advice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1CD"/>
                </a:solidFill>
                <a:latin typeface="Calibri"/>
              </a:rPr>
              <a:t>Una herramienta digital que asiste la decision electoral
mediante comparacion sistematica de posturas.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38528"/>
            <a:ext cx="5577840" cy="22128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756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CUESTIONARIO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05456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2432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Preguntas sobre temas de politica publica.
Escala de respuesta Likert.
Cubre el espacio de variacion ideologica relevante.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938528"/>
            <a:ext cx="5577840" cy="22128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756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REPOSITORIO DE POSTURAS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505456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24328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Posicion de cada candidato en cada pregunta.
Respaldada por fuentes primarias verificables.
Con nivel de confianza declarado.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34256"/>
            <a:ext cx="5577840" cy="221284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714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ALGORITMO DE MATCHING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01184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20056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Compara respuestas del usuario con posturas
de los candidatos.
Produce indicador de afinidad por dimension.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334256"/>
            <a:ext cx="5577840" cy="221284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4714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VISUALIZACION DE RESULTADOS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4901184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020056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Ranking con porcentajes.
Radar chart de coincidencia por eje tematico.
Indicador de confianza del resultado.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PROPUESTA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3A52"/>
                </a:solidFill>
                <a:latin typeface="Calibri"/>
              </a:rPr>
              <a:t>5 dimensiones de diferenciacion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9601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685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447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TRANSPARENCIA METODOLOGICA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74519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El algoritmo es publico, documentado y auditable.
Cualquier ciudadano puede verificar como se calculan los resultados.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11247120" cy="9601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96312"/>
            <a:ext cx="685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9631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TRAZABILIDAD DE POSTURAS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2608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Cada postura incluye fuente primaria verificable.
Declaracion publica, votacion parlamentaria o programa oficial.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1247120" cy="96012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47872"/>
            <a:ext cx="685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478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PONDERACION POR IMPORTANCIA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77639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El usuario indica que temas le importan mas.
El algoritmo ajusta el calculo segun esas prioridades.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26279"/>
            <a:ext cx="11247120" cy="96012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1"/>
            <a:ext cx="685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99431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INDICADOR DE CONFIANZA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29199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El sistema comunica cuanta certeza tiene el resultado.
Segun cuantas preguntas fueron efectivamente respondidas.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77840"/>
            <a:ext cx="11247120" cy="960120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650992"/>
            <a:ext cx="685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65099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CODIGO ABIERTO AGPL-3.0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6080759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La tecnologia electoral es infraestructura publica.
Cualquier version modificada debe compartir sus cambios.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PUBLICO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Para quien fue disenado VotoAFin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4173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USUARIO PRIMARIO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1051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Votante chileno que enfrenta una eleccion y desea informacion estructurada sobre las posiciones de los candidatos,
sin necesidad de leer extensos documentos programaticos ni tener conocimiento politico previo.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07792"/>
            <a:ext cx="2743200" cy="370332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487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JOVEN VOTANTE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456432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248716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Alta exposicion a desinformacion digital.
Mayor potencial de adopcion.
Mobile-first como prioridad de diseno.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907792"/>
            <a:ext cx="2743200" cy="37033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017520"/>
            <a:ext cx="2487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ADULTO MAYOR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456432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566160"/>
            <a:ext cx="248716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Dificultad para evaluar fuentes en digital.
Lenguaje accesible sin tecnicismos.
Interfaz clara y sin sobrecarga visual.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07792"/>
            <a:ext cx="2743200" cy="37033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017520"/>
            <a:ext cx="2487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VOTANTE INDECISO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456432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566160"/>
            <a:ext cx="248716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Busca informacion justo antes de votar.
5-15 minutos de inversion de tiempo.
Resultado claro y con criterios explicitos.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907792"/>
            <a:ext cx="2743200" cy="370332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017520"/>
            <a:ext cx="2487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USUARIO SECUNDARIO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3456432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566160"/>
            <a:ext cx="248716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Organizaciones de educacion civica.
Medios de comunicacion y periodismo de datos.
Investigadores en ciencia politica.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EL FLUJO DEL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3A52"/>
                </a:solidFill>
                <a:latin typeface="Calibri"/>
              </a:rPr>
              <a:t>Como recorre el sistema un votante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154680"/>
            <a:ext cx="1080820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7552" y="2944368"/>
            <a:ext cx="640080" cy="64008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990088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1880"/>
            <a:ext cx="2121408" cy="41148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INICIO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3A52"/>
                </a:solidFill>
                <a:latin typeface="Calibri"/>
              </a:rPr>
              <a:t>Llega sin saber
a quien votar.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5780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'Sabes a quien vas
a votar?' -- Sin juicio.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2944368"/>
            <a:ext cx="640080" cy="6400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1" y="2990088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3611880"/>
            <a:ext cx="2121408" cy="4114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3657600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SELECCION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11480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3A52"/>
                </a:solidFill>
                <a:latin typeface="Calibri"/>
              </a:rPr>
              <a:t>Elige el tipo de
eleccion.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525780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Presidencial, diputados.
Filtro por region.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4884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5650992" y="2944368"/>
            <a:ext cx="640080" cy="64008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2990088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79" y="3611880"/>
            <a:ext cx="2121408" cy="41148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9" y="3657600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CUESTIONARIO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9" y="411480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3A52"/>
                </a:solidFill>
                <a:latin typeface="Calibri"/>
              </a:rPr>
              <a:t>Responde 12 preguntas
en 5-15 minutos.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525780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Likert 5 puntos.
Ponderacion de importancia.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214884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1" y="2944368"/>
            <a:ext cx="640080" cy="64008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28431" y="2990088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799" y="3611880"/>
            <a:ext cx="2121408" cy="41148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799" y="3657600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799" y="411480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3A52"/>
                </a:solidFill>
                <a:latin typeface="Calibri"/>
              </a:rPr>
              <a:t>El sistema calcula
su afinidad.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799" y="525780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Algoritmo cuadratico.
Indicador de confianza.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799" y="214884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10314432" y="2944368"/>
            <a:ext cx="640080" cy="640080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60152" y="2990088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19" y="3611880"/>
            <a:ext cx="2121408" cy="411480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19" y="3657600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19" y="411480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3A52"/>
                </a:solidFill>
                <a:latin typeface="Calibri"/>
              </a:rPr>
              <a:t>Ranking de candidatos
con porcentajes.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19" y="525780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7 ejes tematicos.
Fuentes verificadas.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19" y="214884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PANTALLA: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El punto de entrada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6858000" cy="50749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FILOSOFIA DE DISENO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Hero statement: 'Con quien votas realmente?'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No hay bienvenida generica ni tutorial obligatorio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Trust row: ~15 min  |  100% privado  |  Datos SERVEL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Sin urgencia artificial ('vota antes de que sea tarde')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Sin animaciones de celebracion ni gamificacion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CTA unico: comenzar el cuestionario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1325880"/>
            <a:ext cx="4251960" cy="507492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2" y="1444752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POR QUE 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1874519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El home no es una bienvenida.
Es una pregunta directa.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2761488"/>
            <a:ext cx="3886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La urgencia artificial genera ansiedad.
La claridad genera confianza.
El usuario no necesita ser convencido
de votar -- ya viene a votar.
Necesita informacion, no motivacion.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PANTALLA: CUESTIONARIO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3A52"/>
                </a:solidFill>
                <a:latin typeface="Calibri"/>
              </a:rPr>
              <a:t>El corazon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6858000" cy="50749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3A52"/>
                </a:solidFill>
                <a:latin typeface="Calibri"/>
              </a:rPr>
              <a:t>12 PREGUNTAS EN 7 EJES TEMATICOS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3A52"/>
                </a:solidFill>
                <a:latin typeface="Calibri"/>
              </a:rPr>
              <a:t>  Economia y empleo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0592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3A52"/>
                </a:solidFill>
                <a:latin typeface="Calibri"/>
              </a:rPr>
              <a:t>  Medioambiente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99232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3A52"/>
                </a:solidFill>
                <a:latin typeface="Calibri"/>
              </a:rPr>
              <a:t>  Derechos y sociedad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47872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3A52"/>
                </a:solidFill>
                <a:latin typeface="Calibri"/>
              </a:rPr>
              <a:t>  Educacion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96512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3A52"/>
                </a:solidFill>
                <a:latin typeface="Calibri"/>
              </a:rPr>
              <a:t>  Seguridad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45152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3A52"/>
                </a:solidFill>
                <a:latin typeface="Calibri"/>
              </a:rPr>
              <a:t>  Salud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93792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3A52"/>
                </a:solidFill>
                <a:latin typeface="Calibri"/>
              </a:rPr>
              <a:t>  Institucionalidad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961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3A52"/>
                </a:solidFill>
                <a:latin typeface="Calibri"/>
              </a:rPr>
              <a:t>MECANICA DE RESPUESTA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3A52"/>
                </a:solidFill>
                <a:latin typeface="Calibri"/>
              </a:rPr>
              <a:t>Escala Likert 5 puntos  +  Ponderacion de importancia  +  Opcion NSR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79792" y="1325880"/>
            <a:ext cx="4251960" cy="507492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2" y="1444752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DECISIONES DE 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2" y="1965960"/>
            <a:ext cx="3886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Contexto educativo por pregunta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2679191"/>
            <a:ext cx="3886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'Por que te preguntamos esto?'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3392424"/>
            <a:ext cx="3886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Progreso visible pero no dominante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4105656"/>
            <a:ext cx="3886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Opcion de omitir sin penalizacion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4818888"/>
            <a:ext cx="3886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Tiempo estimado al inicio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5532120"/>
            <a:ext cx="3886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Sin logros, sin puntos, sin celebracion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EL PROCESO DE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Como se calcula la afinidad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64408" y="2514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BD1CD"/>
                </a:solidFill>
                <a:latin typeface="Calibri"/>
              </a:rPr>
              <a:t>-&gt;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81328"/>
            <a:ext cx="2651760" cy="411480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PASO 1: RESPUESTAS DEL USUARIO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788920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907792"/>
            <a:ext cx="2423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Escala Likert 1-5
Con ponderacion en 4 niveles
NSR excluido del denominador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2514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BD1CD"/>
                </a:solidFill>
                <a:latin typeface="Calibri"/>
              </a:rP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81328"/>
            <a:ext cx="2651760" cy="411480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94560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PASO 2: POSICION DEL CANDIDATO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788920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907792"/>
            <a:ext cx="2423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Postura verificada con fuente
Nivel de confianza declarado
(ALTA / MEDIA / BAJA)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2514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BD1CD"/>
                </a:solidFill>
                <a:latin typeface="Calibri"/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81328"/>
            <a:ext cx="2651760" cy="41148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94560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PASO 3: FUNCION CUADRATICA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788920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907792"/>
            <a:ext cx="2423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Diferencia normalizada al cuadrado
Penaliza desacuerdos extremos
Peso ajustado por ponderacion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481328"/>
            <a:ext cx="2651760" cy="4114800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194560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PASO 4: RESULTADO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788920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2907792"/>
            <a:ext cx="2423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Porcentaje de afinidad global
Desglose por eje tematico
Indicador de confianza del match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833872"/>
            <a:ext cx="11247120" cy="71323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925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La funcion cuadratica penaliza los desacuerdos extremos con mayor severidad que los leves. Refleja que la distancia politica no es linealmente proporcional a la diferencia numerica.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PANTALLA: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3A52"/>
                </a:solidFill>
                <a:latin typeface="Calibri"/>
              </a:rPr>
              <a:t>El informe de claridad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6858000" cy="50749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JERARQUIA DE INFORMACION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1.  Ranking de candidatos por % de afinidad global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96896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2.  Radar chart de superposicion usuario-candidato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55264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3.  Porcentaje de coincidencia por eje tematico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13632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4.  Indicador de confianza (ALTA / MEDIA / BAJA)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5.  Enlace al perfil del candidato con fuentes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3036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6.  Acceso a pantalla de comparacion entre candidatos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1325880"/>
            <a:ext cx="4251960" cy="507492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2" y="1444752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FILOSOFIA DE DISENO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1901952"/>
            <a:ext cx="3886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El resultado no es un anuncio.
Es un informe de claridad.
No decimos:
'Tu candidato es X'
Decimos:
'Con este candidato coincides
en un 78%, alta confianza.
En economia: alta coincidencia.
En seguridad: baja coincidencia.'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PANTALLA: COMPARACION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Dos poligonos superpuestos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084831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CONCEPTO VISUAL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698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El radar chart muestra la zona de superposicion entre el usuario y el candidato. El area de interseccion representa la coincidencia real -- no fabricada sino descubierta. El usuario puede comparar dos candidatos simultaneamente para ver sus diferencias.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47872"/>
            <a:ext cx="3657600" cy="281635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SIN GANADORES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78224"/>
            <a:ext cx="30175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87952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La pantalla no declara un 'ganador'.
Muestra superposicion real sin posicionamiento ideologico.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3547872"/>
            <a:ext cx="3657600" cy="281635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6576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SIN PERDEDORES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4078224"/>
            <a:ext cx="30175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187952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Cada candidato aparece en su mejor luz posible.
Los datos hablan -- la plataforma no editoraliza.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547872"/>
            <a:ext cx="3657600" cy="2816352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6576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CON CONTEXTO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4078224"/>
            <a:ext cx="30175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187952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El usuario puede ver en que preguntas especificas
coincide y en cuales difiere, con la postura del candidato y su fuente.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PANTALLA: PERFIL DE CANDIDATO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3A52"/>
                </a:solidFill>
                <a:latin typeface="Calibri"/>
              </a:rPr>
              <a:t>Los datos como protagonistas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6858000" cy="507492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JERARQUIA DE INFORMACION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Postura en cada pregunta del cuestionario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96896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Justificacion textual de cada postura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55264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URL de fuente primaria verificable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13632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Nivel de confianza por postura (ALTA / MEDIA / BAJA)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Noticias recientes asociadas al candidato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3036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  Comparacion de su postura vs la postura del usuario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1325880"/>
            <a:ext cx="4251960" cy="50749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2" y="1444752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DECISION DE DISENO CLAVE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1874519"/>
            <a:ext cx="3886200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La foto del candidato
no es el protagonista.
Las posiciones
son el contenido.
La foto es contexto.
El sistema no vende
la imagen del candidato.
Vende la informacion.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EL PRINCIPIO DE DISENO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Reduccion de carga cognitiva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47120" cy="14173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La complejidad la absorbe el sistema, no el usuario.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El algoritmo puede ser sofisticado. La experiencia debe ser simple. El usuario nunca deberia sentir el peso tecnico de lo que ocurre detras.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52928"/>
            <a:ext cx="5577840" cy="1901952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900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PRIMERO LOS TEMAS, LUEGO LOS CANDIDATOS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01568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11296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El usuario responde preguntas sobre sus valores
antes de ver con quien coincide.
Reduce sesgo de identificacion partidaria.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852928"/>
            <a:ext cx="5577840" cy="190195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9900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PONDERACION COMO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3401568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511296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El usuario decide que importa mas.
El sistema ajusta. No al reves.
Autonomia sobre el resultado.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10328"/>
            <a:ext cx="5577840" cy="190195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474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TRANSPARENCIA SOBRE CERTEZA FALSA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458968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68696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Si el resultado tiene incertidumbre, se dice.
Un match con confianza baja es mas honesto
que uno falso con confianza aparente.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910328"/>
            <a:ext cx="5577840" cy="1901952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0474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MOBILE-FIRST, NO MOBILE-ONLY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5458968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5568696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Funciona en web, iOS y Android.
5-15 minutos de inversion.
Sin onboarding largo ni tutorial obligatorio.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LA IDENTIDAD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3A52"/>
                </a:solidFill>
                <a:latin typeface="Calibri"/>
              </a:rPr>
              <a:t>La marca como parte del argumento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A6B73"/>
                </a:solidFill>
                <a:latin typeface="Calibri"/>
              </a:rPr>
              <a:t>La presentacion visual de la plataforma no es estetica -- es etica.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38528"/>
            <a:ext cx="1810512" cy="86868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852928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2B33"/>
                </a:solidFill>
                <a:latin typeface="Calibri"/>
              </a:rPr>
              <a:t>Azul Pizarron #1C3A52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18688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B73"/>
                </a:solidFill>
                <a:latin typeface="Calibri"/>
              </a:rPr>
              <a:t>Fondos hero
Confianza profunda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938528"/>
            <a:ext cx="1810512" cy="86868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2852928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2B33"/>
                </a:solidFill>
                <a:latin typeface="Calibri"/>
              </a:rPr>
              <a:t>Azul Petroleo #2E5F7E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218688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B73"/>
                </a:solidFill>
                <a:latin typeface="Calibri"/>
              </a:rPr>
              <a:t>CTAs, primario
Autoridad sin agresion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938528"/>
            <a:ext cx="1810512" cy="8686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852928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2B33"/>
                </a:solidFill>
                <a:latin typeface="Calibri"/>
              </a:rPr>
              <a:t>Verde Civico #3A9E7A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218688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B73"/>
                </a:solidFill>
                <a:latin typeface="Calibri"/>
              </a:rPr>
              <a:t>Acentos, logros
No el verde de partido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79" y="1938528"/>
            <a:ext cx="1810512" cy="86868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2852928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2B33"/>
                </a:solidFill>
                <a:latin typeface="Calibri"/>
              </a:rPr>
              <a:t>Fondo Suave #F5F7F5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3218688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B73"/>
                </a:solidFill>
                <a:latin typeface="Calibri"/>
              </a:rPr>
              <a:t>Background
Reduce fatiga ocular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938528"/>
            <a:ext cx="1810512" cy="868680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852928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2B33"/>
                </a:solidFill>
                <a:latin typeface="Calibri"/>
              </a:rPr>
              <a:t>Verde Bosque #6B9B7A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18688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B73"/>
                </a:solidFill>
                <a:latin typeface="Calibri"/>
              </a:rPr>
              <a:t>Alta afinidad
Exito verificado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87000" y="1938528"/>
            <a:ext cx="1810512" cy="868680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852928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2B33"/>
                </a:solidFill>
                <a:latin typeface="Calibri"/>
              </a:rPr>
              <a:t>Terracota #B85C5C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3218688"/>
            <a:ext cx="1810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B73"/>
                </a:solidFill>
                <a:latin typeface="Calibri"/>
              </a:rPr>
              <a:t>Baja afinidad, error
Sin alarma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69080"/>
            <a:ext cx="5577840" cy="2267712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1879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LO QUE NO USAMOS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617720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36592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Rojo+azul (tribalismo politico)
Verde bandera (partido)
Gradientes vibrantes de app de consumo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069080"/>
            <a:ext cx="5577840" cy="22677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LO QUE SI USAMOS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617720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736592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Azul pizarron: noche antes de una decision
Verde civico: posibilidad, no partido
Serif humanista: ideas, no instituciones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LOS BENEFICIOS REALES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Que obtiene el usuario que usa VotoAFin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657600" cy="498348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CORTO PLAZO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FUNCIONAL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95728"/>
            <a:ext cx="30175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Informacion estructurada y comparativa
sobre los candidatos relevantes para tu eleccion.
No necesitas conocimiento politico previo para interpretarla.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3657600" cy="49834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361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MEDIANO PLAZO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019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EDUCATIVO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395728"/>
            <a:ext cx="30175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5146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Exposicion a las posturas de candidatos en 7 ejes tematicos.
Con justificacion y fuente verificable por cada postura.
Mas alla de los temas que dominan la agenda mediatica.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657600" cy="498348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361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LARGO PLAZO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019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SISTEMICO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395728"/>
            <a:ext cx="30175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5146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Un estandar de referencia para la informacion electoral.
Que eleva las expectativas ciudadanas sobre calidad informativa.
Y presiona a candidatos hacia mayor especificidad programatica.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No te decimos por quien votar.
Te mostramos con quien coincides.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18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CBD1CD"/>
                </a:solidFill>
                <a:latin typeface="Calibri"/>
              </a:rPr>
              <a:t>La distinction entre asistencia y prescripcion
es el principio de diseno mas importante del sistema.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4434840"/>
            <a:ext cx="2679192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617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A9E7A"/>
                </a:solidFill>
                <a:latin typeface="Calibri"/>
              </a:rPr>
              <a:t>Continua en: 04 Proceso de Ingenieria y Conclusiones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