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70" d="100"/>
          <a:sy n="70" d="100"/>
        </p:scale>
        <p:origin x="512" y="4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ableStyles" Target="tableStyle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0962273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Saluda. Presenta el titulo. Deja que la audiencia lo lea. Luego: 'Esta presentacion no es sobre una aplicacion. Es sobre un problema real que afecta a millones de chilenos.'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Esta slide es el mapa. Problema → Solucion → Impacto. No entres en detalles todavia.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Las 3D de Claudio Fuentes (UDP). No es percepcion: es fenomeno documentado con instrumentos de investigacion social.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El dato mas impactante: 100% de los 12 entrevistados habia visto fake news electorales. Ninguna excepcion.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+460% de votos nulos para alcalde en 3 anos. No es ruido estadistico.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La brecha era concreta. Voto Informado y Decide Chile existieron pero se discontinuaron.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Primera propuesta honesta sobre el problema pero naive sobre la solucion. La gamificacion no aborda la calidad del voto.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El swipe es brillante como diseno de interaccion pero erroneo para este problema. Pierde la mitad de la informacion de matching.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Tres aprendizajes que nacen de haber construido algo real. La pregunta correcta cambio de 'como hacer atractivo al candidato' a 'como medir con precision la coincidencia entre votante y candidato'.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El proyecto no nacio como tesis. Cada etapa fue necesaria para llegar a la siguiente.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StemWijzer existe desde 1989. La categoria tenia 35 anos. No habia que inventar el modelo: habia que adaptarlo a Chile.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El sistema no le dice al usuario por quien votar. Le muestra con quien coincide segun sus propias posturas declaradas.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6 de 7 objetivos cumplidos. OE7 parcial: documentacion existe pero necesita expansion.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No fue Scrum estricto: sin ceremonias ni velocidad estimada. Fue iterativo en valor: cada ciclo entregaba algo funcional.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La literatura de VAAs es solida: 35 anos de investigacion en Europa. La innovacion de VotoAFin es la adaptacion al contexto chileno.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La brecha era clara. Ninguna VAA activa con cobertura real del contexto chileno.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El contrato OpenAPI no es documentacion: es una restriccion de diseno. Cuando el backend cambia, el compilador del frontend falla. Tests unitarios 30 veces mas rapidos que tests de integracion.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Decision fundamental: primero las preguntas sobre TEMAS, luego los candidatos. Reduce el sesgo de identificacion partidaria.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El indicador de confianza es un diferenciador unico. Comunicar la incertidumbre protege la credibilidad del sistema a largo plazo.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17 pantallas con flujo completo. Atomic Design: atomos, moleculas, organismos. Modo oscuro verificado en todos los componentes.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El radar chart ES la marca. El poligono de superposicion usuario-candidato es la imagen mas honesta de lo que hace el sistema.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Las decisiones mas importantes no fueron tecnicas: fueron epistemologicas. Que tipo de sistema queriamos ser.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Cada decision tecnica tiene alternativa considerada y razon. No usamos React Native porque estaba de moda.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El crecimiento refleja maduracion de arquitectura, no solo acumulacion. 212 commits -- cada uno es una decision verificable.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Las limitaciones honestas son parte del rigor academico. El MVP funciona. No esta completo. Eso es correcto.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El roadmap existe y esta documentado en el repositorio. No es aspiracional.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El objetivo general fue cumplido en su dimension tecnica. Valor generado en tres dimensiones: producto, academia e infraestructura civica.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Pausa. Deja que el mensaje sea leido. Esta es la razon de existir del proyecto.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Sonrie. Respira. Estas lista. Algoritmo -&gt; funcion cuadratica con ponderacion. Sostenibilidad -&gt; AGPL-3.0 + alianzas institucionales. Neutralidad -&gt; niveles de confianza + fuentes verificadas.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C3A5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3A9E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0" b="1">
                <a:solidFill>
                  <a:srgbClr val="FFFFFF"/>
                </a:solidFill>
                <a:latin typeface="Calibri"/>
              </a:rPr>
              <a:t>VotoAFin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377440"/>
            <a:ext cx="73152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0">
                <a:solidFill>
                  <a:srgbClr val="CBD1CD"/>
                </a:solidFill>
                <a:latin typeface="Calibri"/>
              </a:rPr>
              <a:t>Diseno e implementacion de una
Voting Advice Application
para el contexto electoral chileno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3840480"/>
            <a:ext cx="3474720" cy="45720"/>
          </a:xfrm>
          <a:prstGeom prst="rect">
            <a:avLst/>
          </a:prstGeom>
          <a:solidFill>
            <a:srgbClr val="3A9E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3977639"/>
            <a:ext cx="6400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Jenifer Castillo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3891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BD1CD"/>
                </a:solidFill>
                <a:latin typeface="Calibri"/>
              </a:rPr>
              <a:t>Universidad Tecnica Federico Santa Maria  |  Ingenieria en Informatica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754880"/>
            <a:ext cx="3657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BD1CD"/>
                </a:solidFill>
                <a:latin typeface="Calibri"/>
              </a:rPr>
              <a:t>Agosto 2026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0" y="1920239"/>
            <a:ext cx="3657600" cy="3108960"/>
          </a:xfrm>
          <a:prstGeom prst="rect">
            <a:avLst/>
          </a:prstGeom>
          <a:solidFill>
            <a:srgbClr val="2E5F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8321040" y="2377439"/>
            <a:ext cx="2560320" cy="2194560"/>
          </a:xfrm>
          <a:prstGeom prst="rect">
            <a:avLst/>
          </a:prstGeom>
          <a:solidFill>
            <a:srgbClr val="3A9E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8961120" y="2926079"/>
            <a:ext cx="1280160" cy="1097280"/>
          </a:xfrm>
          <a:prstGeom prst="rect">
            <a:avLst/>
          </a:prstGeom>
          <a:solidFill>
            <a:srgbClr val="6B9B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503920" y="2926080"/>
            <a:ext cx="23774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Tu voto,
tus razones.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720840"/>
            <a:ext cx="12188952" cy="137160"/>
          </a:xfrm>
          <a:prstGeom prst="rect">
            <a:avLst/>
          </a:prstGeom>
          <a:solidFill>
            <a:srgbClr val="3A9E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3A9E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128016"/>
            <a:ext cx="9144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3A9E7A"/>
                </a:solidFill>
                <a:latin typeface="Calibri"/>
              </a:rPr>
              <a:t>RESUMEN EJECUTIVO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C3A52"/>
                </a:solidFill>
                <a:latin typeface="Calibri"/>
              </a:rPr>
              <a:t>El proyecto en tres ideas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80160"/>
            <a:ext cx="3657600" cy="5120640"/>
          </a:xfrm>
          <a:prstGeom prst="rect">
            <a:avLst/>
          </a:prstGeom>
          <a:solidFill>
            <a:srgbClr val="2E5F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1417320"/>
            <a:ext cx="1371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286000"/>
            <a:ext cx="3291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EL PROBLEMA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697480"/>
            <a:ext cx="3108960" cy="365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0080" y="2816352"/>
            <a:ext cx="329184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Calibri"/>
              </a:rPr>
              <a:t>Chile tuvo 8 elecciones en 4 anos.
Solo el 21% se sentia muy informado.
Votos nulos crecieron +460%.
81% expuesto a desinformacion.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43400" y="1280160"/>
            <a:ext cx="3657600" cy="5120640"/>
          </a:xfrm>
          <a:prstGeom prst="rect">
            <a:avLst/>
          </a:prstGeom>
          <a:solidFill>
            <a:srgbClr val="3A9E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526280" y="1417320"/>
            <a:ext cx="1371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26280" y="2286000"/>
            <a:ext cx="3291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LA SOLUCION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26280" y="2697480"/>
            <a:ext cx="3108960" cy="365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526280" y="2816352"/>
            <a:ext cx="329184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Calibri"/>
              </a:rPr>
              <a:t>VotoAFin es una VAA de codigo abierto.
El usuario responde y obtiene un ranking
de afinidad con candidatos,
desglosado por 7 ejes tematicos.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0" y="1280160"/>
            <a:ext cx="3657600" cy="5120640"/>
          </a:xfrm>
          <a:prstGeom prst="rect">
            <a:avLst/>
          </a:prstGeom>
          <a:solidFill>
            <a:srgbClr val="1C3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412480" y="1417320"/>
            <a:ext cx="1371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0" y="2286000"/>
            <a:ext cx="3291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EL IMPACTO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412480" y="2697480"/>
            <a:ext cx="3108960" cy="365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412480" y="2816352"/>
            <a:ext cx="329184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Calibri"/>
              </a:rPr>
              <a:t>Un ciudadano que usa VotoAFin puede
pararse en la urna sabiendo por que
vota a quien vota -- no porque
le dijeron, sino porque lo descubrio.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C3A5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3A9E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128016"/>
            <a:ext cx="9144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3A9E7A"/>
                </a:solidFill>
                <a:latin typeface="Calibri"/>
              </a:rPr>
              <a:t>CONTEXTO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Calibri"/>
              </a:rPr>
              <a:t>Chile: 8 elecciones en 4 anos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43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BD1CD"/>
                </a:solidFill>
                <a:latin typeface="Calibri"/>
              </a:rPr>
              <a:t>2020-2024: densidad electoral sin precedentes. Las '3 D': Desinformacion, Desinteres, Desconfianza.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286000"/>
            <a:ext cx="10927080" cy="45720"/>
          </a:xfrm>
          <a:prstGeom prst="rect">
            <a:avLst/>
          </a:prstGeom>
          <a:solidFill>
            <a:srgbClr val="CBD1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548640" y="2176272"/>
            <a:ext cx="73152" cy="228600"/>
          </a:xfrm>
          <a:prstGeom prst="rect">
            <a:avLst/>
          </a:prstGeom>
          <a:solidFill>
            <a:srgbClr val="3A9E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719" y="1828800"/>
            <a:ext cx="1463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3A9E7A"/>
                </a:solidFill>
                <a:latin typeface="Calibri"/>
              </a:rPr>
              <a:t>Oct
2020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19" y="2423160"/>
            <a:ext cx="14630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CBD1CD"/>
                </a:solidFill>
                <a:latin typeface="Calibri"/>
              </a:rPr>
              <a:t>Plebiscito
entrada</a:t>
            </a:r>
          </a:p>
        </p:txBody>
      </p:sp>
      <p:sp>
        <p:nvSpPr>
          <p:cNvPr id="10" name="Rectangle 9"/>
          <p:cNvSpPr/>
          <p:nvPr/>
        </p:nvSpPr>
        <p:spPr>
          <a:xfrm>
            <a:off x="2121408" y="2176272"/>
            <a:ext cx="73152" cy="228600"/>
          </a:xfrm>
          <a:prstGeom prst="rect">
            <a:avLst/>
          </a:prstGeom>
          <a:solidFill>
            <a:srgbClr val="3A9E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618487" y="1828800"/>
            <a:ext cx="1463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3A9E7A"/>
                </a:solidFill>
                <a:latin typeface="Calibri"/>
              </a:rPr>
              <a:t>Nov
2021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18487" y="2423160"/>
            <a:ext cx="14630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CBD1CD"/>
                </a:solidFill>
                <a:latin typeface="Calibri"/>
              </a:rPr>
              <a:t>Conv.Const.
+Presidencial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94176" y="2176272"/>
            <a:ext cx="73152" cy="228600"/>
          </a:xfrm>
          <a:prstGeom prst="rect">
            <a:avLst/>
          </a:prstGeom>
          <a:solidFill>
            <a:srgbClr val="3A9E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191256" y="1828800"/>
            <a:ext cx="1463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3A9E7A"/>
                </a:solidFill>
                <a:latin typeface="Calibri"/>
              </a:rPr>
              <a:t>Dic
2021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91256" y="2423160"/>
            <a:ext cx="14630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CBD1CD"/>
                </a:solidFill>
                <a:latin typeface="Calibri"/>
              </a:rPr>
              <a:t>2a vuelta
presidencial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266944" y="2176272"/>
            <a:ext cx="73152" cy="228600"/>
          </a:xfrm>
          <a:prstGeom prst="rect">
            <a:avLst/>
          </a:prstGeom>
          <a:solidFill>
            <a:srgbClr val="3A9E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764024" y="1828800"/>
            <a:ext cx="1463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3A9E7A"/>
                </a:solidFill>
                <a:latin typeface="Calibri"/>
              </a:rPr>
              <a:t>Sep
2022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64024" y="2423160"/>
            <a:ext cx="14630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CBD1CD"/>
                </a:solidFill>
                <a:latin typeface="Calibri"/>
              </a:rPr>
              <a:t>Plebiscito
salida #1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839712" y="2176272"/>
            <a:ext cx="73152" cy="228600"/>
          </a:xfrm>
          <a:prstGeom prst="rect">
            <a:avLst/>
          </a:prstGeom>
          <a:solidFill>
            <a:srgbClr val="3A9E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336792" y="1828800"/>
            <a:ext cx="1463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3A9E7A"/>
                </a:solidFill>
                <a:latin typeface="Calibri"/>
              </a:rPr>
              <a:t>May
2023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36792" y="2423160"/>
            <a:ext cx="14630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CBD1CD"/>
                </a:solidFill>
                <a:latin typeface="Calibri"/>
              </a:rPr>
              <a:t>Consejo
Const.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412480" y="2176272"/>
            <a:ext cx="73152" cy="228600"/>
          </a:xfrm>
          <a:prstGeom prst="rect">
            <a:avLst/>
          </a:prstGeom>
          <a:solidFill>
            <a:srgbClr val="3A9E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7909559" y="1828800"/>
            <a:ext cx="1463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3A9E7A"/>
                </a:solidFill>
                <a:latin typeface="Calibri"/>
              </a:rPr>
              <a:t>Dic
2023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909559" y="2423160"/>
            <a:ext cx="14630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CBD1CD"/>
                </a:solidFill>
                <a:latin typeface="Calibri"/>
              </a:rPr>
              <a:t>Plebiscito
salida #2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985248" y="2176272"/>
            <a:ext cx="73152" cy="228600"/>
          </a:xfrm>
          <a:prstGeom prst="rect">
            <a:avLst/>
          </a:prstGeom>
          <a:solidFill>
            <a:srgbClr val="3A9E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9482328" y="1828800"/>
            <a:ext cx="1463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3A9E7A"/>
                </a:solidFill>
                <a:latin typeface="Calibri"/>
              </a:rPr>
              <a:t>Oct
2024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482328" y="2423160"/>
            <a:ext cx="14630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CBD1CD"/>
                </a:solidFill>
                <a:latin typeface="Calibri"/>
              </a:rPr>
              <a:t>Municipal
+Regional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31520" y="3337560"/>
            <a:ext cx="3520440" cy="3017520"/>
          </a:xfrm>
          <a:prstGeom prst="rect">
            <a:avLst/>
          </a:prstGeom>
          <a:solidFill>
            <a:srgbClr val="B85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914400" y="3456432"/>
            <a:ext cx="3154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DESINFORMACION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4400" y="3931920"/>
            <a:ext cx="315468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81% expuesto
semanalmente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26280" y="3337560"/>
            <a:ext cx="3520440" cy="3017520"/>
          </a:xfrm>
          <a:prstGeom prst="rect">
            <a:avLst/>
          </a:prstGeom>
          <a:solidFill>
            <a:srgbClr val="C89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4709160" y="3456432"/>
            <a:ext cx="3154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DESINTERES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709160" y="3931920"/>
            <a:ext cx="315468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21% muy
informado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321040" y="3337560"/>
            <a:ext cx="3520440" cy="3017520"/>
          </a:xfrm>
          <a:prstGeom prst="rect">
            <a:avLst/>
          </a:prstGeom>
          <a:solidFill>
            <a:srgbClr val="2E5F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8503920" y="3456432"/>
            <a:ext cx="3154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DESCONFIANZA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503920" y="3931920"/>
            <a:ext cx="315468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79% desconfia
de politicos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3A9E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128016"/>
            <a:ext cx="9144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3A9E7A"/>
                </a:solidFill>
                <a:latin typeface="Calibri"/>
              </a:rPr>
              <a:t>INVESTIGACION INICIAL -- EMPRENDIMIENTO 2024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1C3A52"/>
                </a:solidFill>
                <a:latin typeface="Calibri"/>
              </a:rPr>
              <a:t>Como influye la desinformacion
en el comportamiento electoral?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645920"/>
            <a:ext cx="5577840" cy="2194560"/>
          </a:xfrm>
          <a:prstGeom prst="rect">
            <a:avLst/>
          </a:prstGeom>
          <a:solidFill>
            <a:srgbClr val="2E5F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3657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600" b="1">
                <a:solidFill>
                  <a:srgbClr val="3A9E7A"/>
                </a:solidFill>
                <a:latin typeface="Calibri"/>
              </a:rPr>
              <a:t>81%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788920"/>
            <a:ext cx="51206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del electorado expuesto a
desinformacion cada semana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0" y="1645920"/>
            <a:ext cx="5577840" cy="2194560"/>
          </a:xfrm>
          <a:prstGeom prst="rect">
            <a:avLst/>
          </a:prstGeom>
          <a:solidFill>
            <a:srgbClr val="1C3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583680" y="1737360"/>
            <a:ext cx="3657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600" b="1" dirty="0">
                <a:solidFill>
                  <a:srgbClr val="3A9E7A"/>
                </a:solidFill>
                <a:latin typeface="Calibri"/>
              </a:rPr>
              <a:t>71%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2788920"/>
            <a:ext cx="51206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cree que la desinformacion
es una amenaza democratica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4069080"/>
            <a:ext cx="5577840" cy="2194560"/>
          </a:xfrm>
          <a:prstGeom prst="rect">
            <a:avLst/>
          </a:prstGeom>
          <a:solidFill>
            <a:srgbClr val="B85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31520" y="4160520"/>
            <a:ext cx="3657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600" b="1">
                <a:solidFill>
                  <a:srgbClr val="3A9E7A"/>
                </a:solidFill>
                <a:latin typeface="Calibri"/>
              </a:rPr>
              <a:t>100%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5212080"/>
            <a:ext cx="51206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de 12 entrevistados vio
fake news electorales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0" y="4069080"/>
            <a:ext cx="5577840" cy="2194560"/>
          </a:xfrm>
          <a:prstGeom prst="rect">
            <a:avLst/>
          </a:prstGeom>
          <a:solidFill>
            <a:srgbClr val="3A9E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583680" y="4160520"/>
            <a:ext cx="3657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600" b="1">
                <a:solidFill>
                  <a:srgbClr val="FFFFFF"/>
                </a:solidFill>
                <a:latin typeface="Calibri"/>
              </a:rPr>
              <a:t>79%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0" y="5212080"/>
            <a:ext cx="51206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no confia en politicos
como fuente de informacion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492240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A9199"/>
                </a:solidFill>
                <a:latin typeface="Calibri"/>
              </a:rPr>
              <a:t>Fuentes: Activa Knowledge  |  SERVEL  |  Levantamiento propio N=12 Valparaiso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C3A5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3A9E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128016"/>
            <a:ext cx="9144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3A9E7A"/>
                </a:solidFill>
                <a:latin typeface="Calibri"/>
              </a:rPr>
              <a:t>EL IMPACTO MEDIBLE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Calibri"/>
              </a:rPr>
              <a:t>Votar sin saber: los numeros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A9E7A"/>
                </a:solidFill>
                <a:latin typeface="Calibri"/>
              </a:rPr>
              <a:t>VOTOS NULOS Y EN BLANCO -- Municipales 2021 vs 2024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45920"/>
            <a:ext cx="3136392" cy="384048"/>
          </a:xfrm>
          <a:prstGeom prst="rect">
            <a:avLst/>
          </a:prstGeom>
          <a:solidFill>
            <a:srgbClr val="2E5F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21792" y="1682496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CARGO</a:t>
            </a:r>
          </a:p>
        </p:txBody>
      </p:sp>
      <p:sp>
        <p:nvSpPr>
          <p:cNvPr id="8" name="Rectangle 7"/>
          <p:cNvSpPr/>
          <p:nvPr/>
        </p:nvSpPr>
        <p:spPr>
          <a:xfrm>
            <a:off x="3794760" y="1645920"/>
            <a:ext cx="1764792" cy="384048"/>
          </a:xfrm>
          <a:prstGeom prst="rect">
            <a:avLst/>
          </a:prstGeom>
          <a:solidFill>
            <a:srgbClr val="2E5F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867912" y="1682496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2021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0" y="1645920"/>
            <a:ext cx="1764792" cy="384048"/>
          </a:xfrm>
          <a:prstGeom prst="rect">
            <a:avLst/>
          </a:prstGeom>
          <a:solidFill>
            <a:srgbClr val="2E5F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742432" y="1682496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2024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543800" y="1645920"/>
            <a:ext cx="2221992" cy="384048"/>
          </a:xfrm>
          <a:prstGeom prst="rect">
            <a:avLst/>
          </a:prstGeom>
          <a:solidFill>
            <a:srgbClr val="2E5F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616952" y="1682496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VARIACION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2075688"/>
            <a:ext cx="3136392" cy="603504"/>
          </a:xfrm>
          <a:prstGeom prst="rect">
            <a:avLst/>
          </a:prstGeom>
          <a:solidFill>
            <a:srgbClr val="1C3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21792" y="2121408"/>
            <a:ext cx="3017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FFFFFF"/>
                </a:solidFill>
                <a:latin typeface="Calibri"/>
              </a:rPr>
              <a:t>Alcalde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794760" y="2075688"/>
            <a:ext cx="1764792" cy="603504"/>
          </a:xfrm>
          <a:prstGeom prst="rect">
            <a:avLst/>
          </a:prstGeom>
          <a:solidFill>
            <a:srgbClr val="1C3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3867912" y="2121408"/>
            <a:ext cx="1645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FFFFFF"/>
                </a:solidFill>
                <a:latin typeface="Calibri"/>
              </a:rPr>
              <a:t>1,93%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0" y="2075688"/>
            <a:ext cx="1764792" cy="603504"/>
          </a:xfrm>
          <a:prstGeom prst="rect">
            <a:avLst/>
          </a:prstGeom>
          <a:solidFill>
            <a:srgbClr val="1C3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742432" y="2121408"/>
            <a:ext cx="1645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FFFFFF"/>
                </a:solidFill>
                <a:latin typeface="Calibri"/>
              </a:rPr>
              <a:t>10,80%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543800" y="2075688"/>
            <a:ext cx="2221992" cy="603504"/>
          </a:xfrm>
          <a:prstGeom prst="rect">
            <a:avLst/>
          </a:prstGeom>
          <a:solidFill>
            <a:srgbClr val="1C3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616952" y="2121408"/>
            <a:ext cx="2103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B85C5C"/>
                </a:solidFill>
                <a:latin typeface="Calibri"/>
              </a:rPr>
              <a:t>+460%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2715768"/>
            <a:ext cx="3136392" cy="603504"/>
          </a:xfrm>
          <a:prstGeom prst="rect">
            <a:avLst/>
          </a:prstGeom>
          <a:solidFill>
            <a:srgbClr val="243C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21792" y="2761487"/>
            <a:ext cx="3017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FFFFFF"/>
                </a:solidFill>
                <a:latin typeface="Calibri"/>
              </a:rPr>
              <a:t>Gobernador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794760" y="2715768"/>
            <a:ext cx="1764792" cy="603504"/>
          </a:xfrm>
          <a:prstGeom prst="rect">
            <a:avLst/>
          </a:prstGeom>
          <a:solidFill>
            <a:srgbClr val="243C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3867912" y="2761487"/>
            <a:ext cx="1645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FFFFFF"/>
                </a:solidFill>
                <a:latin typeface="Calibri"/>
              </a:rPr>
              <a:t>6,13%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280" y="2715768"/>
            <a:ext cx="1764792" cy="603504"/>
          </a:xfrm>
          <a:prstGeom prst="rect">
            <a:avLst/>
          </a:prstGeom>
          <a:solidFill>
            <a:srgbClr val="243C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5742432" y="2761487"/>
            <a:ext cx="1645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FFFFFF"/>
                </a:solidFill>
                <a:latin typeface="Calibri"/>
              </a:rPr>
              <a:t>17,80%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543800" y="2715768"/>
            <a:ext cx="2221992" cy="603504"/>
          </a:xfrm>
          <a:prstGeom prst="rect">
            <a:avLst/>
          </a:prstGeom>
          <a:solidFill>
            <a:srgbClr val="243C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7616952" y="2761487"/>
            <a:ext cx="2103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B85C5C"/>
                </a:solidFill>
                <a:latin typeface="Calibri"/>
              </a:rPr>
              <a:t>+190%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40" y="3355848"/>
            <a:ext cx="3136392" cy="603504"/>
          </a:xfrm>
          <a:prstGeom prst="rect">
            <a:avLst/>
          </a:prstGeom>
          <a:solidFill>
            <a:srgbClr val="1C3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21792" y="3401568"/>
            <a:ext cx="3017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FFFFFF"/>
                </a:solidFill>
                <a:latin typeface="Calibri"/>
              </a:rPr>
              <a:t>Concejal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794760" y="3355848"/>
            <a:ext cx="1764792" cy="603504"/>
          </a:xfrm>
          <a:prstGeom prst="rect">
            <a:avLst/>
          </a:prstGeom>
          <a:solidFill>
            <a:srgbClr val="1C3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3867912" y="3401568"/>
            <a:ext cx="1645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FFFFFF"/>
                </a:solidFill>
                <a:latin typeface="Calibri"/>
              </a:rPr>
              <a:t>5,74%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669280" y="3355848"/>
            <a:ext cx="1764792" cy="603504"/>
          </a:xfrm>
          <a:prstGeom prst="rect">
            <a:avLst/>
          </a:prstGeom>
          <a:solidFill>
            <a:srgbClr val="1C3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5742432" y="3401568"/>
            <a:ext cx="1645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FFFFFF"/>
                </a:solidFill>
                <a:latin typeface="Calibri"/>
              </a:rPr>
              <a:t>21,46%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543800" y="3355848"/>
            <a:ext cx="2221992" cy="603504"/>
          </a:xfrm>
          <a:prstGeom prst="rect">
            <a:avLst/>
          </a:prstGeom>
          <a:solidFill>
            <a:srgbClr val="1C3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7616952" y="3401568"/>
            <a:ext cx="2103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B85C5C"/>
                </a:solidFill>
                <a:latin typeface="Calibri"/>
              </a:rPr>
              <a:t>+274%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48640" y="3995927"/>
            <a:ext cx="3136392" cy="603504"/>
          </a:xfrm>
          <a:prstGeom prst="rect">
            <a:avLst/>
          </a:prstGeom>
          <a:solidFill>
            <a:srgbClr val="243C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621792" y="4041648"/>
            <a:ext cx="3017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FFFFFF"/>
                </a:solidFill>
                <a:latin typeface="Calibri"/>
              </a:rPr>
              <a:t>Cons. Regional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794760" y="3995927"/>
            <a:ext cx="1764792" cy="603504"/>
          </a:xfrm>
          <a:prstGeom prst="rect">
            <a:avLst/>
          </a:prstGeom>
          <a:solidFill>
            <a:srgbClr val="243C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3867912" y="4041648"/>
            <a:ext cx="1645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FFFFFF"/>
                </a:solidFill>
                <a:latin typeface="Calibri"/>
              </a:rPr>
              <a:t>13,10%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669280" y="3995927"/>
            <a:ext cx="1764792" cy="603504"/>
          </a:xfrm>
          <a:prstGeom prst="rect">
            <a:avLst/>
          </a:prstGeom>
          <a:solidFill>
            <a:srgbClr val="243C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5742432" y="4041648"/>
            <a:ext cx="1645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FFFFFF"/>
                </a:solidFill>
                <a:latin typeface="Calibri"/>
              </a:rPr>
              <a:t>25,78%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543800" y="3995927"/>
            <a:ext cx="2221992" cy="603504"/>
          </a:xfrm>
          <a:prstGeom prst="rect">
            <a:avLst/>
          </a:prstGeom>
          <a:solidFill>
            <a:srgbClr val="243C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7616952" y="4041648"/>
            <a:ext cx="2103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B85C5C"/>
                </a:solidFill>
                <a:latin typeface="Calibri"/>
              </a:rPr>
              <a:t> +97%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48640" y="4709160"/>
            <a:ext cx="11064240" cy="1463040"/>
          </a:xfrm>
          <a:prstGeom prst="rect">
            <a:avLst/>
          </a:prstGeom>
          <a:solidFill>
            <a:srgbClr val="B85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731520" y="4846320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En procesos constitucionales: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31520" y="5230368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2.119.506 votos nulos -- 16,98% del total emitido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48640" y="64922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A9199"/>
                </a:solidFill>
                <a:latin typeface="Calibri"/>
              </a:rPr>
              <a:t>Fuente: SERVEL -- Registros oficiales 2021 y 2024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3A9E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128016"/>
            <a:ext cx="9144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3A9E7A"/>
                </a:solidFill>
                <a:latin typeface="Calibri"/>
              </a:rPr>
              <a:t>LA OPORTUNIDAD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C3A52"/>
                </a:solidFill>
                <a:latin typeface="Calibri"/>
              </a:rPr>
              <a:t>El espacio estaba vacio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4300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5A6B73"/>
                </a:solidFill>
                <a:latin typeface="Calibri"/>
              </a:rPr>
              <a:t>No existia en Chile una VAA activa con metodologia transparente y datos verificables.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828800"/>
            <a:ext cx="2743200" cy="4663440"/>
          </a:xfrm>
          <a:prstGeom prst="rect">
            <a:avLst/>
          </a:prstGeom>
          <a:solidFill>
            <a:srgbClr val="C89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94360" y="1938528"/>
            <a:ext cx="24688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Calibri"/>
              </a:rPr>
              <a:t>Voto Informado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42316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SERVEL + PNUD</a:t>
            </a:r>
          </a:p>
        </p:txBody>
      </p:sp>
      <p:sp>
        <p:nvSpPr>
          <p:cNvPr id="9" name="Rectangle 8"/>
          <p:cNvSpPr/>
          <p:nvPr/>
        </p:nvSpPr>
        <p:spPr>
          <a:xfrm>
            <a:off x="594360" y="2834640"/>
            <a:ext cx="2194560" cy="365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94360" y="2944368"/>
            <a:ext cx="251460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Sin algoritmo de matching
Datos sin actualizacion
DISCONTINUADA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37560" y="1828800"/>
            <a:ext cx="2743200" cy="4663440"/>
          </a:xfrm>
          <a:prstGeom prst="rect">
            <a:avLst/>
          </a:prstGeom>
          <a:solidFill>
            <a:srgbClr val="B85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474720" y="1938528"/>
            <a:ext cx="24688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Calibri"/>
              </a:rPr>
              <a:t>Decide Chile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74720" y="242316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Iniciativa ciudadana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474720" y="2834640"/>
            <a:ext cx="2194560" cy="365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474720" y="2944368"/>
            <a:ext cx="251460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Tenia matching basico
Fue discontinuada
Sin mantenimiento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17920" y="1828800"/>
            <a:ext cx="2743200" cy="4663440"/>
          </a:xfrm>
          <a:prstGeom prst="rect">
            <a:avLst/>
          </a:prstGeom>
          <a:solidFill>
            <a:srgbClr val="5A6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355080" y="1938528"/>
            <a:ext cx="24688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Calibri"/>
              </a:rPr>
              <a:t>Wahl-O-Mat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55080" y="242316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Alemania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55080" y="2834640"/>
            <a:ext cx="2194560" cy="365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355080" y="2944368"/>
            <a:ext cx="251460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21 millones de usos
No cubre Chile
Modelo a seguir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098280" y="1828800"/>
            <a:ext cx="2743200" cy="4663440"/>
          </a:xfrm>
          <a:prstGeom prst="rect">
            <a:avLst/>
          </a:prstGeom>
          <a:solidFill>
            <a:srgbClr val="3A9E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9235440" y="1938528"/>
            <a:ext cx="24688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Calibri"/>
              </a:rPr>
              <a:t>VotoAFin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35440" y="242316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UTFSM 2026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235440" y="2834640"/>
            <a:ext cx="2194560" cy="365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9235440" y="2944368"/>
            <a:ext cx="251460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Codigo abierto AGPL-3.0
Matching ponderado
Datos verificados con fuente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C3A5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3A9E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128016"/>
            <a:ext cx="9144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3A9E7A"/>
                </a:solidFill>
                <a:latin typeface="Calibri"/>
              </a:rPr>
              <a:t>PRIMERA PROPUESTA -- EMPRENDIMIENTO 2024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Calibri"/>
              </a:rPr>
              <a:t>Hipotesis 1: gamificacion civica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4300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CBD1CD"/>
                </a:solidFill>
                <a:latin typeface="Calibri"/>
              </a:rPr>
              <a:t>Si la politica es aburrida, que pasa si la hacemos un juego?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920240"/>
            <a:ext cx="2743200" cy="3749039"/>
          </a:xfrm>
          <a:prstGeom prst="rect">
            <a:avLst/>
          </a:prstGeom>
          <a:solidFill>
            <a:srgbClr val="2E5F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94360" y="2029968"/>
            <a:ext cx="24688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Clave Unica del Estado</a:t>
            </a:r>
          </a:p>
        </p:txBody>
      </p:sp>
      <p:sp>
        <p:nvSpPr>
          <p:cNvPr id="8" name="Rectangle 7"/>
          <p:cNvSpPr/>
          <p:nvPr/>
        </p:nvSpPr>
        <p:spPr>
          <a:xfrm>
            <a:off x="594360" y="2651760"/>
            <a:ext cx="2194560" cy="365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94360" y="2761488"/>
            <a:ext cx="246888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Calibri"/>
              </a:rPr>
              <a:t>Autenticacion oficial
Sin friccion de registro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37560" y="1920240"/>
            <a:ext cx="2743200" cy="3749039"/>
          </a:xfrm>
          <a:prstGeom prst="rect">
            <a:avLst/>
          </a:prstGeom>
          <a:solidFill>
            <a:srgbClr val="3A9E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474720" y="2029968"/>
            <a:ext cx="24688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Preguntas sobre candidatos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474720" y="2651760"/>
            <a:ext cx="2194560" cy="365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474720" y="2761488"/>
            <a:ext cx="246888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Calibri"/>
              </a:rPr>
              <a:t>Aprender jugando
Sobre oferta electoral local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7920" y="1920240"/>
            <a:ext cx="2743200" cy="3749039"/>
          </a:xfrm>
          <a:prstGeom prst="rect">
            <a:avLst/>
          </a:prstGeom>
          <a:solidFill>
            <a:srgbClr val="C89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355080" y="2029968"/>
            <a:ext cx="24688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Puntos y recompensas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55080" y="2651760"/>
            <a:ext cx="2194560" cy="365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355080" y="2761488"/>
            <a:ext cx="246888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Calibri"/>
              </a:rPr>
              <a:t>Premios y descuentos
Por participar activamente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098280" y="1920240"/>
            <a:ext cx="2743200" cy="3749039"/>
          </a:xfrm>
          <a:prstGeom prst="rect">
            <a:avLst/>
          </a:prstGeom>
          <a:solidFill>
            <a:srgbClr val="6B9B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235440" y="2029968"/>
            <a:ext cx="24688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Tendencias de voto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235440" y="2651760"/>
            <a:ext cx="2194560" cy="365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235440" y="2761488"/>
            <a:ext cx="246888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Calibri"/>
              </a:rPr>
              <a:t>Datos de la region
Comparativas locales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5806440"/>
            <a:ext cx="11247120" cy="777240"/>
          </a:xfrm>
          <a:prstGeom prst="rect">
            <a:avLst/>
          </a:prstGeom>
          <a:solidFill>
            <a:srgbClr val="3A9E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40080" y="5925312"/>
            <a:ext cx="10789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1C3A52"/>
                </a:solidFill>
                <a:latin typeface="Calibri"/>
              </a:rPr>
              <a:t>Propuesta al inversionista: $120M CLP -- Retorno proyectado 50% en el primer ano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3A9E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128016"/>
            <a:ext cx="9144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3A9E7A"/>
                </a:solidFill>
                <a:latin typeface="Calibri"/>
              </a:rPr>
              <a:t>DESARROLLO APLICACIONES MOVILES -- 2025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C3A52"/>
                </a:solidFill>
                <a:latin typeface="Calibri"/>
              </a:rPr>
              <a:t>Hipotesis 2: el Tinder Electoral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4300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5A6B73"/>
                </a:solidFill>
                <a:latin typeface="Calibri"/>
              </a:rPr>
              <a:t>Si la barrera es el texto, que pasa si reducimos la interaccion al minimo absoluto?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828800"/>
            <a:ext cx="5394960" cy="4572000"/>
          </a:xfrm>
          <a:prstGeom prst="rect">
            <a:avLst/>
          </a:prstGeom>
          <a:solidFill>
            <a:srgbClr val="2E5F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1938528"/>
            <a:ext cx="4937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dirty="0">
                <a:solidFill>
                  <a:srgbClr val="3A9E7A"/>
                </a:solidFill>
                <a:latin typeface="Calibri"/>
              </a:rPr>
              <a:t>COMO FUNCIONA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395728"/>
            <a:ext cx="4846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Calibri"/>
              </a:rPr>
              <a:t>El usuario ve la tarjeta de un candidato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108960"/>
            <a:ext cx="4846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Calibri"/>
              </a:rPr>
              <a:t>Foto, nombre, partido, propuestas clave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822191"/>
            <a:ext cx="4846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Calibri"/>
              </a:rPr>
              <a:t>Swipe DERECHA = me interesa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535424"/>
            <a:ext cx="4846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Calibri"/>
              </a:rPr>
              <a:t>Swipe IZQUIERDA = no me interesa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5248656"/>
            <a:ext cx="4846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Calibri"/>
              </a:rPr>
              <a:t>Mecanica inspirada en apps de citas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80760" y="1828800"/>
            <a:ext cx="5577840" cy="4572000"/>
          </a:xfrm>
          <a:prstGeom prst="rect">
            <a:avLst/>
          </a:prstGeom>
          <a:solidFill>
            <a:srgbClr val="B85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263640" y="1938528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EL PROBLEMA FUNDAMENTAL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63640" y="2395728"/>
            <a:ext cx="52120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Calibri"/>
              </a:rPr>
              <a:t>Swipe = respuesta binaria (si / no)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3108960"/>
            <a:ext cx="52120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Calibri"/>
              </a:rPr>
              <a:t>La politica NO es binaria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63640" y="3822191"/>
            <a:ext cx="52120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Calibri"/>
              </a:rPr>
              <a:t>Escala Likert existe por una razon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4535424"/>
            <a:ext cx="52120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Calibri"/>
              </a:rPr>
              <a:t>Datos de candidatos fabricados por inferencia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63640" y="5248656"/>
            <a:ext cx="52120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Calibri"/>
              </a:rPr>
              <a:t>Desinformacion sofisticada con apariencia de rigor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C3A5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3A9E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128016"/>
            <a:ext cx="9144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3A9E7A"/>
                </a:solidFill>
                <a:latin typeface="Calibri"/>
              </a:rPr>
              <a:t>APRENDIZAJES DEL PROTOTIPO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Calibri"/>
              </a:rPr>
              <a:t>Lo que el prototipo nos enseno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691640"/>
            <a:ext cx="11247120" cy="1554480"/>
          </a:xfrm>
          <a:prstGeom prst="rect">
            <a:avLst/>
          </a:prstGeom>
          <a:solidFill>
            <a:srgbClr val="C89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1801368"/>
            <a:ext cx="4114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LIMITACION 1 -- BINARIO VS. MATIZ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94560"/>
            <a:ext cx="1078992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Calibri"/>
              </a:rPr>
              <a:t>La mecanica de swipe reduce cada respuesta a si/no. Las posiciones politicas son graduales. La escala Likert de 5 puntos existe exactamente para capturar esa gradacion. Sin ella, el calculo de matching pierde resolucion critica.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3383280"/>
            <a:ext cx="11247120" cy="1554480"/>
          </a:xfrm>
          <a:prstGeom prst="rect">
            <a:avLst/>
          </a:prstGeom>
          <a:solidFill>
            <a:srgbClr val="B85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0080" y="3493008"/>
            <a:ext cx="4114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LIMITACION 2 -- DATOS FABRICADOS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886200"/>
            <a:ext cx="1078992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Calibri"/>
              </a:rPr>
              <a:t>Las posturas se inferian por ideologia estereotipica, sin verificar. Un sistema electoral con datos inventados no informa: es desinformacion algoritmica mas sofisticada que un articulo falso porque la presentacion genera una ilusion de rigor.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5074920"/>
            <a:ext cx="11247120" cy="1554480"/>
          </a:xfrm>
          <a:prstGeom prst="rect">
            <a:avLst/>
          </a:prstGeom>
          <a:solidFill>
            <a:srgbClr val="2E5F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0080" y="5184648"/>
            <a:ext cx="4114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LIMITACION 3 -- COBERTURA TERRITORIAL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5577840"/>
            <a:ext cx="1078992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Calibri"/>
              </a:rPr>
              <a:t>Solo candidatos presidenciales ficticios. El votante chileno real necesita orientacion simultanea en alcaldes, gobernadores, diputados y concejales. Sin cobertura territorial, la herramienta es incompleta para el uso real.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3A9E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128016"/>
            <a:ext cx="9144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3A9E7A"/>
                </a:solidFill>
                <a:latin typeface="Calibri"/>
              </a:rPr>
              <a:t>EVOLUCION DEL PROYECTO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C3A52"/>
                </a:solidFill>
                <a:latin typeface="Calibri"/>
              </a:rPr>
              <a:t>De la observacion al sistema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3273552"/>
            <a:ext cx="10881360" cy="54864"/>
          </a:xfrm>
          <a:prstGeom prst="rect">
            <a:avLst/>
          </a:prstGeom>
          <a:solidFill>
            <a:srgbClr val="CBD1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1261872" y="3017520"/>
            <a:ext cx="658368" cy="658368"/>
          </a:xfrm>
          <a:prstGeom prst="rect">
            <a:avLst/>
          </a:prstGeom>
          <a:solidFill>
            <a:srgbClr val="C89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325880" y="3063240"/>
            <a:ext cx="53035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40280"/>
            <a:ext cx="2651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C89B5C"/>
                </a:solidFill>
                <a:latin typeface="Calibri"/>
              </a:rPr>
              <a:t>2024 Sem 1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19" y="3794760"/>
            <a:ext cx="2560320" cy="438912"/>
          </a:xfrm>
          <a:prstGeom prst="rect">
            <a:avLst/>
          </a:prstGeom>
          <a:solidFill>
            <a:srgbClr val="C89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31519" y="3840480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EMPRENDIMIENTO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19" y="4343400"/>
            <a:ext cx="26060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A6B73"/>
                </a:solidFill>
                <a:latin typeface="Calibri"/>
              </a:rPr>
              <a:t>Investigacion empirica
Levantamiento N=12
Hipotesis: gamificacion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096511" y="3017520"/>
            <a:ext cx="658368" cy="658368"/>
          </a:xfrm>
          <a:prstGeom prst="rect">
            <a:avLst/>
          </a:prstGeom>
          <a:solidFill>
            <a:srgbClr val="2E5F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160520" y="3063240"/>
            <a:ext cx="53035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74720" y="2240280"/>
            <a:ext cx="2651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E5F7E"/>
                </a:solidFill>
                <a:latin typeface="Calibri"/>
              </a:rPr>
              <a:t>2025 Sem 1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66160" y="3794760"/>
            <a:ext cx="2560320" cy="438912"/>
          </a:xfrm>
          <a:prstGeom prst="rect">
            <a:avLst/>
          </a:prstGeom>
          <a:solidFill>
            <a:srgbClr val="2E5F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566160" y="3840480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APP MOVIL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66160" y="4343400"/>
            <a:ext cx="26060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A6B73"/>
                </a:solidFill>
                <a:latin typeface="Calibri"/>
              </a:rPr>
              <a:t>Tinder Electoral
Proototipo funcional
Descubrimiento de limites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931152" y="3017520"/>
            <a:ext cx="658368" cy="658368"/>
          </a:xfrm>
          <a:prstGeom prst="rect">
            <a:avLst/>
          </a:prstGeom>
          <a:solidFill>
            <a:srgbClr val="B85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995160" y="3063240"/>
            <a:ext cx="53035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2240280"/>
            <a:ext cx="2651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B85C5C"/>
                </a:solidFill>
                <a:latin typeface="Calibri"/>
              </a:rPr>
              <a:t>2025 Sem 2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0" y="3794760"/>
            <a:ext cx="2560320" cy="438912"/>
          </a:xfrm>
          <a:prstGeom prst="rect">
            <a:avLst/>
          </a:prstGeom>
          <a:solidFill>
            <a:srgbClr val="B85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400800" y="3840480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REFORMULACION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4343400"/>
            <a:ext cx="26060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A6B73"/>
                </a:solidFill>
                <a:latin typeface="Calibri"/>
              </a:rPr>
              <a:t>Estado del arte VAAs
9 plataformas analizadas
Nueva pregunta de diseno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765792" y="3017520"/>
            <a:ext cx="658368" cy="658368"/>
          </a:xfrm>
          <a:prstGeom prst="rect">
            <a:avLst/>
          </a:prstGeom>
          <a:solidFill>
            <a:srgbClr val="3A9E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9829800" y="3063240"/>
            <a:ext cx="53035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0" y="2240280"/>
            <a:ext cx="2651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3A9E7A"/>
                </a:solidFill>
                <a:latin typeface="Calibri"/>
              </a:rPr>
              <a:t>2026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235440" y="3794760"/>
            <a:ext cx="2560320" cy="438912"/>
          </a:xfrm>
          <a:prstGeom prst="rect">
            <a:avLst/>
          </a:prstGeom>
          <a:solidFill>
            <a:srgbClr val="3A9E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9235440" y="3840480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VOTOAFIN VAA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35440" y="4343400"/>
            <a:ext cx="26060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A6B73"/>
                </a:solidFill>
                <a:latin typeface="Calibri"/>
              </a:rPr>
              <a:t>Sistema completo
370 tests  17 pantallas
Codigo abierto AGPL-3.0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C3A5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3A9E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128016"/>
            <a:ext cx="9144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3A9E7A"/>
                </a:solidFill>
                <a:latin typeface="Calibri"/>
              </a:rPr>
              <a:t>EL CAMBIO CONCEPTUAL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1">
                <a:solidFill>
                  <a:srgbClr val="FFFFFF"/>
                </a:solidFill>
                <a:latin typeface="Calibri"/>
              </a:rPr>
              <a:t>Voting Advice Application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4300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CBD1CD"/>
                </a:solidFill>
                <a:latin typeface="Calibri"/>
              </a:rPr>
              <a:t>Una categoria de herramienta digital con 35 anos de historia academica.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737360"/>
            <a:ext cx="5394960" cy="1920240"/>
          </a:xfrm>
          <a:prstGeom prst="rect">
            <a:avLst/>
          </a:prstGeom>
          <a:solidFill>
            <a:srgbClr val="B85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1828800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Calibri"/>
              </a:rPr>
              <a:t>PREGUNTA ANTERIOR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12848"/>
            <a:ext cx="50292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Calibri"/>
              </a:rPr>
              <a:t>Como hacer mas
atractivo al candidato?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0" y="2377440"/>
            <a:ext cx="7315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3A9E7A"/>
                </a:solidFill>
                <a:latin typeface="Calibri"/>
              </a:rPr>
              <a:t>-&gt;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0" y="1737360"/>
            <a:ext cx="5120640" cy="1920240"/>
          </a:xfrm>
          <a:prstGeom prst="rect">
            <a:avLst/>
          </a:prstGeom>
          <a:solidFill>
            <a:srgbClr val="3A9E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766560" y="1828800"/>
            <a:ext cx="4754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Calibri"/>
              </a:rPr>
              <a:t>PREGUNTA REFORMULADA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66560" y="2212848"/>
            <a:ext cx="47548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Calibri"/>
              </a:rPr>
              <a:t>Como medir la coincidencia
entre votante y candidato?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3913632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A9E7A"/>
                </a:solidFill>
                <a:latin typeface="Calibri"/>
              </a:rPr>
              <a:t>El referente internacional ya estaba construido: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343400"/>
            <a:ext cx="2743200" cy="2103120"/>
          </a:xfrm>
          <a:prstGeom prst="rect">
            <a:avLst/>
          </a:prstGeom>
          <a:solidFill>
            <a:srgbClr val="2E5F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94360" y="4453128"/>
            <a:ext cx="24688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StemWijzer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919472"/>
            <a:ext cx="2468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1CD"/>
                </a:solidFill>
                <a:latin typeface="Calibri"/>
              </a:rPr>
              <a:t>Paises Bajos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5285232"/>
            <a:ext cx="2468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A9E7A"/>
                </a:solidFill>
                <a:latin typeface="Calibri"/>
              </a:rPr>
              <a:t>desde 1989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337560" y="4343400"/>
            <a:ext cx="2743200" cy="2103120"/>
          </a:xfrm>
          <a:prstGeom prst="rect">
            <a:avLst/>
          </a:prstGeom>
          <a:solidFill>
            <a:srgbClr val="2E5F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3474720" y="4453128"/>
            <a:ext cx="24688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Wahl-O-Mat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74720" y="4919472"/>
            <a:ext cx="2468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1CD"/>
                </a:solidFill>
                <a:latin typeface="Calibri"/>
              </a:rPr>
              <a:t>Alemania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74720" y="5285232"/>
            <a:ext cx="2468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A9E7A"/>
                </a:solidFill>
                <a:latin typeface="Calibri"/>
              </a:rPr>
              <a:t>21M usos 2021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17920" y="4343400"/>
            <a:ext cx="2743200" cy="2103120"/>
          </a:xfrm>
          <a:prstGeom prst="rect">
            <a:avLst/>
          </a:prstGeom>
          <a:solidFill>
            <a:srgbClr val="2E5F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355080" y="4453128"/>
            <a:ext cx="24688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Smartvote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55080" y="4919472"/>
            <a:ext cx="2468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1CD"/>
                </a:solidFill>
                <a:latin typeface="Calibri"/>
              </a:rPr>
              <a:t>Suiza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55080" y="5285232"/>
            <a:ext cx="2468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A9E7A"/>
                </a:solidFill>
                <a:latin typeface="Calibri"/>
              </a:rPr>
              <a:t>75 preguntas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098280" y="4343400"/>
            <a:ext cx="2743200" cy="2103120"/>
          </a:xfrm>
          <a:prstGeom prst="rect">
            <a:avLst/>
          </a:prstGeom>
          <a:solidFill>
            <a:srgbClr val="2E5F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9235440" y="4453128"/>
            <a:ext cx="24688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Vote Compass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35440" y="4919472"/>
            <a:ext cx="2468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1CD"/>
                </a:solidFill>
                <a:latin typeface="Calibri"/>
              </a:rPr>
              <a:t>Canada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35440" y="5285232"/>
            <a:ext cx="2468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A9E7A"/>
                </a:solidFill>
                <a:latin typeface="Calibri"/>
              </a:rPr>
              <a:t>Alianza CBC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3A9E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128016"/>
            <a:ext cx="9144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3A9E7A"/>
                </a:solidFill>
                <a:latin typeface="Calibri"/>
              </a:rPr>
              <a:t>PROPUESTA DE SOLUCION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C3A52"/>
                </a:solidFill>
                <a:latin typeface="Calibri"/>
              </a:rPr>
              <a:t>VotoAFin -- Como funciona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325880"/>
            <a:ext cx="3657600" cy="3383280"/>
          </a:xfrm>
          <a:prstGeom prst="rect">
            <a:avLst/>
          </a:prstGeom>
          <a:solidFill>
            <a:srgbClr val="2E5F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1444752"/>
            <a:ext cx="1371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304288"/>
            <a:ext cx="3246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SELECCIONA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715768"/>
            <a:ext cx="3017520" cy="365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0080" y="2816352"/>
            <a:ext cx="324612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Calibri"/>
              </a:rPr>
              <a:t>Elige el tipo de eleccion
(presidencial, diputados, etc.)
Filtrado por region y distrito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43400" y="1325880"/>
            <a:ext cx="3657600" cy="3383280"/>
          </a:xfrm>
          <a:prstGeom prst="rect">
            <a:avLst/>
          </a:prstGeom>
          <a:solidFill>
            <a:srgbClr val="3A9E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526280" y="1444752"/>
            <a:ext cx="1371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26280" y="2304288"/>
            <a:ext cx="3246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RESPONDE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26280" y="2715768"/>
            <a:ext cx="3017520" cy="365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526280" y="2816352"/>
            <a:ext cx="324612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Calibri"/>
              </a:rPr>
              <a:t>12 preguntas en 7 ejes tematicos
Escala Likert de 5 puntos
Pondera lo que te importa mas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0" y="1325880"/>
            <a:ext cx="3657600" cy="3383280"/>
          </a:xfrm>
          <a:prstGeom prst="rect">
            <a:avLst/>
          </a:prstGeom>
          <a:solidFill>
            <a:srgbClr val="1C3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412480" y="1444752"/>
            <a:ext cx="1371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0" y="2304288"/>
            <a:ext cx="3246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DESCUBRE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412480" y="2715768"/>
            <a:ext cx="3017520" cy="365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412480" y="2816352"/>
            <a:ext cx="324612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Calibri"/>
              </a:rPr>
              <a:t>Ranking de afinidad en %
Desglosado por eje tematico
Indicador de confianza del resultado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489204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3A9E7A"/>
                </a:solidFill>
                <a:latin typeface="Calibri"/>
              </a:rPr>
              <a:t>5 DIMENSIONES DE VALOR DIFERENCIADO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5303520"/>
            <a:ext cx="2212848" cy="594360"/>
          </a:xfrm>
          <a:prstGeom prst="rect">
            <a:avLst/>
          </a:prstGeom>
          <a:solidFill>
            <a:srgbClr val="2E5F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48640" y="5367528"/>
            <a:ext cx="2057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Transparencia metodologica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88920" y="5303520"/>
            <a:ext cx="2212848" cy="594360"/>
          </a:xfrm>
          <a:prstGeom prst="rect">
            <a:avLst/>
          </a:prstGeom>
          <a:solidFill>
            <a:srgbClr val="2E5F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2880360" y="5367528"/>
            <a:ext cx="2057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Trazabilidad de posturas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120640" y="5303520"/>
            <a:ext cx="2212848" cy="594360"/>
          </a:xfrm>
          <a:prstGeom prst="rect">
            <a:avLst/>
          </a:prstGeom>
          <a:solidFill>
            <a:srgbClr val="2E5F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5212079" y="5367528"/>
            <a:ext cx="2057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Ponderacion por importancia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452359" y="5303520"/>
            <a:ext cx="2212848" cy="594360"/>
          </a:xfrm>
          <a:prstGeom prst="rect">
            <a:avLst/>
          </a:prstGeom>
          <a:solidFill>
            <a:srgbClr val="2E5F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7543799" y="5367528"/>
            <a:ext cx="2057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Indicador de confianza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784080" y="5303520"/>
            <a:ext cx="2212848" cy="594360"/>
          </a:xfrm>
          <a:prstGeom prst="rect">
            <a:avLst/>
          </a:prstGeom>
          <a:solidFill>
            <a:srgbClr val="2E5F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9875519" y="5367528"/>
            <a:ext cx="2057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Codigo abierto AGPL-3.0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C3A5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3A9E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128016"/>
            <a:ext cx="9144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3A9E7A"/>
                </a:solidFill>
                <a:latin typeface="Calibri"/>
              </a:rPr>
              <a:t>OBJETIVOS DEL PROYECTO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Calibri"/>
              </a:rPr>
              <a:t>Que nos propusimos lograr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98448"/>
            <a:ext cx="11247120" cy="914400"/>
          </a:xfrm>
          <a:prstGeom prst="rect">
            <a:avLst/>
          </a:prstGeom>
          <a:solidFill>
            <a:srgbClr val="3A9E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1389888"/>
            <a:ext cx="3200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Calibri"/>
              </a:rPr>
              <a:t>OBJETIVO GENERAL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64208"/>
            <a:ext cx="107899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dirty="0" err="1">
                <a:solidFill>
                  <a:srgbClr val="FFFFFF"/>
                </a:solidFill>
                <a:latin typeface="Calibri"/>
              </a:rPr>
              <a:t>Disenar</a:t>
            </a:r>
            <a:r>
              <a:rPr sz="1300" b="0" dirty="0">
                <a:solidFill>
                  <a:srgbClr val="FFFFFF"/>
                </a:solidFill>
                <a:latin typeface="Calibri"/>
              </a:rPr>
              <a:t> e </a:t>
            </a:r>
            <a:r>
              <a:rPr sz="1300" b="0" dirty="0" err="1">
                <a:solidFill>
                  <a:srgbClr val="FFFFFF"/>
                </a:solidFill>
                <a:latin typeface="Calibri"/>
              </a:rPr>
              <a:t>implementar</a:t>
            </a:r>
            <a:r>
              <a:rPr sz="1300" b="0" dirty="0">
                <a:solidFill>
                  <a:srgbClr val="FFFFFF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FFFFFF"/>
                </a:solidFill>
                <a:latin typeface="Calibri"/>
              </a:rPr>
              <a:t>una</a:t>
            </a:r>
            <a:r>
              <a:rPr sz="1300" b="0" dirty="0">
                <a:solidFill>
                  <a:srgbClr val="FFFFFF"/>
                </a:solidFill>
                <a:latin typeface="Calibri"/>
              </a:rPr>
              <a:t> VAA de </a:t>
            </a:r>
            <a:r>
              <a:rPr sz="1300" b="0" dirty="0" err="1">
                <a:solidFill>
                  <a:srgbClr val="FFFFFF"/>
                </a:solidFill>
                <a:latin typeface="Calibri"/>
              </a:rPr>
              <a:t>codigo</a:t>
            </a:r>
            <a:r>
              <a:rPr sz="1300" b="0" dirty="0">
                <a:solidFill>
                  <a:srgbClr val="FFFFFF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FFFFFF"/>
                </a:solidFill>
                <a:latin typeface="Calibri"/>
              </a:rPr>
              <a:t>abierto</a:t>
            </a:r>
            <a:r>
              <a:rPr sz="1300" b="0" dirty="0">
                <a:solidFill>
                  <a:srgbClr val="FFFFFF"/>
                </a:solidFill>
                <a:latin typeface="Calibri"/>
              </a:rPr>
              <a:t> para Chile con </a:t>
            </a:r>
            <a:r>
              <a:rPr sz="1300" b="0" dirty="0" err="1">
                <a:solidFill>
                  <a:srgbClr val="FFFFFF"/>
                </a:solidFill>
                <a:latin typeface="Calibri"/>
              </a:rPr>
              <a:t>algoritmo</a:t>
            </a:r>
            <a:r>
              <a:rPr sz="1300" b="0" dirty="0">
                <a:solidFill>
                  <a:srgbClr val="FFFFFF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FFFFFF"/>
                </a:solidFill>
                <a:latin typeface="Calibri"/>
              </a:rPr>
              <a:t>transparente</a:t>
            </a:r>
            <a:r>
              <a:rPr sz="1300" b="0" dirty="0">
                <a:solidFill>
                  <a:srgbClr val="FFFFFF"/>
                </a:solidFill>
                <a:latin typeface="Calibri"/>
              </a:rPr>
              <a:t>, </a:t>
            </a:r>
            <a:r>
              <a:rPr sz="1300" b="0" dirty="0" err="1">
                <a:solidFill>
                  <a:srgbClr val="FFFFFF"/>
                </a:solidFill>
                <a:latin typeface="Calibri"/>
              </a:rPr>
              <a:t>ponderacion</a:t>
            </a:r>
            <a:r>
              <a:rPr sz="1300" b="0" dirty="0">
                <a:solidFill>
                  <a:srgbClr val="FFFFFF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FFFFFF"/>
                </a:solidFill>
                <a:latin typeface="Calibri"/>
              </a:rPr>
              <a:t>por</a:t>
            </a:r>
            <a:r>
              <a:rPr sz="1300" b="0" dirty="0">
                <a:solidFill>
                  <a:srgbClr val="FFFFFF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FFFFFF"/>
                </a:solidFill>
                <a:latin typeface="Calibri"/>
              </a:rPr>
              <a:t>preferencias</a:t>
            </a:r>
            <a:r>
              <a:rPr sz="1300" b="0" dirty="0">
                <a:solidFill>
                  <a:srgbClr val="FFFFFF"/>
                </a:solidFill>
                <a:latin typeface="Calibri"/>
              </a:rPr>
              <a:t> e </a:t>
            </a:r>
            <a:r>
              <a:rPr sz="1300" b="0" dirty="0" err="1">
                <a:solidFill>
                  <a:srgbClr val="FFFFFF"/>
                </a:solidFill>
                <a:latin typeface="Calibri"/>
              </a:rPr>
              <a:t>indicador</a:t>
            </a:r>
            <a:r>
              <a:rPr sz="1300" b="0" dirty="0">
                <a:solidFill>
                  <a:srgbClr val="FFFFFF"/>
                </a:solidFill>
                <a:latin typeface="Calibri"/>
              </a:rPr>
              <a:t> de confianza.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377440"/>
            <a:ext cx="11247120" cy="539496"/>
          </a:xfrm>
          <a:prstGeom prst="rect">
            <a:avLst/>
          </a:prstGeom>
          <a:solidFill>
            <a:srgbClr val="2E5F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0080" y="2432304"/>
            <a:ext cx="731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3A9E7A"/>
                </a:solidFill>
                <a:latin typeface="Calibri"/>
              </a:rPr>
              <a:t>OE1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63040" y="2432304"/>
            <a:ext cx="9144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Investigar el deficit informativo electoral con evidencia empirica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0" y="2432304"/>
            <a:ext cx="1097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>
                <a:solidFill>
                  <a:srgbClr val="3A9E7A"/>
                </a:solidFill>
                <a:latin typeface="Calibri"/>
              </a:rPr>
              <a:t>CUMPLIDO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944368"/>
            <a:ext cx="11247120" cy="539496"/>
          </a:xfrm>
          <a:prstGeom prst="rect">
            <a:avLst/>
          </a:prstGeom>
          <a:solidFill>
            <a:srgbClr val="243C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0080" y="2999232"/>
            <a:ext cx="731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3A9E7A"/>
                </a:solidFill>
                <a:latin typeface="Calibri"/>
              </a:rPr>
              <a:t>OE2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63040" y="2999232"/>
            <a:ext cx="9144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Analizar el estado del arte en VAAs e identificar brechas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0" y="2999232"/>
            <a:ext cx="1097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>
                <a:solidFill>
                  <a:srgbClr val="3A9E7A"/>
                </a:solidFill>
                <a:latin typeface="Calibri"/>
              </a:rPr>
              <a:t>CUMPLIDO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511296"/>
            <a:ext cx="11247120" cy="539496"/>
          </a:xfrm>
          <a:prstGeom prst="rect">
            <a:avLst/>
          </a:prstGeom>
          <a:solidFill>
            <a:srgbClr val="2E5F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40080" y="3566160"/>
            <a:ext cx="731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3A9E7A"/>
                </a:solidFill>
                <a:latin typeface="Calibri"/>
              </a:rPr>
              <a:t>OE3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63040" y="3566160"/>
            <a:ext cx="9144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Disenar la UX para votantes sin conocimiento politico especializado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15600" y="3566160"/>
            <a:ext cx="1097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>
                <a:solidFill>
                  <a:srgbClr val="3A9E7A"/>
                </a:solidFill>
                <a:latin typeface="Calibri"/>
              </a:rPr>
              <a:t>CUMPLIDO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4078224"/>
            <a:ext cx="11247120" cy="539496"/>
          </a:xfrm>
          <a:prstGeom prst="rect">
            <a:avLst/>
          </a:prstGeom>
          <a:solidFill>
            <a:srgbClr val="243C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40080" y="4133087"/>
            <a:ext cx="731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3A9E7A"/>
                </a:solidFill>
                <a:latin typeface="Calibri"/>
              </a:rPr>
              <a:t>OE4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63040" y="4133087"/>
            <a:ext cx="9144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Definir algoritmo de matching con ponderacion e indicador de confianza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15600" y="4133087"/>
            <a:ext cx="1097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>
                <a:solidFill>
                  <a:srgbClr val="3A9E7A"/>
                </a:solidFill>
                <a:latin typeface="Calibri"/>
              </a:rPr>
              <a:t>CUMPLIDO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4645152"/>
            <a:ext cx="11247120" cy="539496"/>
          </a:xfrm>
          <a:prstGeom prst="rect">
            <a:avLst/>
          </a:prstGeom>
          <a:solidFill>
            <a:srgbClr val="2E5F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40080" y="4700016"/>
            <a:ext cx="731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3A9E7A"/>
                </a:solidFill>
                <a:latin typeface="Calibri"/>
              </a:rPr>
              <a:t>OE5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463040" y="4700016"/>
            <a:ext cx="9144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Implementar arquitectura cliente-servidor con contrato OpenAPI 3.1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15600" y="4700016"/>
            <a:ext cx="1097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>
                <a:solidFill>
                  <a:srgbClr val="3A9E7A"/>
                </a:solidFill>
                <a:latin typeface="Calibri"/>
              </a:rPr>
              <a:t>CUMPLIDO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5212080"/>
            <a:ext cx="11247120" cy="539496"/>
          </a:xfrm>
          <a:prstGeom prst="rect">
            <a:avLst/>
          </a:prstGeom>
          <a:solidFill>
            <a:srgbClr val="243C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40080" y="5266944"/>
            <a:ext cx="731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3A9E7A"/>
                </a:solidFill>
                <a:latin typeface="Calibri"/>
              </a:rPr>
              <a:t>OE6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463040" y="5266944"/>
            <a:ext cx="9144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Modelo de datos con verificacion obligatoria de fuentes primarias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515600" y="5266944"/>
            <a:ext cx="1097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>
                <a:solidFill>
                  <a:srgbClr val="3A9E7A"/>
                </a:solidFill>
                <a:latin typeface="Calibri"/>
              </a:rPr>
              <a:t>CUMPLIDO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7200" y="5779008"/>
            <a:ext cx="11247120" cy="539496"/>
          </a:xfrm>
          <a:prstGeom prst="rect">
            <a:avLst/>
          </a:prstGeom>
          <a:solidFill>
            <a:srgbClr val="2E5F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40080" y="5833872"/>
            <a:ext cx="731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89B5C"/>
                </a:solidFill>
                <a:latin typeface="Calibri"/>
              </a:rPr>
              <a:t>OE7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463040" y="5833872"/>
            <a:ext cx="9144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Documentar el sistema para contribuidores externos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515600" y="5833872"/>
            <a:ext cx="1097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>
                <a:solidFill>
                  <a:srgbClr val="C89B5C"/>
                </a:solidFill>
                <a:latin typeface="Calibri"/>
              </a:rPr>
              <a:t>PARCIAL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3A9E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128016"/>
            <a:ext cx="9144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3A9E7A"/>
                </a:solidFill>
                <a:latin typeface="Calibri"/>
              </a:rPr>
              <a:t>METODOLOGIA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1C3A52"/>
                </a:solidFill>
                <a:latin typeface="Calibri"/>
              </a:rPr>
              <a:t>Desarrollo iterativo e incremental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4300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5A6B73"/>
                </a:solidFill>
                <a:latin typeface="Calibri"/>
              </a:rPr>
              <a:t>4 fases macro  |  Principios DRY  YAGNI  KISS  SOLID aplicados sistematicamente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828800"/>
            <a:ext cx="2743200" cy="4663440"/>
          </a:xfrm>
          <a:prstGeom prst="rect">
            <a:avLst/>
          </a:prstGeom>
          <a:solidFill>
            <a:srgbClr val="C89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94360" y="1938528"/>
            <a:ext cx="2468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FASE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304288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2024</a:t>
            </a:r>
          </a:p>
        </p:txBody>
      </p:sp>
      <p:sp>
        <p:nvSpPr>
          <p:cNvPr id="9" name="Rectangle 8"/>
          <p:cNvSpPr/>
          <p:nvPr/>
        </p:nvSpPr>
        <p:spPr>
          <a:xfrm>
            <a:off x="594360" y="2670048"/>
            <a:ext cx="2240280" cy="365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94360" y="2761488"/>
            <a:ext cx="2514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INVESTIGACION Y DEFINICION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3337560"/>
            <a:ext cx="2514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Revision fuentes secundarias
Entrevistas N=12
Caracterizacion del problema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337560" y="1828800"/>
            <a:ext cx="2743200" cy="4663440"/>
          </a:xfrm>
          <a:prstGeom prst="rect">
            <a:avLst/>
          </a:prstGeom>
          <a:solidFill>
            <a:srgbClr val="2E5F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474720" y="1938528"/>
            <a:ext cx="2468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FASE 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74720" y="2304288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2025 Sem 1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74720" y="2670048"/>
            <a:ext cx="2240280" cy="365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474720" y="2761488"/>
            <a:ext cx="2514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DISENO DE SOLUCION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74720" y="3337560"/>
            <a:ext cx="2514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Prototipado de experiencia
Evaluacion mecanica de swipe
Reformulacion hacia VAA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17920" y="1828800"/>
            <a:ext cx="2743200" cy="4663440"/>
          </a:xfrm>
          <a:prstGeom prst="rect">
            <a:avLst/>
          </a:prstGeom>
          <a:solidFill>
            <a:srgbClr val="3A9E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355080" y="1938528"/>
            <a:ext cx="2468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FASE 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55080" y="2304288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2025-2026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55080" y="2670048"/>
            <a:ext cx="2240280" cy="365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355080" y="2761488"/>
            <a:ext cx="2514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CONSTRUCCION INCREMENTAL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55080" y="3337560"/>
            <a:ext cx="2514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8 fases de desarrollo
370 tests automatizados
17 pantallas funcionales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098280" y="1828800"/>
            <a:ext cx="2743200" cy="4663440"/>
          </a:xfrm>
          <a:prstGeom prst="rect">
            <a:avLst/>
          </a:prstGeom>
          <a:solidFill>
            <a:srgbClr val="1C3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9235440" y="1938528"/>
            <a:ext cx="2468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FASE 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35440" y="2304288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Ago 2026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235440" y="2670048"/>
            <a:ext cx="2240280" cy="365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9235440" y="2761488"/>
            <a:ext cx="2514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AUDITORIA Y DOCUMENTACION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35440" y="3337560"/>
            <a:ext cx="2514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37 documentos auditados
Codigo como fuente de verdad
Entregables de tesis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C3A5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3A9E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128016"/>
            <a:ext cx="9144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3A9E7A"/>
                </a:solidFill>
                <a:latin typeface="Calibri"/>
              </a:rPr>
              <a:t>MARCO TEORICO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Calibri"/>
              </a:rPr>
              <a:t>Los conceptos que fundamentan el sistema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600200"/>
            <a:ext cx="5577840" cy="2286000"/>
          </a:xfrm>
          <a:prstGeom prst="rect">
            <a:avLst/>
          </a:prstGeom>
          <a:solidFill>
            <a:srgbClr val="2E5F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1737360"/>
            <a:ext cx="5212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VOTING ADVICE APPLICATION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167128"/>
            <a:ext cx="4846320" cy="365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40080" y="2286000"/>
            <a:ext cx="52120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Herramienta digital que asiste la decision electoral
mediante comparacion sistematica de posturas.
Garzia &amp; Marschall (2014) -- ECPR Press.</a:t>
            </a:r>
          </a:p>
        </p:txBody>
      </p:sp>
      <p:sp>
        <p:nvSpPr>
          <p:cNvPr id="9" name="Rectangle 8"/>
          <p:cNvSpPr/>
          <p:nvPr/>
        </p:nvSpPr>
        <p:spPr>
          <a:xfrm>
            <a:off x="6309360" y="1600200"/>
            <a:ext cx="5577840" cy="2286000"/>
          </a:xfrm>
          <a:prstGeom prst="rect">
            <a:avLst/>
          </a:prstGeom>
          <a:solidFill>
            <a:srgbClr val="3A9E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92240" y="1737360"/>
            <a:ext cx="5212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SISTEMAS DE RECOMENDACION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92240" y="2167128"/>
            <a:ext cx="4846320" cy="365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92240" y="2286000"/>
            <a:ext cx="52120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Filtrado basado en conocimiento.
El usuario declara preferencias; el sistema compara
contra caracteristicas de los candidatos disponibles.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4114800"/>
            <a:ext cx="5577840" cy="2286000"/>
          </a:xfrm>
          <a:prstGeom prst="rect">
            <a:avLst/>
          </a:prstGeom>
          <a:solidFill>
            <a:srgbClr val="C89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0080" y="4251960"/>
            <a:ext cx="5212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TOMA DE DECISIONES ASISTIDA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4681728"/>
            <a:ext cx="4846320" cy="365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0080" y="4800600"/>
            <a:ext cx="52120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DSS: no reemplaza la decision -- reduce la carga cognitiva.
Kahneman (2011): heuristicas simplificadoras
producen resultados inconsistentes con preferencias reales.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09360" y="4114800"/>
            <a:ext cx="5577840" cy="2286000"/>
          </a:xfrm>
          <a:prstGeom prst="rect">
            <a:avLst/>
          </a:prstGeom>
          <a:solidFill>
            <a:srgbClr val="6B9B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492240" y="4251960"/>
            <a:ext cx="5212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EXPERIENCIA DE USUARIO CIVICA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92240" y="4681728"/>
            <a:ext cx="4846320" cy="365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492240" y="4800600"/>
            <a:ext cx="52120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WCAG 2.2 AA -- accesibilidad como requerimiento funcional.
Mobile-first: 5-15 min para completar el cuestionario.
Transparencia como condicion de confianza, no como extra.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3A9E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128016"/>
            <a:ext cx="9144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3A9E7A"/>
                </a:solidFill>
                <a:latin typeface="Calibri"/>
              </a:rPr>
              <a:t>ESTADO DEL ARTE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C3A52"/>
                </a:solidFill>
                <a:latin typeface="Calibri"/>
              </a:rPr>
              <a:t>VAAs internacionales y el contexto chileno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80160"/>
            <a:ext cx="2505456" cy="384048"/>
          </a:xfrm>
          <a:prstGeom prst="rect">
            <a:avLst/>
          </a:prstGeom>
          <a:solidFill>
            <a:srgbClr val="2E5F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30352" y="1316736"/>
            <a:ext cx="2395727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PLATAFORMA</a:t>
            </a:r>
          </a:p>
        </p:txBody>
      </p:sp>
      <p:sp>
        <p:nvSpPr>
          <p:cNvPr id="7" name="Rectangle 6"/>
          <p:cNvSpPr/>
          <p:nvPr/>
        </p:nvSpPr>
        <p:spPr>
          <a:xfrm>
            <a:off x="3063240" y="1280160"/>
            <a:ext cx="1408176" cy="384048"/>
          </a:xfrm>
          <a:prstGeom prst="rect">
            <a:avLst/>
          </a:prstGeom>
          <a:solidFill>
            <a:srgbClr val="2E5F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136392" y="1316736"/>
            <a:ext cx="12984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PAIS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0" y="1280160"/>
            <a:ext cx="768096" cy="384048"/>
          </a:xfrm>
          <a:prstGeom prst="rect">
            <a:avLst/>
          </a:prstGeom>
          <a:solidFill>
            <a:srgbClr val="2E5F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645152" y="1316736"/>
            <a:ext cx="65836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PREG.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0" y="1280160"/>
            <a:ext cx="3602736" cy="384048"/>
          </a:xfrm>
          <a:prstGeom prst="rect">
            <a:avLst/>
          </a:prstGeom>
          <a:solidFill>
            <a:srgbClr val="2E5F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559552" y="1316736"/>
            <a:ext cx="349300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METODOLOGIA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235440" y="1280160"/>
            <a:ext cx="2322576" cy="384048"/>
          </a:xfrm>
          <a:prstGeom prst="rect">
            <a:avLst/>
          </a:prstGeom>
          <a:solidFill>
            <a:srgbClr val="2E5F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9308592" y="1316736"/>
            <a:ext cx="22128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CHILE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1709928"/>
            <a:ext cx="2505456" cy="5120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30352" y="1755648"/>
            <a:ext cx="2395727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A2B33"/>
                </a:solidFill>
                <a:latin typeface="Calibri"/>
              </a:rPr>
              <a:t>StemWijzer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063240" y="1709928"/>
            <a:ext cx="1408176" cy="5120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3136392" y="1755648"/>
            <a:ext cx="129844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1A2B33"/>
                </a:solidFill>
                <a:latin typeface="Calibri"/>
              </a:rPr>
              <a:t>P. Bajos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0" y="1709928"/>
            <a:ext cx="768096" cy="5120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645152" y="1755648"/>
            <a:ext cx="65836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1A2B33"/>
                </a:solidFill>
                <a:latin typeface="Calibri"/>
              </a:rPr>
              <a:t>30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0" y="1709928"/>
            <a:ext cx="3602736" cy="5120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559552" y="1755648"/>
            <a:ext cx="349300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1A2B33"/>
                </a:solidFill>
                <a:latin typeface="Calibri"/>
              </a:rPr>
              <a:t>Coincidencia + distancia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235440" y="1709928"/>
            <a:ext cx="2322576" cy="5120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9308592" y="1755648"/>
            <a:ext cx="221284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1A2B33"/>
                </a:solidFill>
                <a:latin typeface="Calibri"/>
              </a:rPr>
              <a:t>Sin cobertura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2258568"/>
            <a:ext cx="2505456" cy="512064"/>
          </a:xfrm>
          <a:prstGeom prst="rect">
            <a:avLst/>
          </a:prstGeom>
          <a:solidFill>
            <a:srgbClr val="EAEE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530352" y="2304288"/>
            <a:ext cx="2395727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A2B33"/>
                </a:solidFill>
                <a:latin typeface="Calibri"/>
              </a:rPr>
              <a:t>Wahl-O-Mat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063240" y="2258568"/>
            <a:ext cx="1408176" cy="512064"/>
          </a:xfrm>
          <a:prstGeom prst="rect">
            <a:avLst/>
          </a:prstGeom>
          <a:solidFill>
            <a:srgbClr val="EAEE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3136392" y="2304288"/>
            <a:ext cx="129844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1A2B33"/>
                </a:solidFill>
                <a:latin typeface="Calibri"/>
              </a:rPr>
              <a:t>Alemania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0" y="2258568"/>
            <a:ext cx="768096" cy="512064"/>
          </a:xfrm>
          <a:prstGeom prst="rect">
            <a:avLst/>
          </a:prstGeom>
          <a:solidFill>
            <a:srgbClr val="EAEE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4645152" y="2304288"/>
            <a:ext cx="65836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1A2B33"/>
                </a:solidFill>
                <a:latin typeface="Calibri"/>
              </a:rPr>
              <a:t>38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486400" y="2258568"/>
            <a:ext cx="3602736" cy="512064"/>
          </a:xfrm>
          <a:prstGeom prst="rect">
            <a:avLst/>
          </a:prstGeom>
          <a:solidFill>
            <a:srgbClr val="EAEE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5559552" y="2304288"/>
            <a:ext cx="349300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1A2B33"/>
                </a:solidFill>
                <a:latin typeface="Calibri"/>
              </a:rPr>
              <a:t>Cuadratico ponderado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235440" y="2258568"/>
            <a:ext cx="2322576" cy="512064"/>
          </a:xfrm>
          <a:prstGeom prst="rect">
            <a:avLst/>
          </a:prstGeom>
          <a:solidFill>
            <a:srgbClr val="EAEE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9308592" y="2304288"/>
            <a:ext cx="221284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1A2B33"/>
                </a:solidFill>
                <a:latin typeface="Calibri"/>
              </a:rPr>
              <a:t>Sin cobertura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200" y="2807208"/>
            <a:ext cx="2505456" cy="5120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530352" y="2852928"/>
            <a:ext cx="2395727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A2B33"/>
                </a:solidFill>
                <a:latin typeface="Calibri"/>
              </a:rPr>
              <a:t>Smartvote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063240" y="2807208"/>
            <a:ext cx="1408176" cy="5120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3136392" y="2852928"/>
            <a:ext cx="129844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1A2B33"/>
                </a:solidFill>
                <a:latin typeface="Calibri"/>
              </a:rPr>
              <a:t>Suiza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572000" y="2807208"/>
            <a:ext cx="768096" cy="5120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4645152" y="2852928"/>
            <a:ext cx="65836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1A2B33"/>
                </a:solidFill>
                <a:latin typeface="Calibri"/>
              </a:rPr>
              <a:t>75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486400" y="2807208"/>
            <a:ext cx="3602736" cy="5120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5559552" y="2852928"/>
            <a:ext cx="349300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1A2B33"/>
                </a:solidFill>
                <a:latin typeface="Calibri"/>
              </a:rPr>
              <a:t>Euclidiano multidim.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235440" y="2807208"/>
            <a:ext cx="2322576" cy="5120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9308592" y="2852928"/>
            <a:ext cx="221284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1A2B33"/>
                </a:solidFill>
                <a:latin typeface="Calibri"/>
              </a:rPr>
              <a:t>Sin cobertura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57200" y="3355848"/>
            <a:ext cx="2505456" cy="512064"/>
          </a:xfrm>
          <a:prstGeom prst="rect">
            <a:avLst/>
          </a:prstGeom>
          <a:solidFill>
            <a:srgbClr val="EAEE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530352" y="3401568"/>
            <a:ext cx="2395727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A2B33"/>
                </a:solidFill>
                <a:latin typeface="Calibri"/>
              </a:rPr>
              <a:t>Vote Compass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063240" y="3355848"/>
            <a:ext cx="1408176" cy="512064"/>
          </a:xfrm>
          <a:prstGeom prst="rect">
            <a:avLst/>
          </a:prstGeom>
          <a:solidFill>
            <a:srgbClr val="EAEE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3136392" y="3401568"/>
            <a:ext cx="129844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1A2B33"/>
                </a:solidFill>
                <a:latin typeface="Calibri"/>
              </a:rPr>
              <a:t>Canada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572000" y="3355848"/>
            <a:ext cx="768096" cy="512064"/>
          </a:xfrm>
          <a:prstGeom prst="rect">
            <a:avLst/>
          </a:prstGeom>
          <a:solidFill>
            <a:srgbClr val="EAEE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4645152" y="3401568"/>
            <a:ext cx="65836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1A2B33"/>
                </a:solidFill>
                <a:latin typeface="Calibri"/>
              </a:rPr>
              <a:t>30+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486400" y="3355848"/>
            <a:ext cx="3602736" cy="512064"/>
          </a:xfrm>
          <a:prstGeom prst="rect">
            <a:avLst/>
          </a:prstGeom>
          <a:solidFill>
            <a:srgbClr val="EAEE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5559552" y="3401568"/>
            <a:ext cx="349300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1A2B33"/>
                </a:solidFill>
                <a:latin typeface="Calibri"/>
              </a:rPr>
              <a:t>Posicionamiento 2D</a:t>
            </a:r>
          </a:p>
        </p:txBody>
      </p:sp>
      <p:sp>
        <p:nvSpPr>
          <p:cNvPr id="53" name="Rectangle 52"/>
          <p:cNvSpPr/>
          <p:nvPr/>
        </p:nvSpPr>
        <p:spPr>
          <a:xfrm>
            <a:off x="9235440" y="3355848"/>
            <a:ext cx="2322576" cy="512064"/>
          </a:xfrm>
          <a:prstGeom prst="rect">
            <a:avLst/>
          </a:prstGeom>
          <a:solidFill>
            <a:srgbClr val="EAEE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9308592" y="3401568"/>
            <a:ext cx="221284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1A2B33"/>
                </a:solidFill>
                <a:latin typeface="Calibri"/>
              </a:rPr>
              <a:t>Sin cobertura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57200" y="3904487"/>
            <a:ext cx="2505456" cy="5120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530352" y="3950208"/>
            <a:ext cx="2395727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A2B33"/>
                </a:solidFill>
                <a:latin typeface="Calibri"/>
              </a:rPr>
              <a:t>iSideWith</a:t>
            </a:r>
          </a:p>
        </p:txBody>
      </p:sp>
      <p:sp>
        <p:nvSpPr>
          <p:cNvPr id="57" name="Rectangle 56"/>
          <p:cNvSpPr/>
          <p:nvPr/>
        </p:nvSpPr>
        <p:spPr>
          <a:xfrm>
            <a:off x="3063240" y="3904487"/>
            <a:ext cx="1408176" cy="5120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3136392" y="3950208"/>
            <a:ext cx="129844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1A2B33"/>
                </a:solidFill>
                <a:latin typeface="Calibri"/>
              </a:rPr>
              <a:t>Global</a:t>
            </a:r>
          </a:p>
        </p:txBody>
      </p:sp>
      <p:sp>
        <p:nvSpPr>
          <p:cNvPr id="59" name="Rectangle 58"/>
          <p:cNvSpPr/>
          <p:nvPr/>
        </p:nvSpPr>
        <p:spPr>
          <a:xfrm>
            <a:off x="4572000" y="3904487"/>
            <a:ext cx="768096" cy="5120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4645152" y="3950208"/>
            <a:ext cx="65836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1A2B33"/>
                </a:solidFill>
                <a:latin typeface="Calibri"/>
              </a:rPr>
              <a:t>40+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486400" y="3904487"/>
            <a:ext cx="3602736" cy="5120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TextBox 61"/>
          <p:cNvSpPr txBox="1"/>
          <p:nvPr/>
        </p:nvSpPr>
        <p:spPr>
          <a:xfrm>
            <a:off x="5559552" y="3950208"/>
            <a:ext cx="349300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1A2B33"/>
                </a:solidFill>
                <a:latin typeface="Calibri"/>
              </a:rPr>
              <a:t>Ponderado por importancia</a:t>
            </a:r>
          </a:p>
        </p:txBody>
      </p:sp>
      <p:sp>
        <p:nvSpPr>
          <p:cNvPr id="63" name="Rectangle 62"/>
          <p:cNvSpPr/>
          <p:nvPr/>
        </p:nvSpPr>
        <p:spPr>
          <a:xfrm>
            <a:off x="9235440" y="3904487"/>
            <a:ext cx="2322576" cy="5120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TextBox 63"/>
          <p:cNvSpPr txBox="1"/>
          <p:nvPr/>
        </p:nvSpPr>
        <p:spPr>
          <a:xfrm>
            <a:off x="9308592" y="3950208"/>
            <a:ext cx="221284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1A2B33"/>
                </a:solidFill>
                <a:latin typeface="Calibri"/>
              </a:rPr>
              <a:t>Cobertura superficial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57200" y="4453128"/>
            <a:ext cx="2505456" cy="512064"/>
          </a:xfrm>
          <a:prstGeom prst="rect">
            <a:avLst/>
          </a:prstGeom>
          <a:solidFill>
            <a:srgbClr val="EAEE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TextBox 65"/>
          <p:cNvSpPr txBox="1"/>
          <p:nvPr/>
        </p:nvSpPr>
        <p:spPr>
          <a:xfrm>
            <a:off x="530352" y="4498848"/>
            <a:ext cx="2395727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A2B33"/>
                </a:solidFill>
                <a:latin typeface="Calibri"/>
              </a:rPr>
              <a:t>Voto Informado</a:t>
            </a:r>
          </a:p>
        </p:txBody>
      </p:sp>
      <p:sp>
        <p:nvSpPr>
          <p:cNvPr id="67" name="Rectangle 66"/>
          <p:cNvSpPr/>
          <p:nvPr/>
        </p:nvSpPr>
        <p:spPr>
          <a:xfrm>
            <a:off x="3063240" y="4453128"/>
            <a:ext cx="1408176" cy="512064"/>
          </a:xfrm>
          <a:prstGeom prst="rect">
            <a:avLst/>
          </a:prstGeom>
          <a:solidFill>
            <a:srgbClr val="EAEE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TextBox 67"/>
          <p:cNvSpPr txBox="1"/>
          <p:nvPr/>
        </p:nvSpPr>
        <p:spPr>
          <a:xfrm>
            <a:off x="3136392" y="4498848"/>
            <a:ext cx="129844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1A2B33"/>
                </a:solidFill>
                <a:latin typeface="Calibri"/>
              </a:rPr>
              <a:t>Chile</a:t>
            </a:r>
          </a:p>
        </p:txBody>
      </p:sp>
      <p:sp>
        <p:nvSpPr>
          <p:cNvPr id="69" name="Rectangle 68"/>
          <p:cNvSpPr/>
          <p:nvPr/>
        </p:nvSpPr>
        <p:spPr>
          <a:xfrm>
            <a:off x="4572000" y="4453128"/>
            <a:ext cx="768096" cy="512064"/>
          </a:xfrm>
          <a:prstGeom prst="rect">
            <a:avLst/>
          </a:prstGeom>
          <a:solidFill>
            <a:srgbClr val="EAEE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TextBox 69"/>
          <p:cNvSpPr txBox="1"/>
          <p:nvPr/>
        </p:nvSpPr>
        <p:spPr>
          <a:xfrm>
            <a:off x="4645152" y="4498848"/>
            <a:ext cx="65836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1A2B33"/>
                </a:solidFill>
                <a:latin typeface="Calibri"/>
              </a:rPr>
              <a:t>--</a:t>
            </a:r>
          </a:p>
        </p:txBody>
      </p:sp>
      <p:sp>
        <p:nvSpPr>
          <p:cNvPr id="71" name="Rectangle 70"/>
          <p:cNvSpPr/>
          <p:nvPr/>
        </p:nvSpPr>
        <p:spPr>
          <a:xfrm>
            <a:off x="5486400" y="4453128"/>
            <a:ext cx="3602736" cy="512064"/>
          </a:xfrm>
          <a:prstGeom prst="rect">
            <a:avLst/>
          </a:prstGeom>
          <a:solidFill>
            <a:srgbClr val="EAEE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TextBox 71"/>
          <p:cNvSpPr txBox="1"/>
          <p:nvPr/>
        </p:nvSpPr>
        <p:spPr>
          <a:xfrm>
            <a:off x="5559552" y="4498848"/>
            <a:ext cx="349300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1A2B33"/>
                </a:solidFill>
                <a:latin typeface="Calibri"/>
              </a:rPr>
              <a:t>Sin algoritmo</a:t>
            </a:r>
          </a:p>
        </p:txBody>
      </p:sp>
      <p:sp>
        <p:nvSpPr>
          <p:cNvPr id="73" name="Rectangle 72"/>
          <p:cNvSpPr/>
          <p:nvPr/>
        </p:nvSpPr>
        <p:spPr>
          <a:xfrm>
            <a:off x="9235440" y="4453128"/>
            <a:ext cx="2322576" cy="512064"/>
          </a:xfrm>
          <a:prstGeom prst="rect">
            <a:avLst/>
          </a:prstGeom>
          <a:solidFill>
            <a:srgbClr val="EAEE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TextBox 73"/>
          <p:cNvSpPr txBox="1"/>
          <p:nvPr/>
        </p:nvSpPr>
        <p:spPr>
          <a:xfrm>
            <a:off x="9308592" y="4498848"/>
            <a:ext cx="221284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1A2B33"/>
                </a:solidFill>
                <a:latin typeface="Calibri"/>
              </a:rPr>
              <a:t>DISCONTINUADA</a:t>
            </a:r>
          </a:p>
        </p:txBody>
      </p:sp>
      <p:sp>
        <p:nvSpPr>
          <p:cNvPr id="75" name="Rectangle 74"/>
          <p:cNvSpPr/>
          <p:nvPr/>
        </p:nvSpPr>
        <p:spPr>
          <a:xfrm>
            <a:off x="457200" y="5001768"/>
            <a:ext cx="2505456" cy="5120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TextBox 75"/>
          <p:cNvSpPr txBox="1"/>
          <p:nvPr/>
        </p:nvSpPr>
        <p:spPr>
          <a:xfrm>
            <a:off x="530352" y="5047488"/>
            <a:ext cx="2395727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A2B33"/>
                </a:solidFill>
                <a:latin typeface="Calibri"/>
              </a:rPr>
              <a:t>Decide Chile</a:t>
            </a:r>
          </a:p>
        </p:txBody>
      </p:sp>
      <p:sp>
        <p:nvSpPr>
          <p:cNvPr id="77" name="Rectangle 76"/>
          <p:cNvSpPr/>
          <p:nvPr/>
        </p:nvSpPr>
        <p:spPr>
          <a:xfrm>
            <a:off x="3063240" y="5001768"/>
            <a:ext cx="1408176" cy="5120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TextBox 77"/>
          <p:cNvSpPr txBox="1"/>
          <p:nvPr/>
        </p:nvSpPr>
        <p:spPr>
          <a:xfrm>
            <a:off x="3136392" y="5047488"/>
            <a:ext cx="129844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1A2B33"/>
                </a:solidFill>
                <a:latin typeface="Calibri"/>
              </a:rPr>
              <a:t>Chile</a:t>
            </a:r>
          </a:p>
        </p:txBody>
      </p:sp>
      <p:sp>
        <p:nvSpPr>
          <p:cNvPr id="79" name="Rectangle 78"/>
          <p:cNvSpPr/>
          <p:nvPr/>
        </p:nvSpPr>
        <p:spPr>
          <a:xfrm>
            <a:off x="4572000" y="5001768"/>
            <a:ext cx="768096" cy="5120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0" name="TextBox 79"/>
          <p:cNvSpPr txBox="1"/>
          <p:nvPr/>
        </p:nvSpPr>
        <p:spPr>
          <a:xfrm>
            <a:off x="4645152" y="5047488"/>
            <a:ext cx="65836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1A2B33"/>
                </a:solidFill>
                <a:latin typeface="Calibri"/>
              </a:rPr>
              <a:t>20</a:t>
            </a:r>
          </a:p>
        </p:txBody>
      </p:sp>
      <p:sp>
        <p:nvSpPr>
          <p:cNvPr id="81" name="Rectangle 80"/>
          <p:cNvSpPr/>
          <p:nvPr/>
        </p:nvSpPr>
        <p:spPr>
          <a:xfrm>
            <a:off x="5486400" y="5001768"/>
            <a:ext cx="3602736" cy="5120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2" name="TextBox 81"/>
          <p:cNvSpPr txBox="1"/>
          <p:nvPr/>
        </p:nvSpPr>
        <p:spPr>
          <a:xfrm>
            <a:off x="5559552" y="5047488"/>
            <a:ext cx="349300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1A2B33"/>
                </a:solidFill>
                <a:latin typeface="Calibri"/>
              </a:rPr>
              <a:t>Likert basico</a:t>
            </a:r>
          </a:p>
        </p:txBody>
      </p:sp>
      <p:sp>
        <p:nvSpPr>
          <p:cNvPr id="83" name="Rectangle 82"/>
          <p:cNvSpPr/>
          <p:nvPr/>
        </p:nvSpPr>
        <p:spPr>
          <a:xfrm>
            <a:off x="9235440" y="5001768"/>
            <a:ext cx="2322576" cy="5120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4" name="TextBox 83"/>
          <p:cNvSpPr txBox="1"/>
          <p:nvPr/>
        </p:nvSpPr>
        <p:spPr>
          <a:xfrm>
            <a:off x="9308592" y="5047488"/>
            <a:ext cx="221284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1A2B33"/>
                </a:solidFill>
                <a:latin typeface="Calibri"/>
              </a:rPr>
              <a:t>DISCONTINUADA</a:t>
            </a:r>
          </a:p>
        </p:txBody>
      </p:sp>
      <p:sp>
        <p:nvSpPr>
          <p:cNvPr id="85" name="Rectangle 84"/>
          <p:cNvSpPr/>
          <p:nvPr/>
        </p:nvSpPr>
        <p:spPr>
          <a:xfrm>
            <a:off x="457200" y="5550408"/>
            <a:ext cx="2505456" cy="512064"/>
          </a:xfrm>
          <a:prstGeom prst="rect">
            <a:avLst/>
          </a:prstGeom>
          <a:solidFill>
            <a:srgbClr val="3A9E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6" name="TextBox 85"/>
          <p:cNvSpPr txBox="1"/>
          <p:nvPr/>
        </p:nvSpPr>
        <p:spPr>
          <a:xfrm>
            <a:off x="530352" y="5596128"/>
            <a:ext cx="2395727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Calibri"/>
              </a:rPr>
              <a:t>VotoAFin</a:t>
            </a:r>
          </a:p>
        </p:txBody>
      </p:sp>
      <p:sp>
        <p:nvSpPr>
          <p:cNvPr id="87" name="Rectangle 86"/>
          <p:cNvSpPr/>
          <p:nvPr/>
        </p:nvSpPr>
        <p:spPr>
          <a:xfrm>
            <a:off x="3063240" y="5550408"/>
            <a:ext cx="1408176" cy="512064"/>
          </a:xfrm>
          <a:prstGeom prst="rect">
            <a:avLst/>
          </a:prstGeom>
          <a:solidFill>
            <a:srgbClr val="3A9E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8" name="TextBox 87"/>
          <p:cNvSpPr txBox="1"/>
          <p:nvPr/>
        </p:nvSpPr>
        <p:spPr>
          <a:xfrm>
            <a:off x="3136392" y="5596128"/>
            <a:ext cx="129844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Chile</a:t>
            </a:r>
          </a:p>
        </p:txBody>
      </p:sp>
      <p:sp>
        <p:nvSpPr>
          <p:cNvPr id="89" name="Rectangle 88"/>
          <p:cNvSpPr/>
          <p:nvPr/>
        </p:nvSpPr>
        <p:spPr>
          <a:xfrm>
            <a:off x="4572000" y="5550408"/>
            <a:ext cx="768096" cy="512064"/>
          </a:xfrm>
          <a:prstGeom prst="rect">
            <a:avLst/>
          </a:prstGeom>
          <a:solidFill>
            <a:srgbClr val="3A9E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0" name="TextBox 89"/>
          <p:cNvSpPr txBox="1"/>
          <p:nvPr/>
        </p:nvSpPr>
        <p:spPr>
          <a:xfrm>
            <a:off x="4645152" y="5596128"/>
            <a:ext cx="65836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12*</a:t>
            </a:r>
          </a:p>
        </p:txBody>
      </p:sp>
      <p:sp>
        <p:nvSpPr>
          <p:cNvPr id="91" name="Rectangle 90"/>
          <p:cNvSpPr/>
          <p:nvPr/>
        </p:nvSpPr>
        <p:spPr>
          <a:xfrm>
            <a:off x="5486400" y="5550408"/>
            <a:ext cx="3602736" cy="512064"/>
          </a:xfrm>
          <a:prstGeom prst="rect">
            <a:avLst/>
          </a:prstGeom>
          <a:solidFill>
            <a:srgbClr val="3A9E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2" name="TextBox 91"/>
          <p:cNvSpPr txBox="1"/>
          <p:nvPr/>
        </p:nvSpPr>
        <p:spPr>
          <a:xfrm>
            <a:off x="5559552" y="5596128"/>
            <a:ext cx="349300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Cuadratico + confianza</a:t>
            </a:r>
          </a:p>
        </p:txBody>
      </p:sp>
      <p:sp>
        <p:nvSpPr>
          <p:cNvPr id="93" name="Rectangle 92"/>
          <p:cNvSpPr/>
          <p:nvPr/>
        </p:nvSpPr>
        <p:spPr>
          <a:xfrm>
            <a:off x="9235440" y="5550408"/>
            <a:ext cx="2322576" cy="512064"/>
          </a:xfrm>
          <a:prstGeom prst="rect">
            <a:avLst/>
          </a:prstGeom>
          <a:solidFill>
            <a:srgbClr val="3A9E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4" name="TextBox 93"/>
          <p:cNvSpPr txBox="1"/>
          <p:nvPr/>
        </p:nvSpPr>
        <p:spPr>
          <a:xfrm>
            <a:off x="9308592" y="5596128"/>
            <a:ext cx="221284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ACTIVA -- Cod. abierto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457200" y="64922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A9199"/>
                </a:solidFill>
                <a:latin typeface="Calibri"/>
              </a:rPr>
              <a:t>* Objetivo v0.3: expansion a 30+ preguntas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C3A5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3A9E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128016"/>
            <a:ext cx="9144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3A9E7A"/>
                </a:solidFill>
                <a:latin typeface="Calibri"/>
              </a:rPr>
              <a:t>ARQUITECTURA DEL SISTEMA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Calibri"/>
              </a:rPr>
              <a:t>Tres capas, un contrato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44752"/>
            <a:ext cx="3657600" cy="4206240"/>
          </a:xfrm>
          <a:prstGeom prst="rect">
            <a:avLst/>
          </a:prstGeom>
          <a:solidFill>
            <a:srgbClr val="3A9E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32918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Calibri"/>
              </a:rPr>
              <a:t>FRONTEND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011680"/>
            <a:ext cx="3017520" cy="36576"/>
          </a:xfrm>
          <a:prstGeom prst="rect">
            <a:avLst/>
          </a:prstGeom>
          <a:solidFill>
            <a:srgbClr val="3A9E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40080" y="2103120"/>
            <a:ext cx="3291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A9E7A"/>
                </a:solidFill>
                <a:latin typeface="Calibri"/>
              </a:rPr>
              <a:t>React Native (Expo)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578608"/>
            <a:ext cx="329184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Calibri"/>
              </a:rPr>
              <a:t>Web  iOS  Android
Desde una misma base de codigo
TypeScript + React Query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43400" y="1444752"/>
            <a:ext cx="3657600" cy="4206240"/>
          </a:xfrm>
          <a:prstGeom prst="rect">
            <a:avLst/>
          </a:prstGeom>
          <a:solidFill>
            <a:srgbClr val="2E5F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526280" y="1554480"/>
            <a:ext cx="32918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Calibri"/>
              </a:rPr>
              <a:t>API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26280" y="2011680"/>
            <a:ext cx="3017520" cy="36576"/>
          </a:xfrm>
          <a:prstGeom prst="rect">
            <a:avLst/>
          </a:prstGeom>
          <a:solidFill>
            <a:srgbClr val="3A9E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26280" y="2103120"/>
            <a:ext cx="3291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A9E7A"/>
                </a:solidFill>
                <a:latin typeface="Calibri"/>
              </a:rPr>
              <a:t>OpenAPI 3.1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26280" y="2578608"/>
            <a:ext cx="329184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Calibri"/>
              </a:rPr>
              <a:t>Contrato generado automaticamente
Tipos TS desde el schema
REST ~31 endpoints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0" y="1444752"/>
            <a:ext cx="3657600" cy="4206240"/>
          </a:xfrm>
          <a:prstGeom prst="rect">
            <a:avLst/>
          </a:prstGeom>
          <a:solidFill>
            <a:srgbClr val="243C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412480" y="1554480"/>
            <a:ext cx="32918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Calibri"/>
              </a:rPr>
              <a:t>BACKEND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412480" y="2011680"/>
            <a:ext cx="3017520" cy="36576"/>
          </a:xfrm>
          <a:prstGeom prst="rect">
            <a:avLst/>
          </a:prstGeom>
          <a:solidFill>
            <a:srgbClr val="3A9E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412480" y="2103120"/>
            <a:ext cx="3291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A9E7A"/>
                </a:solidFill>
                <a:latin typeface="Calibri"/>
              </a:rPr>
              <a:t>Django / Python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0" y="2578608"/>
            <a:ext cx="329184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Calibri"/>
              </a:rPr>
              <a:t>Logica pura en servicios
Modelo territorial polimorfico
AGPL-3.0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5870448"/>
            <a:ext cx="11247120" cy="804672"/>
          </a:xfrm>
          <a:prstGeom prst="rect">
            <a:avLst/>
          </a:prstGeom>
          <a:solidFill>
            <a:srgbClr val="2E5F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40080" y="5961888"/>
            <a:ext cx="10789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Decisiones fundacionales: Separacion backend/frontend  |  Contrato OpenAPI como disciplina  |  Modelo territorial polimorfico  |  Licencia AGPL-3.0  |  Dataset fabricado eliminado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3A9E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128016"/>
            <a:ext cx="9144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3A9E7A"/>
                </a:solidFill>
                <a:latin typeface="Calibri"/>
              </a:rPr>
              <a:t>EXPERIENCIA DE USUARIO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C3A52"/>
                </a:solidFill>
                <a:latin typeface="Calibri"/>
              </a:rPr>
              <a:t>El viaje del votante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55264" y="2514600"/>
            <a:ext cx="411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CBD1CD"/>
                </a:solidFill>
                <a:latin typeface="Calibri"/>
              </a:rPr>
              <a:t>-&gt;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444752"/>
            <a:ext cx="2651760" cy="4526280"/>
          </a:xfrm>
          <a:prstGeom prst="rect">
            <a:avLst/>
          </a:prstGeom>
          <a:solidFill>
            <a:srgbClr val="2E5F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94360" y="1554480"/>
            <a:ext cx="23774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INICIO</a:t>
            </a:r>
          </a:p>
        </p:txBody>
      </p:sp>
      <p:sp>
        <p:nvSpPr>
          <p:cNvPr id="8" name="Rectangle 7"/>
          <p:cNvSpPr/>
          <p:nvPr/>
        </p:nvSpPr>
        <p:spPr>
          <a:xfrm>
            <a:off x="594360" y="1956816"/>
            <a:ext cx="2103120" cy="365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94360" y="2066543"/>
            <a:ext cx="24231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Calibri"/>
              </a:rPr>
              <a:t>El usuario llega sin saber
a quien votar.
Sin urgencia. Sin juicio.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35624" y="2514600"/>
            <a:ext cx="411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CBD1CD"/>
                </a:solidFill>
                <a:latin typeface="Calibri"/>
              </a:rPr>
              <a:t>-&gt;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37560" y="1444752"/>
            <a:ext cx="2651760" cy="4526280"/>
          </a:xfrm>
          <a:prstGeom prst="rect">
            <a:avLst/>
          </a:prstGeom>
          <a:solidFill>
            <a:srgbClr val="3A9E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474720" y="1554480"/>
            <a:ext cx="23774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CUESTIONARIO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74720" y="1956816"/>
            <a:ext cx="2103120" cy="365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474720" y="2066543"/>
            <a:ext cx="24231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Calibri"/>
              </a:rPr>
              <a:t>12 preguntas en ~15 min.
Escala Likert 5 puntos.
Pondera: que tanto te importa?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15984" y="2514600"/>
            <a:ext cx="411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CBD1CD"/>
                </a:solidFill>
                <a:latin typeface="Calibri"/>
              </a:rPr>
              <a:t>-&gt;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17920" y="1444752"/>
            <a:ext cx="2651760" cy="4526280"/>
          </a:xfrm>
          <a:prstGeom prst="rect">
            <a:avLst/>
          </a:prstGeom>
          <a:solidFill>
            <a:srgbClr val="C89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355080" y="1554480"/>
            <a:ext cx="23774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MATCHING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55080" y="1956816"/>
            <a:ext cx="2103120" cy="365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355080" y="2066543"/>
            <a:ext cx="24231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Calibri"/>
              </a:rPr>
              <a:t>Calculo cuadratico ponderado.
Ranking de candidatos.
Indicador de confianza.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098280" y="1444752"/>
            <a:ext cx="2651760" cy="4526280"/>
          </a:xfrm>
          <a:prstGeom prst="rect">
            <a:avLst/>
          </a:prstGeom>
          <a:solidFill>
            <a:srgbClr val="1C3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235440" y="1554480"/>
            <a:ext cx="23774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EXPLORACION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235440" y="1956816"/>
            <a:ext cx="2103120" cy="365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235440" y="2066543"/>
            <a:ext cx="24231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Calibri"/>
              </a:rPr>
              <a:t>Detalle por eje tematico.
Fuentes verificadas por postura.
Comparacion entre candidatos.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6144768"/>
            <a:ext cx="11247120" cy="594360"/>
          </a:xfrm>
          <a:prstGeom prst="rect">
            <a:avLst/>
          </a:prstGeom>
          <a:solidFill>
            <a:srgbClr val="2E5F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40080" y="621792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Calibri"/>
              </a:rPr>
              <a:t>Carga cognitiva minima  |  WCAG 2.2 AA  |  Mobile-first  |  Transparencia sobre certeza falsa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C3A5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3A9E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128016"/>
            <a:ext cx="9144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3A9E7A"/>
                </a:solidFill>
                <a:latin typeface="Calibri"/>
              </a:rPr>
              <a:t>EL ALGORITMO DE MATCHING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Calibri"/>
              </a:rPr>
              <a:t>Transparente, ponderado y confiable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600200"/>
            <a:ext cx="5577840" cy="2286000"/>
          </a:xfrm>
          <a:prstGeom prst="rect">
            <a:avLst/>
          </a:prstGeom>
          <a:solidFill>
            <a:srgbClr val="2E5F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1737360"/>
            <a:ext cx="5212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ESCALA LIKERT 5 PUNTOS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167128"/>
            <a:ext cx="4846320" cy="365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40080" y="2286000"/>
            <a:ext cx="52120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Muy de acuerdo  De acuerdo  Neutral
En desacuerdo  Muy en desacuerdo
+ opcion: No sabe / No responde (excluida del denominador)</a:t>
            </a:r>
          </a:p>
        </p:txBody>
      </p:sp>
      <p:sp>
        <p:nvSpPr>
          <p:cNvPr id="9" name="Rectangle 8"/>
          <p:cNvSpPr/>
          <p:nvPr/>
        </p:nvSpPr>
        <p:spPr>
          <a:xfrm>
            <a:off x="6263640" y="1600200"/>
            <a:ext cx="5577840" cy="2286000"/>
          </a:xfrm>
          <a:prstGeom prst="rect">
            <a:avLst/>
          </a:prstGeom>
          <a:solidFill>
            <a:srgbClr val="3A9E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46520" y="1737360"/>
            <a:ext cx="5212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PONDERACION 4 NIVELES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46520" y="2167128"/>
            <a:ext cx="4846320" cy="365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46520" y="2286000"/>
            <a:ext cx="52120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El usuario indica importancia de cada tema:
Muy importante  Importante  Algo  Poco
El calculo ajusta el peso de cada pregunta.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4087368"/>
            <a:ext cx="5577840" cy="2286000"/>
          </a:xfrm>
          <a:prstGeom prst="rect">
            <a:avLst/>
          </a:prstGeom>
          <a:solidFill>
            <a:srgbClr val="C89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0080" y="4224528"/>
            <a:ext cx="5212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FUNCION CUADRATICA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4654296"/>
            <a:ext cx="4846320" cy="365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0080" y="4773168"/>
            <a:ext cx="52120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Diferencia normalizada elevada al cuadrado.
Penaliza mas los desacuerdos extremos.
Refleja que la distancia politica no es lineal.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63640" y="4087368"/>
            <a:ext cx="5577840" cy="2286000"/>
          </a:xfrm>
          <a:prstGeom prst="rect">
            <a:avLst/>
          </a:prstGeom>
          <a:solidFill>
            <a:srgbClr val="6B9B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446520" y="4224528"/>
            <a:ext cx="5212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INDICADOR DE CONFIANZA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46520" y="4654296"/>
            <a:ext cx="4846320" cy="365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446520" y="4773168"/>
            <a:ext cx="52120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ALTA / MEDIA / BAJA segun preguntas respondidas.
Omisiones (NSR) excluidas del denominador.
Honestidad explicita sobre la precision del resultado.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3A9E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128016"/>
            <a:ext cx="9144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3A9E7A"/>
                </a:solidFill>
                <a:latin typeface="Calibri"/>
              </a:rPr>
              <a:t>LAS PANTALLAS DEL SISTEMA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1C3A52"/>
                </a:solidFill>
                <a:latin typeface="Calibri"/>
              </a:rPr>
              <a:t>17 pantallas, un flujo coherente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353312"/>
            <a:ext cx="2468880" cy="4663440"/>
          </a:xfrm>
          <a:prstGeom prst="rect">
            <a:avLst/>
          </a:prstGeom>
          <a:solidFill>
            <a:srgbClr val="1C3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658368" y="1444752"/>
            <a:ext cx="2340864" cy="4480560"/>
          </a:xfrm>
          <a:prstGeom prst="rect">
            <a:avLst/>
          </a:prstGeom>
          <a:solidFill>
            <a:srgbClr val="2E5F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77240" y="1554480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HOME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965960"/>
            <a:ext cx="2103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Con quien
votas realmente?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2926080"/>
            <a:ext cx="1828800" cy="365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77240" y="3035808"/>
            <a:ext cx="210312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Hero statement
Trust row
~15 min  100% privado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474720" y="1353312"/>
            <a:ext cx="2468880" cy="4663440"/>
          </a:xfrm>
          <a:prstGeom prst="rect">
            <a:avLst/>
          </a:prstGeom>
          <a:solidFill>
            <a:srgbClr val="1C3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3538728" y="1444752"/>
            <a:ext cx="2340864" cy="4480560"/>
          </a:xfrm>
          <a:prstGeom prst="rect">
            <a:avLst/>
          </a:prstGeom>
          <a:solidFill>
            <a:srgbClr val="3A9E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657600" y="1554480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CUESTIONARIO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0" y="1965960"/>
            <a:ext cx="2103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Tus valores,
tus respuestas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0" y="2926080"/>
            <a:ext cx="1828800" cy="365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657600" y="3035808"/>
            <a:ext cx="210312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Progreso visible
Contexto educativo
Ponderacion por tema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55080" y="1353312"/>
            <a:ext cx="2468880" cy="4663440"/>
          </a:xfrm>
          <a:prstGeom prst="rect">
            <a:avLst/>
          </a:prstGeom>
          <a:solidFill>
            <a:srgbClr val="1C3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6419088" y="1444752"/>
            <a:ext cx="2340864" cy="4480560"/>
          </a:xfrm>
          <a:prstGeom prst="rect">
            <a:avLst/>
          </a:prstGeom>
          <a:solidFill>
            <a:srgbClr val="1C3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537959" y="1554480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RESULTADOS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37959" y="1965960"/>
            <a:ext cx="2103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Tu ranking
de afinidad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37959" y="2926080"/>
            <a:ext cx="1828800" cy="365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537959" y="3035808"/>
            <a:ext cx="210312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Radar chart
Porcentaje por eje
Indicador de confianza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235440" y="1353312"/>
            <a:ext cx="2468880" cy="4663440"/>
          </a:xfrm>
          <a:prstGeom prst="rect">
            <a:avLst/>
          </a:prstGeom>
          <a:solidFill>
            <a:srgbClr val="1C3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9299448" y="1444752"/>
            <a:ext cx="2340864" cy="4480560"/>
          </a:xfrm>
          <a:prstGeom prst="rect">
            <a:avLst/>
          </a:prstGeom>
          <a:solidFill>
            <a:srgbClr val="C89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9418319" y="1554480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COMPARAR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418319" y="1965960"/>
            <a:ext cx="2103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Dos candidatos,
tus diferencias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418319" y="2926080"/>
            <a:ext cx="1828800" cy="365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9418319" y="3035808"/>
            <a:ext cx="210312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Superposicion visual
Zonas de acuerdo
y desacuerdo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C3A5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3A9E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128016"/>
            <a:ext cx="9144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3A9E7A"/>
                </a:solidFill>
                <a:latin typeface="Calibri"/>
              </a:rPr>
              <a:t>IDENTIDAD VISUAL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Calibri"/>
              </a:rPr>
              <a:t>La marca como parte del producto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25880"/>
            <a:ext cx="4572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3A9E7A"/>
                </a:solidFill>
                <a:latin typeface="Calibri"/>
              </a:rPr>
              <a:t>PALETA DE COLORES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737360"/>
            <a:ext cx="1709928" cy="822960"/>
          </a:xfrm>
          <a:prstGeom prst="rect">
            <a:avLst/>
          </a:prstGeom>
          <a:solidFill>
            <a:srgbClr val="1C3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7200" y="2606040"/>
            <a:ext cx="170992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CBD1CD"/>
                </a:solidFill>
                <a:latin typeface="Calibri"/>
              </a:rPr>
              <a:t>#1C3A52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926080"/>
            <a:ext cx="170992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Azul Pizarron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246120"/>
            <a:ext cx="170992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8A9199"/>
                </a:solidFill>
                <a:latin typeface="Calibri"/>
              </a:rPr>
              <a:t>Fondos hero</a:t>
            </a:r>
          </a:p>
        </p:txBody>
      </p:sp>
      <p:sp>
        <p:nvSpPr>
          <p:cNvPr id="10" name="Rectangle 9"/>
          <p:cNvSpPr/>
          <p:nvPr/>
        </p:nvSpPr>
        <p:spPr>
          <a:xfrm>
            <a:off x="2331720" y="1737360"/>
            <a:ext cx="1709928" cy="822960"/>
          </a:xfrm>
          <a:prstGeom prst="rect">
            <a:avLst/>
          </a:prstGeom>
          <a:solidFill>
            <a:srgbClr val="2E5F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2331720" y="2606040"/>
            <a:ext cx="170992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CBD1CD"/>
                </a:solidFill>
                <a:latin typeface="Calibri"/>
              </a:rPr>
              <a:t>#2E5F7E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31720" y="2926080"/>
            <a:ext cx="170992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Azul Petroleo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31720" y="3246120"/>
            <a:ext cx="170992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8A9199"/>
                </a:solidFill>
                <a:latin typeface="Calibri"/>
              </a:rPr>
              <a:t>CTAs, primario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06240" y="1737360"/>
            <a:ext cx="1709928" cy="822960"/>
          </a:xfrm>
          <a:prstGeom prst="rect">
            <a:avLst/>
          </a:prstGeom>
          <a:solidFill>
            <a:srgbClr val="3A9E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206240" y="2606040"/>
            <a:ext cx="170992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CBD1CD"/>
                </a:solidFill>
                <a:latin typeface="Calibri"/>
              </a:rPr>
              <a:t>#3A9E7A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06240" y="2926080"/>
            <a:ext cx="170992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Verde Civico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06240" y="3246120"/>
            <a:ext cx="170992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8A9199"/>
                </a:solidFill>
                <a:latin typeface="Calibri"/>
              </a:rPr>
              <a:t>Acento, logros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080759" y="1737360"/>
            <a:ext cx="1709928" cy="822960"/>
          </a:xfrm>
          <a:prstGeom prst="rect">
            <a:avLst/>
          </a:prstGeom>
          <a:solidFill>
            <a:srgbClr val="F5F7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080759" y="2606040"/>
            <a:ext cx="170992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CBD1CD"/>
                </a:solidFill>
                <a:latin typeface="Calibri"/>
              </a:rPr>
              <a:t>#F5F7F5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80759" y="2926080"/>
            <a:ext cx="170992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Fondo Suave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80759" y="3246120"/>
            <a:ext cx="170992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8A9199"/>
                </a:solidFill>
                <a:latin typeface="Calibri"/>
              </a:rPr>
              <a:t>Background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955279" y="1737360"/>
            <a:ext cx="1709928" cy="822960"/>
          </a:xfrm>
          <a:prstGeom prst="rect">
            <a:avLst/>
          </a:prstGeom>
          <a:solidFill>
            <a:srgbClr val="6B9B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7955279" y="2606040"/>
            <a:ext cx="170992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CBD1CD"/>
                </a:solidFill>
                <a:latin typeface="Calibri"/>
              </a:rPr>
              <a:t>#6B9B7A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955279" y="2926080"/>
            <a:ext cx="170992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Verde Bosque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55279" y="3246120"/>
            <a:ext cx="170992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8A9199"/>
                </a:solidFill>
                <a:latin typeface="Calibri"/>
              </a:rPr>
              <a:t>Alta afinidad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829800" y="1737360"/>
            <a:ext cx="1709928" cy="822960"/>
          </a:xfrm>
          <a:prstGeom prst="rect">
            <a:avLst/>
          </a:prstGeom>
          <a:solidFill>
            <a:srgbClr val="B85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9829800" y="2606040"/>
            <a:ext cx="170992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CBD1CD"/>
                </a:solidFill>
                <a:latin typeface="Calibri"/>
              </a:rPr>
              <a:t>#B85C5C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29800" y="2926080"/>
            <a:ext cx="170992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Terracota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829800" y="3246120"/>
            <a:ext cx="170992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8A9199"/>
                </a:solidFill>
                <a:latin typeface="Calibri"/>
              </a:rPr>
              <a:t>Baja afinidad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3749039"/>
            <a:ext cx="4572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3A9E7A"/>
                </a:solidFill>
                <a:latin typeface="Calibri"/>
              </a:rPr>
              <a:t>TIPOGRAFIA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4114800"/>
            <a:ext cx="5486400" cy="2212848"/>
          </a:xfrm>
          <a:prstGeom prst="rect">
            <a:avLst/>
          </a:prstGeom>
          <a:solidFill>
            <a:srgbClr val="2E5F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40080" y="4206240"/>
            <a:ext cx="51206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libri"/>
              </a:rPr>
              <a:t>Fraunces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4983480"/>
            <a:ext cx="51206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1CD"/>
                </a:solidFill>
                <a:latin typeface="Calibri"/>
              </a:rPr>
              <a:t>Display / Titulos
Serif humanista -- Autoridad sin rigidez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217920" y="4114800"/>
            <a:ext cx="5486400" cy="2212848"/>
          </a:xfrm>
          <a:prstGeom prst="rect">
            <a:avLst/>
          </a:prstGeom>
          <a:solidFill>
            <a:srgbClr val="243C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6400800" y="4206240"/>
            <a:ext cx="51206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0">
                <a:solidFill>
                  <a:srgbClr val="FFFFFF"/>
                </a:solidFill>
                <a:latin typeface="Calibri"/>
              </a:rPr>
              <a:t>Inter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00800" y="4983480"/>
            <a:ext cx="51206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1CD"/>
                </a:solidFill>
                <a:latin typeface="Calibri"/>
              </a:rPr>
              <a:t>Body / UI
Humanista sans -- Claridad maxima en datos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3A9E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128016"/>
            <a:ext cx="9144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3A9E7A"/>
                </a:solidFill>
                <a:latin typeface="Calibri"/>
              </a:rPr>
              <a:t>DECISIONES DE PRODUCTO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1C3A52"/>
                </a:solidFill>
                <a:latin typeface="Calibri"/>
              </a:rPr>
              <a:t>Por que lo construimos asi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389888"/>
            <a:ext cx="5577840" cy="1664208"/>
          </a:xfrm>
          <a:prstGeom prst="rect">
            <a:avLst/>
          </a:prstGeom>
          <a:solidFill>
            <a:srgbClr val="B85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94360" y="1481328"/>
            <a:ext cx="1645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Calibri"/>
              </a:rPr>
              <a:t>DESCARTADO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773936"/>
            <a:ext cx="5212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Swipe binario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231136"/>
            <a:ext cx="52120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Perdia la mitad de la informacion.
No capturaba gradacion politica.</a:t>
            </a:r>
          </a:p>
        </p:txBody>
      </p:sp>
      <p:sp>
        <p:nvSpPr>
          <p:cNvPr id="9" name="Rectangle 8"/>
          <p:cNvSpPr/>
          <p:nvPr/>
        </p:nvSpPr>
        <p:spPr>
          <a:xfrm>
            <a:off x="6309360" y="1389888"/>
            <a:ext cx="5577840" cy="1664208"/>
          </a:xfrm>
          <a:prstGeom prst="rect">
            <a:avLst/>
          </a:prstGeom>
          <a:solidFill>
            <a:srgbClr val="3A9E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46520" y="1481328"/>
            <a:ext cx="1645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Calibri"/>
              </a:rPr>
              <a:t>ADOPTADO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46520" y="1773936"/>
            <a:ext cx="5212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Escala Likert 5 puntos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2231136"/>
            <a:ext cx="52120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Captura intensidad de acuerdo.
Permite calculo cuadratico ponderado.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200400"/>
            <a:ext cx="5577840" cy="1664208"/>
          </a:xfrm>
          <a:prstGeom prst="rect">
            <a:avLst/>
          </a:prstGeom>
          <a:solidFill>
            <a:srgbClr val="B85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94360" y="3291840"/>
            <a:ext cx="1645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Calibri"/>
              </a:rPr>
              <a:t>DESCARTADO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3584448"/>
            <a:ext cx="5212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Datos inferidos por ideologia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041648"/>
            <a:ext cx="52120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Desinformacion sofisticada.
Inferir sin verificar = error etico critico.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09360" y="3200400"/>
            <a:ext cx="5577840" cy="1664208"/>
          </a:xfrm>
          <a:prstGeom prst="rect">
            <a:avLst/>
          </a:prstGeom>
          <a:solidFill>
            <a:srgbClr val="3A9E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446520" y="3291840"/>
            <a:ext cx="1645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Calibri"/>
              </a:rPr>
              <a:t>ADOPTADO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46520" y="3584448"/>
            <a:ext cx="5212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Verificacion obligatoria con fuente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46520" y="4041648"/>
            <a:ext cx="52120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Cada postura requiere fuente primaria.
El importador rechaza sin justificacion.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5010912"/>
            <a:ext cx="5577840" cy="1664208"/>
          </a:xfrm>
          <a:prstGeom prst="rect">
            <a:avLst/>
          </a:prstGeom>
          <a:solidFill>
            <a:srgbClr val="B85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94360" y="5102352"/>
            <a:ext cx="1645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Calibri"/>
              </a:rPr>
              <a:t>DESCARTADO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" y="5394960"/>
            <a:ext cx="5212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Gamificacion (puntos, premios)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5852160"/>
            <a:ext cx="52120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Reduce decision electoral a entretenimiento.
No aborda la calidad del voto.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309360" y="5010912"/>
            <a:ext cx="5577840" cy="1664208"/>
          </a:xfrm>
          <a:prstGeom prst="rect">
            <a:avLst/>
          </a:prstGeom>
          <a:solidFill>
            <a:srgbClr val="3A9E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446520" y="5102352"/>
            <a:ext cx="1645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Calibri"/>
              </a:rPr>
              <a:t>ADOPTADO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46520" y="5394960"/>
            <a:ext cx="5212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Claridad sobre celebracion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46520" y="5852160"/>
            <a:ext cx="52120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El resultado es informacion, no premio.
Sin confeti, sin animaciones de victoria.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C3A5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3A9E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128016"/>
            <a:ext cx="9144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3A9E7A"/>
                </a:solidFill>
                <a:latin typeface="Calibri"/>
              </a:rPr>
              <a:t>DECISIONES TECNICAS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Calibri"/>
              </a:rPr>
              <a:t>Tecnologia al servicio del problema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81328"/>
            <a:ext cx="11247120" cy="950976"/>
          </a:xfrm>
          <a:prstGeom prst="rect">
            <a:avLst/>
          </a:prstGeom>
          <a:solidFill>
            <a:srgbClr val="3A9E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1545336"/>
            <a:ext cx="3474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React Native (Expo)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1545336"/>
            <a:ext cx="722376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Web + iOS + Android desde una misma base de codigo. Alternativa: Flutter. Razon: ecosistema JS unificado con el backend TypeScript.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505456"/>
            <a:ext cx="11247120" cy="950976"/>
          </a:xfrm>
          <a:prstGeom prst="rect">
            <a:avLst/>
          </a:prstGeom>
          <a:solidFill>
            <a:srgbClr val="2E5F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0080" y="2569464"/>
            <a:ext cx="3474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Django + Python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0" y="2569464"/>
            <a:ext cx="722376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Framework maduro con ORM robusto y 42 migraciones sin conflictos. Alternativa: FastAPI -- descartado por menor ecosistema de admin y fixtures.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3529584"/>
            <a:ext cx="11247120" cy="950976"/>
          </a:xfrm>
          <a:prstGeom prst="rect">
            <a:avLst/>
          </a:prstGeom>
          <a:solidFill>
            <a:srgbClr val="C89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0080" y="3593592"/>
            <a:ext cx="3474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OpenAPI 3.1 como contrato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0" y="3593592"/>
            <a:ext cx="722376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Schema generado automaticamente desde el backend. Tipos TypeScript del frontend desde el schema. Incompatibilidades detectadas en compilacion, no en produccion.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553712"/>
            <a:ext cx="11247120" cy="950976"/>
          </a:xfrm>
          <a:prstGeom prst="rect">
            <a:avLst/>
          </a:prstGeom>
          <a:solidFill>
            <a:srgbClr val="6B9B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40080" y="4617720"/>
            <a:ext cx="3474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SQLite dev / PostgreSQL prod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97680" y="4617720"/>
            <a:ext cx="722376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SQLite elimina dependencias de infraestructura en desarrollo. Migracion a PostgreSQL: un cambio de linea en settings. Deuda tecnica documentada, no ignorada.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5577840"/>
            <a:ext cx="11247120" cy="950976"/>
          </a:xfrm>
          <a:prstGeom prst="rect">
            <a:avLst/>
          </a:prstGeom>
          <a:solidFill>
            <a:srgbClr val="B85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40080" y="5641848"/>
            <a:ext cx="3474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AGPL-3.0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97680" y="5641848"/>
            <a:ext cx="722376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Cualquier version modificada desplegada publicamente debe compartir sus cambios. La tecnologia electoral es infraestructura publica -- no deberia ser caja negra.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3A9E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128016"/>
            <a:ext cx="9144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3A9E7A"/>
                </a:solidFill>
                <a:latin typeface="Calibri"/>
              </a:rPr>
              <a:t>RESULTADOS OBTENIDOS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C3A52"/>
                </a:solidFill>
                <a:latin typeface="Calibri"/>
              </a:rPr>
              <a:t>VotoAFin: MVP funcional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389888"/>
            <a:ext cx="2697480" cy="2084831"/>
          </a:xfrm>
          <a:prstGeom prst="rect">
            <a:avLst/>
          </a:prstGeom>
          <a:solidFill>
            <a:srgbClr val="2E5F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94360" y="1499616"/>
            <a:ext cx="24231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1">
                <a:solidFill>
                  <a:srgbClr val="FFFFFF"/>
                </a:solidFill>
                <a:latin typeface="Calibri"/>
              </a:rPr>
              <a:t>370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578608"/>
            <a:ext cx="2423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  <a:latin typeface="Calibri"/>
              </a:rPr>
              <a:t>tests automatizados</a:t>
            </a:r>
          </a:p>
        </p:txBody>
      </p:sp>
      <p:sp>
        <p:nvSpPr>
          <p:cNvPr id="8" name="Rectangle 7"/>
          <p:cNvSpPr/>
          <p:nvPr/>
        </p:nvSpPr>
        <p:spPr>
          <a:xfrm>
            <a:off x="3337560" y="1389888"/>
            <a:ext cx="2697480" cy="2084831"/>
          </a:xfrm>
          <a:prstGeom prst="rect">
            <a:avLst/>
          </a:prstGeom>
          <a:solidFill>
            <a:srgbClr val="3A9E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474720" y="1499616"/>
            <a:ext cx="24231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1">
                <a:solidFill>
                  <a:srgbClr val="FFFFFF"/>
                </a:solidFill>
                <a:latin typeface="Calibri"/>
              </a:rPr>
              <a:t>17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74720" y="2578608"/>
            <a:ext cx="2423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  <a:latin typeface="Calibri"/>
              </a:rPr>
              <a:t>pantallas funcionales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3694176"/>
            <a:ext cx="2697480" cy="2084831"/>
          </a:xfrm>
          <a:prstGeom prst="rect">
            <a:avLst/>
          </a:prstGeom>
          <a:solidFill>
            <a:srgbClr val="C89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355080" y="3803904"/>
            <a:ext cx="24231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1">
                <a:solidFill>
                  <a:srgbClr val="FFFFFF"/>
                </a:solidFill>
                <a:latin typeface="Calibri"/>
              </a:rPr>
              <a:t>~31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55080" y="4882896"/>
            <a:ext cx="2423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  <a:latin typeface="Calibri"/>
              </a:rPr>
              <a:t>endpoints REST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098280" y="3694176"/>
            <a:ext cx="2697480" cy="2084831"/>
          </a:xfrm>
          <a:prstGeom prst="rect">
            <a:avLst/>
          </a:prstGeom>
          <a:solidFill>
            <a:srgbClr val="1C3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9235440" y="3803904"/>
            <a:ext cx="24231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1">
                <a:solidFill>
                  <a:srgbClr val="FFFFFF"/>
                </a:solidFill>
                <a:latin typeface="Calibri"/>
              </a:rPr>
              <a:t>19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235440" y="4882896"/>
            <a:ext cx="2423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  <a:latin typeface="Calibri"/>
              </a:rPr>
              <a:t>modelos de datos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694176"/>
            <a:ext cx="2697480" cy="2084831"/>
          </a:xfrm>
          <a:prstGeom prst="rect">
            <a:avLst/>
          </a:prstGeom>
          <a:solidFill>
            <a:srgbClr val="6B9B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94360" y="3803904"/>
            <a:ext cx="24231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1">
                <a:solidFill>
                  <a:srgbClr val="FFFFFF"/>
                </a:solidFill>
                <a:latin typeface="Calibri"/>
              </a:rPr>
              <a:t>42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4882896"/>
            <a:ext cx="2423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  <a:latin typeface="Calibri"/>
              </a:rPr>
              <a:t>migraciones de BD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337560" y="3694176"/>
            <a:ext cx="2697480" cy="2084831"/>
          </a:xfrm>
          <a:prstGeom prst="rect">
            <a:avLst/>
          </a:prstGeom>
          <a:solidFill>
            <a:srgbClr val="2E5F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3474720" y="3803904"/>
            <a:ext cx="24231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1">
                <a:solidFill>
                  <a:srgbClr val="FFFFFF"/>
                </a:solidFill>
                <a:latin typeface="Calibri"/>
              </a:rPr>
              <a:t>89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74720" y="4882896"/>
            <a:ext cx="2423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  <a:latin typeface="Calibri"/>
              </a:rPr>
              <a:t>componentes UI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17920" y="1389888"/>
            <a:ext cx="2697480" cy="2084831"/>
          </a:xfrm>
          <a:prstGeom prst="rect">
            <a:avLst/>
          </a:prstGeom>
          <a:solidFill>
            <a:srgbClr val="3A9E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355080" y="1499616"/>
            <a:ext cx="24231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1">
                <a:solidFill>
                  <a:srgbClr val="FFFFFF"/>
                </a:solidFill>
                <a:latin typeface="Calibri"/>
              </a:rPr>
              <a:t>30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55080" y="2578608"/>
            <a:ext cx="2423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  <a:latin typeface="Calibri"/>
              </a:rPr>
              <a:t>hooks de datos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098280" y="1389888"/>
            <a:ext cx="2697480" cy="2084831"/>
          </a:xfrm>
          <a:prstGeom prst="rect">
            <a:avLst/>
          </a:prstGeom>
          <a:solidFill>
            <a:srgbClr val="B85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9235440" y="1499616"/>
            <a:ext cx="24231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1" dirty="0">
                <a:solidFill>
                  <a:srgbClr val="FFFFFF"/>
                </a:solidFill>
                <a:latin typeface="Calibri"/>
              </a:rPr>
              <a:t>212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35440" y="2578608"/>
            <a:ext cx="2423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  <a:latin typeface="Calibri"/>
              </a:rPr>
              <a:t>commits en main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C3A5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3A9E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128016"/>
            <a:ext cx="9144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3A9E7A"/>
                </a:solidFill>
                <a:latin typeface="Calibri"/>
              </a:rPr>
              <a:t>LIMITACIONES ACTUALES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Calibri"/>
              </a:rPr>
              <a:t>Honestidad sobre lo que falta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72768"/>
            <a:ext cx="5577840" cy="2286000"/>
          </a:xfrm>
          <a:prstGeom prst="rect">
            <a:avLst/>
          </a:prstGeom>
          <a:solidFill>
            <a:srgbClr val="C89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1709928"/>
            <a:ext cx="5212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VERIFICACION DE DATOS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139696"/>
            <a:ext cx="4846320" cy="365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40080" y="2258568"/>
            <a:ext cx="52120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Posturas con confianza MEDIA y BAJA en el sistema. El sistema lo comunica, pero el ideal es verificacion completa pre-lanzamiento.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63640" y="1572768"/>
            <a:ext cx="5577840" cy="2286000"/>
          </a:xfrm>
          <a:prstGeom prst="rect">
            <a:avLst/>
          </a:prstGeom>
          <a:solidFill>
            <a:srgbClr val="2E5F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46520" y="1709928"/>
            <a:ext cx="5212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ESCALA DEL CUESTIONARIO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46520" y="2139696"/>
            <a:ext cx="4846320" cy="365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46520" y="2258568"/>
            <a:ext cx="52120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12 preguntas vs Smartvote (75) o Wahl-O-Mat (38). Mayor numero = mayor precision del matching. Objetivo v0.3: 30+ preguntas.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4059936"/>
            <a:ext cx="5577840" cy="2286000"/>
          </a:xfrm>
          <a:prstGeom prst="rect">
            <a:avLst/>
          </a:prstGeom>
          <a:solidFill>
            <a:srgbClr val="B85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0080" y="4197096"/>
            <a:ext cx="5212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TESTS DE FRONTEND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4626864"/>
            <a:ext cx="4846320" cy="365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0080" y="4745736"/>
            <a:ext cx="52120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Suite cubre el backend solidamente (370 tests). El frontend tiene cobertura de tests automatizados practicamente nula.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63640" y="4059936"/>
            <a:ext cx="5577840" cy="2286000"/>
          </a:xfrm>
          <a:prstGeom prst="rect">
            <a:avLst/>
          </a:prstGeom>
          <a:solidFill>
            <a:srgbClr val="5A6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446520" y="4197096"/>
            <a:ext cx="5212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SOSTENIBILIDAD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46520" y="4626864"/>
            <a:ext cx="4846320" cy="365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446520" y="4745736"/>
            <a:ext cx="52120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Proyecto personal sin respaldo institucional. La continuidad entre ciclos electorales requiere un modelo aun no resuelto.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3A9E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128016"/>
            <a:ext cx="9144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3A9E7A"/>
                </a:solidFill>
                <a:latin typeface="Calibri"/>
              </a:rPr>
              <a:t>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C3A52"/>
                </a:solidFill>
                <a:latin typeface="Calibri"/>
              </a:rPr>
              <a:t>Los proximos pasos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389888"/>
            <a:ext cx="2743200" cy="4828032"/>
          </a:xfrm>
          <a:prstGeom prst="rect">
            <a:avLst/>
          </a:prstGeom>
          <a:solidFill>
            <a:srgbClr val="C89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94360" y="1508760"/>
            <a:ext cx="24688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Calibri"/>
              </a:rPr>
              <a:t>v0.2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029968"/>
            <a:ext cx="24688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DATOS VERIFICADOS</a:t>
            </a:r>
          </a:p>
        </p:txBody>
      </p:sp>
      <p:sp>
        <p:nvSpPr>
          <p:cNvPr id="8" name="Rectangle 7"/>
          <p:cNvSpPr/>
          <p:nvPr/>
        </p:nvSpPr>
        <p:spPr>
          <a:xfrm>
            <a:off x="594360" y="2542032"/>
            <a:ext cx="2194560" cy="365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94360" y="2651760"/>
            <a:ext cx="251460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Verificacion completa de posturas
Fuentes primarias por candidato
Changelog publico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37560" y="1389888"/>
            <a:ext cx="2743200" cy="4828032"/>
          </a:xfrm>
          <a:prstGeom prst="rect">
            <a:avLst/>
          </a:prstGeom>
          <a:solidFill>
            <a:srgbClr val="2E5F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474720" y="1508760"/>
            <a:ext cx="24688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Calibri"/>
              </a:rPr>
              <a:t>v0.3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74720" y="2029968"/>
            <a:ext cx="24688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EXPLICABILIDAD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74720" y="2542032"/>
            <a:ext cx="2194560" cy="365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474720" y="2651760"/>
            <a:ext cx="251460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Que preguntas causan el ranking
Simulador de sensibilidad
30+ preguntas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1389888"/>
            <a:ext cx="2743200" cy="4828032"/>
          </a:xfrm>
          <a:prstGeom prst="rect">
            <a:avLst/>
          </a:prstGeom>
          <a:solidFill>
            <a:srgbClr val="3A9E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355080" y="1508760"/>
            <a:ext cx="24688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Calibri"/>
              </a:rPr>
              <a:t>v0.4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55080" y="2029968"/>
            <a:ext cx="24688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EXPANSION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55080" y="2542032"/>
            <a:ext cx="2194560" cy="365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355080" y="2651760"/>
            <a:ext cx="251460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Elecciones municipales y regionales
Onboarding del candidato
Notificaciones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098280" y="1389888"/>
            <a:ext cx="2743200" cy="4828032"/>
          </a:xfrm>
          <a:prstGeom prst="rect">
            <a:avLst/>
          </a:prstGeom>
          <a:solidFill>
            <a:srgbClr val="1C3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235440" y="1508760"/>
            <a:ext cx="24688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Calibri"/>
              </a:rPr>
              <a:t>v1.0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35440" y="2029968"/>
            <a:ext cx="24688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LANZAMIENTO PUBLICO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235440" y="2542032"/>
            <a:ext cx="2194560" cy="365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9235440" y="2651760"/>
            <a:ext cx="251460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Hosting en produccion
Pruebas de carga dia de eleccion
Internacionalizacion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382512"/>
            <a:ext cx="11247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5A6B73"/>
                </a:solidFill>
                <a:latin typeface="Calibri"/>
              </a:rPr>
              <a:t>Vision a largo plazo: alianza institucional con SERVEL, universidades o medios. Modelo Vote Compass + CBC Canada como referente de sostenibilidad.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C3A5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3A9E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128016"/>
            <a:ext cx="9144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3A9E7A"/>
                </a:solidFill>
                <a:latin typeface="Calibri"/>
              </a:rPr>
              <a:t>CONCLUSIONES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1">
                <a:solidFill>
                  <a:srgbClr val="FFFFFF"/>
                </a:solidFill>
                <a:latin typeface="Calibri"/>
              </a:rPr>
              <a:t>Que aprendimos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72768"/>
            <a:ext cx="11247120" cy="1572768"/>
          </a:xfrm>
          <a:prstGeom prst="rect">
            <a:avLst/>
          </a:prstGeom>
          <a:solidFill>
            <a:srgbClr val="3A9E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1664208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DE PRODUCTO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83280" y="1664208"/>
            <a:ext cx="822960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La pregunta de diseno determina la solucion. El cambio de 'como hacer atractivo al candidato' a 'como medir la coincidencia' genero una solucion fundamentalmente distinta.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3264408"/>
            <a:ext cx="11247120" cy="1572768"/>
          </a:xfrm>
          <a:prstGeom prst="rect">
            <a:avLst/>
          </a:prstGeom>
          <a:solidFill>
            <a:srgbClr val="2E5F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0080" y="3355848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DE INGENIERIA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83280" y="3355848"/>
            <a:ext cx="822960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La separacion de responsabilidades tiene valor medible: tests 30 veces mas rapidos, eliminacion de duplicacion, contratos API que detectan errores en compilacion.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4956048"/>
            <a:ext cx="11247120" cy="1572768"/>
          </a:xfrm>
          <a:prstGeom prst="rect">
            <a:avLst/>
          </a:prstGeom>
          <a:solidFill>
            <a:srgbClr val="C89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0080" y="5047488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DE CONTEXTO CIVICO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83280" y="5047488"/>
            <a:ext cx="822960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La tecnologia electoral exige un estandar etico diferente. Ocultar la incertidumbre de un resultado electoral no es un problema de UX: es un problema de integridad democratica.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6473952"/>
            <a:ext cx="11247120" cy="347472"/>
          </a:xfrm>
          <a:prstGeom prst="rect">
            <a:avLst/>
          </a:prstGeom>
          <a:solidFill>
            <a:srgbClr val="3A9E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40080" y="6510528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1C3A52"/>
                </a:solidFill>
                <a:latin typeface="Calibri"/>
              </a:rPr>
              <a:t>6 de 7 objetivos especificos cumplidos completamente  |  MVP funcional  |  Codigo abierto AGPL-3.0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C3A5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3A9E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3A9E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1188720"/>
            <a:ext cx="103327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600" b="1">
                <a:solidFill>
                  <a:srgbClr val="FFFFFF"/>
                </a:solidFill>
                <a:latin typeface="Calibri"/>
              </a:rPr>
              <a:t>La tecnologia electoral no deberia
ser propiedad de nadie.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3291840"/>
            <a:ext cx="941832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CBD1CD"/>
                </a:solidFill>
                <a:latin typeface="Calibri"/>
              </a:rPr>
              <a:t>Deberia ser infraestructura publica, auditable, construida con los mismos estandares de rigor y transparencia que esperamos de cualquier proceso democratico.</a:t>
            </a:r>
          </a:p>
        </p:txBody>
      </p:sp>
      <p:sp>
        <p:nvSpPr>
          <p:cNvPr id="6" name="Rectangle 5"/>
          <p:cNvSpPr/>
          <p:nvPr/>
        </p:nvSpPr>
        <p:spPr>
          <a:xfrm>
            <a:off x="4937760" y="4754880"/>
            <a:ext cx="2313432" cy="54864"/>
          </a:xfrm>
          <a:prstGeom prst="rect">
            <a:avLst/>
          </a:prstGeom>
          <a:solidFill>
            <a:srgbClr val="3A9E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371600" y="4956048"/>
            <a:ext cx="9418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3A9E7A"/>
                </a:solidFill>
                <a:latin typeface="Calibri"/>
              </a:rPr>
              <a:t>VotoAFin es un paso pequeno pero concreto en esa direccion.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6199632"/>
            <a:ext cx="9418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8A9199"/>
                </a:solidFill>
                <a:latin typeface="Calibri"/>
              </a:rPr>
              <a:t>Jenifer Castillo  --  UTFSM  --  Ingenieria en Informatica  --  Agosto 2026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C3A5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3A9E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828800" y="1828800"/>
            <a:ext cx="85039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0" b="1">
                <a:solidFill>
                  <a:srgbClr val="FFFFFF"/>
                </a:solidFill>
                <a:latin typeface="Calibri"/>
              </a:rPr>
              <a:t>Preguntas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5806440"/>
            <a:ext cx="9418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3A9E7A"/>
                </a:solidFill>
                <a:latin typeface="Calibri"/>
              </a:rPr>
              <a:t>votoafin.cl  --  github.com/whatebria/tinder-decisivo  --  AGPL-3.0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6327648"/>
            <a:ext cx="9418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8A9199"/>
                </a:solidFill>
                <a:latin typeface="Calibri"/>
              </a:rPr>
              <a:t>Jenifer Castillo  --  UTFSM  --  Agosto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3178</Words>
  <Application>Microsoft Office PowerPoint</Application>
  <PresentationFormat>Personalizado</PresentationFormat>
  <Paragraphs>481</Paragraphs>
  <Slides>29</Slides>
  <Notes>29</Notes>
  <HiddenSlides>0</HiddenSlides>
  <MMClips>0</MMClips>
  <ScaleCrop>false</ScaleCrop>
  <HeadingPairs>
    <vt:vector size="6" baseType="variant">
      <vt:variant>
        <vt:lpstr>Fuentes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29</vt:i4>
      </vt:variant>
    </vt:vector>
  </HeadingPairs>
  <TitlesOfParts>
    <vt:vector size="32" baseType="lpstr">
      <vt:lpstr>Arial</vt:lpstr>
      <vt:lpstr>Calibri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Jennifer Castillo - Vendor</cp:lastModifiedBy>
  <cp:revision>2</cp:revision>
  <dcterms:created xsi:type="dcterms:W3CDTF">2013-01-27T09:14:16Z</dcterms:created>
  <dcterms:modified xsi:type="dcterms:W3CDTF">2026-08-04T15:45:59Z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444a753e-b937-4727-8173-58e965e4ef41_Enabled">
    <vt:lpwstr>true</vt:lpwstr>
  </property>
  <property fmtid="{D5CDD505-2E9C-101B-9397-08002B2CF9AE}" pid="3" name="MSIP_Label_444a753e-b937-4727-8173-58e965e4ef41_SetDate">
    <vt:lpwstr>2026-08-04T15:45:55Z</vt:lpwstr>
  </property>
  <property fmtid="{D5CDD505-2E9C-101B-9397-08002B2CF9AE}" pid="4" name="MSIP_Label_444a753e-b937-4727-8173-58e965e4ef41_Method">
    <vt:lpwstr>Standard</vt:lpwstr>
  </property>
  <property fmtid="{D5CDD505-2E9C-101B-9397-08002B2CF9AE}" pid="5" name="MSIP_Label_444a753e-b937-4727-8173-58e965e4ef41_Name">
    <vt:lpwstr>0a306a40-471c-426e-91d6-468476917b5e</vt:lpwstr>
  </property>
  <property fmtid="{D5CDD505-2E9C-101B-9397-08002B2CF9AE}" pid="6" name="MSIP_Label_444a753e-b937-4727-8173-58e965e4ef41_SiteId">
    <vt:lpwstr>3cbcc3d3-094d-4006-9849-0d11d61f484d</vt:lpwstr>
  </property>
  <property fmtid="{D5CDD505-2E9C-101B-9397-08002B2CF9AE}" pid="7" name="MSIP_Label_444a753e-b937-4727-8173-58e965e4ef41_ActionId">
    <vt:lpwstr>72106d8c-05d0-41b1-aa4b-72ac9f5b0d4a</vt:lpwstr>
  </property>
  <property fmtid="{D5CDD505-2E9C-101B-9397-08002B2CF9AE}" pid="8" name="MSIP_Label_444a753e-b937-4727-8173-58e965e4ef41_ContentBits">
    <vt:lpwstr>0</vt:lpwstr>
  </property>
  <property fmtid="{D5CDD505-2E9C-101B-9397-08002B2CF9AE}" pid="9" name="MSIP_Label_444a753e-b937-4727-8173-58e965e4ef41_Tag">
    <vt:lpwstr>10, 3, 0, 1</vt:lpwstr>
  </property>
</Properties>
</file>