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Saluda. Presenta el titulo. Deja que la audiencia lo lea. Luego: 'Esta presentacion no es sobre una aplicacion. Es sobre un problema real que afecta a millones de chilenos.'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slide es el mapa. Problema → Solucion → Impacto. No entres en detalles todavia.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3D de Claudio Fuentes (UDP). No es percepcion: es fenomeno documentado con instrumentos de investigacion social.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dato mas impactante: 100% de los 12 entrevistados habia visto fake news electorales. Ninguna excepcion.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+460% de votos nulos para alcalde en 3 anos. No es ruido estadistico.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brecha era concreta. Voto Informado y Decide Chile existieron pero se discontinuaron.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Primera propuesta honesta sobre el problema pero naive sobre la solucion. La gamificacion no aborda la calidad del voto.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swipe es brillante como diseno de interaccion pero erroneo para este problema. Pierde la mitad de la informacion de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aprendizajes que nacen de haber construido algo real. La pregunta correcta cambio de 'como hacer atractivo al candidato' a 'como medir con precision la coincidencia entre votante y candidato'.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no nacio como tesis. Cada etapa fue necesaria para llegar a la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StemWijzer existe desde 1989. La categoria tenia 35 anos. No habia que inventar el modelo: habia que adaptarlo a Chile.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no le dice al usuario por quien votar. Le muestra con quien coincide segun sus propias posturas declaradas.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de 7 objetivos cumplidos. OE7 parcial: documentacion existe pero necesita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fue Scrum estricto: sin ceremonias ni velocidad estimada. Fue iterativo en valor: cada ciclo entregaba algo funcional.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literatura de VAAs es solida: 35 anos de investigacion en Europa. La innovacion de VotoAFin es la adaptacion al contexto chileno.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brecha era clara. Ninguna VAA activa con cobertura real del contexto chileno.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contrato OpenAPI no es documentacion: es una restriccion de diseno. Cuando el backend cambia, el compilador del frontend falla. Tests unitarios 30 veces mas rapidos que tests de integracion.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fundamental: primero las preguntas sobre TEMAS, luego los candidatos. Reduce el sesgo de identificacion partidaria.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indicador de confianza es un diferenciador unico. Comunicar la incertidumbre protege la credibilidad del sistema a largo plazo.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pantallas con flujo completo. Atomic Design: atomos, moleculas, organismos. Modo oscuro verificado en todos los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radar chart ES la marca. El poligono de superposicion usuario-candidato es la imagen mas honesta de lo que hace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decisiones mas importantes no fueron tecnicas: fueron epistemologicas. Que tipo de sistema queriamos 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decision tecnica tiene alternativa considerada y razon. No usamos React Native porque estaba de moda.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crecimiento refleja maduracion de arquitectura, no solo acumulacion. 212 commits -- cada uno es una decision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limitaciones honestas son parte del rigor academico. El MVP funciona. No esta completo. Eso es correcto.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roadmap existe y esta documentado en el repositorio. No es aspiracional.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objetivo general fue cumplido en su dimension tecnica. Valor generado en tres dimensiones: producto, academia e infraestructura civica.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Pausa. Deja que el mensaje sea leido. Esta es la razon de existir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Sonrie. Respira. Estas lista. Algoritmo -&gt; funcion cuadratica con ponderacion. Sostenibilidad -&gt; AGPL-3.0 + alianzas institucionales. Neutralidad -&gt; niveles de confianza + fuentes verificadas.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VotoAFin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CBD1CD"/>
                </a:solidFill>
                <a:latin typeface="Calibri"/>
              </a:rPr>
              <a:t>Diseno e implementacion de una
Voting Advice Application
para el contexto electoral chileno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840480"/>
            <a:ext cx="3474720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Jenifer Castillo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1CD"/>
                </a:solidFill>
                <a:latin typeface="Calibri"/>
              </a:rPr>
              <a:t>Universidad Tecnica Federico Santa Maria  |  Ingenieria en Informatica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1CD"/>
                </a:solidFill>
                <a:latin typeface="Calibri"/>
              </a:rPr>
              <a:t>Agosto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920239"/>
            <a:ext cx="3657600" cy="31089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2377439"/>
            <a:ext cx="2560320" cy="219456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0" y="2926079"/>
            <a:ext cx="1280160" cy="109728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Tu voto,
tus razones.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El proyecto en tres ideas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1206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3108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Chile tuvo 8 elecciones en 4 anos.
Solo el 21% se sentia muy informado.
Votos nulos crecieron +460%.
81% expuesto a desinformacion.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3657600" cy="51206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 SOLUCION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697480"/>
            <a:ext cx="3108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816352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VotoAFin es una VAA de codigo abierto.
El usuario responde y obtiene un ranking
de afinidad con candidatos,
desglosado por 7 ejes tematicos.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51206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173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EL IMPACTO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697480"/>
            <a:ext cx="3108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816352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Un ciudadano que usa VotoAFin puede
pararse en la urna sabiendo por que
vota a quien vota -- no porque
le dijeron, sino porque lo descubrio.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Chile: 8 elecciones en 4 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1CD"/>
                </a:solidFill>
                <a:latin typeface="Calibri"/>
              </a:rPr>
              <a:t>2020-2024: densidad electoral sin precedentes. Las '3 D': Desinformacion, Desinteres, Desconfianza.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0927080" cy="4572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76272"/>
            <a:ext cx="73152" cy="2286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" y="1828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A9E7A"/>
                </a:solidFill>
                <a:latin typeface="Calibri"/>
              </a:rPr>
              <a:t>Oct
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" y="24231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1CD"/>
                </a:solidFill>
                <a:latin typeface="Calibri"/>
              </a:rPr>
              <a:t>Plebiscito
entrada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1408" y="2176272"/>
            <a:ext cx="73152" cy="2286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8487" y="1828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A9E7A"/>
                </a:solidFill>
                <a:latin typeface="Calibri"/>
              </a:rPr>
              <a:t>Nov
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7" y="24231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1CD"/>
                </a:solidFill>
                <a:latin typeface="Calibri"/>
              </a:rPr>
              <a:t>Conv.Const.
+Presidencial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94176" y="2176272"/>
            <a:ext cx="73152" cy="2286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91256" y="1828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A9E7A"/>
                </a:solidFill>
                <a:latin typeface="Calibri"/>
              </a:rPr>
              <a:t>Dic
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4231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1CD"/>
                </a:solidFill>
                <a:latin typeface="Calibri"/>
              </a:rPr>
              <a:t>2a vuelta
presidencial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2176272"/>
            <a:ext cx="73152" cy="2286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1828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A9E7A"/>
                </a:solidFill>
                <a:latin typeface="Calibri"/>
              </a:rPr>
              <a:t>Sep
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24231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1CD"/>
                </a:solidFill>
                <a:latin typeface="Calibri"/>
              </a:rPr>
              <a:t>Plebiscito
salida #1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9712" y="2176272"/>
            <a:ext cx="73152" cy="2286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828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A9E7A"/>
                </a:solidFill>
                <a:latin typeface="Calibri"/>
              </a:rPr>
              <a:t>May
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4231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1CD"/>
                </a:solidFill>
                <a:latin typeface="Calibri"/>
              </a:rPr>
              <a:t>Consejo
Const.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176272"/>
            <a:ext cx="73152" cy="2286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59" y="1828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A9E7A"/>
                </a:solidFill>
                <a:latin typeface="Calibri"/>
              </a:rPr>
              <a:t>Dic
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59" y="24231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1CD"/>
                </a:solidFill>
                <a:latin typeface="Calibri"/>
              </a:rPr>
              <a:t>Plebiscito
salida #2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2176272"/>
            <a:ext cx="73152" cy="2286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2328" y="1828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A9E7A"/>
                </a:solidFill>
                <a:latin typeface="Calibri"/>
              </a:rPr>
              <a:t>Oct
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242316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1CD"/>
                </a:solidFill>
                <a:latin typeface="Calibri"/>
              </a:rPr>
              <a:t>Municipal
+Regional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337560"/>
            <a:ext cx="3520440" cy="301752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5643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DESINFORMACION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31920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81% expuesto
semanalmente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3337560"/>
            <a:ext cx="3520440" cy="301752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345643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DESINTERES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3931920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21% muy
informado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337560"/>
            <a:ext cx="3520440" cy="30175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345643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DESCONFIANZA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931920"/>
            <a:ext cx="3154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79% desconfia
de politicos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INVESTIGACION INICIAL -- EMPRENDIMIENTO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C3A52"/>
                </a:solidFill>
                <a:latin typeface="Calibri"/>
              </a:rPr>
              <a:t>Como influye la desinformacion
en el comportamiento electoral?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577840" cy="21945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3A9E7A"/>
                </a:solidFill>
                <a:latin typeface="Calibri"/>
              </a:rPr>
              <a:t>81%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del electorado expuesto a
desinformacion cada semana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577840" cy="219456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3A9E7A"/>
                </a:solidFill>
                <a:latin typeface="Calibri"/>
              </a:rPr>
              <a:t>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88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cree que la desinformacion
es una amenaza democratica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69080"/>
            <a:ext cx="5577840" cy="219456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3A9E7A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de 12 entrevistados vio
fake news electorales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69080"/>
            <a:ext cx="5577840" cy="219456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605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2120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no confia en politicos
como fuente de informacion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Calibri"/>
              </a:rPr>
              <a:t>Fuentes: Activa Knowledge  |  SERVEL  |  Levantamiento propio N=12 Valparaiso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IMPACTO MEDIBLE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Votar sin saber: los numeros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9E7A"/>
                </a:solidFill>
                <a:latin typeface="Calibri"/>
              </a:rPr>
              <a:t>VOTOS NULOS Y EN BLANCO -- Municipales 2021 vs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136392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824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CARGO</a:t>
            </a:r>
          </a:p>
        </p:txBody>
      </p:sp>
      <p:sp>
        <p:nvSpPr>
          <p:cNvPr id="8" name="Rectangle 7"/>
          <p:cNvSpPr/>
          <p:nvPr/>
        </p:nvSpPr>
        <p:spPr>
          <a:xfrm>
            <a:off x="3794760" y="1645920"/>
            <a:ext cx="1764792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2" y="16824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645920"/>
            <a:ext cx="1764792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16824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645920"/>
            <a:ext cx="2221992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168249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VARIACION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75688"/>
            <a:ext cx="3136392" cy="603504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12140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Alcalde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075688"/>
            <a:ext cx="1764792" cy="603504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21214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1,93%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075688"/>
            <a:ext cx="1764792" cy="603504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12140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10,80%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2075688"/>
            <a:ext cx="2221992" cy="603504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21214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85C5C"/>
                </a:solidFill>
                <a:latin typeface="Calibri"/>
              </a:rPr>
              <a:t>+460%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15768"/>
            <a:ext cx="3136392" cy="603504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2761487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Gobernador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2715768"/>
            <a:ext cx="1764792" cy="603504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7912" y="2761487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6,13%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715768"/>
            <a:ext cx="1764792" cy="603504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2761487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17,80%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715768"/>
            <a:ext cx="2221992" cy="603504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2" y="2761487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85C5C"/>
                </a:solidFill>
                <a:latin typeface="Calibri"/>
              </a:rPr>
              <a:t>+190%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55848"/>
            <a:ext cx="3136392" cy="603504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4015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Concejal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3355848"/>
            <a:ext cx="1764792" cy="603504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67912" y="34015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5,74%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355848"/>
            <a:ext cx="1764792" cy="603504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34015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21,46%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355848"/>
            <a:ext cx="2221992" cy="603504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16952" y="34015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85C5C"/>
                </a:solidFill>
                <a:latin typeface="Calibri"/>
              </a:rPr>
              <a:t>+274%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95927"/>
            <a:ext cx="3136392" cy="603504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0416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Cons. Regional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3995927"/>
            <a:ext cx="1764792" cy="603504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67912" y="40416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13,10%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3995927"/>
            <a:ext cx="1764792" cy="603504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40416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25,78%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995927"/>
            <a:ext cx="2221992" cy="603504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16952" y="404164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85C5C"/>
                </a:solidFill>
                <a:latin typeface="Calibri"/>
              </a:rPr>
              <a:t> +97%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846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 procesos constitucionales: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2303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2.119.506 votos nulos -- 16,98% del total emitido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Calibri"/>
              </a:rPr>
              <a:t>Fuente: SERVEL -- Registros oficiales 2021 y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LA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El espacio estaba vacio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A6B73"/>
                </a:solidFill>
                <a:latin typeface="Calibri"/>
              </a:rPr>
              <a:t>No existia en Chile una VAA activa con metodologia transparente y datos verificables.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66344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Voto Informado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SERVEL + PNUD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83464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44368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Sin algoritmo de matching
Datos sin actualizacion
DISCONTINUADA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2743200" cy="466344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3852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Decide Chile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Iniciativa ciudadana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83464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944368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Tenia matching basico
Fue discontinuada
Sin mantenimiento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743200" cy="4663440"/>
          </a:xfrm>
          <a:prstGeom prst="rect">
            <a:avLst/>
          </a:prstGeom>
          <a:solidFill>
            <a:srgbClr val="5A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3852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Wahl-O-Mat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Alemania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83464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944368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21 millones de usos
No cubre Chile
Modelo a seguir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828800"/>
            <a:ext cx="2743200" cy="4663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93852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VotoAFin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UTFSM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83464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944368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Codigo abierto AGPL-3.0
Matching ponderado
Datos verificados con fuente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PRIMERA PROPUESTA -- EMPRENDIMIENTO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Hipotesis 1: gamificacion civica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1CD"/>
                </a:solidFill>
                <a:latin typeface="Calibri"/>
              </a:rPr>
              <a:t>Si la politica es aburrida, que pasa si la hacemos un juego?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743200" cy="3749039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Clave Unica del Estado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61488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Autenticacion oficial
Sin friccion de registro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920240"/>
            <a:ext cx="2743200" cy="3749039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2996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Preguntas sobre candidatos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65176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761488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Aprender jugando
Sobre oferta electoral local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2743200" cy="3749039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2996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Puntos y recompensas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65176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61488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Premios y descuentos
Por participar activamente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920240"/>
            <a:ext cx="2743200" cy="3749039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02996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Tendencias de voto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65176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761488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Datos de la region
Comparativas locales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25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3A52"/>
                </a:solidFill>
                <a:latin typeface="Calibri"/>
              </a:rPr>
              <a:t>Propuesta al inversionista: $120M CLP -- Retorno proyectado 50% en el primer ano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DESARROLLO APLICACIONES MOVILES -- 2025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Hipotesis 2: el Tinder Electoral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A6B73"/>
                </a:solidFill>
                <a:latin typeface="Calibri"/>
              </a:rPr>
              <a:t>Si la barrera es el texto, que pasa si reducimos la interaccion al minimo absoluto?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94960" cy="45720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COMO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El usuario ve la tarjeta de un candidato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Foto, nombre, partido, propuestas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2219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Swipe DERECHA = me interesa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3542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Swipe IZQUIERDA = no me interesa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486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Mecanica inspirada en apps de citas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28800"/>
            <a:ext cx="5577840" cy="457200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385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EL PROBLEMA FUNDAMENTAL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957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Swipe = respuesta binaria (si / 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1089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 politica NO es binaria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82219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Escala Likert existe por una razon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53542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Datos de candidatos fabricados por inferencia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24865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Desinformacion sofisticada con apariencia de rigor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APRENDIZAJES DEL PROTOTIPO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Lo que el prototipo nos enseno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47120" cy="155448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013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LIMITACION 1 -- BINARIO VS. MATIZ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 mecanica de swipe reduce cada respuesta a si/no. Las posiciones politicas son graduales. La escala Likert de 5 puntos existe exactamente para capturar esa gradacion. Sin ella, el calculo de matching pierde resolucion critica.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11247120" cy="155448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930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LIMITACION 2 -- DATOS FABRICADOS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Las posturas se inferian por ideologia estereotipica, sin verificar. Un sistema electoral con datos inventados no informa: es desinformacion algoritmica mas sofisticada que un articulo falso porque la presentacion genera una ilusion de rigor.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74920"/>
            <a:ext cx="11247120" cy="15544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846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LIMITACION 3 -- COBERTURA TERRITORIAL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Solo candidatos presidenciales ficticios. El votante chileno real necesita orientacion simultanea en alcaldes, gobernadores, diputados y concejales. Sin cobertura territorial, la herramienta es incompleta para el uso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EVOLUCION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De la observacion al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73552"/>
            <a:ext cx="10881360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61872" y="3017520"/>
            <a:ext cx="658368" cy="65836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06324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B5C"/>
                </a:solidFill>
                <a:latin typeface="Calibri"/>
              </a:rPr>
              <a:t>2024 Sem 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19" y="3794760"/>
            <a:ext cx="2560320" cy="43891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EMPRENDIMIENTO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43400"/>
            <a:ext cx="2606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Investigacion empirica
Levantamiento N=12
Hipotesis: gamificacion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6511" y="3017520"/>
            <a:ext cx="658368" cy="65836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306324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40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F7E"/>
                </a:solidFill>
                <a:latin typeface="Calibri"/>
              </a:rPr>
              <a:t>2025 Sem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3794760"/>
            <a:ext cx="2560320" cy="43891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 MOVIL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343400"/>
            <a:ext cx="2606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Tinder Electoral
Proototipo funcional
Descubrimiento de limites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1152" y="3017520"/>
            <a:ext cx="658368" cy="65836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06324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40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85C5C"/>
                </a:solidFill>
                <a:latin typeface="Calibri"/>
              </a:rPr>
              <a:t>2025 Sem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94760"/>
            <a:ext cx="2560320" cy="43891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REFORMULACION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2606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Estado del arte VAAs
9 plataformas analizadas
Nueva pregunta de diseno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65792" y="3017520"/>
            <a:ext cx="658368" cy="6583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306324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240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9E7A"/>
                </a:solidFill>
                <a:latin typeface="Calibri"/>
              </a:rPr>
              <a:t>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794760"/>
            <a:ext cx="2560320" cy="4389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VOTOAFIN VAA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343400"/>
            <a:ext cx="2606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Sistema completo
370 tests  17 pantallas
Codigo abierto AGPL-3.0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CAMBIO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Voting Advice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1CD"/>
                </a:solidFill>
                <a:latin typeface="Calibri"/>
              </a:rPr>
              <a:t>Una categoria de herramienta digital con 35 anos de historia academica.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94960" cy="192024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PREGUNTA ANTERIOR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Como hacer mas
atractivo al candidato?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7744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A9E7A"/>
                </a:solidFill>
                <a:latin typeface="Calibri"/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737360"/>
            <a:ext cx="5120640" cy="19202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PREGUNTA REFORMULADA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12848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Como medir la coincidencia
entre votante y candidato?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13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El referente internacional ya estaba construido: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43400"/>
            <a:ext cx="2743200" cy="21031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531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StemWijzer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9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Paises Bajos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852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9E7A"/>
                </a:solidFill>
                <a:latin typeface="Calibri"/>
              </a:rPr>
              <a:t>desde 1989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4343400"/>
            <a:ext cx="2743200" cy="21031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4531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Wahl-O-Mat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19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Alemania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2852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9E7A"/>
                </a:solidFill>
                <a:latin typeface="Calibri"/>
              </a:rPr>
              <a:t>21M usos 2021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343400"/>
            <a:ext cx="2743200" cy="21031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4531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Smartvote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19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Suiza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852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9E7A"/>
                </a:solidFill>
                <a:latin typeface="Calibri"/>
              </a:rPr>
              <a:t>75 preguntas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4343400"/>
            <a:ext cx="2743200" cy="21031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4531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Vote Compass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9194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Canada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52852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9E7A"/>
                </a:solidFill>
                <a:latin typeface="Calibri"/>
              </a:rPr>
              <a:t>Alianza CBC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PROPUESTA DE SOLUCION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VotoAFin -- Como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657600" cy="33832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SELECCIONA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15768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Elige el tipo de eleccion
(presidencial, diputados, etc.)
Filtrado por region y distrito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3657600" cy="33832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4475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RESPONDE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715768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816352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12 preguntas en 7 ejes tematicos
Escala Likert de 5 puntos
Pondera lo que te importa mas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25880"/>
            <a:ext cx="3657600" cy="338328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4475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0428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DESCUBRE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715768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816352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Ranking de afinidad en %
Desglosado por eje tematico
Indicador de confianza del 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5 DIMENSIONES DE VALOR DIFERENCIADO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2212848" cy="5943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6752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Transparencia metodologica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5303520"/>
            <a:ext cx="2212848" cy="5943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536752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Trazabilidad de posturas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5303520"/>
            <a:ext cx="2212848" cy="5943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9" y="536752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Ponderacion por importancia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59" y="5303520"/>
            <a:ext cx="2212848" cy="5943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799" y="536752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 de confianza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5303520"/>
            <a:ext cx="2212848" cy="5943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536752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Codigo abierto AGPL-3.0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OBJETIVOS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Que nos propusimos lograr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9144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Disenar e implementar una VAA de codigo abierto para Chile con algoritmo transparente, ponderacion por preferencias e indicador de confianza.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47120" cy="539496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OE1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32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Investigar el deficit informativo electoral con evidencia empirica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43230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A9E7A"/>
                </a:solidFill>
                <a:latin typeface="Calibri"/>
              </a:rPr>
              <a:t>CUMPLIDO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44368"/>
            <a:ext cx="11247120" cy="539496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OE2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Analizar el estado del arte en VAAs e identificar brechas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9992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A9E7A"/>
                </a:solidFill>
                <a:latin typeface="Calibri"/>
              </a:rPr>
              <a:t>CUMPLIDO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11296"/>
            <a:ext cx="11247120" cy="539496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OE3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Disenar la UX para votantes sin conocimiento politico especializado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566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A9E7A"/>
                </a:solidFill>
                <a:latin typeface="Calibri"/>
              </a:rPr>
              <a:t>CUMPLIDO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78224"/>
            <a:ext cx="11247120" cy="539496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33087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OE4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33087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Definir algoritmo de matching con ponderacion e indicador de confianza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4133087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A9E7A"/>
                </a:solidFill>
                <a:latin typeface="Calibri"/>
              </a:rPr>
              <a:t>CUMPLIDO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45152"/>
            <a:ext cx="11247120" cy="539496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0001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OE5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70001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Implementar arquitectura cliente-servidor con contrato OpenAPI 3.1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70001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A9E7A"/>
                </a:solidFill>
                <a:latin typeface="Calibri"/>
              </a:rPr>
              <a:t>CUMPLIDO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11247120" cy="539496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6694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OE6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26694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Modelo de datos con verificacion obligatoria de fuentes primarias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526694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A9E7A"/>
                </a:solidFill>
                <a:latin typeface="Calibri"/>
              </a:rPr>
              <a:t>CUMPLIDO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11247120" cy="539496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338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9B5C"/>
                </a:solidFill>
                <a:latin typeface="Calibri"/>
              </a:rPr>
              <a:t>OE7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8338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Documentar el sistema para contribuidores externos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8338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C89B5C"/>
                </a:solidFill>
                <a:latin typeface="Calibri"/>
              </a:rPr>
              <a:t>PARCIAL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Desarrollo iterativo e incremental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B73"/>
                </a:solidFill>
                <a:latin typeface="Calibri"/>
              </a:rPr>
              <a:t>4 fases macro  |  Principios DRY  YAGNI  KISS  SOLID aplicados sistematicamente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466344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70048"/>
            <a:ext cx="2240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INVESTIGACION Y DEFINICION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Revision fuentes secundarias
Entrevistas N=12
Caracterizacion del problema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828800"/>
            <a:ext cx="2743200" cy="46634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9385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04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2025 Sem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670048"/>
            <a:ext cx="2240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7614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DISENO DE SOLUCION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3756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Prototipado de experiencia
Evaluacion mecanica de swipe
Reformulacion hacia VAA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743200" cy="4663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385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04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2025-2026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670048"/>
            <a:ext cx="2240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7614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CONSTRUCCION INCREMENTAL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3756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8 fases de desarrollo
370 tests automatizados
17 pantallas funcionales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828800"/>
            <a:ext cx="2743200" cy="4663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9385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04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Ago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2670048"/>
            <a:ext cx="2240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7614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AUDITORIA Y DOCUMENTACION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337560"/>
            <a:ext cx="2514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37 documentos auditados
Codigo como fuente de verdad
Entregables de tesis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MARCO TEORICO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Los conceptos que fundamentan 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577840" cy="22860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VOTING ADVICE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6712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Herramienta digital que asiste la decision electoral
mediante comparacion sistematica de posturas.
Garzia &amp; Marschall (2014) -- ECPR Press.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00200"/>
            <a:ext cx="5577840" cy="22860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SISTEMAS DE RECOMENDACION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16712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Filtrado basado en conocimiento.
El usuario declara preferencias; el sistema compara
contra caracteristicas de los candidatos disponibles.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577840" cy="228600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TOMA DE DECISIONES ASISTIDA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8172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DSS: no reemplaza la decision -- reduce la carga cognitiva.
Kahneman (2011): heuristicas simplificadoras
producen resultados inconsistentes con preferencias reales.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114800"/>
            <a:ext cx="5577840" cy="228600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EXPERIENCIA DE USUARIO CIVICA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68172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WCAG 2.2 AA -- accesibilidad como requerimiento funcional.
Mobile-first: 5-15 min para completar el cuestionario.
Transparencia como condicion de confianza, no como extra.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ESTADO DEL 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VAAs internacionales y el contexto chileno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05456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16736"/>
            <a:ext cx="2395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PLATAFORMA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280160"/>
            <a:ext cx="1408176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31673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80160"/>
            <a:ext cx="768096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316736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280160"/>
            <a:ext cx="3602736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9552" y="1316736"/>
            <a:ext cx="34930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280160"/>
            <a:ext cx="2322576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1316736"/>
            <a:ext cx="2212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09928"/>
            <a:ext cx="250545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755648"/>
            <a:ext cx="239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33"/>
                </a:solidFill>
                <a:latin typeface="Calibri"/>
              </a:rPr>
              <a:t>StemWijzer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1709928"/>
            <a:ext cx="140817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6392" y="175564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P. Bajos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709928"/>
            <a:ext cx="76809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175564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709928"/>
            <a:ext cx="360273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2" y="1755648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Coincidencia + distancia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709928"/>
            <a:ext cx="232257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755648"/>
            <a:ext cx="2212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Sin cobertura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258568"/>
            <a:ext cx="250545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304288"/>
            <a:ext cx="239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33"/>
                </a:solidFill>
                <a:latin typeface="Calibri"/>
              </a:rPr>
              <a:t>Wahl-O-Mat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2258568"/>
            <a:ext cx="140817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6392" y="230428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Alemania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258568"/>
            <a:ext cx="76809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230428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258568"/>
            <a:ext cx="360273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2304288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Cuadratico ponderado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2258568"/>
            <a:ext cx="232257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8592" y="2304288"/>
            <a:ext cx="2212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Sin cobertura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807208"/>
            <a:ext cx="250545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2852928"/>
            <a:ext cx="239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33"/>
                </a:solidFill>
                <a:latin typeface="Calibri"/>
              </a:rPr>
              <a:t>Smartvote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807208"/>
            <a:ext cx="140817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85292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Suiza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807208"/>
            <a:ext cx="76809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285292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2807208"/>
            <a:ext cx="360273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9552" y="2852928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Euclidiano multidim.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807208"/>
            <a:ext cx="232257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2" y="2852928"/>
            <a:ext cx="2212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Sin cobertura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355848"/>
            <a:ext cx="250545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3401568"/>
            <a:ext cx="239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33"/>
                </a:solidFill>
                <a:latin typeface="Calibri"/>
              </a:rPr>
              <a:t>Vote Compass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63240" y="3355848"/>
            <a:ext cx="140817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36392" y="340156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Canada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3355848"/>
            <a:ext cx="76809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45152" y="340156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30+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3355848"/>
            <a:ext cx="360273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9552" y="3401568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Posicionamiento 2D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3355848"/>
            <a:ext cx="232257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8592" y="3401568"/>
            <a:ext cx="2212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Sin cobertura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904487"/>
            <a:ext cx="250545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3950208"/>
            <a:ext cx="239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33"/>
                </a:solidFill>
                <a:latin typeface="Calibri"/>
              </a:rPr>
              <a:t>iSideWith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3904487"/>
            <a:ext cx="140817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36392" y="395020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Global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3904487"/>
            <a:ext cx="76809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5152" y="395020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40+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3904487"/>
            <a:ext cx="360273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9552" y="3950208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Ponderado por importancia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3904487"/>
            <a:ext cx="232257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08592" y="3950208"/>
            <a:ext cx="2212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Cobertura superficial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453128"/>
            <a:ext cx="250545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4498848"/>
            <a:ext cx="239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33"/>
                </a:solidFill>
                <a:latin typeface="Calibri"/>
              </a:rPr>
              <a:t>Voto Informado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4453128"/>
            <a:ext cx="140817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36392" y="449884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Chile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4453128"/>
            <a:ext cx="76809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45152" y="449884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--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4453128"/>
            <a:ext cx="360273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9552" y="4498848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Sin algoritmo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35440" y="4453128"/>
            <a:ext cx="2322576" cy="512064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08592" y="4498848"/>
            <a:ext cx="2212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DISCONTINUADA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001768"/>
            <a:ext cx="250545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" y="5047488"/>
            <a:ext cx="239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B33"/>
                </a:solidFill>
                <a:latin typeface="Calibri"/>
              </a:rPr>
              <a:t>Decide Chile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63240" y="5001768"/>
            <a:ext cx="140817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36392" y="504748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Chile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5001768"/>
            <a:ext cx="76809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45152" y="504748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5001768"/>
            <a:ext cx="360273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59552" y="5047488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Likert basico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35440" y="5001768"/>
            <a:ext cx="2322576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08592" y="5047488"/>
            <a:ext cx="2212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2B33"/>
                </a:solidFill>
                <a:latin typeface="Calibri"/>
              </a:rPr>
              <a:t>DISCONTINUADA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550408"/>
            <a:ext cx="2505456" cy="5120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0352" y="5596128"/>
            <a:ext cx="239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VotoAFin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63240" y="5550408"/>
            <a:ext cx="1408176" cy="5120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136392" y="5596128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Chile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0" y="5550408"/>
            <a:ext cx="768096" cy="5120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45152" y="5596128"/>
            <a:ext cx="658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12*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0" y="5550408"/>
            <a:ext cx="3602736" cy="5120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9552" y="5596128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Cuadratico + confianza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35440" y="5550408"/>
            <a:ext cx="2322576" cy="5120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08592" y="5596128"/>
            <a:ext cx="22128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ACTIVA -- Cod. abierto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Calibri"/>
              </a:rPr>
              <a:t>* Objetivo v0.3: expansion a 30+ preguntas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Tres capas, un contrato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3657600" cy="42062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React Native (Expo)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Web  iOS  Android
Desde una misma base de codigo
TypeScript + React 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44752"/>
            <a:ext cx="3657600" cy="42062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01168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103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OpenAPI 3.1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78608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Contrato generado automaticamente
Tipos TS desde el schema
REST ~31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44752"/>
            <a:ext cx="3657600" cy="42062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01168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Django /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78608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Logica pura en servicios
Modelo territorial polimorfico
AGPL-3.0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70448"/>
            <a:ext cx="11247120" cy="80467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6188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Decisiones fundacionales: Separacion backend/frontend  |  Contrato OpenAPI como disciplina  |  Modelo territorial polimorfico  |  Licencia AGPL-3.0  |  Dataset fabricado eliminado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EXPERIENCIA DE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El viaje del votante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55264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BD1CD"/>
                </a:solidFill>
                <a:latin typeface="Calibri"/>
              </a:rPr>
              <a:t>-&gt;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44752"/>
            <a:ext cx="2651760" cy="45262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56816"/>
            <a:ext cx="2103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66543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El usuario llega sin saber
a quien votar.
Sin urgencia. Sin juicio.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BD1CD"/>
                </a:solidFill>
                <a:latin typeface="Calibri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44752"/>
            <a:ext cx="2651760" cy="45262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CUESTIONARIO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956816"/>
            <a:ext cx="2103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066543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12 preguntas en ~15 min.
Escala Likert 5 puntos.
Pondera: que tanto te importa?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5984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BD1CD"/>
                </a:solidFill>
                <a:latin typeface="Calibri"/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44752"/>
            <a:ext cx="2651760" cy="452628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MATCHING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956816"/>
            <a:ext cx="2103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066543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Calculo cuadratico ponderado.
Ranking de candidatos.
Indicador de confianza.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444752"/>
            <a:ext cx="2651760" cy="452628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544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EXPLORACION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956816"/>
            <a:ext cx="21031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066543"/>
            <a:ext cx="2423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Detalle por eje tematico.
Fuentes verificadas por postura.
Comparacion entre candidatos.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144768"/>
            <a:ext cx="11247120" cy="5943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Carga cognitiva minima  |  WCAG 2.2 AA  |  Mobile-first  |  Transparencia sobre certeza falsa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ALGORITMO DE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Transparente, ponderado y confiable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577840" cy="22860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ESCALA LIKERT 5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6712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Muy de acuerdo  De acuerdo  Neutral
En desacuerdo  Muy en desacuerdo
+ opcion: No sabe / No responde (excluida del denominador)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577840" cy="22860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PONDERACION 4 NIVELES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16712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 usuario indica importancia de cada tema:
Muy importante  Importante  Algo  Poco
El calculo ajusta el peso de cada pregunta.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87368"/>
            <a:ext cx="5577840" cy="228600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24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FUNCION CUADRATICA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5429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7316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Diferencia normalizada elevada al cuadrado.
Penaliza mas los desacuerdos extremos.
Refleja que la distancia politica no es lineal.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087368"/>
            <a:ext cx="5577840" cy="228600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24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INDICADOR DE CONFIANZA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65429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7316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ALTA / MEDIA / BAJA segun preguntas respondidas.
Omisiones (NSR) excluidas del denominador.
Honestidad explicita sobre la precision del resultado.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LAS PANTALLAS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17 pantallas, un flujo coherente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2468880" cy="4663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2340864" cy="44805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 quien
votas realmente?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35808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Hero statement
Trust row
~15 min  100% privado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353312"/>
            <a:ext cx="2468880" cy="4663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1444752"/>
            <a:ext cx="2340864" cy="448056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554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CUESTIONARIO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Tus valores,
tus respuestas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035808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Progreso visible
Contexto educativo
Ponderacion por tema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353312"/>
            <a:ext cx="2468880" cy="4663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19088" y="1444752"/>
            <a:ext cx="2340864" cy="448056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1554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Tu ranking
de afinidad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59" y="29260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3035808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Radar chart
Porcentaje por eje
Indicador de confianza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353312"/>
            <a:ext cx="2468880" cy="4663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99448" y="1444752"/>
            <a:ext cx="2340864" cy="448056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1554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COMPARAR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19659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Dos candidatos,
tus diferencias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19" y="29260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3035808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Superposicion visual
Zonas de acuerdo
y desacuerdo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IDENTIDAD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La marca como parte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PALETA DE COLORES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709928" cy="82296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#1C3A52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Azul Pizarron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Fondos hero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737360"/>
            <a:ext cx="1709928" cy="82296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60604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#2E5F7E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92608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Azul Petroleo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4612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CTAs, primario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737360"/>
            <a:ext cx="1709928" cy="82296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60604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#3A9E7A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2608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 Civico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4612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Acento, logros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1737360"/>
            <a:ext cx="1709928" cy="82296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260604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#F5F7F5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92608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Fondo Suave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24612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Background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737360"/>
            <a:ext cx="1709928" cy="82296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60604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#6B9B7A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2608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 Bosque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24612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Alta afinidad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737360"/>
            <a:ext cx="1709928" cy="82296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60604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#B85C5C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92608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Terracota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246120"/>
            <a:ext cx="1709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Baja afinidad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49039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TIPOGRAFIA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14800"/>
            <a:ext cx="5486400" cy="22128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Fraunces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83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Display / Titulos
Serif humanista -- Autoridad sin rigidez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486400" cy="221284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Inter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983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Body / UI
Humanista sans -- Claridad maxima en datos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DECISIONES DE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Por que lo construimos 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5577840" cy="166420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DESCARTADO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739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Swipe binario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3113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Perdia la mitad de la informacion.
No capturaba gradacion politica.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89888"/>
            <a:ext cx="5577840" cy="16642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813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ADOPTADO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739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Escala Likert 5 puntos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3113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Captura intensidad de acuerdo.
Permite calculo cuadratico ponderado.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577840" cy="166420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DESCARTADO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84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Datos inferidos por ideologia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4164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Desinformacion sofisticada.
Inferir sin verificar = error etico critico.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00400"/>
            <a:ext cx="5577840" cy="16642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918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ADOPTADO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84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Verificacion obligatoria con fuente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04164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Cada postura requiere fuente primaria.
El importador rechaza sin justificacion.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10912"/>
            <a:ext cx="5577840" cy="166420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DESCARTADO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94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Gamificacion (puntos, premios)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8521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Reduce decision electoral a entretenimiento.
No aborda la calidad del voto.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010912"/>
            <a:ext cx="5577840" cy="16642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102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ADOPTADO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94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Claridad sobre celebracion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8521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El resultado es informacion, no premio.
Sin confeti, sin animaciones de victoria.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DECISIONES TECNICAS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Tecnologia al servicio del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47120" cy="9509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453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React Native (Expo)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45336"/>
            <a:ext cx="7223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Web + iOS + Android desde una misma base de codigo. Alternativa: Flutter. Razon: ecosistema JS unificado con el backend TypeScript.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05456"/>
            <a:ext cx="11247120" cy="950976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94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Django +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69464"/>
            <a:ext cx="7223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Framework maduro con ORM robusto y 42 migraciones sin conflictos. Alternativa: FastAPI -- descartado por menor ecosistema de admin y fixtures.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9584"/>
            <a:ext cx="11247120" cy="950976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935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OpenAPI 3.1 como contrato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593592"/>
            <a:ext cx="7223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Schema generado automaticamente desde el backend. Tipos TypeScript del frontend desde el schema. Incompatibilidades detectadas en compilacion, no en produccion.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53712"/>
            <a:ext cx="11247120" cy="950976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SQLite dev / PostgreSQL prod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617720"/>
            <a:ext cx="7223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SQLite elimina dependencias de infraestructura en desarrollo. Migracion a PostgreSQL: un cambio de linea en settings. Deuda tecnica documentada, no ignorada.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950976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6418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AGPL-3.0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641848"/>
            <a:ext cx="7223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Cualquier version modificada desplegada publicamente debe compartir sus cambios. La tecnologia electoral es infraestructura publica -- no deberia ser caja negra.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RESULTADOS OBTENIDOS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VotoAFin: MVP funcional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2697480" cy="2084831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9616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370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78608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tests automatizados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89888"/>
            <a:ext cx="2697480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99616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78608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pantallas funcionales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694176"/>
            <a:ext cx="2697480" cy="2084831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803904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~31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882896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endpoints 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3694176"/>
            <a:ext cx="2697480" cy="2084831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803904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882896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modelos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98464"/>
            <a:ext cx="2697480" cy="2084831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108192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718718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migraciones de 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5998464"/>
            <a:ext cx="2697480" cy="2084831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6108192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718718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componentes 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8302752"/>
            <a:ext cx="2697480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841248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9491472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hooks de datos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8302752"/>
            <a:ext cx="2697480" cy="2084831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841248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212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9491472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commits en main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LIMITACIONES ACTUALES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Honestidad sobre lo que falta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5577840" cy="228600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VERIFICACION DE 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3969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Posturas con confianza MEDIA y BAJA en el sistema. El sistema lo comunica, pero el ideal es verificacion completa pre-lanzamiento.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72768"/>
            <a:ext cx="5577840" cy="22860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09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ESCALA DEL CUESTIONARIO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13969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58568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12 preguntas vs Smartvote (75) o Wahl-O-Mat (38). Mayor numero = mayor precision del matching. Objetivo v0.3: 30+ preguntas.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59936"/>
            <a:ext cx="5577840" cy="228600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970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TESTS DE FRONTEND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26864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45736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Suite cubre el backend solidamente (370 tests). El frontend tiene cobertura de tests automatizados practicamente nula.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059936"/>
            <a:ext cx="5577840" cy="2286000"/>
          </a:xfrm>
          <a:prstGeom prst="rect">
            <a:avLst/>
          </a:prstGeom>
          <a:solidFill>
            <a:srgbClr val="5A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970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SOSTENIBILIDAD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626864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45736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Proyecto personal sin respaldo institucional. La continuidad entre ciclos electorales requiere un modelo aun no resuelto.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Los proximos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89888"/>
            <a:ext cx="2743200" cy="482803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DATOS VERIFICADOS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42032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Verificacion completa de posturas
Fuentes primarias por candidato
Changelog publico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89888"/>
            <a:ext cx="2743200" cy="48280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2996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EXPLICABILIDAD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542032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Que preguntas causan el ranking
Simulador de sensibilidad
30+ preguntas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89888"/>
            <a:ext cx="2743200" cy="48280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087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2996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EXPANSION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542032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65176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Elecciones municipales y regionales
Onboarding del candidato
Notificaciones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389888"/>
            <a:ext cx="2743200" cy="4828032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087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2996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LANZAMIENTO PUBLICO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542032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651760"/>
            <a:ext cx="2514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Hosting en produccion
Pruebas de carga dia de eleccion
Internacionalizacion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8251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3"/>
                </a:solidFill>
                <a:latin typeface="Calibri"/>
              </a:rPr>
              <a:t>Vision a largo plazo: alianza institucional con SERVEL, universidades o medios. Modelo Vote Compass + CBC Canada como referente de sostenibilidad.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Que aprendimos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47120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 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64208"/>
            <a:ext cx="8229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 pregunta de diseno determina la solucion. El cambio de 'como hacer atractivo al candidato' a 'como medir la coincidencia' genero una solucion fundamentalmente distinta.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64408"/>
            <a:ext cx="11247120" cy="157276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55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 INGENIERIA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55848"/>
            <a:ext cx="8229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 separacion de responsabilidades tiene valor medible: tests 30 veces mas rapidos, eliminacion de duplicacion, contratos API que detectan errores en compilacion.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56048"/>
            <a:ext cx="11247120" cy="157276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474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 CONTEXTO CIVICO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047488"/>
            <a:ext cx="8229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 tecnologia electoral exige un estandar etico diferente. Ocultar la incertidumbre de un resultado electoral no es un problema de UX: es un problema de integridad democratica.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73952"/>
            <a:ext cx="11247120" cy="34747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3A52"/>
                </a:solidFill>
                <a:latin typeface="Calibri"/>
              </a:rPr>
              <a:t>6 de 7 objetivos especificos cumplidos completamente  |  MVP funcional  |  Codigo abierto AGPL-3.0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La tecnologia electoral no deberia
ser propiedad de nadie.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BD1CD"/>
                </a:solidFill>
                <a:latin typeface="Calibri"/>
              </a:rPr>
              <a:t>Deberia ser infraestructura publica, auditable, construida con los mismos estandares de rigor y transparencia que esperamos de cualquier proceso democratico.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754880"/>
            <a:ext cx="2313432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956048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A9E7A"/>
                </a:solidFill>
                <a:latin typeface="Calibri"/>
              </a:rPr>
              <a:t>VotoAFin es un paso pequeno pero concreto en esa direccion.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1996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Jenifer Castillo  --  UTFSM  --  Ingenieria en Informatica  --  Agosto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A9E7A"/>
                </a:solidFill>
                <a:latin typeface="Calibri"/>
              </a:rPr>
              <a:t>votoafin.cl  --  github.com/whatebria/tinder-decisivo  --  AGPL-3.0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327648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Jenifer Castillo  --  UTFSM  --  Agosto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