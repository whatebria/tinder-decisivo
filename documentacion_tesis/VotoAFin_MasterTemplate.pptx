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Master del sistema visual VotoAFin. Cada slide muestra un layout reutilizable con placeholders. Duplicar el slide y reemplazar el contenido de los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Paleta oficial. La identidad visual fue disenada con imparcialidad activa, no neutralidad pasiva.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fuente Calibri garantiza compatibilidad universal en PowerPoint. En implementaciones web usar Fraunces para titulos y Inter para cuerpo.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estos componentes como bloques base. Nunca modificar los colores fuera de la paleta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COVER: Reemplazar los placeholders con titulo, subtitulo, autor y fecha. El elemento radar (circulos concentricos) es decorativo y puede moverse o eliminarse. Mantener la barra de acento superior e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Usar para iniciar un capitulo o seccion. El numero grande puede usarse o eliminarse. Variar el color de fondo entre secciones si se desea diferenciacion.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AGENDA: Duplicar o eliminar filas segun necesidad. Cambiar el color de la franja izquierda para diferenciar bloques tematicos.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TITULO GRANDE: Solo una idea. Sin bullets. Sin cuerpo. Usar para momentos de transicion o afirmaciones clave. El texto debe poder leerse desde el fondo de la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CONTENIDO GENERAL: Layout de proposito general. El area de contenido puede contener texto, bullets minimos o un elemento visual. Principio: una idea principal por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COLUMNAS: Para comparaciones, ejemplos paralelos o dos bloques de contenido. Mantener equilibrio visual entre ambas columnas.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COLUMNAS: Para tres dimensiones, opciones o etapas paralelas. Cambiar los colores del header de cada columna segun la narrativa.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IMAGEN FULL: La imagen ocupa todo el slide. El caption oscuro en la parte inferior es opcional. Util para mockups, capturas de pantalla o fotografias de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IMAGEN + TEXTO: 55/40 split. Imagen a la izquierda, texto a la derecha. Invertir horizontalmente si la composicion lo requiere.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COMPARACION A/B: Para antes/despues, alternativas o contrastes. Color rojo-izquierda indica lo que se descarto o el estado anterior. Color verde-derecha indica la opcion adoptada o el estado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HORIZONTAL: Para cronologias o fases secuenciales. Agregar o quitar nodos segun el numero de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VERTICAL: Para procesos o historias cronologicas. La linea vertical central conecta los nodos. Usar color distinto por etapa para diferenciacion.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Para mostrar evolucion del producto o proyecto en versiones/fases. Cambiar etiquetas de version y nombres de fase segun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PROCESO: Para metodologias, procesos o pasos secuenciales. El grid 3+2 puede adaptarse a 4+1 o 2+2+1 segun necesidad.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FLUJO: Para procesos lineales o funnels. Adaptar a embudo (funnel) reduciendo el ancho de cada bloque sucesivo.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JOURNEY: Para mapear la experiencia del usuario en etapas. Anadir mas filas segun dimensiones del journey (oportunidades, touchpoints,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ARQUITECTURA: Para diagramas de arquitectura en capas. Anadir una cuarta columna si la arquitectura tiene mas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SISTEMA: Para diagramas de componentes o sistemas interconectados. Mover los nodos satelite segun la estructura del sistema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KPIs: Para mostrar metricas y resultados clave. Reemplazar [00] con el numero real. Reemplazar [Metrica N] con el nombre del indicador.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GRAFICO DE BARRAS: Este es un placeholder visual. Insertar un grafico real de PowerPoint o una imagen del grafico generado externamente. Mantener la paleta de colores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GRAFICO DE LINEAS: Placeholder visual. Insertar grafico real de PowerPoint o imagen exportada.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GRAFICO CIRCULAR: Placeholder con donut visual. Insertar grafico real de PowerPoint para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RESULTADOS: Para destacar tres metricas o logros clave. El numero grande debe ser la metrica mas impactante.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HALLAZGOS: Para presentar descubrimientos de investigacion. Cada bloque es un hallazgo autonomo. Usar maximo 4 por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INSIGHTS: Para presentar conclusiones o aprendizajes clave. Cada insight debe poder leerse independientemente.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QUOTE: Para citas impactantes o afirmaciones clave. El texto debe ser breve y poder leerse desde el fondo de la sala. Maximo 30-40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CONCLUSIONES: Una conclusion por bloque. Maximo 3-4 conclusiones por slide para mantener claridad.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PROXIMOS PASOS: Para roadmap de acciones o fases futuras. Agregar duración y responsable si aplica.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PREGUNTAS: Slide limpia para el momento de Q&amp;A. El unico contenido es el titulo y datos de contacto del presentador.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Slide final. Una sola idea memorable. No agregar informacion adicional. El publico debe irse con una sola cosa en 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Animaciones recomendadas. La regla de oro: si la animacion no suma claridad, sobra. Nunca usar efectos 3D, spirales, boomerangs ni nada que distraiga del mensaje.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80960" y="1861718"/>
            <a:ext cx="3840480" cy="3226003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21040" y="2399385"/>
            <a:ext cx="2560320" cy="21506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2937052"/>
            <a:ext cx="1280160" cy="1075334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9E7A"/>
                </a:solidFill>
                <a:latin typeface="Calibri"/>
              </a:rPr>
              <a:t>MASTER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VotoAFin
Sistema de Presentacion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1CD"/>
                </a:solidFill>
                <a:latin typeface="Calibri"/>
              </a:rPr>
              <a:t>36 layouts editables  --  Sistema visual completo  --  Agosto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45720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01-04  Guias del sistema (colores, tipografia, componentes)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5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05-10  Layouts de estructura (cover, agenda, contenido, columnas)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8406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11-18  Layouts de proceso (timelines, roadmap, flujo, arquitectura)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2975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19-25  Layouts de datos (KPIs, graficos, resultados, hallazgos)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618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26-36  Layouts de cierre (quote, conclusiones, preguntas, closing)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SISTEMA DE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Paleta oficial VotoAFin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COLORES PRIMARIOS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212848" cy="9601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#1C3A52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Azul Pizarron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Fondos hero, headers oscuros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600200"/>
            <a:ext cx="2212848" cy="960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#2E5F7E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Azul Petroleo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Color primario, CTAs, bordes activos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600200"/>
            <a:ext cx="2212848" cy="9601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#3A9E7A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Verde Civico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Acento de marca, logros, confirmacion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600200"/>
            <a:ext cx="2212848" cy="96012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#F5F7F5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Fondo Suave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Background de slides claras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600200"/>
            <a:ext cx="221284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#FFFFFF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Blanco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Cards, modals, superficies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307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COLORES SEMANTICOS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96512"/>
            <a:ext cx="1783080" cy="713232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#6B9B7A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4096512"/>
            <a:ext cx="1783080" cy="71323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95728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Warning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#C89B5C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4096512"/>
            <a:ext cx="1783080" cy="71323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256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Danger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#B85C5C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4096512"/>
            <a:ext cx="1783080" cy="713232"/>
          </a:xfrm>
          <a:prstGeom prst="rect">
            <a:avLst/>
          </a:prstGeom>
          <a:solidFill>
            <a:srgbClr val="1A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4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Texto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#1A2B33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4096512"/>
            <a:ext cx="1783080" cy="713232"/>
          </a:xfrm>
          <a:prstGeom prst="rect">
            <a:avLst/>
          </a:prstGeom>
          <a:solidFill>
            <a:srgbClr val="5A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Texto2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#5A6B73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4096512"/>
            <a:ext cx="1783080" cy="713232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Texto3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#8A9199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11247120" cy="65836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REGLAS DE USO: Nunca rojo+azul (tribalismo)  --  Verde civico no es verde de partido  --  Azul pizarron para fondos hero  --  Si un color puede asociarse a un partido politico chileno, esta prohibido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SISTEMA DE 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Escala y jerarquia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0817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H1 -- TITULO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72 pt  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0817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Portadas y slides de impacto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39112"/>
            <a:ext cx="11247120" cy="713232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854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H2 -- TITULO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488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44 pt  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854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Header de cada slide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635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H3 -- SUBTITULO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260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28 pt  SemiBold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626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Subtitulos y secciones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3591"/>
            <a:ext cx="11247120" cy="713232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39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H4 -- SECCION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033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18 pt  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398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Labels de seccion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70831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171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Body -- CUERPO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5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14 pt  Regular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171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Contenido y bullets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48072"/>
            <a:ext cx="11247120" cy="713232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943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Caption -- PIE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578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10 pt  Regular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2943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Fuentes y notas al pie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2531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71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Tag -- ETIQUETA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0350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9 pt  Bold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0716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Labels y badges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C3A52"/>
                </a:solidFill>
                <a:latin typeface="Calibri"/>
              </a:rPr>
              <a:t>FUENTE: Calibri (PowerPoint nativo)  --  En implementacion web: Fraunces (display) + Inter (body)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COMPONENTES VISUALES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Building blocks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44752"/>
            <a:ext cx="1417320" cy="13258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1" y="1444752"/>
            <a:ext cx="1417320" cy="1325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1444752"/>
            <a:ext cx="1417320" cy="13258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9202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44752"/>
            <a:ext cx="1572768" cy="1325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08760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1284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1444752"/>
            <a:ext cx="1572768" cy="13258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1508760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21284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RADAR (ICONO DE MARCA)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1051560"/>
            <a:ext cx="1828800" cy="1645920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21240" y="1339595"/>
            <a:ext cx="1188720" cy="106984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627631"/>
            <a:ext cx="548640" cy="493776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BADGES / ESTADOS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1719072" cy="4389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3337560"/>
            <a:ext cx="1719072" cy="43891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37560"/>
            <a:ext cx="1719072" cy="43891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BAJA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3337560"/>
            <a:ext cx="1719072" cy="438912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59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CUMPLIDO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337560"/>
            <a:ext cx="1719072" cy="43891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PARCIAL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3337560"/>
            <a:ext cx="1719072" cy="438912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SEPARADORES Y ACENTOS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43400"/>
            <a:ext cx="4572000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accent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343400"/>
            <a:ext cx="4572000" cy="54864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primary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343400"/>
            <a:ext cx="4572000" cy="54864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danger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4343400"/>
            <a:ext cx="457200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neutral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956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BARRAS DE ACENTO (top/bottom)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03520"/>
            <a:ext cx="11247120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742432"/>
            <a:ext cx="11247120" cy="10972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6172200"/>
            <a:ext cx="11247120" cy="10972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3"/>
                </a:solidFill>
                <a:latin typeface="Calibri"/>
              </a:rPr>
              <a:t>accent -- verde civico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79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3"/>
                </a:solidFill>
                <a:latin typeface="Calibri"/>
              </a:rPr>
              <a:t>primary -- azul petroleo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3185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3"/>
                </a:solidFill>
                <a:latin typeface="Calibri"/>
              </a:rPr>
              <a:t>danger -- terracota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COVER</a:t>
            </a:r>
          </a:p>
        </p:txBody>
      </p:sp>
      <p:sp>
        <p:nvSpPr>
          <p:cNvPr id="6" name="Oval 5"/>
          <p:cNvSpPr/>
          <p:nvPr/>
        </p:nvSpPr>
        <p:spPr>
          <a:xfrm>
            <a:off x="7680960" y="1861718"/>
            <a:ext cx="3840480" cy="3226003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2399385"/>
            <a:ext cx="2560320" cy="21506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0" y="2937052"/>
            <a:ext cx="1280160" cy="1075334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8A9199"/>
                </a:solidFill>
                <a:latin typeface="Calibri"/>
              </a:rPr>
              <a:t>[Titulo Principal del Proyecto]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B2E3F"/>
                </a:solidFill>
                <a:latin typeface="Calibri"/>
              </a:rPr>
              <a:t>[Subtitulo o descripcion breve]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45720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3C52"/>
                </a:solidFill>
                <a:latin typeface="Calibri"/>
              </a:rPr>
              <a:t>[Autor]  --  [Universidad]  --  [Fecha]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910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C52"/>
                </a:solidFill>
                <a:latin typeface="Calibri"/>
              </a:rPr>
              <a:t>[Presentacion N de 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SECTION DIVIDER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3A9E7A"/>
                </a:solidFill>
                <a:latin typeface="Calibri"/>
              </a:rPr>
              <a:t>[N]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[Nombre de la Seccion]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735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1CD"/>
                </a:solidFill>
                <a:latin typeface="Calibri"/>
              </a:rPr>
              <a:t>[Descripcion breve opcional]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 DE SECCION]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 del Orden del Dia]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502920" cy="7772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53895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8132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11247120" cy="777240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502920" cy="7772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2257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500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35808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35808"/>
            <a:ext cx="502920" cy="7772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19125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2186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04487"/>
            <a:ext cx="11247120" cy="777240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04487"/>
            <a:ext cx="502920" cy="7772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059935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08736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04]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73168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773168"/>
            <a:ext cx="502920" cy="77724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92861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9560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41848"/>
            <a:ext cx="11247120" cy="777240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641848"/>
            <a:ext cx="502920" cy="77724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79729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82472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TITULO GRANDE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8A9199"/>
                </a:solidFill>
                <a:latin typeface="Calibri"/>
              </a:rPr>
              <a:t>[Una idea principal. Una sola.]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3C52"/>
                </a:solidFill>
                <a:latin typeface="Calibri"/>
              </a:rPr>
              <a:t>[Contexto o dato de apoyo opcional]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CONTENIDO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 del Slide]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36576" cy="5257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" y="1261872"/>
            <a:ext cx="11210544" cy="525780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0789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CA7"/>
                </a:solidFill>
                <a:latin typeface="Calibri"/>
              </a:rPr>
              <a:t>[Contenido principal: texto, lista o diagrama aqui]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DOS COLUMNAS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" y="1234440"/>
            <a:ext cx="5541264" cy="528523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941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CA7"/>
                </a:solidFill>
                <a:latin typeface="Calibri"/>
              </a:rPr>
              <a:t>[Columna izquierda]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36576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234440"/>
            <a:ext cx="5449824" cy="528523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6941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CA7"/>
                </a:solidFill>
                <a:latin typeface="Calibri"/>
              </a:rPr>
              <a:t>[Columna derecha]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TRES COLUMNAS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39312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" cy="47823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" y="1737360"/>
            <a:ext cx="3602736" cy="47823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4563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[Columna 01]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639312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98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6576" cy="47823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737360"/>
            <a:ext cx="3602736" cy="47823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4563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[Columna 02]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639312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98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6576" cy="47823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737360"/>
            <a:ext cx="3602736" cy="47823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94563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[Columna 03]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IMAGEN FULL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3246120"/>
            <a:ext cx="1191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199"/>
                </a:solidFill>
                <a:latin typeface="Calibri"/>
              </a:rPr>
              <a:t>[IMAGEN O VISUAL A TODO ANCHO -- sin margenes]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7790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[Titulo o caption]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1CD"/>
                </a:solidFill>
                <a:latin typeface="Calibri"/>
              </a:rPr>
              <a:t>[Fuente o nota]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IMAGEN + 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36576" cy="6400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" y="384048"/>
            <a:ext cx="6364224" cy="640080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CA7"/>
                </a:solidFill>
                <a:latin typeface="Calibri"/>
              </a:rPr>
              <a:t>[IMAGEN, MOCKUP O VISUAL]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8580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444752"/>
            <a:ext cx="36576" cy="51663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68896" y="1444752"/>
            <a:ext cx="4535424" cy="516636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84505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[Texto de apoyo, descripcion o bullets]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[COMPARACION]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COMPARACION A/B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 la comparacion]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528523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[A]  /  ANTES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5029200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16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 la opcion A
o del estado anterior]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5F7E"/>
                </a:solidFill>
                <a:latin typeface="Calibri"/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34440"/>
            <a:ext cx="5394960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53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[B]  /  AHORA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1847088"/>
            <a:ext cx="5029200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8816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 la opcion B
o del estado actual]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[CRONOLOGIA]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TIMELINE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73552"/>
            <a:ext cx="1088136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971800"/>
            <a:ext cx="658368" cy="658368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9B5C"/>
                </a:solidFill>
                <a:latin typeface="Calibri"/>
              </a:rPr>
              <a:t>[2021]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5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1]</a:t>
            </a:r>
          </a:p>
        </p:txBody>
      </p:sp>
      <p:sp>
        <p:nvSpPr>
          <p:cNvPr id="14" name="Oval 13"/>
          <p:cNvSpPr/>
          <p:nvPr/>
        </p:nvSpPr>
        <p:spPr>
          <a:xfrm>
            <a:off x="2816352" y="2971800"/>
            <a:ext cx="658368" cy="658368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F7E"/>
                </a:solidFill>
                <a:latin typeface="Calibri"/>
              </a:rPr>
              <a:t>[2022]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04288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2]</a:t>
            </a:r>
          </a:p>
        </p:txBody>
      </p:sp>
      <p:sp>
        <p:nvSpPr>
          <p:cNvPr id="20" name="Oval 19"/>
          <p:cNvSpPr/>
          <p:nvPr/>
        </p:nvSpPr>
        <p:spPr>
          <a:xfrm>
            <a:off x="4992624" y="2971800"/>
            <a:ext cx="658368" cy="6583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A9E7A"/>
                </a:solidFill>
                <a:latin typeface="Calibri"/>
              </a:rPr>
              <a:t>[2023]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3]</a:t>
            </a:r>
          </a:p>
        </p:txBody>
      </p:sp>
      <p:sp>
        <p:nvSpPr>
          <p:cNvPr id="26" name="Oval 25"/>
          <p:cNvSpPr/>
          <p:nvPr/>
        </p:nvSpPr>
        <p:spPr>
          <a:xfrm>
            <a:off x="7168896" y="2971800"/>
            <a:ext cx="658368" cy="658368"/>
          </a:xfrm>
          <a:prstGeom prst="ellipse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8624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3A52"/>
                </a:solidFill>
                <a:latin typeface="Calibri"/>
              </a:rPr>
              <a:t>[2024]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0256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56832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4]</a:t>
            </a:r>
          </a:p>
        </p:txBody>
      </p:sp>
      <p:sp>
        <p:nvSpPr>
          <p:cNvPr id="32" name="Oval 31"/>
          <p:cNvSpPr/>
          <p:nvPr/>
        </p:nvSpPr>
        <p:spPr>
          <a:xfrm>
            <a:off x="9345167" y="2971800"/>
            <a:ext cx="658368" cy="658368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5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7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9B7A"/>
                </a:solidFill>
                <a:latin typeface="Calibri"/>
              </a:rPr>
              <a:t>[2025]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6528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33103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7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5]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TIMELINE VERTICAL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[CRONOLOGIA VERTICAL]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234440"/>
            <a:ext cx="73152" cy="54864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42032" y="1389888"/>
            <a:ext cx="658368" cy="658368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2696" y="137160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465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89B5C"/>
                </a:solidFill>
                <a:latin typeface="Calibri"/>
              </a:rPr>
              <a:t>[Etapa 01]</a:t>
            </a:r>
          </a:p>
        </p:txBody>
      </p:sp>
      <p:sp>
        <p:nvSpPr>
          <p:cNvPr id="13" name="Oval 12"/>
          <p:cNvSpPr/>
          <p:nvPr/>
        </p:nvSpPr>
        <p:spPr>
          <a:xfrm>
            <a:off x="2542032" y="2715768"/>
            <a:ext cx="658368" cy="658368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269748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82696" y="269748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07238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0720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5F7E"/>
                </a:solidFill>
                <a:latin typeface="Calibri"/>
              </a:rPr>
              <a:t>[Etapa 02]</a:t>
            </a:r>
          </a:p>
        </p:txBody>
      </p:sp>
      <p:sp>
        <p:nvSpPr>
          <p:cNvPr id="18" name="Oval 17"/>
          <p:cNvSpPr/>
          <p:nvPr/>
        </p:nvSpPr>
        <p:spPr>
          <a:xfrm>
            <a:off x="2542032" y="4041648"/>
            <a:ext cx="658368" cy="6583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402336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82696" y="402336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439826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3308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3A9E7A"/>
                </a:solidFill>
                <a:latin typeface="Calibri"/>
              </a:rPr>
              <a:t>[Etapa 03]</a:t>
            </a:r>
          </a:p>
        </p:txBody>
      </p:sp>
      <p:sp>
        <p:nvSpPr>
          <p:cNvPr id="23" name="Oval 22"/>
          <p:cNvSpPr/>
          <p:nvPr/>
        </p:nvSpPr>
        <p:spPr>
          <a:xfrm>
            <a:off x="2542032" y="5367527"/>
            <a:ext cx="658368" cy="658368"/>
          </a:xfrm>
          <a:prstGeom prst="ellipse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534924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82696" y="534924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572414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589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C3A52"/>
                </a:solidFill>
                <a:latin typeface="Calibri"/>
              </a:rPr>
              <a:t>[Etapa 04]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[ROADMAP]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Roadmap]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53218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[Fase Inicial]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743200" cy="53218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[Expansion]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2743200" cy="53218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[Mejoras]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234440"/>
            <a:ext cx="2743200" cy="532180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[Lanzamiento]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[PROCESO / METODOLOGIA]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PROCESO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Proceso]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" y="1737360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657600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9976" y="1737360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657600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1737360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21608"/>
            <a:ext cx="3657600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767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24528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" y="4224528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46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04]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721608"/>
            <a:ext cx="3657600" cy="47548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3767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05]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224528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9976" y="4224528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946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05]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[FLUJO]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FLUJO / EMBUDO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 del Flujo]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2103120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[Entrada]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2084831"/>
            <a:ext cx="2103120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7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[Paso 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2084831"/>
            <a:ext cx="2103120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7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[Paso 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59" y="2084831"/>
            <a:ext cx="2103120" cy="47548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799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[Paso 4]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59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19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4]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2084831"/>
            <a:ext cx="2103120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19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[Salida]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5]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[USER JOURNEY]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[Nombre del Journey]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121408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[Inicio]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234440"/>
            <a:ext cx="2121408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[Descubrir]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25496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25496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25496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234440"/>
            <a:ext cx="2121408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[Usar]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57216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3]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57216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7216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59" y="1234440"/>
            <a:ext cx="2121408" cy="47548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799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[Completar]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59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88935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39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4]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59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88935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39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59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88935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39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1234440"/>
            <a:ext cx="2121408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19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[Resultado]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20655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6959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5]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20655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66959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20655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66959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" y="2148840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199"/>
                </a:solidFill>
                <a:latin typeface="Calibri"/>
              </a:rPr>
              <a:t>ACCIONES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" y="3630168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199"/>
                </a:solidFill>
                <a:latin typeface="Calibri"/>
              </a:rPr>
              <a:t>EMOCIONES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" y="5111496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199"/>
                </a:solidFill>
                <a:latin typeface="Calibri"/>
              </a:rPr>
              <a:t>PUNTOS DE DOLOR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[ARQUITECTURA]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5257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[Capa Frontal]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[Tecnologia]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3291840" cy="38862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559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 la capa frontal]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657600" cy="5257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533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[Capa Media]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82880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[Tecnologia]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395728"/>
            <a:ext cx="3291840" cy="38862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1559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 la capa media / API]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657600" cy="52578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3533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[Capa Base]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82880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385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[Tecnologia]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395728"/>
            <a:ext cx="3291840" cy="38862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1559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 la capa de datos / backend]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[SISTEMA / DIAGRAMA]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Sistema]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2793491"/>
            <a:ext cx="1554480" cy="1399032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32598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[NUCLEO]</a:t>
            </a:r>
          </a:p>
        </p:txBody>
      </p:sp>
      <p:sp>
        <p:nvSpPr>
          <p:cNvPr id="9" name="Oval 8"/>
          <p:cNvSpPr/>
          <p:nvPr/>
        </p:nvSpPr>
        <p:spPr>
          <a:xfrm>
            <a:off x="2148840" y="1476756"/>
            <a:ext cx="1188720" cy="106984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8333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359152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286000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854964"/>
            <a:ext cx="1188720" cy="1069848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2115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B]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737360"/>
            <a:ext cx="-438912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64208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23960" y="1476756"/>
            <a:ext cx="1188720" cy="1069848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8333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C]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359152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286000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48840" y="4421124"/>
            <a:ext cx="1188720" cy="1069848"/>
          </a:xfrm>
          <a:prstGeom prst="ellipse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47777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840480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67328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23960" y="4421124"/>
            <a:ext cx="1188720" cy="1069848"/>
          </a:xfrm>
          <a:prstGeom prst="ellipse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47777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840480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3767328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[DASHBOARD / KPIs]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DASHBOARD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 del Dashboard]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269748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98448"/>
            <a:ext cx="269748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B]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2697480" cy="22128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C]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98448"/>
            <a:ext cx="2697480" cy="221284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94176"/>
            <a:ext cx="2697480" cy="221284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694176"/>
            <a:ext cx="2697480" cy="221284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F]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94176"/>
            <a:ext cx="269748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G]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3694176"/>
            <a:ext cx="269748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H]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[GRAFICO DE BARRAS]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GRAFICO BARRAS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Grafico]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0789920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61872"/>
            <a:ext cx="36576" cy="525780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090318"/>
            <a:ext cx="1389888" cy="4447641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3611880"/>
            <a:ext cx="1389888" cy="2926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1271016"/>
            <a:ext cx="1389888" cy="5266944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3]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4431182"/>
            <a:ext cx="1389888" cy="2106777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1" y="2792577"/>
            <a:ext cx="1389888" cy="3745382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19" y="3260750"/>
            <a:ext cx="1389888" cy="3277209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[Nota o fuente del grafico]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[GRAFICO DE LINEAS]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GRAFICO LINEAS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0789920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61872"/>
            <a:ext cx="36576" cy="525780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75488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347472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411480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256032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292608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0" y="173736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39" y="466344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68879" y="3383279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23360" y="402336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4960" y="2468879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283464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645919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219456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[T1]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[T6]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325880"/>
            <a:ext cx="2743200" cy="18288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[Leyenda]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[GRAFICO CIRCULAR]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GRAFICO CIRCULAR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Oval 6"/>
          <p:cNvSpPr/>
          <p:nvPr/>
        </p:nvSpPr>
        <p:spPr>
          <a:xfrm>
            <a:off x="2194560" y="1923897"/>
            <a:ext cx="3840480" cy="3686860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2450592"/>
            <a:ext cx="2743200" cy="263347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2977286"/>
            <a:ext cx="1645920" cy="1580083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3320" y="3372307"/>
            <a:ext cx="822960" cy="790041"/>
          </a:xfrm>
          <a:prstGeom prst="ellipse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4747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C3A52"/>
                </a:solidFill>
                <a:latin typeface="Calibri"/>
              </a:rPr>
              <a:t>[%]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965960"/>
            <a:ext cx="384048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965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965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E5F7E"/>
                </a:solidFill>
                <a:latin typeface="Calibri"/>
              </a:rPr>
              <a:t>[00%]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971800"/>
            <a:ext cx="384048" cy="3840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971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B]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9718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A9E7A"/>
                </a:solidFill>
                <a:latin typeface="Calibri"/>
              </a:rPr>
              <a:t>[00%]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977639"/>
            <a:ext cx="384048" cy="3840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97763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C]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97763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89B5C"/>
                </a:solidFill>
                <a:latin typeface="Calibri"/>
              </a:rPr>
              <a:t>[00%]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983480"/>
            <a:ext cx="384048" cy="38404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49834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9834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B9B7A"/>
                </a:solidFill>
                <a:latin typeface="Calibri"/>
              </a:rPr>
              <a:t>[00%]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[RESULTADOS]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 de Resultados]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5285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[Resultado 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3291840" cy="22402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063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del
resultado obtenido]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657600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8988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015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[Resultado B]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4069080"/>
            <a:ext cx="3291840" cy="22402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063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del
resultado obtenido]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657600" cy="528523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38988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015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[Resultado C]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069080"/>
            <a:ext cx="3291840" cy="22402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50063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del
resultado obtenido]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[HALLAZGOS]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HALLAZGOS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 Hallazgos]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77840" cy="47548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930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289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" y="1737360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577840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8930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289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737360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5968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95928"/>
            <a:ext cx="5577840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50791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507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98848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" y="4498848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58383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95928"/>
            <a:ext cx="5577840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050791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0507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498848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45936" y="4498848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358383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04]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[INSIGHTS]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8132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[Insight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920240"/>
            <a:ext cx="9875520" cy="777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19" y="2125979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del insight con evidencia de apoyo]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157276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36976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3697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[Insight 02]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3675887"/>
            <a:ext cx="9875520" cy="777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19" y="388162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del insight con evidencia de apoyo]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64608"/>
            <a:ext cx="11247120" cy="157276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92624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9262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[Insight 03]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5431536"/>
            <a:ext cx="9875520" cy="777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19" y="563727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del insight con evidencia de apoyo]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QUOTE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09728" cy="4754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9199"/>
                </a:solidFill>
                <a:latin typeface="Calibri"/>
              </a:rPr>
              <a:t>"[Cita o afirmacion de impacto que define el mensaje central del slide]"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45152"/>
            <a:ext cx="32004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3C52"/>
                </a:solidFill>
                <a:latin typeface="Calibri"/>
              </a:rPr>
              <a:t>[Atribucion -- Nombre, Rol o Fuente]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[CONCLUSIONES]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 Conclusiones]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47120" cy="16002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173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[Conclusion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828800"/>
            <a:ext cx="9875520" cy="8686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19" y="20802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concisa de la conclusion]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1247120" cy="16002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729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[Conclusion 02]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3584448"/>
            <a:ext cx="9875520" cy="8686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19" y="383590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concisa de la conclusion]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09744"/>
            <a:ext cx="11247120" cy="160020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28616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286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[Conclusion 03]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5340096"/>
            <a:ext cx="9875520" cy="8686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19" y="559155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concisa de la conclusion]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[PROXIMOS PASOS]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PROXIMOS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[Que sigue]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53218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2743200" cy="53218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743200" cy="53218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34440"/>
            <a:ext cx="2743200" cy="532180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8A9199"/>
                </a:solidFill>
                <a:latin typeface="Calibri"/>
              </a:rPr>
              <a:t>[Preguntas]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5099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43C52"/>
                </a:solidFill>
                <a:latin typeface="Calibri"/>
              </a:rPr>
              <a:t>[contacto@proyecto.com  --  github.com/proyecto  --  licencia]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199632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E3F"/>
                </a:solidFill>
                <a:latin typeface="Calibri"/>
              </a:rPr>
              <a:t>[Nombre  --  Universidad  --  Fecha]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CLOSING</a:t>
            </a:r>
          </a:p>
        </p:txBody>
      </p:sp>
      <p:sp>
        <p:nvSpPr>
          <p:cNvPr id="6" name="Oval 5"/>
          <p:cNvSpPr/>
          <p:nvPr/>
        </p:nvSpPr>
        <p:spPr>
          <a:xfrm>
            <a:off x="7955280" y="1907438"/>
            <a:ext cx="3840480" cy="3226003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0" y="2445105"/>
            <a:ext cx="2560320" cy="21506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0" y="2982772"/>
            <a:ext cx="1280160" cy="1075334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8A9199"/>
                </a:solidFill>
                <a:latin typeface="Calibri"/>
              </a:rPr>
              <a:t>[Mensaje final.
Una sola idea que el publico
llevara consigo.]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41148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43C52"/>
                </a:solidFill>
                <a:latin typeface="Calibri"/>
              </a:rPr>
              <a:t>[Tagline o proposito del proyecto]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362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E3F"/>
                </a:solidFill>
                <a:latin typeface="Calibri"/>
              </a:rPr>
              <a:t>[Autor  --  Institucion  --  Fecha]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GUIA DE ANIMACIONES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GUIA ANIMACIONES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Recomendaciones de animacion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PRINCIPIO: animaciones simples, sutiles y consistentes. Nunca exageradas.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57784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FADE (Desvanecer)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0.3-0.5s  Ease 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Aparicion de texto y contenido general.
El mas versatil y profesional.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57784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WIPE FROM 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0.4s  Ease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83464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Para timelines, procesos y elementos
que aparecen de forma secuencial.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15968"/>
            <a:ext cx="5577840" cy="22128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53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FLY IN FROM BOTTOM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828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0.3s  Ease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303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6752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Para tarjetas, KPIs y elementos
de datos que quieren impacto.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15968"/>
            <a:ext cx="5577840" cy="221284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453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NONE (Sin animacion)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828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2303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36752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Para slides de cierre, portada y
cualquier elemento decorativo.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