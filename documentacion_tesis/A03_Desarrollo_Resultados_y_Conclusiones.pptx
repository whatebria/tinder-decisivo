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presentacion mas extensa. Cubre como se materializo la solucion, las decisiones clave de diseno e ingenieria, los resultados obtenidos y las conclusiones.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PPT cubre los ACTOS 4 al 7 del guion narrativo. Reserva 20-25 minutos.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Presentar la evolucion como proceso de aprendizaje deliberado, no como errores. Cada iteracion revelo informacion que hizo mas precisa la siguiente. La hipotesis del swipe fue inteligente -- sus limitaciones la superaron.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slide es el pivote narrativo de la presentacion. El cambio de pregunta genero el cambio de paradigma. La audiencia debe entender que no fue un pivot improvisdado: fue el resultado de analizar sistematicamente las limitaciones del prototipo anterior.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5 diferenciadores no son arbitrarios. Cada uno responde a una falla concreta de las alternativas previas: Voto Informado no tenia matching, Decide Chile no tenia trazabilidad, ninguna tenia indicador de confianza ni codigo abierto.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separacion de responsabilidades tuvo un beneficio medible: los tests unitarios que operan sobre servicios son 30 veces mas rapidos que los tests de integracion que pasan por el stack completo.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orden del flujo es deliberado y se basa en la literatura de VAAs: el usuario que revela sus preferencias antes de ver resultados muestra menor influencia del sesgo de identificacion partidaria.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Principio 6 del sistema de decisiones de marca: si un color puede asociarse a un partido politico chileno, esta prohibido. La imparcialidad activa es una decision de diseno, no un estado pasivo.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diseno del home implementa el principio de claridad sobre sofisticacion. Si hay que elegir entre una visualizacion mas compleja y una mas comprensible, siempre gana la comprensible.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contexto educativo por pregunta es un diferenciador frente a VAAs simples. Cada pregunta incluye explicacion del tema y sus implicaciones en 5 dimensiones, redactada en tono neutral que presenta argumentos de distintas perspectivas.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indicador de confianza es el diferenciador mas unico de VotoAFin. Comunicar la incertidumbre no reduce el valor percibido: lo aumenta porque protege la credibilidad del sistema a largo plazo.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importador de datos rechaza posturas sin justificacion ni fuente. No es una restriccion opcional: es una restriccion tecnica que garantiza que el sistema no pueda distribuir posturas sin respaldo verificable.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principio que guia cada decision tecnica: la solucion mas simple que resuelve el problema real (KISS). No la mas sofisticada ni la mas popular.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tres desafios tienen algo en comun: no tienen solucion tecnica completa en el MVP. La respuesta correcta es documentarlos explicitamente y definir el camino hacia su resolucion.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crecimiento refleja maduracion de arquitectura, no solo acumulacion. De Sprint 8: 46 tests -&gt; 370, 7 pantallas -&gt; 17, 8 modelos -&gt; 19.</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honestidad academica es parte del rigor. OE7 parcial no es un fracaso: es la diferencia entre el MVP y el producto completo.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documentacion explicita de limitaciones es parte del rigor academico. El MVP funciona. No esta completo. Eso es correcto para una tesis de ingenieria.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roadmap esta documentado en el repositorio. La verificacion de datos (v0.2) es la deuda mas urgente -- es la que tiene mayor impacto directo en la calidad del resultado para el usuario.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valor academico no se limita al codigo producido. Incluye el conocimiento sobre como disenar VAAs en contextos con informacion incompleta, y como aplicar principios de ingenieria de software a productos de interes civico.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reflexion. Pausa. Deja que el mensaje sea leido. Esta es la razon de existir del proyecto, mas alla de los commits y los tests.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Sonrie. Respira. Estas lista. Algoritmo: funcion cuadratica con ponderacion en 4 niveles. Sostenibilidad: AGPL-3.0 + alianzas tipo Vote Compass/CBC. Neutralidad: niveles de confianza + fuentes verificadas + aviso al usuario.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88952" cy="10972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85800"/>
            <a:ext cx="10058400" cy="2194560"/>
          </a:xfrm>
          <a:prstGeom prst="rect">
            <a:avLst/>
          </a:prstGeom>
          <a:noFill/>
        </p:spPr>
        <p:txBody>
          <a:bodyPr wrap="square">
            <a:spAutoFit/>
          </a:bodyPr>
          <a:lstStyle/>
          <a:p>
            <a:pPr algn="l"/>
            <a:r>
              <a:rPr sz="5200" b="1">
                <a:solidFill>
                  <a:srgbClr val="FFFFFF"/>
                </a:solidFill>
                <a:latin typeface="Calibri"/>
              </a:rPr>
              <a:t>Desarrollo,
Resultados
y Conclusiones</a:t>
            </a:r>
          </a:p>
        </p:txBody>
      </p:sp>
      <p:sp>
        <p:nvSpPr>
          <p:cNvPr id="5" name="Rectangle 4"/>
          <p:cNvSpPr/>
          <p:nvPr/>
        </p:nvSpPr>
        <p:spPr>
          <a:xfrm>
            <a:off x="640080" y="3127248"/>
            <a:ext cx="4572000" cy="36576"/>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310128"/>
            <a:ext cx="10058400" cy="384048"/>
          </a:xfrm>
          <a:prstGeom prst="rect">
            <a:avLst/>
          </a:prstGeom>
          <a:noFill/>
        </p:spPr>
        <p:txBody>
          <a:bodyPr wrap="square">
            <a:spAutoFit/>
          </a:bodyPr>
          <a:lstStyle/>
          <a:p>
            <a:pPr algn="l"/>
            <a:r>
              <a:rPr sz="1400" b="1">
                <a:solidFill>
                  <a:srgbClr val="3A9E7A"/>
                </a:solidFill>
                <a:latin typeface="Calibri"/>
              </a:rPr>
              <a:t>Presentacion 03  --  Construccion, decisiones e impacto del proyecto</a:t>
            </a:r>
          </a:p>
        </p:txBody>
      </p:sp>
      <p:sp>
        <p:nvSpPr>
          <p:cNvPr id="7" name="TextBox 6"/>
          <p:cNvSpPr txBox="1"/>
          <p:nvPr/>
        </p:nvSpPr>
        <p:spPr>
          <a:xfrm>
            <a:off x="640080" y="6291072"/>
            <a:ext cx="10972800" cy="384048"/>
          </a:xfrm>
          <a:prstGeom prst="rect">
            <a:avLst/>
          </a:prstGeom>
          <a:noFill/>
        </p:spPr>
        <p:txBody>
          <a:bodyPr wrap="square">
            <a:spAutoFit/>
          </a:bodyPr>
          <a:lstStyle/>
          <a:p>
            <a:pPr algn="l"/>
            <a:r>
              <a:rPr sz="1200" b="0">
                <a:solidFill>
                  <a:srgbClr val="8A9199"/>
                </a:solidFill>
                <a:latin typeface="Calibri"/>
              </a:rPr>
              <a:t>VotoAFin  --  Jenifer Castillo  --  UTFSM  --  Agosto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3A9E7A"/>
                </a:solidFill>
                <a:latin typeface="Calibri"/>
              </a:rPr>
              <a:t>AGENDA</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4000" b="1">
                <a:solidFill>
                  <a:srgbClr val="1C3A52"/>
                </a:solidFill>
                <a:latin typeface="Calibri"/>
              </a:rPr>
              <a:t>Lo que cubriremos</a:t>
            </a:r>
          </a:p>
        </p:txBody>
      </p:sp>
      <p:sp>
        <p:nvSpPr>
          <p:cNvPr id="5" name="Rectangle 4"/>
          <p:cNvSpPr/>
          <p:nvPr/>
        </p:nvSpPr>
        <p:spPr>
          <a:xfrm>
            <a:off x="457200" y="1234440"/>
            <a:ext cx="1124712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34440"/>
            <a:ext cx="502920" cy="713232"/>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62456"/>
            <a:ext cx="365760" cy="438912"/>
          </a:xfrm>
          <a:prstGeom prst="rect">
            <a:avLst/>
          </a:prstGeom>
          <a:noFill/>
        </p:spPr>
        <p:txBody>
          <a:bodyPr wrap="square">
            <a:spAutoFit/>
          </a:bodyPr>
          <a:lstStyle/>
          <a:p>
            <a:pPr algn="ctr"/>
            <a:r>
              <a:rPr sz="1300" b="1">
                <a:solidFill>
                  <a:srgbClr val="FFFFFF"/>
                </a:solidFill>
                <a:latin typeface="Calibri"/>
              </a:rPr>
              <a:t>01</a:t>
            </a:r>
          </a:p>
        </p:txBody>
      </p:sp>
      <p:sp>
        <p:nvSpPr>
          <p:cNvPr id="8" name="TextBox 7"/>
          <p:cNvSpPr txBox="1"/>
          <p:nvPr/>
        </p:nvSpPr>
        <p:spPr>
          <a:xfrm>
            <a:off x="1097280" y="1389888"/>
            <a:ext cx="9875520" cy="384048"/>
          </a:xfrm>
          <a:prstGeom prst="rect">
            <a:avLst/>
          </a:prstGeom>
          <a:noFill/>
        </p:spPr>
        <p:txBody>
          <a:bodyPr wrap="square">
            <a:spAutoFit/>
          </a:bodyPr>
          <a:lstStyle/>
          <a:p>
            <a:pPr algn="l"/>
            <a:r>
              <a:rPr sz="1500" b="1">
                <a:solidFill>
                  <a:srgbClr val="1C3A52"/>
                </a:solidFill>
                <a:latin typeface="Calibri"/>
              </a:rPr>
              <a:t>Evolucion de la solucion</a:t>
            </a:r>
          </a:p>
        </p:txBody>
      </p:sp>
      <p:sp>
        <p:nvSpPr>
          <p:cNvPr id="9" name="Rectangle 8"/>
          <p:cNvSpPr/>
          <p:nvPr/>
        </p:nvSpPr>
        <p:spPr>
          <a:xfrm>
            <a:off x="457200" y="2011680"/>
            <a:ext cx="11247120" cy="713232"/>
          </a:xfrm>
          <a:prstGeom prst="rect">
            <a:avLst/>
          </a:prstGeom>
          <a:solidFill>
            <a:srgbClr val="EA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011680"/>
            <a:ext cx="502920" cy="713232"/>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139696"/>
            <a:ext cx="365760" cy="438912"/>
          </a:xfrm>
          <a:prstGeom prst="rect">
            <a:avLst/>
          </a:prstGeom>
          <a:noFill/>
        </p:spPr>
        <p:txBody>
          <a:bodyPr wrap="square">
            <a:spAutoFit/>
          </a:bodyPr>
          <a:lstStyle/>
          <a:p>
            <a:pPr algn="ctr"/>
            <a:r>
              <a:rPr sz="1300" b="1">
                <a:solidFill>
                  <a:srgbClr val="FFFFFF"/>
                </a:solidFill>
                <a:latin typeface="Calibri"/>
              </a:rPr>
              <a:t>02</a:t>
            </a:r>
          </a:p>
        </p:txBody>
      </p:sp>
      <p:sp>
        <p:nvSpPr>
          <p:cNvPr id="12" name="TextBox 11"/>
          <p:cNvSpPr txBox="1"/>
          <p:nvPr/>
        </p:nvSpPr>
        <p:spPr>
          <a:xfrm>
            <a:off x="1097280" y="2167128"/>
            <a:ext cx="9875520" cy="384048"/>
          </a:xfrm>
          <a:prstGeom prst="rect">
            <a:avLst/>
          </a:prstGeom>
          <a:noFill/>
        </p:spPr>
        <p:txBody>
          <a:bodyPr wrap="square">
            <a:spAutoFit/>
          </a:bodyPr>
          <a:lstStyle/>
          <a:p>
            <a:pPr algn="l"/>
            <a:r>
              <a:rPr sz="1500" b="0">
                <a:solidFill>
                  <a:srgbClr val="1C3A52"/>
                </a:solidFill>
                <a:latin typeface="Calibri"/>
              </a:rPr>
              <a:t>Diseno del producto y UX</a:t>
            </a:r>
          </a:p>
        </p:txBody>
      </p:sp>
      <p:sp>
        <p:nvSpPr>
          <p:cNvPr id="13" name="Rectangle 12"/>
          <p:cNvSpPr/>
          <p:nvPr/>
        </p:nvSpPr>
        <p:spPr>
          <a:xfrm>
            <a:off x="457200" y="2788920"/>
            <a:ext cx="1124712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788920"/>
            <a:ext cx="502920" cy="713232"/>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916936"/>
            <a:ext cx="365760" cy="438912"/>
          </a:xfrm>
          <a:prstGeom prst="rect">
            <a:avLst/>
          </a:prstGeom>
          <a:noFill/>
        </p:spPr>
        <p:txBody>
          <a:bodyPr wrap="square">
            <a:spAutoFit/>
          </a:bodyPr>
          <a:lstStyle/>
          <a:p>
            <a:pPr algn="ctr"/>
            <a:r>
              <a:rPr sz="1300" b="1">
                <a:solidFill>
                  <a:srgbClr val="FFFFFF"/>
                </a:solidFill>
                <a:latin typeface="Calibri"/>
              </a:rPr>
              <a:t>03</a:t>
            </a:r>
          </a:p>
        </p:txBody>
      </p:sp>
      <p:sp>
        <p:nvSpPr>
          <p:cNvPr id="16" name="TextBox 15"/>
          <p:cNvSpPr txBox="1"/>
          <p:nvPr/>
        </p:nvSpPr>
        <p:spPr>
          <a:xfrm>
            <a:off x="1097280" y="2944368"/>
            <a:ext cx="9875520" cy="384048"/>
          </a:xfrm>
          <a:prstGeom prst="rect">
            <a:avLst/>
          </a:prstGeom>
          <a:noFill/>
        </p:spPr>
        <p:txBody>
          <a:bodyPr wrap="square">
            <a:spAutoFit/>
          </a:bodyPr>
          <a:lstStyle/>
          <a:p>
            <a:pPr algn="l"/>
            <a:r>
              <a:rPr sz="1500" b="0">
                <a:solidFill>
                  <a:srgbClr val="1C3A52"/>
                </a:solidFill>
                <a:latin typeface="Calibri"/>
              </a:rPr>
              <a:t>Arquitectura conceptual</a:t>
            </a:r>
          </a:p>
        </p:txBody>
      </p:sp>
      <p:sp>
        <p:nvSpPr>
          <p:cNvPr id="17" name="Rectangle 16"/>
          <p:cNvSpPr/>
          <p:nvPr/>
        </p:nvSpPr>
        <p:spPr>
          <a:xfrm>
            <a:off x="457200" y="3566160"/>
            <a:ext cx="11247120" cy="713232"/>
          </a:xfrm>
          <a:prstGeom prst="rect">
            <a:avLst/>
          </a:prstGeom>
          <a:solidFill>
            <a:srgbClr val="EA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566160"/>
            <a:ext cx="502920" cy="713232"/>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694176"/>
            <a:ext cx="365760" cy="438912"/>
          </a:xfrm>
          <a:prstGeom prst="rect">
            <a:avLst/>
          </a:prstGeom>
          <a:noFill/>
        </p:spPr>
        <p:txBody>
          <a:bodyPr wrap="square">
            <a:spAutoFit/>
          </a:bodyPr>
          <a:lstStyle/>
          <a:p>
            <a:pPr algn="ctr"/>
            <a:r>
              <a:rPr sz="1300" b="1">
                <a:solidFill>
                  <a:srgbClr val="FFFFFF"/>
                </a:solidFill>
                <a:latin typeface="Calibri"/>
              </a:rPr>
              <a:t>04</a:t>
            </a:r>
          </a:p>
        </p:txBody>
      </p:sp>
      <p:sp>
        <p:nvSpPr>
          <p:cNvPr id="20" name="TextBox 19"/>
          <p:cNvSpPr txBox="1"/>
          <p:nvPr/>
        </p:nvSpPr>
        <p:spPr>
          <a:xfrm>
            <a:off x="1097280" y="3721608"/>
            <a:ext cx="9875520" cy="384048"/>
          </a:xfrm>
          <a:prstGeom prst="rect">
            <a:avLst/>
          </a:prstGeom>
          <a:noFill/>
        </p:spPr>
        <p:txBody>
          <a:bodyPr wrap="square">
            <a:spAutoFit/>
          </a:bodyPr>
          <a:lstStyle/>
          <a:p>
            <a:pPr algn="l"/>
            <a:r>
              <a:rPr sz="1500" b="0">
                <a:solidFill>
                  <a:srgbClr val="1C3A52"/>
                </a:solidFill>
                <a:latin typeface="Calibri"/>
              </a:rPr>
              <a:t>Funcionalidades implementadas</a:t>
            </a:r>
          </a:p>
        </p:txBody>
      </p:sp>
      <p:sp>
        <p:nvSpPr>
          <p:cNvPr id="21" name="Rectangle 20"/>
          <p:cNvSpPr/>
          <p:nvPr/>
        </p:nvSpPr>
        <p:spPr>
          <a:xfrm>
            <a:off x="457200" y="4343400"/>
            <a:ext cx="1124712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343400"/>
            <a:ext cx="502920" cy="713232"/>
          </a:xfrm>
          <a:prstGeom prst="rect">
            <a:avLst/>
          </a:prstGeom>
          <a:solidFill>
            <a:srgbClr val="6B9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471416"/>
            <a:ext cx="365760" cy="438912"/>
          </a:xfrm>
          <a:prstGeom prst="rect">
            <a:avLst/>
          </a:prstGeom>
          <a:noFill/>
        </p:spPr>
        <p:txBody>
          <a:bodyPr wrap="square">
            <a:spAutoFit/>
          </a:bodyPr>
          <a:lstStyle/>
          <a:p>
            <a:pPr algn="ctr"/>
            <a:r>
              <a:rPr sz="1300" b="1">
                <a:solidFill>
                  <a:srgbClr val="FFFFFF"/>
                </a:solidFill>
                <a:latin typeface="Calibri"/>
              </a:rPr>
              <a:t>05</a:t>
            </a:r>
          </a:p>
        </p:txBody>
      </p:sp>
      <p:sp>
        <p:nvSpPr>
          <p:cNvPr id="24" name="TextBox 23"/>
          <p:cNvSpPr txBox="1"/>
          <p:nvPr/>
        </p:nvSpPr>
        <p:spPr>
          <a:xfrm>
            <a:off x="1097280" y="4498848"/>
            <a:ext cx="9875520" cy="384048"/>
          </a:xfrm>
          <a:prstGeom prst="rect">
            <a:avLst/>
          </a:prstGeom>
          <a:noFill/>
        </p:spPr>
        <p:txBody>
          <a:bodyPr wrap="square">
            <a:spAutoFit/>
          </a:bodyPr>
          <a:lstStyle/>
          <a:p>
            <a:pPr algn="l"/>
            <a:r>
              <a:rPr sz="1500" b="0">
                <a:solidFill>
                  <a:srgbClr val="1C3A52"/>
                </a:solidFill>
                <a:latin typeface="Calibri"/>
              </a:rPr>
              <a:t>Principales decisiones de ingenieria</a:t>
            </a:r>
          </a:p>
        </p:txBody>
      </p:sp>
      <p:sp>
        <p:nvSpPr>
          <p:cNvPr id="25" name="Rectangle 24"/>
          <p:cNvSpPr/>
          <p:nvPr/>
        </p:nvSpPr>
        <p:spPr>
          <a:xfrm>
            <a:off x="457200" y="5120640"/>
            <a:ext cx="11247120" cy="713232"/>
          </a:xfrm>
          <a:prstGeom prst="rect">
            <a:avLst/>
          </a:prstGeom>
          <a:solidFill>
            <a:srgbClr val="EA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5120640"/>
            <a:ext cx="502920" cy="713232"/>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248655"/>
            <a:ext cx="365760" cy="438912"/>
          </a:xfrm>
          <a:prstGeom prst="rect">
            <a:avLst/>
          </a:prstGeom>
          <a:noFill/>
        </p:spPr>
        <p:txBody>
          <a:bodyPr wrap="square">
            <a:spAutoFit/>
          </a:bodyPr>
          <a:lstStyle/>
          <a:p>
            <a:pPr algn="ctr"/>
            <a:r>
              <a:rPr sz="1300" b="1">
                <a:solidFill>
                  <a:srgbClr val="FFFFFF"/>
                </a:solidFill>
                <a:latin typeface="Calibri"/>
              </a:rPr>
              <a:t>06</a:t>
            </a:r>
          </a:p>
        </p:txBody>
      </p:sp>
      <p:sp>
        <p:nvSpPr>
          <p:cNvPr id="28" name="TextBox 27"/>
          <p:cNvSpPr txBox="1"/>
          <p:nvPr/>
        </p:nvSpPr>
        <p:spPr>
          <a:xfrm>
            <a:off x="1097280" y="5276088"/>
            <a:ext cx="9875520" cy="384048"/>
          </a:xfrm>
          <a:prstGeom prst="rect">
            <a:avLst/>
          </a:prstGeom>
          <a:noFill/>
        </p:spPr>
        <p:txBody>
          <a:bodyPr wrap="square">
            <a:spAutoFit/>
          </a:bodyPr>
          <a:lstStyle/>
          <a:p>
            <a:pPr algn="l"/>
            <a:r>
              <a:rPr sz="1500" b="0">
                <a:solidFill>
                  <a:srgbClr val="1C3A52"/>
                </a:solidFill>
                <a:latin typeface="Calibri"/>
              </a:rPr>
              <a:t>Resultados y cumplimiento de objetivos</a:t>
            </a:r>
          </a:p>
        </p:txBody>
      </p:sp>
      <p:sp>
        <p:nvSpPr>
          <p:cNvPr id="29" name="Rectangle 28"/>
          <p:cNvSpPr/>
          <p:nvPr/>
        </p:nvSpPr>
        <p:spPr>
          <a:xfrm>
            <a:off x="457200" y="5897879"/>
            <a:ext cx="1124712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5897879"/>
            <a:ext cx="502920" cy="713232"/>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6025895"/>
            <a:ext cx="365760" cy="438912"/>
          </a:xfrm>
          <a:prstGeom prst="rect">
            <a:avLst/>
          </a:prstGeom>
          <a:noFill/>
        </p:spPr>
        <p:txBody>
          <a:bodyPr wrap="square">
            <a:spAutoFit/>
          </a:bodyPr>
          <a:lstStyle/>
          <a:p>
            <a:pPr algn="ctr"/>
            <a:r>
              <a:rPr sz="1300" b="1">
                <a:solidFill>
                  <a:srgbClr val="FFFFFF"/>
                </a:solidFill>
                <a:latin typeface="Calibri"/>
              </a:rPr>
              <a:t>07</a:t>
            </a:r>
          </a:p>
        </p:txBody>
      </p:sp>
      <p:sp>
        <p:nvSpPr>
          <p:cNvPr id="32" name="TextBox 31"/>
          <p:cNvSpPr txBox="1"/>
          <p:nvPr/>
        </p:nvSpPr>
        <p:spPr>
          <a:xfrm>
            <a:off x="1097280" y="6053327"/>
            <a:ext cx="9875520" cy="384048"/>
          </a:xfrm>
          <a:prstGeom prst="rect">
            <a:avLst/>
          </a:prstGeom>
          <a:noFill/>
        </p:spPr>
        <p:txBody>
          <a:bodyPr wrap="square">
            <a:spAutoFit/>
          </a:bodyPr>
          <a:lstStyle/>
          <a:p>
            <a:pPr algn="l"/>
            <a:r>
              <a:rPr sz="1500" b="0">
                <a:solidFill>
                  <a:srgbClr val="1C3A52"/>
                </a:solidFill>
                <a:latin typeface="Calibri"/>
              </a:rPr>
              <a:t>Limitaciones, trabajo futuro y conclusiones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3A9E7A"/>
                </a:solidFill>
                <a:latin typeface="Calibri"/>
              </a:rPr>
              <a:t>EVOLUCION DE LA SOLUCION</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4000" b="1">
                <a:solidFill>
                  <a:srgbClr val="FFFFFF"/>
                </a:solidFill>
                <a:latin typeface="Calibri"/>
              </a:rPr>
              <a:t>Tres iteraciones de diseno.</a:t>
            </a:r>
          </a:p>
        </p:txBody>
      </p:sp>
      <p:sp>
        <p:nvSpPr>
          <p:cNvPr id="5" name="Rectangle 4"/>
          <p:cNvSpPr/>
          <p:nvPr/>
        </p:nvSpPr>
        <p:spPr>
          <a:xfrm>
            <a:off x="548640" y="3246120"/>
            <a:ext cx="10881360" cy="45720"/>
          </a:xfrm>
          <a:prstGeom prst="rect">
            <a:avLst/>
          </a:prstGeom>
          <a:solidFill>
            <a:srgbClr val="CBD1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63040" y="3063240"/>
            <a:ext cx="685800" cy="68580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08760" y="3108960"/>
            <a:ext cx="594360" cy="530352"/>
          </a:xfrm>
          <a:prstGeom prst="rect">
            <a:avLst/>
          </a:prstGeom>
          <a:noFill/>
        </p:spPr>
        <p:txBody>
          <a:bodyPr wrap="square">
            <a:spAutoFit/>
          </a:bodyPr>
          <a:lstStyle/>
          <a:p>
            <a:pPr algn="ctr"/>
            <a:r>
              <a:rPr sz="1600" b="1">
                <a:solidFill>
                  <a:srgbClr val="FFFFFF"/>
                </a:solidFill>
                <a:latin typeface="Calibri"/>
              </a:rPr>
              <a:t>1</a:t>
            </a:r>
          </a:p>
        </p:txBody>
      </p:sp>
      <p:sp>
        <p:nvSpPr>
          <p:cNvPr id="8" name="TextBox 7"/>
          <p:cNvSpPr txBox="1"/>
          <p:nvPr/>
        </p:nvSpPr>
        <p:spPr>
          <a:xfrm>
            <a:off x="548640" y="2176272"/>
            <a:ext cx="3566160" cy="685800"/>
          </a:xfrm>
          <a:prstGeom prst="rect">
            <a:avLst/>
          </a:prstGeom>
          <a:noFill/>
        </p:spPr>
        <p:txBody>
          <a:bodyPr wrap="square">
            <a:spAutoFit/>
          </a:bodyPr>
          <a:lstStyle/>
          <a:p>
            <a:pPr algn="ctr"/>
            <a:r>
              <a:rPr sz="1000" b="1">
                <a:solidFill>
                  <a:srgbClr val="C89B5C"/>
                </a:solidFill>
                <a:latin typeface="Calibri"/>
              </a:rPr>
              <a:t>ETAPA 1
2024</a:t>
            </a:r>
          </a:p>
        </p:txBody>
      </p:sp>
      <p:sp>
        <p:nvSpPr>
          <p:cNvPr id="9" name="Rectangle 8"/>
          <p:cNvSpPr/>
          <p:nvPr/>
        </p:nvSpPr>
        <p:spPr>
          <a:xfrm>
            <a:off x="548640" y="3858768"/>
            <a:ext cx="3520440" cy="150876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977639"/>
            <a:ext cx="3246120" cy="384048"/>
          </a:xfrm>
          <a:prstGeom prst="rect">
            <a:avLst/>
          </a:prstGeom>
          <a:noFill/>
        </p:spPr>
        <p:txBody>
          <a:bodyPr wrap="square">
            <a:spAutoFit/>
          </a:bodyPr>
          <a:lstStyle/>
          <a:p>
            <a:pPr algn="l"/>
            <a:r>
              <a:rPr sz="1200" b="1">
                <a:solidFill>
                  <a:srgbClr val="FFFFFF"/>
                </a:solidFill>
                <a:latin typeface="Calibri"/>
              </a:rPr>
              <a:t>EMPRENDIMIENTO</a:t>
            </a:r>
          </a:p>
        </p:txBody>
      </p:sp>
      <p:sp>
        <p:nvSpPr>
          <p:cNvPr id="11" name="TextBox 10"/>
          <p:cNvSpPr txBox="1"/>
          <p:nvPr/>
        </p:nvSpPr>
        <p:spPr>
          <a:xfrm>
            <a:off x="685800" y="4407408"/>
            <a:ext cx="3246120" cy="868680"/>
          </a:xfrm>
          <a:prstGeom prst="rect">
            <a:avLst/>
          </a:prstGeom>
          <a:noFill/>
        </p:spPr>
        <p:txBody>
          <a:bodyPr wrap="square">
            <a:spAutoFit/>
          </a:bodyPr>
          <a:lstStyle/>
          <a:p>
            <a:pPr algn="l"/>
            <a:r>
              <a:rPr sz="1100" b="0">
                <a:solidFill>
                  <a:srgbClr val="FFFFFF"/>
                </a:solidFill>
                <a:latin typeface="Calibri"/>
              </a:rPr>
              <a:t>Investigacion y primera hipotesis.
Gamificacion civica con
puntos y recompensas.</a:t>
            </a:r>
          </a:p>
        </p:txBody>
      </p:sp>
      <p:sp>
        <p:nvSpPr>
          <p:cNvPr id="12" name="Rectangle 11"/>
          <p:cNvSpPr/>
          <p:nvPr/>
        </p:nvSpPr>
        <p:spPr>
          <a:xfrm>
            <a:off x="548640" y="5532120"/>
            <a:ext cx="3520440" cy="1234440"/>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650992"/>
            <a:ext cx="3246120" cy="914400"/>
          </a:xfrm>
          <a:prstGeom prst="rect">
            <a:avLst/>
          </a:prstGeom>
          <a:noFill/>
        </p:spPr>
        <p:txBody>
          <a:bodyPr wrap="square">
            <a:spAutoFit/>
          </a:bodyPr>
          <a:lstStyle/>
          <a:p>
            <a:pPr algn="l"/>
            <a:r>
              <a:rPr sz="1100" b="0">
                <a:solidFill>
                  <a:srgbClr val="CBD1CD"/>
                </a:solidFill>
                <a:latin typeface="Calibri"/>
              </a:rPr>
              <a:t>APRENDIZAJE:
La gamificacion no aborda
la calidad del voto.</a:t>
            </a:r>
          </a:p>
        </p:txBody>
      </p:sp>
      <p:sp>
        <p:nvSpPr>
          <p:cNvPr id="14" name="Rectangle 13"/>
          <p:cNvSpPr/>
          <p:nvPr/>
        </p:nvSpPr>
        <p:spPr>
          <a:xfrm>
            <a:off x="5285231" y="3063240"/>
            <a:ext cx="685800" cy="68580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30951" y="3108960"/>
            <a:ext cx="594360" cy="530352"/>
          </a:xfrm>
          <a:prstGeom prst="rect">
            <a:avLst/>
          </a:prstGeom>
          <a:noFill/>
        </p:spPr>
        <p:txBody>
          <a:bodyPr wrap="square">
            <a:spAutoFit/>
          </a:bodyPr>
          <a:lstStyle/>
          <a:p>
            <a:pPr algn="ctr"/>
            <a:r>
              <a:rPr sz="1600" b="1">
                <a:solidFill>
                  <a:srgbClr val="FFFFFF"/>
                </a:solidFill>
                <a:latin typeface="Calibri"/>
              </a:rPr>
              <a:t>2</a:t>
            </a:r>
          </a:p>
        </p:txBody>
      </p:sp>
      <p:sp>
        <p:nvSpPr>
          <p:cNvPr id="16" name="TextBox 15"/>
          <p:cNvSpPr txBox="1"/>
          <p:nvPr/>
        </p:nvSpPr>
        <p:spPr>
          <a:xfrm>
            <a:off x="4370831" y="2176272"/>
            <a:ext cx="3566160" cy="685800"/>
          </a:xfrm>
          <a:prstGeom prst="rect">
            <a:avLst/>
          </a:prstGeom>
          <a:noFill/>
        </p:spPr>
        <p:txBody>
          <a:bodyPr wrap="square">
            <a:spAutoFit/>
          </a:bodyPr>
          <a:lstStyle/>
          <a:p>
            <a:pPr algn="ctr"/>
            <a:r>
              <a:rPr sz="1000" b="1">
                <a:solidFill>
                  <a:srgbClr val="B85C5C"/>
                </a:solidFill>
                <a:latin typeface="Calibri"/>
              </a:rPr>
              <a:t>ETAPA 2
2025</a:t>
            </a:r>
          </a:p>
        </p:txBody>
      </p:sp>
      <p:sp>
        <p:nvSpPr>
          <p:cNvPr id="17" name="Rectangle 16"/>
          <p:cNvSpPr/>
          <p:nvPr/>
        </p:nvSpPr>
        <p:spPr>
          <a:xfrm>
            <a:off x="4370831" y="3858768"/>
            <a:ext cx="3520440" cy="150876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7992" y="3977639"/>
            <a:ext cx="3246120" cy="384048"/>
          </a:xfrm>
          <a:prstGeom prst="rect">
            <a:avLst/>
          </a:prstGeom>
          <a:noFill/>
        </p:spPr>
        <p:txBody>
          <a:bodyPr wrap="square">
            <a:spAutoFit/>
          </a:bodyPr>
          <a:lstStyle/>
          <a:p>
            <a:pPr algn="l"/>
            <a:r>
              <a:rPr sz="1200" b="1">
                <a:solidFill>
                  <a:srgbClr val="FFFFFF"/>
                </a:solidFill>
                <a:latin typeface="Calibri"/>
              </a:rPr>
              <a:t>APP MOVIL</a:t>
            </a:r>
          </a:p>
        </p:txBody>
      </p:sp>
      <p:sp>
        <p:nvSpPr>
          <p:cNvPr id="19" name="TextBox 18"/>
          <p:cNvSpPr txBox="1"/>
          <p:nvPr/>
        </p:nvSpPr>
        <p:spPr>
          <a:xfrm>
            <a:off x="4507992" y="4407408"/>
            <a:ext cx="3246120" cy="868680"/>
          </a:xfrm>
          <a:prstGeom prst="rect">
            <a:avLst/>
          </a:prstGeom>
          <a:noFill/>
        </p:spPr>
        <p:txBody>
          <a:bodyPr wrap="square">
            <a:spAutoFit/>
          </a:bodyPr>
          <a:lstStyle/>
          <a:p>
            <a:pPr algn="l"/>
            <a:r>
              <a:rPr sz="1100" b="0">
                <a:solidFill>
                  <a:srgbClr val="FFFFFF"/>
                </a:solidFill>
                <a:latin typeface="Calibri"/>
              </a:rPr>
              <a:t>Prototipo con mecanica de swipe.
Candidatos deslizables
interaccion binaria.</a:t>
            </a:r>
          </a:p>
        </p:txBody>
      </p:sp>
      <p:sp>
        <p:nvSpPr>
          <p:cNvPr id="20" name="Rectangle 19"/>
          <p:cNvSpPr/>
          <p:nvPr/>
        </p:nvSpPr>
        <p:spPr>
          <a:xfrm>
            <a:off x="4370831" y="5532120"/>
            <a:ext cx="3520440" cy="1234440"/>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07992" y="5650992"/>
            <a:ext cx="3246120" cy="914400"/>
          </a:xfrm>
          <a:prstGeom prst="rect">
            <a:avLst/>
          </a:prstGeom>
          <a:noFill/>
        </p:spPr>
        <p:txBody>
          <a:bodyPr wrap="square">
            <a:spAutoFit/>
          </a:bodyPr>
          <a:lstStyle/>
          <a:p>
            <a:pPr algn="l"/>
            <a:r>
              <a:rPr sz="1100" b="0">
                <a:solidFill>
                  <a:srgbClr val="CBD1CD"/>
                </a:solidFill>
                <a:latin typeface="Calibri"/>
              </a:rPr>
              <a:t>APRENDIZAJE:
Binario vs. matiz politico.
Datos requieren verificacion.</a:t>
            </a:r>
          </a:p>
        </p:txBody>
      </p:sp>
      <p:sp>
        <p:nvSpPr>
          <p:cNvPr id="22" name="Rectangle 21"/>
          <p:cNvSpPr/>
          <p:nvPr/>
        </p:nvSpPr>
        <p:spPr>
          <a:xfrm>
            <a:off x="9107424" y="3063240"/>
            <a:ext cx="685800" cy="68580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53144" y="3108960"/>
            <a:ext cx="594360" cy="530352"/>
          </a:xfrm>
          <a:prstGeom prst="rect">
            <a:avLst/>
          </a:prstGeom>
          <a:noFill/>
        </p:spPr>
        <p:txBody>
          <a:bodyPr wrap="square">
            <a:spAutoFit/>
          </a:bodyPr>
          <a:lstStyle/>
          <a:p>
            <a:pPr algn="ctr"/>
            <a:r>
              <a:rPr sz="1600" b="1">
                <a:solidFill>
                  <a:srgbClr val="FFFFFF"/>
                </a:solidFill>
                <a:latin typeface="Calibri"/>
              </a:rPr>
              <a:t>3</a:t>
            </a:r>
          </a:p>
        </p:txBody>
      </p:sp>
      <p:sp>
        <p:nvSpPr>
          <p:cNvPr id="24" name="TextBox 23"/>
          <p:cNvSpPr txBox="1"/>
          <p:nvPr/>
        </p:nvSpPr>
        <p:spPr>
          <a:xfrm>
            <a:off x="8193023" y="2176272"/>
            <a:ext cx="3566160" cy="685800"/>
          </a:xfrm>
          <a:prstGeom prst="rect">
            <a:avLst/>
          </a:prstGeom>
          <a:noFill/>
        </p:spPr>
        <p:txBody>
          <a:bodyPr wrap="square">
            <a:spAutoFit/>
          </a:bodyPr>
          <a:lstStyle/>
          <a:p>
            <a:pPr algn="ctr"/>
            <a:r>
              <a:rPr sz="1000" b="1">
                <a:solidFill>
                  <a:srgbClr val="3A9E7A"/>
                </a:solidFill>
                <a:latin typeface="Calibri"/>
              </a:rPr>
              <a:t>ETAPA 3
2025-26</a:t>
            </a:r>
          </a:p>
        </p:txBody>
      </p:sp>
      <p:sp>
        <p:nvSpPr>
          <p:cNvPr id="25" name="Rectangle 24"/>
          <p:cNvSpPr/>
          <p:nvPr/>
        </p:nvSpPr>
        <p:spPr>
          <a:xfrm>
            <a:off x="8193023" y="3858768"/>
            <a:ext cx="3520440" cy="150876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30183" y="3977639"/>
            <a:ext cx="3246120" cy="384048"/>
          </a:xfrm>
          <a:prstGeom prst="rect">
            <a:avLst/>
          </a:prstGeom>
          <a:noFill/>
        </p:spPr>
        <p:txBody>
          <a:bodyPr wrap="square">
            <a:spAutoFit/>
          </a:bodyPr>
          <a:lstStyle/>
          <a:p>
            <a:pPr algn="l"/>
            <a:r>
              <a:rPr sz="1200" b="1">
                <a:solidFill>
                  <a:srgbClr val="FFFFFF"/>
                </a:solidFill>
                <a:latin typeface="Calibri"/>
              </a:rPr>
              <a:t>VOTOAFIN VAA</a:t>
            </a:r>
          </a:p>
        </p:txBody>
      </p:sp>
      <p:sp>
        <p:nvSpPr>
          <p:cNvPr id="27" name="TextBox 26"/>
          <p:cNvSpPr txBox="1"/>
          <p:nvPr/>
        </p:nvSpPr>
        <p:spPr>
          <a:xfrm>
            <a:off x="8330183" y="4407408"/>
            <a:ext cx="3246120" cy="868680"/>
          </a:xfrm>
          <a:prstGeom prst="rect">
            <a:avLst/>
          </a:prstGeom>
          <a:noFill/>
        </p:spPr>
        <p:txBody>
          <a:bodyPr wrap="square">
            <a:spAutoFit/>
          </a:bodyPr>
          <a:lstStyle/>
          <a:p>
            <a:pPr algn="l"/>
            <a:r>
              <a:rPr sz="1100" b="0">
                <a:solidFill>
                  <a:srgbClr val="FFFFFF"/>
                </a:solidFill>
                <a:latin typeface="Calibri"/>
              </a:rPr>
              <a:t>Sistema completo con
cuestionario Likert, matching
cuadratico y codigo abierto.</a:t>
            </a:r>
          </a:p>
        </p:txBody>
      </p:sp>
      <p:sp>
        <p:nvSpPr>
          <p:cNvPr id="28" name="Rectangle 27"/>
          <p:cNvSpPr/>
          <p:nvPr/>
        </p:nvSpPr>
        <p:spPr>
          <a:xfrm>
            <a:off x="8193023" y="5532120"/>
            <a:ext cx="3520440" cy="1234440"/>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30183" y="5650992"/>
            <a:ext cx="3246120" cy="914400"/>
          </a:xfrm>
          <a:prstGeom prst="rect">
            <a:avLst/>
          </a:prstGeom>
          <a:noFill/>
        </p:spPr>
        <p:txBody>
          <a:bodyPr wrap="square">
            <a:spAutoFit/>
          </a:bodyPr>
          <a:lstStyle/>
          <a:p>
            <a:pPr algn="l"/>
            <a:r>
              <a:rPr sz="1100" b="0">
                <a:solidFill>
                  <a:srgbClr val="CBD1CD"/>
                </a:solidFill>
                <a:latin typeface="Calibri"/>
              </a:rPr>
              <a:t>RESULTADO:
MVP funcional.
370 tests. AGPL-3.0.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3A9E7A"/>
                </a:solidFill>
                <a:latin typeface="Calibri"/>
              </a:rPr>
              <a:t>EL CAMBIO CONCEPTUAL</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4000" b="1">
                <a:solidFill>
                  <a:srgbClr val="1C3A52"/>
                </a:solidFill>
                <a:latin typeface="Calibri"/>
              </a:rPr>
              <a:t>La pregunta que reorganizo todo.</a:t>
            </a:r>
          </a:p>
        </p:txBody>
      </p:sp>
      <p:sp>
        <p:nvSpPr>
          <p:cNvPr id="5" name="Rectangle 4"/>
          <p:cNvSpPr/>
          <p:nvPr/>
        </p:nvSpPr>
        <p:spPr>
          <a:xfrm>
            <a:off x="457200" y="1261872"/>
            <a:ext cx="5394960" cy="2084831"/>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89888"/>
            <a:ext cx="4937760" cy="320040"/>
          </a:xfrm>
          <a:prstGeom prst="rect">
            <a:avLst/>
          </a:prstGeom>
          <a:noFill/>
        </p:spPr>
        <p:txBody>
          <a:bodyPr wrap="square">
            <a:spAutoFit/>
          </a:bodyPr>
          <a:lstStyle/>
          <a:p>
            <a:pPr algn="l"/>
            <a:r>
              <a:rPr sz="1000" b="1">
                <a:solidFill>
                  <a:srgbClr val="FFFFFF"/>
                </a:solidFill>
                <a:latin typeface="Calibri"/>
              </a:rPr>
              <a:t>ANTES</a:t>
            </a:r>
          </a:p>
        </p:txBody>
      </p:sp>
      <p:sp>
        <p:nvSpPr>
          <p:cNvPr id="7" name="TextBox 6"/>
          <p:cNvSpPr txBox="1"/>
          <p:nvPr/>
        </p:nvSpPr>
        <p:spPr>
          <a:xfrm>
            <a:off x="640080" y="1783080"/>
            <a:ext cx="4937760" cy="1325880"/>
          </a:xfrm>
          <a:prstGeom prst="rect">
            <a:avLst/>
          </a:prstGeom>
          <a:noFill/>
        </p:spPr>
        <p:txBody>
          <a:bodyPr wrap="square">
            <a:spAutoFit/>
          </a:bodyPr>
          <a:lstStyle/>
          <a:p>
            <a:pPr algn="l"/>
            <a:r>
              <a:rPr sz="2200" b="1">
                <a:solidFill>
                  <a:srgbClr val="FFFFFF"/>
                </a:solidFill>
                <a:latin typeface="Calibri"/>
              </a:rPr>
              <a:t>Como hacer mas atractivo
al candidato para el votante?</a:t>
            </a:r>
          </a:p>
        </p:txBody>
      </p:sp>
      <p:sp>
        <p:nvSpPr>
          <p:cNvPr id="8" name="TextBox 7"/>
          <p:cNvSpPr txBox="1"/>
          <p:nvPr/>
        </p:nvSpPr>
        <p:spPr>
          <a:xfrm>
            <a:off x="5943600" y="1993392"/>
            <a:ext cx="731520" cy="594360"/>
          </a:xfrm>
          <a:prstGeom prst="rect">
            <a:avLst/>
          </a:prstGeom>
          <a:noFill/>
        </p:spPr>
        <p:txBody>
          <a:bodyPr wrap="square">
            <a:spAutoFit/>
          </a:bodyPr>
          <a:lstStyle/>
          <a:p>
            <a:pPr algn="ctr"/>
            <a:r>
              <a:rPr sz="3800" b="1">
                <a:solidFill>
                  <a:srgbClr val="3A9E7A"/>
                </a:solidFill>
                <a:latin typeface="Calibri"/>
              </a:rPr>
              <a:t>-&gt;</a:t>
            </a:r>
          </a:p>
        </p:txBody>
      </p:sp>
      <p:sp>
        <p:nvSpPr>
          <p:cNvPr id="9" name="Rectangle 8"/>
          <p:cNvSpPr/>
          <p:nvPr/>
        </p:nvSpPr>
        <p:spPr>
          <a:xfrm>
            <a:off x="6583680" y="1261872"/>
            <a:ext cx="5120640" cy="2084831"/>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0" y="1389888"/>
            <a:ext cx="4754880" cy="320040"/>
          </a:xfrm>
          <a:prstGeom prst="rect">
            <a:avLst/>
          </a:prstGeom>
          <a:noFill/>
        </p:spPr>
        <p:txBody>
          <a:bodyPr wrap="square">
            <a:spAutoFit/>
          </a:bodyPr>
          <a:lstStyle/>
          <a:p>
            <a:pPr algn="l"/>
            <a:r>
              <a:rPr sz="1000" b="1">
                <a:solidFill>
                  <a:srgbClr val="1C3A52"/>
                </a:solidFill>
                <a:latin typeface="Calibri"/>
              </a:rPr>
              <a:t>AHORA</a:t>
            </a:r>
          </a:p>
        </p:txBody>
      </p:sp>
      <p:sp>
        <p:nvSpPr>
          <p:cNvPr id="11" name="TextBox 10"/>
          <p:cNvSpPr txBox="1"/>
          <p:nvPr/>
        </p:nvSpPr>
        <p:spPr>
          <a:xfrm>
            <a:off x="6766560" y="1783080"/>
            <a:ext cx="4754880" cy="1325880"/>
          </a:xfrm>
          <a:prstGeom prst="rect">
            <a:avLst/>
          </a:prstGeom>
          <a:noFill/>
        </p:spPr>
        <p:txBody>
          <a:bodyPr wrap="square">
            <a:spAutoFit/>
          </a:bodyPr>
          <a:lstStyle/>
          <a:p>
            <a:pPr algn="l"/>
            <a:r>
              <a:rPr sz="2200" b="1">
                <a:solidFill>
                  <a:srgbClr val="1C3A52"/>
                </a:solidFill>
                <a:latin typeface="Calibri"/>
              </a:rPr>
              <a:t>Como medir la coincidencia
entre votante y candidato?</a:t>
            </a:r>
          </a:p>
        </p:txBody>
      </p:sp>
      <p:sp>
        <p:nvSpPr>
          <p:cNvPr id="12" name="Rectangle 11"/>
          <p:cNvSpPr/>
          <p:nvPr/>
        </p:nvSpPr>
        <p:spPr>
          <a:xfrm>
            <a:off x="457200" y="3547872"/>
            <a:ext cx="3657600" cy="283464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657600"/>
            <a:ext cx="3291840" cy="411480"/>
          </a:xfrm>
          <a:prstGeom prst="rect">
            <a:avLst/>
          </a:prstGeom>
          <a:noFill/>
        </p:spPr>
        <p:txBody>
          <a:bodyPr wrap="square">
            <a:spAutoFit/>
          </a:bodyPr>
          <a:lstStyle/>
          <a:p>
            <a:pPr algn="l"/>
            <a:r>
              <a:rPr sz="1200" b="1">
                <a:solidFill>
                  <a:srgbClr val="FFFFFF"/>
                </a:solidFill>
                <a:latin typeface="Calibri"/>
              </a:rPr>
              <a:t>El votante en el centro</a:t>
            </a:r>
          </a:p>
        </p:txBody>
      </p:sp>
      <p:sp>
        <p:nvSpPr>
          <p:cNvPr id="14" name="Rectangle 13"/>
          <p:cNvSpPr/>
          <p:nvPr/>
        </p:nvSpPr>
        <p:spPr>
          <a:xfrm>
            <a:off x="640080" y="4096512"/>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224528"/>
            <a:ext cx="3291840" cy="1920240"/>
          </a:xfrm>
          <a:prstGeom prst="rect">
            <a:avLst/>
          </a:prstGeom>
          <a:noFill/>
        </p:spPr>
        <p:txBody>
          <a:bodyPr wrap="square">
            <a:spAutoFit/>
          </a:bodyPr>
          <a:lstStyle/>
          <a:p>
            <a:pPr algn="l"/>
            <a:r>
              <a:rPr sz="1300" b="0">
                <a:solidFill>
                  <a:srgbClr val="FFFFFF"/>
                </a:solidFill>
                <a:latin typeface="Calibri"/>
              </a:rPr>
              <a:t>La primera pregunta parte del candidato.
La segunda, de las preferencias del usuario.</a:t>
            </a:r>
          </a:p>
        </p:txBody>
      </p:sp>
      <p:sp>
        <p:nvSpPr>
          <p:cNvPr id="16" name="Rectangle 15"/>
          <p:cNvSpPr/>
          <p:nvPr/>
        </p:nvSpPr>
        <p:spPr>
          <a:xfrm>
            <a:off x="4343400" y="3547872"/>
            <a:ext cx="3657600" cy="283464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3657600"/>
            <a:ext cx="3291840" cy="411480"/>
          </a:xfrm>
          <a:prstGeom prst="rect">
            <a:avLst/>
          </a:prstGeom>
          <a:noFill/>
        </p:spPr>
        <p:txBody>
          <a:bodyPr wrap="square">
            <a:spAutoFit/>
          </a:bodyPr>
          <a:lstStyle/>
          <a:p>
            <a:pPr algn="l"/>
            <a:r>
              <a:rPr sz="1200" b="1">
                <a:solidFill>
                  <a:srgbClr val="FFFFFF"/>
                </a:solidFill>
                <a:latin typeface="Calibri"/>
              </a:rPr>
              <a:t>Precision sobre entretenimiento</a:t>
            </a:r>
          </a:p>
        </p:txBody>
      </p:sp>
      <p:sp>
        <p:nvSpPr>
          <p:cNvPr id="18" name="Rectangle 17"/>
          <p:cNvSpPr/>
          <p:nvPr/>
        </p:nvSpPr>
        <p:spPr>
          <a:xfrm>
            <a:off x="4526280" y="4096512"/>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6280" y="4224528"/>
            <a:ext cx="3291840" cy="1920240"/>
          </a:xfrm>
          <a:prstGeom prst="rect">
            <a:avLst/>
          </a:prstGeom>
          <a:noFill/>
        </p:spPr>
        <p:txBody>
          <a:bodyPr wrap="square">
            <a:spAutoFit/>
          </a:bodyPr>
          <a:lstStyle/>
          <a:p>
            <a:pPr algn="l"/>
            <a:r>
              <a:rPr sz="1300" b="0">
                <a:solidFill>
                  <a:srgbClr val="FFFFFF"/>
                </a:solidFill>
                <a:latin typeface="Calibri"/>
              </a:rPr>
              <a:t>El swipe entretiene. El cuestionario informa.
La diferencia es epistemologica.</a:t>
            </a:r>
          </a:p>
        </p:txBody>
      </p:sp>
      <p:sp>
        <p:nvSpPr>
          <p:cNvPr id="20" name="Rectangle 19"/>
          <p:cNvSpPr/>
          <p:nvPr/>
        </p:nvSpPr>
        <p:spPr>
          <a:xfrm>
            <a:off x="8229600" y="3547872"/>
            <a:ext cx="3657600" cy="2834640"/>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0" y="3657600"/>
            <a:ext cx="3291840" cy="411480"/>
          </a:xfrm>
          <a:prstGeom prst="rect">
            <a:avLst/>
          </a:prstGeom>
          <a:noFill/>
        </p:spPr>
        <p:txBody>
          <a:bodyPr wrap="square">
            <a:spAutoFit/>
          </a:bodyPr>
          <a:lstStyle/>
          <a:p>
            <a:pPr algn="l"/>
            <a:r>
              <a:rPr sz="1200" b="1">
                <a:solidFill>
                  <a:srgbClr val="FFFFFF"/>
                </a:solidFill>
                <a:latin typeface="Calibri"/>
              </a:rPr>
              <a:t>Datos como producto</a:t>
            </a:r>
          </a:p>
        </p:txBody>
      </p:sp>
      <p:sp>
        <p:nvSpPr>
          <p:cNvPr id="22" name="Rectangle 21"/>
          <p:cNvSpPr/>
          <p:nvPr/>
        </p:nvSpPr>
        <p:spPr>
          <a:xfrm>
            <a:off x="8412480" y="4096512"/>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0" y="4224528"/>
            <a:ext cx="3291840" cy="1920240"/>
          </a:xfrm>
          <a:prstGeom prst="rect">
            <a:avLst/>
          </a:prstGeom>
          <a:noFill/>
        </p:spPr>
        <p:txBody>
          <a:bodyPr wrap="square">
            <a:spAutoFit/>
          </a:bodyPr>
          <a:lstStyle/>
          <a:p>
            <a:pPr algn="l"/>
            <a:r>
              <a:rPr sz="1300" b="0">
                <a:solidFill>
                  <a:srgbClr val="FFFFFF"/>
                </a:solidFill>
                <a:latin typeface="Calibri"/>
              </a:rPr>
              <a:t>Un algoritmo perfecto sobre datos inventados
produce recomendaciones inutiles.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3A9E7A"/>
                </a:solidFill>
                <a:latin typeface="Calibri"/>
              </a:rPr>
              <a:t>DISENO DEL PRODUCTO</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3600" b="1">
                <a:solidFill>
                  <a:srgbClr val="FFFFFF"/>
                </a:solidFill>
                <a:latin typeface="Calibri"/>
              </a:rPr>
              <a:t>La propuesta de valor en 5 dimensiones.</a:t>
            </a:r>
          </a:p>
        </p:txBody>
      </p:sp>
      <p:sp>
        <p:nvSpPr>
          <p:cNvPr id="5" name="Rectangle 4"/>
          <p:cNvSpPr/>
          <p:nvPr/>
        </p:nvSpPr>
        <p:spPr>
          <a:xfrm>
            <a:off x="457200" y="1371600"/>
            <a:ext cx="11247120" cy="96012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81328"/>
            <a:ext cx="5029200" cy="384048"/>
          </a:xfrm>
          <a:prstGeom prst="rect">
            <a:avLst/>
          </a:prstGeom>
          <a:noFill/>
        </p:spPr>
        <p:txBody>
          <a:bodyPr wrap="square">
            <a:spAutoFit/>
          </a:bodyPr>
          <a:lstStyle/>
          <a:p>
            <a:pPr algn="l"/>
            <a:r>
              <a:rPr sz="1300" b="1">
                <a:solidFill>
                  <a:srgbClr val="FFFFFF"/>
                </a:solidFill>
                <a:latin typeface="Calibri"/>
              </a:rPr>
              <a:t>01 TRANSPARENCIA METODOLOGICA</a:t>
            </a:r>
          </a:p>
        </p:txBody>
      </p:sp>
      <p:sp>
        <p:nvSpPr>
          <p:cNvPr id="7" name="TextBox 6"/>
          <p:cNvSpPr txBox="1"/>
          <p:nvPr/>
        </p:nvSpPr>
        <p:spPr>
          <a:xfrm>
            <a:off x="5943600" y="1481328"/>
            <a:ext cx="5669280" cy="384048"/>
          </a:xfrm>
          <a:prstGeom prst="rect">
            <a:avLst/>
          </a:prstGeom>
          <a:noFill/>
        </p:spPr>
        <p:txBody>
          <a:bodyPr wrap="square">
            <a:spAutoFit/>
          </a:bodyPr>
          <a:lstStyle/>
          <a:p>
            <a:pPr algn="l"/>
            <a:r>
              <a:rPr sz="1300" b="0">
                <a:solidFill>
                  <a:srgbClr val="FFFFFF"/>
                </a:solidFill>
                <a:latin typeface="Calibri"/>
              </a:rPr>
              <a:t>Algoritmo publico, documentado y auditable.</a:t>
            </a:r>
          </a:p>
        </p:txBody>
      </p:sp>
      <p:sp>
        <p:nvSpPr>
          <p:cNvPr id="8" name="Rectangle 7"/>
          <p:cNvSpPr/>
          <p:nvPr/>
        </p:nvSpPr>
        <p:spPr>
          <a:xfrm>
            <a:off x="457200" y="2395728"/>
            <a:ext cx="11247120" cy="96012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505456"/>
            <a:ext cx="5029200" cy="384048"/>
          </a:xfrm>
          <a:prstGeom prst="rect">
            <a:avLst/>
          </a:prstGeom>
          <a:noFill/>
        </p:spPr>
        <p:txBody>
          <a:bodyPr wrap="square">
            <a:spAutoFit/>
          </a:bodyPr>
          <a:lstStyle/>
          <a:p>
            <a:pPr algn="l"/>
            <a:r>
              <a:rPr sz="1300" b="1">
                <a:solidFill>
                  <a:srgbClr val="FFFFFF"/>
                </a:solidFill>
                <a:latin typeface="Calibri"/>
              </a:rPr>
              <a:t>02 TRAZABILIDAD DE POSTURAS</a:t>
            </a:r>
          </a:p>
        </p:txBody>
      </p:sp>
      <p:sp>
        <p:nvSpPr>
          <p:cNvPr id="10" name="TextBox 9"/>
          <p:cNvSpPr txBox="1"/>
          <p:nvPr/>
        </p:nvSpPr>
        <p:spPr>
          <a:xfrm>
            <a:off x="5943600" y="2505456"/>
            <a:ext cx="5669280" cy="384048"/>
          </a:xfrm>
          <a:prstGeom prst="rect">
            <a:avLst/>
          </a:prstGeom>
          <a:noFill/>
        </p:spPr>
        <p:txBody>
          <a:bodyPr wrap="square">
            <a:spAutoFit/>
          </a:bodyPr>
          <a:lstStyle/>
          <a:p>
            <a:pPr algn="l"/>
            <a:r>
              <a:rPr sz="1300" b="0">
                <a:solidFill>
                  <a:srgbClr val="FFFFFF"/>
                </a:solidFill>
                <a:latin typeface="Calibri"/>
              </a:rPr>
              <a:t>Cada postura: fuente primaria verificable.</a:t>
            </a:r>
          </a:p>
        </p:txBody>
      </p:sp>
      <p:sp>
        <p:nvSpPr>
          <p:cNvPr id="11" name="Rectangle 10"/>
          <p:cNvSpPr/>
          <p:nvPr/>
        </p:nvSpPr>
        <p:spPr>
          <a:xfrm>
            <a:off x="457200" y="3419856"/>
            <a:ext cx="11247120" cy="96012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529584"/>
            <a:ext cx="5029200" cy="384048"/>
          </a:xfrm>
          <a:prstGeom prst="rect">
            <a:avLst/>
          </a:prstGeom>
          <a:noFill/>
        </p:spPr>
        <p:txBody>
          <a:bodyPr wrap="square">
            <a:spAutoFit/>
          </a:bodyPr>
          <a:lstStyle/>
          <a:p>
            <a:pPr algn="l"/>
            <a:r>
              <a:rPr sz="1300" b="1">
                <a:solidFill>
                  <a:srgbClr val="FFFFFF"/>
                </a:solidFill>
                <a:latin typeface="Calibri"/>
              </a:rPr>
              <a:t>03 PONDERACION POR IMPORTANCIA</a:t>
            </a:r>
          </a:p>
        </p:txBody>
      </p:sp>
      <p:sp>
        <p:nvSpPr>
          <p:cNvPr id="13" name="TextBox 12"/>
          <p:cNvSpPr txBox="1"/>
          <p:nvPr/>
        </p:nvSpPr>
        <p:spPr>
          <a:xfrm>
            <a:off x="5943600" y="3529584"/>
            <a:ext cx="5669280" cy="384048"/>
          </a:xfrm>
          <a:prstGeom prst="rect">
            <a:avLst/>
          </a:prstGeom>
          <a:noFill/>
        </p:spPr>
        <p:txBody>
          <a:bodyPr wrap="square">
            <a:spAutoFit/>
          </a:bodyPr>
          <a:lstStyle/>
          <a:p>
            <a:pPr algn="l"/>
            <a:r>
              <a:rPr sz="1300" b="0">
                <a:solidFill>
                  <a:srgbClr val="FFFFFF"/>
                </a:solidFill>
                <a:latin typeface="Calibri"/>
              </a:rPr>
              <a:t>El usuario indica que temas le importan mas.</a:t>
            </a:r>
          </a:p>
        </p:txBody>
      </p:sp>
      <p:sp>
        <p:nvSpPr>
          <p:cNvPr id="14" name="Rectangle 13"/>
          <p:cNvSpPr/>
          <p:nvPr/>
        </p:nvSpPr>
        <p:spPr>
          <a:xfrm>
            <a:off x="457200" y="4443984"/>
            <a:ext cx="11247120" cy="960120"/>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553712"/>
            <a:ext cx="5029200" cy="384048"/>
          </a:xfrm>
          <a:prstGeom prst="rect">
            <a:avLst/>
          </a:prstGeom>
          <a:noFill/>
        </p:spPr>
        <p:txBody>
          <a:bodyPr wrap="square">
            <a:spAutoFit/>
          </a:bodyPr>
          <a:lstStyle/>
          <a:p>
            <a:pPr algn="l"/>
            <a:r>
              <a:rPr sz="1300" b="1">
                <a:solidFill>
                  <a:srgbClr val="FFFFFF"/>
                </a:solidFill>
                <a:latin typeface="Calibri"/>
              </a:rPr>
              <a:t>04 INDICADOR DE CONFIANZA</a:t>
            </a:r>
          </a:p>
        </p:txBody>
      </p:sp>
      <p:sp>
        <p:nvSpPr>
          <p:cNvPr id="16" name="TextBox 15"/>
          <p:cNvSpPr txBox="1"/>
          <p:nvPr/>
        </p:nvSpPr>
        <p:spPr>
          <a:xfrm>
            <a:off x="5943600" y="4553712"/>
            <a:ext cx="5669280" cy="384048"/>
          </a:xfrm>
          <a:prstGeom prst="rect">
            <a:avLst/>
          </a:prstGeom>
          <a:noFill/>
        </p:spPr>
        <p:txBody>
          <a:bodyPr wrap="square">
            <a:spAutoFit/>
          </a:bodyPr>
          <a:lstStyle/>
          <a:p>
            <a:pPr algn="l"/>
            <a:r>
              <a:rPr sz="1300" b="0">
                <a:solidFill>
                  <a:srgbClr val="FFFFFF"/>
                </a:solidFill>
                <a:latin typeface="Calibri"/>
              </a:rPr>
              <a:t>El sistema comunica el nivel de certeza del resultado.</a:t>
            </a:r>
          </a:p>
        </p:txBody>
      </p:sp>
      <p:sp>
        <p:nvSpPr>
          <p:cNvPr id="17" name="Rectangle 16"/>
          <p:cNvSpPr/>
          <p:nvPr/>
        </p:nvSpPr>
        <p:spPr>
          <a:xfrm>
            <a:off x="457200" y="5468112"/>
            <a:ext cx="11247120" cy="960120"/>
          </a:xfrm>
          <a:prstGeom prst="rect">
            <a:avLst/>
          </a:prstGeom>
          <a:solidFill>
            <a:srgbClr val="6B9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5577840"/>
            <a:ext cx="5029200" cy="384048"/>
          </a:xfrm>
          <a:prstGeom prst="rect">
            <a:avLst/>
          </a:prstGeom>
          <a:noFill/>
        </p:spPr>
        <p:txBody>
          <a:bodyPr wrap="square">
            <a:spAutoFit/>
          </a:bodyPr>
          <a:lstStyle/>
          <a:p>
            <a:pPr algn="l"/>
            <a:r>
              <a:rPr sz="1300" b="1">
                <a:solidFill>
                  <a:srgbClr val="FFFFFF"/>
                </a:solidFill>
                <a:latin typeface="Calibri"/>
              </a:rPr>
              <a:t>05 CODIGO ABIERTO AGPL-3.0</a:t>
            </a:r>
          </a:p>
        </p:txBody>
      </p:sp>
      <p:sp>
        <p:nvSpPr>
          <p:cNvPr id="19" name="TextBox 18"/>
          <p:cNvSpPr txBox="1"/>
          <p:nvPr/>
        </p:nvSpPr>
        <p:spPr>
          <a:xfrm>
            <a:off x="5943600" y="5577840"/>
            <a:ext cx="5669280" cy="384048"/>
          </a:xfrm>
          <a:prstGeom prst="rect">
            <a:avLst/>
          </a:prstGeom>
          <a:noFill/>
        </p:spPr>
        <p:txBody>
          <a:bodyPr wrap="square">
            <a:spAutoFit/>
          </a:bodyPr>
          <a:lstStyle/>
          <a:p>
            <a:pPr algn="l"/>
            <a:r>
              <a:rPr sz="1300" b="0">
                <a:solidFill>
                  <a:srgbClr val="FFFFFF"/>
                </a:solidFill>
                <a:latin typeface="Calibri"/>
              </a:rPr>
              <a:t>Tecnologia electoral como infraestructura publica.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ARQUITECTURA CONCEPTUAL</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4200" b="1">
                <a:solidFill>
                  <a:srgbClr val="1C3A52"/>
                </a:solidFill>
                <a:latin typeface="Calibri"/>
              </a:rPr>
              <a:t>Tres capas. Un contrato.</a:t>
            </a:r>
          </a:p>
        </p:txBody>
      </p:sp>
      <p:sp>
        <p:nvSpPr>
          <p:cNvPr id="5" name="Rectangle 4"/>
          <p:cNvSpPr/>
          <p:nvPr/>
        </p:nvSpPr>
        <p:spPr>
          <a:xfrm>
            <a:off x="457200" y="1371600"/>
            <a:ext cx="3657600" cy="434340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81328"/>
            <a:ext cx="3291840" cy="438912"/>
          </a:xfrm>
          <a:prstGeom prst="rect">
            <a:avLst/>
          </a:prstGeom>
          <a:noFill/>
        </p:spPr>
        <p:txBody>
          <a:bodyPr wrap="square">
            <a:spAutoFit/>
          </a:bodyPr>
          <a:lstStyle/>
          <a:p>
            <a:pPr algn="l"/>
            <a:r>
              <a:rPr sz="1800" b="1">
                <a:solidFill>
                  <a:srgbClr val="FFFFFF"/>
                </a:solidFill>
                <a:latin typeface="Calibri"/>
              </a:rPr>
              <a:t>FRONTEND</a:t>
            </a:r>
          </a:p>
        </p:txBody>
      </p:sp>
      <p:sp>
        <p:nvSpPr>
          <p:cNvPr id="7" name="Rectangle 6"/>
          <p:cNvSpPr/>
          <p:nvPr/>
        </p:nvSpPr>
        <p:spPr>
          <a:xfrm>
            <a:off x="640080" y="1965960"/>
            <a:ext cx="3017520" cy="36576"/>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057400"/>
            <a:ext cx="3291840" cy="384048"/>
          </a:xfrm>
          <a:prstGeom prst="rect">
            <a:avLst/>
          </a:prstGeom>
          <a:noFill/>
        </p:spPr>
        <p:txBody>
          <a:bodyPr wrap="square">
            <a:spAutoFit/>
          </a:bodyPr>
          <a:lstStyle/>
          <a:p>
            <a:pPr algn="l"/>
            <a:r>
              <a:rPr sz="1300" b="1">
                <a:solidFill>
                  <a:srgbClr val="3A9E7A"/>
                </a:solidFill>
                <a:latin typeface="Calibri"/>
              </a:rPr>
              <a:t>React Native (Expo)</a:t>
            </a:r>
          </a:p>
        </p:txBody>
      </p:sp>
      <p:sp>
        <p:nvSpPr>
          <p:cNvPr id="9" name="TextBox 8"/>
          <p:cNvSpPr txBox="1"/>
          <p:nvPr/>
        </p:nvSpPr>
        <p:spPr>
          <a:xfrm>
            <a:off x="640080" y="2542032"/>
            <a:ext cx="3291840" cy="2926080"/>
          </a:xfrm>
          <a:prstGeom prst="rect">
            <a:avLst/>
          </a:prstGeom>
          <a:noFill/>
        </p:spPr>
        <p:txBody>
          <a:bodyPr wrap="square">
            <a:spAutoFit/>
          </a:bodyPr>
          <a:lstStyle/>
          <a:p>
            <a:pPr algn="l"/>
            <a:r>
              <a:rPr sz="1300" b="0">
                <a:solidFill>
                  <a:srgbClr val="FFFFFF"/>
                </a:solidFill>
                <a:latin typeface="Calibri"/>
              </a:rPr>
              <a:t>Web  iOS  Android
TypeScript + React Query
89 componentes UI</a:t>
            </a:r>
          </a:p>
        </p:txBody>
      </p:sp>
      <p:sp>
        <p:nvSpPr>
          <p:cNvPr id="10" name="Rectangle 9"/>
          <p:cNvSpPr/>
          <p:nvPr/>
        </p:nvSpPr>
        <p:spPr>
          <a:xfrm>
            <a:off x="4343400" y="1371600"/>
            <a:ext cx="3657600" cy="434340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481328"/>
            <a:ext cx="3291840" cy="438912"/>
          </a:xfrm>
          <a:prstGeom prst="rect">
            <a:avLst/>
          </a:prstGeom>
          <a:noFill/>
        </p:spPr>
        <p:txBody>
          <a:bodyPr wrap="square">
            <a:spAutoFit/>
          </a:bodyPr>
          <a:lstStyle/>
          <a:p>
            <a:pPr algn="l"/>
            <a:r>
              <a:rPr sz="1800" b="1">
                <a:solidFill>
                  <a:srgbClr val="FFFFFF"/>
                </a:solidFill>
                <a:latin typeface="Calibri"/>
              </a:rPr>
              <a:t>API</a:t>
            </a:r>
          </a:p>
        </p:txBody>
      </p:sp>
      <p:sp>
        <p:nvSpPr>
          <p:cNvPr id="12" name="Rectangle 11"/>
          <p:cNvSpPr/>
          <p:nvPr/>
        </p:nvSpPr>
        <p:spPr>
          <a:xfrm>
            <a:off x="4526280" y="1965960"/>
            <a:ext cx="3017520" cy="36576"/>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2057400"/>
            <a:ext cx="3291840" cy="384048"/>
          </a:xfrm>
          <a:prstGeom prst="rect">
            <a:avLst/>
          </a:prstGeom>
          <a:noFill/>
        </p:spPr>
        <p:txBody>
          <a:bodyPr wrap="square">
            <a:spAutoFit/>
          </a:bodyPr>
          <a:lstStyle/>
          <a:p>
            <a:pPr algn="l"/>
            <a:r>
              <a:rPr sz="1300" b="1">
                <a:solidFill>
                  <a:srgbClr val="3A9E7A"/>
                </a:solidFill>
                <a:latin typeface="Calibri"/>
              </a:rPr>
              <a:t>OpenAPI 3.1</a:t>
            </a:r>
          </a:p>
        </p:txBody>
      </p:sp>
      <p:sp>
        <p:nvSpPr>
          <p:cNvPr id="14" name="TextBox 13"/>
          <p:cNvSpPr txBox="1"/>
          <p:nvPr/>
        </p:nvSpPr>
        <p:spPr>
          <a:xfrm>
            <a:off x="4526280" y="2542032"/>
            <a:ext cx="3291840" cy="2926080"/>
          </a:xfrm>
          <a:prstGeom prst="rect">
            <a:avLst/>
          </a:prstGeom>
          <a:noFill/>
        </p:spPr>
        <p:txBody>
          <a:bodyPr wrap="square">
            <a:spAutoFit/>
          </a:bodyPr>
          <a:lstStyle/>
          <a:p>
            <a:pPr algn="l"/>
            <a:r>
              <a:rPr sz="1300" b="0">
                <a:solidFill>
                  <a:srgbClr val="FFFFFF"/>
                </a:solidFill>
                <a:latin typeface="Calibri"/>
              </a:rPr>
              <a:t>Contrato auto-generado
Tipos TS desde el schema
~31 endpoints REST</a:t>
            </a:r>
          </a:p>
        </p:txBody>
      </p:sp>
      <p:sp>
        <p:nvSpPr>
          <p:cNvPr id="15" name="Rectangle 14"/>
          <p:cNvSpPr/>
          <p:nvPr/>
        </p:nvSpPr>
        <p:spPr>
          <a:xfrm>
            <a:off x="8229600" y="1371600"/>
            <a:ext cx="3657600" cy="4343400"/>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1481328"/>
            <a:ext cx="3291840" cy="438912"/>
          </a:xfrm>
          <a:prstGeom prst="rect">
            <a:avLst/>
          </a:prstGeom>
          <a:noFill/>
        </p:spPr>
        <p:txBody>
          <a:bodyPr wrap="square">
            <a:spAutoFit/>
          </a:bodyPr>
          <a:lstStyle/>
          <a:p>
            <a:pPr algn="l"/>
            <a:r>
              <a:rPr sz="1800" b="1">
                <a:solidFill>
                  <a:srgbClr val="FFFFFF"/>
                </a:solidFill>
                <a:latin typeface="Calibri"/>
              </a:rPr>
              <a:t>BACKEND</a:t>
            </a:r>
          </a:p>
        </p:txBody>
      </p:sp>
      <p:sp>
        <p:nvSpPr>
          <p:cNvPr id="17" name="Rectangle 16"/>
          <p:cNvSpPr/>
          <p:nvPr/>
        </p:nvSpPr>
        <p:spPr>
          <a:xfrm>
            <a:off x="8412480" y="1965960"/>
            <a:ext cx="3017520" cy="36576"/>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2057400"/>
            <a:ext cx="3291840" cy="384048"/>
          </a:xfrm>
          <a:prstGeom prst="rect">
            <a:avLst/>
          </a:prstGeom>
          <a:noFill/>
        </p:spPr>
        <p:txBody>
          <a:bodyPr wrap="square">
            <a:spAutoFit/>
          </a:bodyPr>
          <a:lstStyle/>
          <a:p>
            <a:pPr algn="l"/>
            <a:r>
              <a:rPr sz="1300" b="1">
                <a:solidFill>
                  <a:srgbClr val="3A9E7A"/>
                </a:solidFill>
                <a:latin typeface="Calibri"/>
              </a:rPr>
              <a:t>Django / Python</a:t>
            </a:r>
          </a:p>
        </p:txBody>
      </p:sp>
      <p:sp>
        <p:nvSpPr>
          <p:cNvPr id="19" name="TextBox 18"/>
          <p:cNvSpPr txBox="1"/>
          <p:nvPr/>
        </p:nvSpPr>
        <p:spPr>
          <a:xfrm>
            <a:off x="8412480" y="2542032"/>
            <a:ext cx="3291840" cy="2926080"/>
          </a:xfrm>
          <a:prstGeom prst="rect">
            <a:avLst/>
          </a:prstGeom>
          <a:noFill/>
        </p:spPr>
        <p:txBody>
          <a:bodyPr wrap="square">
            <a:spAutoFit/>
          </a:bodyPr>
          <a:lstStyle/>
          <a:p>
            <a:pPr algn="l"/>
            <a:r>
              <a:rPr sz="1300" b="0">
                <a:solidFill>
                  <a:srgbClr val="FFFFFF"/>
                </a:solidFill>
                <a:latin typeface="Calibri"/>
              </a:rPr>
              <a:t>Logica pura en servicios
Modelo territorial polimorfico
19 modelos de datos</a:t>
            </a:r>
          </a:p>
        </p:txBody>
      </p:sp>
      <p:sp>
        <p:nvSpPr>
          <p:cNvPr id="20" name="Rectangle 19"/>
          <p:cNvSpPr/>
          <p:nvPr/>
        </p:nvSpPr>
        <p:spPr>
          <a:xfrm>
            <a:off x="457200" y="5897880"/>
            <a:ext cx="11247120" cy="777240"/>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016752"/>
            <a:ext cx="10698480" cy="548640"/>
          </a:xfrm>
          <a:prstGeom prst="rect">
            <a:avLst/>
          </a:prstGeom>
          <a:noFill/>
        </p:spPr>
        <p:txBody>
          <a:bodyPr wrap="square">
            <a:spAutoFit/>
          </a:bodyPr>
          <a:lstStyle/>
          <a:p>
            <a:pPr algn="ctr"/>
            <a:r>
              <a:rPr sz="1200" b="0">
                <a:solidFill>
                  <a:srgbClr val="FFFFFF"/>
                </a:solidFill>
                <a:latin typeface="Calibri"/>
              </a:rPr>
              <a:t>Principio clave: el contrato OpenAPI no es documentacion -- es una restriccion de diseno. Cada cambio en el backend es detectado como error de compilacion en el frontend.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3A9E7A"/>
                </a:solidFill>
                <a:latin typeface="Calibri"/>
              </a:rPr>
              <a:t>DISENO UX -- EL FLUJO DEL USUARIO</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3800" b="1">
                <a:solidFill>
                  <a:srgbClr val="FFFFFF"/>
                </a:solidFill>
                <a:latin typeface="Calibri"/>
              </a:rPr>
              <a:t>5-15 minutos. Sin conocimiento previo.</a:t>
            </a:r>
          </a:p>
        </p:txBody>
      </p:sp>
      <p:sp>
        <p:nvSpPr>
          <p:cNvPr id="5" name="Rectangle 4"/>
          <p:cNvSpPr/>
          <p:nvPr/>
        </p:nvSpPr>
        <p:spPr>
          <a:xfrm>
            <a:off x="594360" y="3108960"/>
            <a:ext cx="10808208" cy="54864"/>
          </a:xfrm>
          <a:prstGeom prst="rect">
            <a:avLst/>
          </a:prstGeom>
          <a:solidFill>
            <a:srgbClr val="CBD1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87552" y="2907792"/>
            <a:ext cx="658368" cy="65836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2953512"/>
            <a:ext cx="566928" cy="530352"/>
          </a:xfrm>
          <a:prstGeom prst="rect">
            <a:avLst/>
          </a:prstGeom>
          <a:noFill/>
        </p:spPr>
        <p:txBody>
          <a:bodyPr wrap="square">
            <a:spAutoFit/>
          </a:bodyPr>
          <a:lstStyle/>
          <a:p>
            <a:pPr algn="ctr"/>
            <a:r>
              <a:rPr sz="1600" b="1">
                <a:solidFill>
                  <a:srgbClr val="FFFFFF"/>
                </a:solidFill>
                <a:latin typeface="Calibri"/>
              </a:rPr>
              <a:t>1</a:t>
            </a:r>
          </a:p>
        </p:txBody>
      </p:sp>
      <p:sp>
        <p:nvSpPr>
          <p:cNvPr id="8" name="Rectangle 7"/>
          <p:cNvSpPr/>
          <p:nvPr/>
        </p:nvSpPr>
        <p:spPr>
          <a:xfrm>
            <a:off x="548640" y="3547872"/>
            <a:ext cx="2121408" cy="41148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593592"/>
            <a:ext cx="2121408" cy="320040"/>
          </a:xfrm>
          <a:prstGeom prst="rect">
            <a:avLst/>
          </a:prstGeom>
          <a:noFill/>
        </p:spPr>
        <p:txBody>
          <a:bodyPr wrap="square">
            <a:spAutoFit/>
          </a:bodyPr>
          <a:lstStyle/>
          <a:p>
            <a:pPr algn="ctr"/>
            <a:r>
              <a:rPr sz="1100" b="1">
                <a:solidFill>
                  <a:srgbClr val="FFFFFF"/>
                </a:solidFill>
                <a:latin typeface="Calibri"/>
              </a:rPr>
              <a:t>INICIO</a:t>
            </a:r>
          </a:p>
        </p:txBody>
      </p:sp>
      <p:sp>
        <p:nvSpPr>
          <p:cNvPr id="10" name="TextBox 9"/>
          <p:cNvSpPr txBox="1"/>
          <p:nvPr/>
        </p:nvSpPr>
        <p:spPr>
          <a:xfrm>
            <a:off x="548640" y="4041648"/>
            <a:ext cx="2148840" cy="1024128"/>
          </a:xfrm>
          <a:prstGeom prst="rect">
            <a:avLst/>
          </a:prstGeom>
          <a:noFill/>
        </p:spPr>
        <p:txBody>
          <a:bodyPr wrap="square">
            <a:spAutoFit/>
          </a:bodyPr>
          <a:lstStyle/>
          <a:p>
            <a:pPr algn="l"/>
            <a:r>
              <a:rPr sz="1300" b="1">
                <a:solidFill>
                  <a:srgbClr val="FFFFFF"/>
                </a:solidFill>
                <a:latin typeface="Calibri"/>
              </a:rPr>
              <a:t>El usuario llega.
Sin saber a quien votar.</a:t>
            </a:r>
          </a:p>
        </p:txBody>
      </p:sp>
      <p:sp>
        <p:nvSpPr>
          <p:cNvPr id="11" name="TextBox 10"/>
          <p:cNvSpPr txBox="1"/>
          <p:nvPr/>
        </p:nvSpPr>
        <p:spPr>
          <a:xfrm>
            <a:off x="548640" y="5138928"/>
            <a:ext cx="2148840" cy="1389888"/>
          </a:xfrm>
          <a:prstGeom prst="rect">
            <a:avLst/>
          </a:prstGeom>
          <a:noFill/>
        </p:spPr>
        <p:txBody>
          <a:bodyPr wrap="square">
            <a:spAutoFit/>
          </a:bodyPr>
          <a:lstStyle/>
          <a:p>
            <a:pPr algn="l"/>
            <a:r>
              <a:rPr sz="1100" b="0">
                <a:solidFill>
                  <a:srgbClr val="CBD1CD"/>
                </a:solidFill>
                <a:latin typeface="Calibri"/>
              </a:rPr>
              <a:t>Sin urgencia. Sin juicio.</a:t>
            </a:r>
          </a:p>
        </p:txBody>
      </p:sp>
      <p:sp>
        <p:nvSpPr>
          <p:cNvPr id="12" name="Rectangle 11"/>
          <p:cNvSpPr/>
          <p:nvPr/>
        </p:nvSpPr>
        <p:spPr>
          <a:xfrm>
            <a:off x="3319272" y="2907792"/>
            <a:ext cx="658368" cy="65836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64991" y="2953512"/>
            <a:ext cx="566928" cy="530352"/>
          </a:xfrm>
          <a:prstGeom prst="rect">
            <a:avLst/>
          </a:prstGeom>
          <a:noFill/>
        </p:spPr>
        <p:txBody>
          <a:bodyPr wrap="square">
            <a:spAutoFit/>
          </a:bodyPr>
          <a:lstStyle/>
          <a:p>
            <a:pPr algn="ctr"/>
            <a:r>
              <a:rPr sz="1600" b="1">
                <a:solidFill>
                  <a:srgbClr val="FFFFFF"/>
                </a:solidFill>
                <a:latin typeface="Calibri"/>
              </a:rPr>
              <a:t>2</a:t>
            </a:r>
          </a:p>
        </p:txBody>
      </p:sp>
      <p:sp>
        <p:nvSpPr>
          <p:cNvPr id="14" name="Rectangle 13"/>
          <p:cNvSpPr/>
          <p:nvPr/>
        </p:nvSpPr>
        <p:spPr>
          <a:xfrm>
            <a:off x="2880360" y="3547872"/>
            <a:ext cx="2121408" cy="41148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80360" y="3593592"/>
            <a:ext cx="2121408" cy="320040"/>
          </a:xfrm>
          <a:prstGeom prst="rect">
            <a:avLst/>
          </a:prstGeom>
          <a:noFill/>
        </p:spPr>
        <p:txBody>
          <a:bodyPr wrap="square">
            <a:spAutoFit/>
          </a:bodyPr>
          <a:lstStyle/>
          <a:p>
            <a:pPr algn="ctr"/>
            <a:r>
              <a:rPr sz="1100" b="1">
                <a:solidFill>
                  <a:srgbClr val="FFFFFF"/>
                </a:solidFill>
                <a:latin typeface="Calibri"/>
              </a:rPr>
              <a:t>SELECCION</a:t>
            </a:r>
          </a:p>
        </p:txBody>
      </p:sp>
      <p:sp>
        <p:nvSpPr>
          <p:cNvPr id="16" name="TextBox 15"/>
          <p:cNvSpPr txBox="1"/>
          <p:nvPr/>
        </p:nvSpPr>
        <p:spPr>
          <a:xfrm>
            <a:off x="2880360" y="4041648"/>
            <a:ext cx="2148840" cy="1024128"/>
          </a:xfrm>
          <a:prstGeom prst="rect">
            <a:avLst/>
          </a:prstGeom>
          <a:noFill/>
        </p:spPr>
        <p:txBody>
          <a:bodyPr wrap="square">
            <a:spAutoFit/>
          </a:bodyPr>
          <a:lstStyle/>
          <a:p>
            <a:pPr algn="l"/>
            <a:r>
              <a:rPr sz="1300" b="1">
                <a:solidFill>
                  <a:srgbClr val="FFFFFF"/>
                </a:solidFill>
                <a:latin typeface="Calibri"/>
              </a:rPr>
              <a:t>Elige el tipo de
eleccion.</a:t>
            </a:r>
          </a:p>
        </p:txBody>
      </p:sp>
      <p:sp>
        <p:nvSpPr>
          <p:cNvPr id="17" name="TextBox 16"/>
          <p:cNvSpPr txBox="1"/>
          <p:nvPr/>
        </p:nvSpPr>
        <p:spPr>
          <a:xfrm>
            <a:off x="2880360" y="5138928"/>
            <a:ext cx="2148840" cy="1389888"/>
          </a:xfrm>
          <a:prstGeom prst="rect">
            <a:avLst/>
          </a:prstGeom>
          <a:noFill/>
        </p:spPr>
        <p:txBody>
          <a:bodyPr wrap="square">
            <a:spAutoFit/>
          </a:bodyPr>
          <a:lstStyle/>
          <a:p>
            <a:pPr algn="l"/>
            <a:r>
              <a:rPr sz="1100" b="0">
                <a:solidFill>
                  <a:srgbClr val="CBD1CD"/>
                </a:solidFill>
                <a:latin typeface="Calibri"/>
              </a:rPr>
              <a:t>Presidencial, diputados.
Filtro por region.</a:t>
            </a:r>
          </a:p>
        </p:txBody>
      </p:sp>
      <p:sp>
        <p:nvSpPr>
          <p:cNvPr id="18" name="Rectangle 17"/>
          <p:cNvSpPr/>
          <p:nvPr/>
        </p:nvSpPr>
        <p:spPr>
          <a:xfrm>
            <a:off x="5650992" y="2907792"/>
            <a:ext cx="658368" cy="658368"/>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96712" y="2953512"/>
            <a:ext cx="566928" cy="530352"/>
          </a:xfrm>
          <a:prstGeom prst="rect">
            <a:avLst/>
          </a:prstGeom>
          <a:noFill/>
        </p:spPr>
        <p:txBody>
          <a:bodyPr wrap="square">
            <a:spAutoFit/>
          </a:bodyPr>
          <a:lstStyle/>
          <a:p>
            <a:pPr algn="ctr"/>
            <a:r>
              <a:rPr sz="1600" b="1">
                <a:solidFill>
                  <a:srgbClr val="FFFFFF"/>
                </a:solidFill>
                <a:latin typeface="Calibri"/>
              </a:rPr>
              <a:t>3</a:t>
            </a:r>
          </a:p>
        </p:txBody>
      </p:sp>
      <p:sp>
        <p:nvSpPr>
          <p:cNvPr id="20" name="Rectangle 19"/>
          <p:cNvSpPr/>
          <p:nvPr/>
        </p:nvSpPr>
        <p:spPr>
          <a:xfrm>
            <a:off x="5212079" y="3547872"/>
            <a:ext cx="2121408" cy="41148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12079" y="3593592"/>
            <a:ext cx="2121408" cy="320040"/>
          </a:xfrm>
          <a:prstGeom prst="rect">
            <a:avLst/>
          </a:prstGeom>
          <a:noFill/>
        </p:spPr>
        <p:txBody>
          <a:bodyPr wrap="square">
            <a:spAutoFit/>
          </a:bodyPr>
          <a:lstStyle/>
          <a:p>
            <a:pPr algn="ctr"/>
            <a:r>
              <a:rPr sz="1100" b="1">
                <a:solidFill>
                  <a:srgbClr val="FFFFFF"/>
                </a:solidFill>
                <a:latin typeface="Calibri"/>
              </a:rPr>
              <a:t>CUESTIONARIO</a:t>
            </a:r>
          </a:p>
        </p:txBody>
      </p:sp>
      <p:sp>
        <p:nvSpPr>
          <p:cNvPr id="22" name="TextBox 21"/>
          <p:cNvSpPr txBox="1"/>
          <p:nvPr/>
        </p:nvSpPr>
        <p:spPr>
          <a:xfrm>
            <a:off x="5212079" y="4041648"/>
            <a:ext cx="2148840" cy="1024128"/>
          </a:xfrm>
          <a:prstGeom prst="rect">
            <a:avLst/>
          </a:prstGeom>
          <a:noFill/>
        </p:spPr>
        <p:txBody>
          <a:bodyPr wrap="square">
            <a:spAutoFit/>
          </a:bodyPr>
          <a:lstStyle/>
          <a:p>
            <a:pPr algn="l"/>
            <a:r>
              <a:rPr sz="1300" b="1">
                <a:solidFill>
                  <a:srgbClr val="FFFFFF"/>
                </a:solidFill>
                <a:latin typeface="Calibri"/>
              </a:rPr>
              <a:t>12 preguntas.
5-15 minutos.</a:t>
            </a:r>
          </a:p>
        </p:txBody>
      </p:sp>
      <p:sp>
        <p:nvSpPr>
          <p:cNvPr id="23" name="TextBox 22"/>
          <p:cNvSpPr txBox="1"/>
          <p:nvPr/>
        </p:nvSpPr>
        <p:spPr>
          <a:xfrm>
            <a:off x="5212079" y="5138928"/>
            <a:ext cx="2148840" cy="1389888"/>
          </a:xfrm>
          <a:prstGeom prst="rect">
            <a:avLst/>
          </a:prstGeom>
          <a:noFill/>
        </p:spPr>
        <p:txBody>
          <a:bodyPr wrap="square">
            <a:spAutoFit/>
          </a:bodyPr>
          <a:lstStyle/>
          <a:p>
            <a:pPr algn="l"/>
            <a:r>
              <a:rPr sz="1100" b="0">
                <a:solidFill>
                  <a:srgbClr val="CBD1CD"/>
                </a:solidFill>
                <a:latin typeface="Calibri"/>
              </a:rPr>
              <a:t>Likert + ponderacion.</a:t>
            </a:r>
          </a:p>
        </p:txBody>
      </p:sp>
      <p:sp>
        <p:nvSpPr>
          <p:cNvPr id="24" name="Rectangle 23"/>
          <p:cNvSpPr/>
          <p:nvPr/>
        </p:nvSpPr>
        <p:spPr>
          <a:xfrm>
            <a:off x="7982711" y="2907792"/>
            <a:ext cx="658368" cy="658368"/>
          </a:xfrm>
          <a:prstGeom prst="rect">
            <a:avLst/>
          </a:prstGeom>
          <a:solidFill>
            <a:srgbClr val="6B9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28431" y="2953512"/>
            <a:ext cx="566928" cy="530352"/>
          </a:xfrm>
          <a:prstGeom prst="rect">
            <a:avLst/>
          </a:prstGeom>
          <a:noFill/>
        </p:spPr>
        <p:txBody>
          <a:bodyPr wrap="square">
            <a:spAutoFit/>
          </a:bodyPr>
          <a:lstStyle/>
          <a:p>
            <a:pPr algn="ctr"/>
            <a:r>
              <a:rPr sz="1600" b="1">
                <a:solidFill>
                  <a:srgbClr val="FFFFFF"/>
                </a:solidFill>
                <a:latin typeface="Calibri"/>
              </a:rPr>
              <a:t>4</a:t>
            </a:r>
          </a:p>
        </p:txBody>
      </p:sp>
      <p:sp>
        <p:nvSpPr>
          <p:cNvPr id="26" name="Rectangle 25"/>
          <p:cNvSpPr/>
          <p:nvPr/>
        </p:nvSpPr>
        <p:spPr>
          <a:xfrm>
            <a:off x="7543799" y="3547872"/>
            <a:ext cx="2121408" cy="411480"/>
          </a:xfrm>
          <a:prstGeom prst="rect">
            <a:avLst/>
          </a:prstGeom>
          <a:solidFill>
            <a:srgbClr val="6B9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43799" y="3593592"/>
            <a:ext cx="2121408" cy="320040"/>
          </a:xfrm>
          <a:prstGeom prst="rect">
            <a:avLst/>
          </a:prstGeom>
          <a:noFill/>
        </p:spPr>
        <p:txBody>
          <a:bodyPr wrap="square">
            <a:spAutoFit/>
          </a:bodyPr>
          <a:lstStyle/>
          <a:p>
            <a:pPr algn="ctr"/>
            <a:r>
              <a:rPr sz="1100" b="1">
                <a:solidFill>
                  <a:srgbClr val="FFFFFF"/>
                </a:solidFill>
                <a:latin typeface="Calibri"/>
              </a:rPr>
              <a:t>MATCHING</a:t>
            </a:r>
          </a:p>
        </p:txBody>
      </p:sp>
      <p:sp>
        <p:nvSpPr>
          <p:cNvPr id="28" name="TextBox 27"/>
          <p:cNvSpPr txBox="1"/>
          <p:nvPr/>
        </p:nvSpPr>
        <p:spPr>
          <a:xfrm>
            <a:off x="7543799" y="4041648"/>
            <a:ext cx="2148840" cy="1024128"/>
          </a:xfrm>
          <a:prstGeom prst="rect">
            <a:avLst/>
          </a:prstGeom>
          <a:noFill/>
        </p:spPr>
        <p:txBody>
          <a:bodyPr wrap="square">
            <a:spAutoFit/>
          </a:bodyPr>
          <a:lstStyle/>
          <a:p>
            <a:pPr algn="l"/>
            <a:r>
              <a:rPr sz="1300" b="1">
                <a:solidFill>
                  <a:srgbClr val="FFFFFF"/>
                </a:solidFill>
                <a:latin typeface="Calibri"/>
              </a:rPr>
              <a:t>Calculo automatico.</a:t>
            </a:r>
          </a:p>
        </p:txBody>
      </p:sp>
      <p:sp>
        <p:nvSpPr>
          <p:cNvPr id="29" name="TextBox 28"/>
          <p:cNvSpPr txBox="1"/>
          <p:nvPr/>
        </p:nvSpPr>
        <p:spPr>
          <a:xfrm>
            <a:off x="7543799" y="5138928"/>
            <a:ext cx="2148840" cy="1389888"/>
          </a:xfrm>
          <a:prstGeom prst="rect">
            <a:avLst/>
          </a:prstGeom>
          <a:noFill/>
        </p:spPr>
        <p:txBody>
          <a:bodyPr wrap="square">
            <a:spAutoFit/>
          </a:bodyPr>
          <a:lstStyle/>
          <a:p>
            <a:pPr algn="l"/>
            <a:r>
              <a:rPr sz="1100" b="0">
                <a:solidFill>
                  <a:srgbClr val="CBD1CD"/>
                </a:solidFill>
                <a:latin typeface="Calibri"/>
              </a:rPr>
              <a:t>Cuadratico ponderado.
Indicador de confianza.</a:t>
            </a:r>
          </a:p>
        </p:txBody>
      </p:sp>
      <p:sp>
        <p:nvSpPr>
          <p:cNvPr id="30" name="Rectangle 29"/>
          <p:cNvSpPr/>
          <p:nvPr/>
        </p:nvSpPr>
        <p:spPr>
          <a:xfrm>
            <a:off x="10314432" y="2907792"/>
            <a:ext cx="658368" cy="658368"/>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360152" y="2953512"/>
            <a:ext cx="566928" cy="530352"/>
          </a:xfrm>
          <a:prstGeom prst="rect">
            <a:avLst/>
          </a:prstGeom>
          <a:noFill/>
        </p:spPr>
        <p:txBody>
          <a:bodyPr wrap="square">
            <a:spAutoFit/>
          </a:bodyPr>
          <a:lstStyle/>
          <a:p>
            <a:pPr algn="ctr"/>
            <a:r>
              <a:rPr sz="1600" b="1">
                <a:solidFill>
                  <a:srgbClr val="FFFFFF"/>
                </a:solidFill>
                <a:latin typeface="Calibri"/>
              </a:rPr>
              <a:t>5</a:t>
            </a:r>
          </a:p>
        </p:txBody>
      </p:sp>
      <p:sp>
        <p:nvSpPr>
          <p:cNvPr id="32" name="Rectangle 31"/>
          <p:cNvSpPr/>
          <p:nvPr/>
        </p:nvSpPr>
        <p:spPr>
          <a:xfrm>
            <a:off x="9875519" y="3547872"/>
            <a:ext cx="2121408" cy="411480"/>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75519" y="3593592"/>
            <a:ext cx="2121408" cy="320040"/>
          </a:xfrm>
          <a:prstGeom prst="rect">
            <a:avLst/>
          </a:prstGeom>
          <a:noFill/>
        </p:spPr>
        <p:txBody>
          <a:bodyPr wrap="square">
            <a:spAutoFit/>
          </a:bodyPr>
          <a:lstStyle/>
          <a:p>
            <a:pPr algn="ctr"/>
            <a:r>
              <a:rPr sz="1100" b="1">
                <a:solidFill>
                  <a:srgbClr val="FFFFFF"/>
                </a:solidFill>
                <a:latin typeface="Calibri"/>
              </a:rPr>
              <a:t>EXPLORACION</a:t>
            </a:r>
          </a:p>
        </p:txBody>
      </p:sp>
      <p:sp>
        <p:nvSpPr>
          <p:cNvPr id="34" name="TextBox 33"/>
          <p:cNvSpPr txBox="1"/>
          <p:nvPr/>
        </p:nvSpPr>
        <p:spPr>
          <a:xfrm>
            <a:off x="9875519" y="4041648"/>
            <a:ext cx="2148840" cy="1024128"/>
          </a:xfrm>
          <a:prstGeom prst="rect">
            <a:avLst/>
          </a:prstGeom>
          <a:noFill/>
        </p:spPr>
        <p:txBody>
          <a:bodyPr wrap="square">
            <a:spAutoFit/>
          </a:bodyPr>
          <a:lstStyle/>
          <a:p>
            <a:pPr algn="l"/>
            <a:r>
              <a:rPr sz="1300" b="1">
                <a:solidFill>
                  <a:srgbClr val="FFFFFF"/>
                </a:solidFill>
                <a:latin typeface="Calibri"/>
              </a:rPr>
              <a:t>Ranking y perfiles.</a:t>
            </a:r>
          </a:p>
        </p:txBody>
      </p:sp>
      <p:sp>
        <p:nvSpPr>
          <p:cNvPr id="35" name="TextBox 34"/>
          <p:cNvSpPr txBox="1"/>
          <p:nvPr/>
        </p:nvSpPr>
        <p:spPr>
          <a:xfrm>
            <a:off x="9875519" y="5138928"/>
            <a:ext cx="2148840" cy="1389888"/>
          </a:xfrm>
          <a:prstGeom prst="rect">
            <a:avLst/>
          </a:prstGeom>
          <a:noFill/>
        </p:spPr>
        <p:txBody>
          <a:bodyPr wrap="square">
            <a:spAutoFit/>
          </a:bodyPr>
          <a:lstStyle/>
          <a:p>
            <a:pPr algn="l"/>
            <a:r>
              <a:rPr sz="1100" b="0">
                <a:solidFill>
                  <a:srgbClr val="CBD1CD"/>
                </a:solidFill>
                <a:latin typeface="Calibri"/>
              </a:rPr>
              <a:t>Fuentes verificadas.
Comparacion visual.</a:t>
            </a:r>
          </a:p>
        </p:txBody>
      </p:sp>
      <p:sp>
        <p:nvSpPr>
          <p:cNvPr id="36" name="TextBox 35"/>
          <p:cNvSpPr txBox="1"/>
          <p:nvPr/>
        </p:nvSpPr>
        <p:spPr>
          <a:xfrm>
            <a:off x="457200" y="6492240"/>
            <a:ext cx="11247120" cy="274320"/>
          </a:xfrm>
          <a:prstGeom prst="rect">
            <a:avLst/>
          </a:prstGeom>
          <a:noFill/>
        </p:spPr>
        <p:txBody>
          <a:bodyPr wrap="square">
            <a:spAutoFit/>
          </a:bodyPr>
          <a:lstStyle/>
          <a:p>
            <a:pPr algn="ctr"/>
            <a:r>
              <a:rPr sz="1100" b="0">
                <a:solidFill>
                  <a:srgbClr val="8A9199"/>
                </a:solidFill>
                <a:latin typeface="Calibri"/>
              </a:rPr>
              <a:t>DECISION CLAVE: primero las preguntas sobre TEMAS, luego los candidatos. Reduce el sesgo de identificacion partidaria.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3A9E7A"/>
                </a:solidFill>
                <a:latin typeface="Calibri"/>
              </a:rPr>
              <a:t>IDENTIDAD VISUAL Y MARCA</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4000" b="1">
                <a:solidFill>
                  <a:srgbClr val="1C3A52"/>
                </a:solidFill>
                <a:latin typeface="Calibri"/>
              </a:rPr>
              <a:t>La marca como argumento etico.</a:t>
            </a:r>
          </a:p>
        </p:txBody>
      </p:sp>
      <p:sp>
        <p:nvSpPr>
          <p:cNvPr id="5" name="Rectangle 4"/>
          <p:cNvSpPr/>
          <p:nvPr/>
        </p:nvSpPr>
        <p:spPr>
          <a:xfrm>
            <a:off x="457200" y="1234440"/>
            <a:ext cx="1810512" cy="841248"/>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121408"/>
            <a:ext cx="1810512" cy="292608"/>
          </a:xfrm>
          <a:prstGeom prst="rect">
            <a:avLst/>
          </a:prstGeom>
          <a:noFill/>
        </p:spPr>
        <p:txBody>
          <a:bodyPr wrap="square">
            <a:spAutoFit/>
          </a:bodyPr>
          <a:lstStyle/>
          <a:p>
            <a:pPr algn="ctr"/>
            <a:r>
              <a:rPr sz="900" b="0">
                <a:solidFill>
                  <a:srgbClr val="1A2B33"/>
                </a:solidFill>
                <a:latin typeface="Calibri"/>
              </a:rPr>
              <a:t>#1C3A52</a:t>
            </a:r>
          </a:p>
        </p:txBody>
      </p:sp>
      <p:sp>
        <p:nvSpPr>
          <p:cNvPr id="7" name="TextBox 6"/>
          <p:cNvSpPr txBox="1"/>
          <p:nvPr/>
        </p:nvSpPr>
        <p:spPr>
          <a:xfrm>
            <a:off x="457200" y="2423160"/>
            <a:ext cx="1810512" cy="292608"/>
          </a:xfrm>
          <a:prstGeom prst="rect">
            <a:avLst/>
          </a:prstGeom>
          <a:noFill/>
        </p:spPr>
        <p:txBody>
          <a:bodyPr wrap="square">
            <a:spAutoFit/>
          </a:bodyPr>
          <a:lstStyle/>
          <a:p>
            <a:pPr algn="ctr"/>
            <a:r>
              <a:rPr sz="1000" b="1">
                <a:solidFill>
                  <a:srgbClr val="1C3A52"/>
                </a:solidFill>
                <a:latin typeface="Calibri"/>
              </a:rPr>
              <a:t>Azul Pizarron</a:t>
            </a:r>
          </a:p>
        </p:txBody>
      </p:sp>
      <p:sp>
        <p:nvSpPr>
          <p:cNvPr id="8" name="TextBox 7"/>
          <p:cNvSpPr txBox="1"/>
          <p:nvPr/>
        </p:nvSpPr>
        <p:spPr>
          <a:xfrm>
            <a:off x="457200" y="2724912"/>
            <a:ext cx="1810512" cy="292608"/>
          </a:xfrm>
          <a:prstGeom prst="rect">
            <a:avLst/>
          </a:prstGeom>
          <a:noFill/>
        </p:spPr>
        <p:txBody>
          <a:bodyPr wrap="square">
            <a:spAutoFit/>
          </a:bodyPr>
          <a:lstStyle/>
          <a:p>
            <a:pPr algn="ctr"/>
            <a:r>
              <a:rPr sz="900" b="0">
                <a:solidFill>
                  <a:srgbClr val="5A6B73"/>
                </a:solidFill>
                <a:latin typeface="Calibri"/>
              </a:rPr>
              <a:t>Fondos hero</a:t>
            </a:r>
          </a:p>
        </p:txBody>
      </p:sp>
      <p:sp>
        <p:nvSpPr>
          <p:cNvPr id="9" name="Rectangle 8"/>
          <p:cNvSpPr/>
          <p:nvPr/>
        </p:nvSpPr>
        <p:spPr>
          <a:xfrm>
            <a:off x="2423160" y="1234440"/>
            <a:ext cx="1810512" cy="84124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23160" y="2121408"/>
            <a:ext cx="1810512" cy="292608"/>
          </a:xfrm>
          <a:prstGeom prst="rect">
            <a:avLst/>
          </a:prstGeom>
          <a:noFill/>
        </p:spPr>
        <p:txBody>
          <a:bodyPr wrap="square">
            <a:spAutoFit/>
          </a:bodyPr>
          <a:lstStyle/>
          <a:p>
            <a:pPr algn="ctr"/>
            <a:r>
              <a:rPr sz="900" b="0">
                <a:solidFill>
                  <a:srgbClr val="1A2B33"/>
                </a:solidFill>
                <a:latin typeface="Calibri"/>
              </a:rPr>
              <a:t>#2E5F7E</a:t>
            </a:r>
          </a:p>
        </p:txBody>
      </p:sp>
      <p:sp>
        <p:nvSpPr>
          <p:cNvPr id="11" name="TextBox 10"/>
          <p:cNvSpPr txBox="1"/>
          <p:nvPr/>
        </p:nvSpPr>
        <p:spPr>
          <a:xfrm>
            <a:off x="2423160" y="2423160"/>
            <a:ext cx="1810512" cy="292608"/>
          </a:xfrm>
          <a:prstGeom prst="rect">
            <a:avLst/>
          </a:prstGeom>
          <a:noFill/>
        </p:spPr>
        <p:txBody>
          <a:bodyPr wrap="square">
            <a:spAutoFit/>
          </a:bodyPr>
          <a:lstStyle/>
          <a:p>
            <a:pPr algn="ctr"/>
            <a:r>
              <a:rPr sz="1000" b="1">
                <a:solidFill>
                  <a:srgbClr val="1C3A52"/>
                </a:solidFill>
                <a:latin typeface="Calibri"/>
              </a:rPr>
              <a:t>Azul Petroleo</a:t>
            </a:r>
          </a:p>
        </p:txBody>
      </p:sp>
      <p:sp>
        <p:nvSpPr>
          <p:cNvPr id="12" name="TextBox 11"/>
          <p:cNvSpPr txBox="1"/>
          <p:nvPr/>
        </p:nvSpPr>
        <p:spPr>
          <a:xfrm>
            <a:off x="2423160" y="2724912"/>
            <a:ext cx="1810512" cy="292608"/>
          </a:xfrm>
          <a:prstGeom prst="rect">
            <a:avLst/>
          </a:prstGeom>
          <a:noFill/>
        </p:spPr>
        <p:txBody>
          <a:bodyPr wrap="square">
            <a:spAutoFit/>
          </a:bodyPr>
          <a:lstStyle/>
          <a:p>
            <a:pPr algn="ctr"/>
            <a:r>
              <a:rPr sz="900" b="0">
                <a:solidFill>
                  <a:srgbClr val="5A6B73"/>
                </a:solidFill>
                <a:latin typeface="Calibri"/>
              </a:rPr>
              <a:t>CTAs, primario</a:t>
            </a:r>
          </a:p>
        </p:txBody>
      </p:sp>
      <p:sp>
        <p:nvSpPr>
          <p:cNvPr id="13" name="Rectangle 12"/>
          <p:cNvSpPr/>
          <p:nvPr/>
        </p:nvSpPr>
        <p:spPr>
          <a:xfrm>
            <a:off x="4389120" y="1234440"/>
            <a:ext cx="1810512" cy="84124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2121408"/>
            <a:ext cx="1810512" cy="292608"/>
          </a:xfrm>
          <a:prstGeom prst="rect">
            <a:avLst/>
          </a:prstGeom>
          <a:noFill/>
        </p:spPr>
        <p:txBody>
          <a:bodyPr wrap="square">
            <a:spAutoFit/>
          </a:bodyPr>
          <a:lstStyle/>
          <a:p>
            <a:pPr algn="ctr"/>
            <a:r>
              <a:rPr sz="900" b="0">
                <a:solidFill>
                  <a:srgbClr val="1A2B33"/>
                </a:solidFill>
                <a:latin typeface="Calibri"/>
              </a:rPr>
              <a:t>#3A9E7A</a:t>
            </a:r>
          </a:p>
        </p:txBody>
      </p:sp>
      <p:sp>
        <p:nvSpPr>
          <p:cNvPr id="15" name="TextBox 14"/>
          <p:cNvSpPr txBox="1"/>
          <p:nvPr/>
        </p:nvSpPr>
        <p:spPr>
          <a:xfrm>
            <a:off x="4389120" y="2423160"/>
            <a:ext cx="1810512" cy="292608"/>
          </a:xfrm>
          <a:prstGeom prst="rect">
            <a:avLst/>
          </a:prstGeom>
          <a:noFill/>
        </p:spPr>
        <p:txBody>
          <a:bodyPr wrap="square">
            <a:spAutoFit/>
          </a:bodyPr>
          <a:lstStyle/>
          <a:p>
            <a:pPr algn="ctr"/>
            <a:r>
              <a:rPr sz="1000" b="1">
                <a:solidFill>
                  <a:srgbClr val="1C3A52"/>
                </a:solidFill>
                <a:latin typeface="Calibri"/>
              </a:rPr>
              <a:t>Verde Civico</a:t>
            </a:r>
          </a:p>
        </p:txBody>
      </p:sp>
      <p:sp>
        <p:nvSpPr>
          <p:cNvPr id="16" name="TextBox 15"/>
          <p:cNvSpPr txBox="1"/>
          <p:nvPr/>
        </p:nvSpPr>
        <p:spPr>
          <a:xfrm>
            <a:off x="4389120" y="2724912"/>
            <a:ext cx="1810512" cy="292608"/>
          </a:xfrm>
          <a:prstGeom prst="rect">
            <a:avLst/>
          </a:prstGeom>
          <a:noFill/>
        </p:spPr>
        <p:txBody>
          <a:bodyPr wrap="square">
            <a:spAutoFit/>
          </a:bodyPr>
          <a:lstStyle/>
          <a:p>
            <a:pPr algn="ctr"/>
            <a:r>
              <a:rPr sz="900" b="0">
                <a:solidFill>
                  <a:srgbClr val="5A6B73"/>
                </a:solidFill>
                <a:latin typeface="Calibri"/>
              </a:rPr>
              <a:t>Acentos, logros</a:t>
            </a:r>
          </a:p>
        </p:txBody>
      </p:sp>
      <p:sp>
        <p:nvSpPr>
          <p:cNvPr id="17" name="Rectangle 16"/>
          <p:cNvSpPr/>
          <p:nvPr/>
        </p:nvSpPr>
        <p:spPr>
          <a:xfrm>
            <a:off x="6355079" y="1234440"/>
            <a:ext cx="1810512" cy="841248"/>
          </a:xfrm>
          <a:prstGeom prst="rect">
            <a:avLst/>
          </a:prstGeom>
          <a:solidFill>
            <a:srgbClr val="F5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79" y="2121408"/>
            <a:ext cx="1810512" cy="292608"/>
          </a:xfrm>
          <a:prstGeom prst="rect">
            <a:avLst/>
          </a:prstGeom>
          <a:noFill/>
        </p:spPr>
        <p:txBody>
          <a:bodyPr wrap="square">
            <a:spAutoFit/>
          </a:bodyPr>
          <a:lstStyle/>
          <a:p>
            <a:pPr algn="ctr"/>
            <a:r>
              <a:rPr sz="900" b="0">
                <a:solidFill>
                  <a:srgbClr val="1A2B33"/>
                </a:solidFill>
                <a:latin typeface="Calibri"/>
              </a:rPr>
              <a:t>#F5F7F5</a:t>
            </a:r>
          </a:p>
        </p:txBody>
      </p:sp>
      <p:sp>
        <p:nvSpPr>
          <p:cNvPr id="19" name="TextBox 18"/>
          <p:cNvSpPr txBox="1"/>
          <p:nvPr/>
        </p:nvSpPr>
        <p:spPr>
          <a:xfrm>
            <a:off x="6355079" y="2423160"/>
            <a:ext cx="1810512" cy="292608"/>
          </a:xfrm>
          <a:prstGeom prst="rect">
            <a:avLst/>
          </a:prstGeom>
          <a:noFill/>
        </p:spPr>
        <p:txBody>
          <a:bodyPr wrap="square">
            <a:spAutoFit/>
          </a:bodyPr>
          <a:lstStyle/>
          <a:p>
            <a:pPr algn="ctr"/>
            <a:r>
              <a:rPr sz="1000" b="1">
                <a:solidFill>
                  <a:srgbClr val="1C3A52"/>
                </a:solidFill>
                <a:latin typeface="Calibri"/>
              </a:rPr>
              <a:t>Fondo Suave</a:t>
            </a:r>
          </a:p>
        </p:txBody>
      </p:sp>
      <p:sp>
        <p:nvSpPr>
          <p:cNvPr id="20" name="TextBox 19"/>
          <p:cNvSpPr txBox="1"/>
          <p:nvPr/>
        </p:nvSpPr>
        <p:spPr>
          <a:xfrm>
            <a:off x="6355079" y="2724912"/>
            <a:ext cx="1810512" cy="292608"/>
          </a:xfrm>
          <a:prstGeom prst="rect">
            <a:avLst/>
          </a:prstGeom>
          <a:noFill/>
        </p:spPr>
        <p:txBody>
          <a:bodyPr wrap="square">
            <a:spAutoFit/>
          </a:bodyPr>
          <a:lstStyle/>
          <a:p>
            <a:pPr algn="ctr"/>
            <a:r>
              <a:rPr sz="900" b="0">
                <a:solidFill>
                  <a:srgbClr val="5A6B73"/>
                </a:solidFill>
                <a:latin typeface="Calibri"/>
              </a:rPr>
              <a:t>Background</a:t>
            </a:r>
          </a:p>
        </p:txBody>
      </p:sp>
      <p:sp>
        <p:nvSpPr>
          <p:cNvPr id="21" name="Rectangle 20"/>
          <p:cNvSpPr/>
          <p:nvPr/>
        </p:nvSpPr>
        <p:spPr>
          <a:xfrm>
            <a:off x="8321040" y="1234440"/>
            <a:ext cx="1810512" cy="841248"/>
          </a:xfrm>
          <a:prstGeom prst="rect">
            <a:avLst/>
          </a:prstGeom>
          <a:solidFill>
            <a:srgbClr val="6B9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2121408"/>
            <a:ext cx="1810512" cy="292608"/>
          </a:xfrm>
          <a:prstGeom prst="rect">
            <a:avLst/>
          </a:prstGeom>
          <a:noFill/>
        </p:spPr>
        <p:txBody>
          <a:bodyPr wrap="square">
            <a:spAutoFit/>
          </a:bodyPr>
          <a:lstStyle/>
          <a:p>
            <a:pPr algn="ctr"/>
            <a:r>
              <a:rPr sz="900" b="0">
                <a:solidFill>
                  <a:srgbClr val="1A2B33"/>
                </a:solidFill>
                <a:latin typeface="Calibri"/>
              </a:rPr>
              <a:t>#6B9B7A</a:t>
            </a:r>
          </a:p>
        </p:txBody>
      </p:sp>
      <p:sp>
        <p:nvSpPr>
          <p:cNvPr id="23" name="TextBox 22"/>
          <p:cNvSpPr txBox="1"/>
          <p:nvPr/>
        </p:nvSpPr>
        <p:spPr>
          <a:xfrm>
            <a:off x="8321040" y="2423160"/>
            <a:ext cx="1810512" cy="292608"/>
          </a:xfrm>
          <a:prstGeom prst="rect">
            <a:avLst/>
          </a:prstGeom>
          <a:noFill/>
        </p:spPr>
        <p:txBody>
          <a:bodyPr wrap="square">
            <a:spAutoFit/>
          </a:bodyPr>
          <a:lstStyle/>
          <a:p>
            <a:pPr algn="ctr"/>
            <a:r>
              <a:rPr sz="1000" b="1">
                <a:solidFill>
                  <a:srgbClr val="1C3A52"/>
                </a:solidFill>
                <a:latin typeface="Calibri"/>
              </a:rPr>
              <a:t>Verde Bosque</a:t>
            </a:r>
          </a:p>
        </p:txBody>
      </p:sp>
      <p:sp>
        <p:nvSpPr>
          <p:cNvPr id="24" name="TextBox 23"/>
          <p:cNvSpPr txBox="1"/>
          <p:nvPr/>
        </p:nvSpPr>
        <p:spPr>
          <a:xfrm>
            <a:off x="8321040" y="2724912"/>
            <a:ext cx="1810512" cy="292608"/>
          </a:xfrm>
          <a:prstGeom prst="rect">
            <a:avLst/>
          </a:prstGeom>
          <a:noFill/>
        </p:spPr>
        <p:txBody>
          <a:bodyPr wrap="square">
            <a:spAutoFit/>
          </a:bodyPr>
          <a:lstStyle/>
          <a:p>
            <a:pPr algn="ctr"/>
            <a:r>
              <a:rPr sz="900" b="0">
                <a:solidFill>
                  <a:srgbClr val="5A6B73"/>
                </a:solidFill>
                <a:latin typeface="Calibri"/>
              </a:rPr>
              <a:t>Alta afinidad</a:t>
            </a:r>
          </a:p>
        </p:txBody>
      </p:sp>
      <p:sp>
        <p:nvSpPr>
          <p:cNvPr id="25" name="Rectangle 24"/>
          <p:cNvSpPr/>
          <p:nvPr/>
        </p:nvSpPr>
        <p:spPr>
          <a:xfrm>
            <a:off x="10287000" y="1234440"/>
            <a:ext cx="1810512" cy="84124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87000" y="2121408"/>
            <a:ext cx="1810512" cy="292608"/>
          </a:xfrm>
          <a:prstGeom prst="rect">
            <a:avLst/>
          </a:prstGeom>
          <a:noFill/>
        </p:spPr>
        <p:txBody>
          <a:bodyPr wrap="square">
            <a:spAutoFit/>
          </a:bodyPr>
          <a:lstStyle/>
          <a:p>
            <a:pPr algn="ctr"/>
            <a:r>
              <a:rPr sz="900" b="0">
                <a:solidFill>
                  <a:srgbClr val="1A2B33"/>
                </a:solidFill>
                <a:latin typeface="Calibri"/>
              </a:rPr>
              <a:t>#B85C5C</a:t>
            </a:r>
          </a:p>
        </p:txBody>
      </p:sp>
      <p:sp>
        <p:nvSpPr>
          <p:cNvPr id="27" name="TextBox 26"/>
          <p:cNvSpPr txBox="1"/>
          <p:nvPr/>
        </p:nvSpPr>
        <p:spPr>
          <a:xfrm>
            <a:off x="10287000" y="2423160"/>
            <a:ext cx="1810512" cy="292608"/>
          </a:xfrm>
          <a:prstGeom prst="rect">
            <a:avLst/>
          </a:prstGeom>
          <a:noFill/>
        </p:spPr>
        <p:txBody>
          <a:bodyPr wrap="square">
            <a:spAutoFit/>
          </a:bodyPr>
          <a:lstStyle/>
          <a:p>
            <a:pPr algn="ctr"/>
            <a:r>
              <a:rPr sz="1000" b="1">
                <a:solidFill>
                  <a:srgbClr val="1C3A52"/>
                </a:solidFill>
                <a:latin typeface="Calibri"/>
              </a:rPr>
              <a:t>Terracota</a:t>
            </a:r>
          </a:p>
        </p:txBody>
      </p:sp>
      <p:sp>
        <p:nvSpPr>
          <p:cNvPr id="28" name="TextBox 27"/>
          <p:cNvSpPr txBox="1"/>
          <p:nvPr/>
        </p:nvSpPr>
        <p:spPr>
          <a:xfrm>
            <a:off x="10287000" y="2724912"/>
            <a:ext cx="1810512" cy="292608"/>
          </a:xfrm>
          <a:prstGeom prst="rect">
            <a:avLst/>
          </a:prstGeom>
          <a:noFill/>
        </p:spPr>
        <p:txBody>
          <a:bodyPr wrap="square">
            <a:spAutoFit/>
          </a:bodyPr>
          <a:lstStyle/>
          <a:p>
            <a:pPr algn="ctr"/>
            <a:r>
              <a:rPr sz="900" b="0">
                <a:solidFill>
                  <a:srgbClr val="5A6B73"/>
                </a:solidFill>
                <a:latin typeface="Calibri"/>
              </a:rPr>
              <a:t>Baja afinidad</a:t>
            </a:r>
          </a:p>
        </p:txBody>
      </p:sp>
      <p:sp>
        <p:nvSpPr>
          <p:cNvPr id="29" name="Rectangle 28"/>
          <p:cNvSpPr/>
          <p:nvPr/>
        </p:nvSpPr>
        <p:spPr>
          <a:xfrm>
            <a:off x="457200" y="3273552"/>
            <a:ext cx="3657600" cy="331012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3401568"/>
            <a:ext cx="3291840" cy="384048"/>
          </a:xfrm>
          <a:prstGeom prst="rect">
            <a:avLst/>
          </a:prstGeom>
          <a:noFill/>
        </p:spPr>
        <p:txBody>
          <a:bodyPr wrap="square">
            <a:spAutoFit/>
          </a:bodyPr>
          <a:lstStyle/>
          <a:p>
            <a:pPr algn="l"/>
            <a:r>
              <a:rPr sz="1200" b="1">
                <a:solidFill>
                  <a:srgbClr val="FFFFFF"/>
                </a:solidFill>
                <a:latin typeface="Calibri"/>
              </a:rPr>
              <a:t>NUNCA</a:t>
            </a:r>
          </a:p>
        </p:txBody>
      </p:sp>
      <p:sp>
        <p:nvSpPr>
          <p:cNvPr id="31" name="Rectangle 30"/>
          <p:cNvSpPr/>
          <p:nvPr/>
        </p:nvSpPr>
        <p:spPr>
          <a:xfrm>
            <a:off x="640080" y="3822191"/>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3950208"/>
            <a:ext cx="3291840" cy="2468880"/>
          </a:xfrm>
          <a:prstGeom prst="rect">
            <a:avLst/>
          </a:prstGeom>
          <a:noFill/>
        </p:spPr>
        <p:txBody>
          <a:bodyPr wrap="square">
            <a:spAutoFit/>
          </a:bodyPr>
          <a:lstStyle/>
          <a:p>
            <a:pPr algn="l"/>
            <a:r>
              <a:rPr sz="1200" b="0">
                <a:solidFill>
                  <a:srgbClr val="FFFFFF"/>
                </a:solidFill>
                <a:latin typeface="Calibri"/>
              </a:rPr>
              <a:t>Rojo+azul (tribalismo)
Verde bandera (partido)
Gradientes de consumo</a:t>
            </a:r>
          </a:p>
        </p:txBody>
      </p:sp>
      <p:sp>
        <p:nvSpPr>
          <p:cNvPr id="33" name="Rectangle 32"/>
          <p:cNvSpPr/>
          <p:nvPr/>
        </p:nvSpPr>
        <p:spPr>
          <a:xfrm>
            <a:off x="4343400" y="3273552"/>
            <a:ext cx="3657600" cy="331012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26280" y="3401568"/>
            <a:ext cx="3291840" cy="384048"/>
          </a:xfrm>
          <a:prstGeom prst="rect">
            <a:avLst/>
          </a:prstGeom>
          <a:noFill/>
        </p:spPr>
        <p:txBody>
          <a:bodyPr wrap="square">
            <a:spAutoFit/>
          </a:bodyPr>
          <a:lstStyle/>
          <a:p>
            <a:pPr algn="l"/>
            <a:r>
              <a:rPr sz="1200" b="1">
                <a:solidFill>
                  <a:srgbClr val="FFFFFF"/>
                </a:solidFill>
                <a:latin typeface="Calibri"/>
              </a:rPr>
              <a:t>SIEMPRE</a:t>
            </a:r>
          </a:p>
        </p:txBody>
      </p:sp>
      <p:sp>
        <p:nvSpPr>
          <p:cNvPr id="35" name="Rectangle 34"/>
          <p:cNvSpPr/>
          <p:nvPr/>
        </p:nvSpPr>
        <p:spPr>
          <a:xfrm>
            <a:off x="4526280" y="3822191"/>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26280" y="3950208"/>
            <a:ext cx="3291840" cy="2468880"/>
          </a:xfrm>
          <a:prstGeom prst="rect">
            <a:avLst/>
          </a:prstGeom>
          <a:noFill/>
        </p:spPr>
        <p:txBody>
          <a:bodyPr wrap="square">
            <a:spAutoFit/>
          </a:bodyPr>
          <a:lstStyle/>
          <a:p>
            <a:pPr algn="l"/>
            <a:r>
              <a:rPr sz="1200" b="0">
                <a:solidFill>
                  <a:srgbClr val="FFFFFF"/>
                </a:solidFill>
                <a:latin typeface="Calibri"/>
              </a:rPr>
              <a:t>Azul pizarron: noche antes de una decision
Verde civico: posibilidad no partido
Serf humanista: ideas no instituciones</a:t>
            </a:r>
          </a:p>
        </p:txBody>
      </p:sp>
      <p:sp>
        <p:nvSpPr>
          <p:cNvPr id="37" name="Rectangle 36"/>
          <p:cNvSpPr/>
          <p:nvPr/>
        </p:nvSpPr>
        <p:spPr>
          <a:xfrm>
            <a:off x="8229600" y="3273552"/>
            <a:ext cx="3657600" cy="331012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2480" y="3401568"/>
            <a:ext cx="3291840" cy="384048"/>
          </a:xfrm>
          <a:prstGeom prst="rect">
            <a:avLst/>
          </a:prstGeom>
          <a:noFill/>
        </p:spPr>
        <p:txBody>
          <a:bodyPr wrap="square">
            <a:spAutoFit/>
          </a:bodyPr>
          <a:lstStyle/>
          <a:p>
            <a:pPr algn="l"/>
            <a:r>
              <a:rPr sz="1200" b="1">
                <a:solidFill>
                  <a:srgbClr val="FFFFFF"/>
                </a:solidFill>
                <a:latin typeface="Calibri"/>
              </a:rPr>
              <a:t>EL RADAR CHART</a:t>
            </a:r>
          </a:p>
        </p:txBody>
      </p:sp>
      <p:sp>
        <p:nvSpPr>
          <p:cNvPr id="39" name="Rectangle 38"/>
          <p:cNvSpPr/>
          <p:nvPr/>
        </p:nvSpPr>
        <p:spPr>
          <a:xfrm>
            <a:off x="8412480" y="3822191"/>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2480" y="3950208"/>
            <a:ext cx="3291840" cy="2468880"/>
          </a:xfrm>
          <a:prstGeom prst="rect">
            <a:avLst/>
          </a:prstGeom>
          <a:noFill/>
        </p:spPr>
        <p:txBody>
          <a:bodyPr wrap="square">
            <a:spAutoFit/>
          </a:bodyPr>
          <a:lstStyle/>
          <a:p>
            <a:pPr algn="l"/>
            <a:r>
              <a:rPr sz="1200" b="0">
                <a:solidFill>
                  <a:srgbClr val="FFFFFF"/>
                </a:solidFill>
                <a:latin typeface="Calibri"/>
              </a:rPr>
              <a:t>El radar de superposicion usuario-candidato
es la imagen mas honesta del sistema.
Es la forma iconica de la marca.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3A9E7A"/>
                </a:solidFill>
                <a:latin typeface="Calibri"/>
              </a:rPr>
              <a:t>FUNCIONALIDAD: HOME</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4200" b="1">
                <a:solidFill>
                  <a:srgbClr val="FFFFFF"/>
                </a:solidFill>
                <a:latin typeface="Calibri"/>
              </a:rPr>
              <a:t>El punto de entrada.</a:t>
            </a:r>
          </a:p>
        </p:txBody>
      </p:sp>
      <p:sp>
        <p:nvSpPr>
          <p:cNvPr id="5" name="Rectangle 4"/>
          <p:cNvSpPr/>
          <p:nvPr/>
        </p:nvSpPr>
        <p:spPr>
          <a:xfrm>
            <a:off x="457200" y="1261872"/>
            <a:ext cx="6858000" cy="523036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89888"/>
            <a:ext cx="6400800" cy="320040"/>
          </a:xfrm>
          <a:prstGeom prst="rect">
            <a:avLst/>
          </a:prstGeom>
          <a:noFill/>
        </p:spPr>
        <p:txBody>
          <a:bodyPr wrap="square">
            <a:spAutoFit/>
          </a:bodyPr>
          <a:lstStyle/>
          <a:p>
            <a:pPr algn="l"/>
            <a:r>
              <a:rPr sz="1100" b="1">
                <a:solidFill>
                  <a:srgbClr val="3A9E7A"/>
                </a:solidFill>
                <a:latin typeface="Calibri"/>
              </a:rPr>
              <a:t>ELEMENTOS PRINCIPALES</a:t>
            </a:r>
          </a:p>
        </p:txBody>
      </p:sp>
      <p:sp>
        <p:nvSpPr>
          <p:cNvPr id="7" name="TextBox 6"/>
          <p:cNvSpPr txBox="1"/>
          <p:nvPr/>
        </p:nvSpPr>
        <p:spPr>
          <a:xfrm>
            <a:off x="640080" y="1874519"/>
            <a:ext cx="6492240" cy="658368"/>
          </a:xfrm>
          <a:prstGeom prst="rect">
            <a:avLst/>
          </a:prstGeom>
          <a:noFill/>
        </p:spPr>
        <p:txBody>
          <a:bodyPr wrap="square">
            <a:spAutoFit/>
          </a:bodyPr>
          <a:lstStyle/>
          <a:p>
            <a:pPr algn="l"/>
            <a:r>
              <a:rPr sz="1300" b="0">
                <a:solidFill>
                  <a:srgbClr val="FFFFFF"/>
                </a:solidFill>
                <a:latin typeface="Calibri"/>
              </a:rPr>
              <a:t>Hero statement: 'Con quien votas realmente?'</a:t>
            </a:r>
          </a:p>
        </p:txBody>
      </p:sp>
      <p:sp>
        <p:nvSpPr>
          <p:cNvPr id="8" name="TextBox 7"/>
          <p:cNvSpPr txBox="1"/>
          <p:nvPr/>
        </p:nvSpPr>
        <p:spPr>
          <a:xfrm>
            <a:off x="640080" y="2624327"/>
            <a:ext cx="6492240" cy="658368"/>
          </a:xfrm>
          <a:prstGeom prst="rect">
            <a:avLst/>
          </a:prstGeom>
          <a:noFill/>
        </p:spPr>
        <p:txBody>
          <a:bodyPr wrap="square">
            <a:spAutoFit/>
          </a:bodyPr>
          <a:lstStyle/>
          <a:p>
            <a:pPr algn="l"/>
            <a:r>
              <a:rPr sz="1300" b="0">
                <a:solidFill>
                  <a:srgbClr val="FFFFFF"/>
                </a:solidFill>
                <a:latin typeface="Calibri"/>
              </a:rPr>
              <a:t>Trust row: ~15 min  100% privado  Datos SERVEL</a:t>
            </a:r>
          </a:p>
        </p:txBody>
      </p:sp>
      <p:sp>
        <p:nvSpPr>
          <p:cNvPr id="9" name="TextBox 8"/>
          <p:cNvSpPr txBox="1"/>
          <p:nvPr/>
        </p:nvSpPr>
        <p:spPr>
          <a:xfrm>
            <a:off x="640080" y="3374135"/>
            <a:ext cx="6492240" cy="658368"/>
          </a:xfrm>
          <a:prstGeom prst="rect">
            <a:avLst/>
          </a:prstGeom>
          <a:noFill/>
        </p:spPr>
        <p:txBody>
          <a:bodyPr wrap="square">
            <a:spAutoFit/>
          </a:bodyPr>
          <a:lstStyle/>
          <a:p>
            <a:pPr algn="l"/>
            <a:r>
              <a:rPr sz="1300" b="0">
                <a:solidFill>
                  <a:srgbClr val="FFFFFF"/>
                </a:solidFill>
                <a:latin typeface="Calibri"/>
              </a:rPr>
              <a:t>CTA unico: Comenzar cuestionario</a:t>
            </a:r>
          </a:p>
        </p:txBody>
      </p:sp>
      <p:sp>
        <p:nvSpPr>
          <p:cNvPr id="10" name="TextBox 9"/>
          <p:cNvSpPr txBox="1"/>
          <p:nvPr/>
        </p:nvSpPr>
        <p:spPr>
          <a:xfrm>
            <a:off x="640080" y="4123944"/>
            <a:ext cx="6492240" cy="658368"/>
          </a:xfrm>
          <a:prstGeom prst="rect">
            <a:avLst/>
          </a:prstGeom>
          <a:noFill/>
        </p:spPr>
        <p:txBody>
          <a:bodyPr wrap="square">
            <a:spAutoFit/>
          </a:bodyPr>
          <a:lstStyle/>
          <a:p>
            <a:pPr algn="l"/>
            <a:r>
              <a:rPr sz="1300" b="0">
                <a:solidFill>
                  <a:srgbClr val="FFFFFF"/>
                </a:solidFill>
                <a:latin typeface="Calibri"/>
              </a:rPr>
              <a:t>Sin urgencia artificial ni gamificacion</a:t>
            </a:r>
          </a:p>
        </p:txBody>
      </p:sp>
      <p:sp>
        <p:nvSpPr>
          <p:cNvPr id="11" name="TextBox 10"/>
          <p:cNvSpPr txBox="1"/>
          <p:nvPr/>
        </p:nvSpPr>
        <p:spPr>
          <a:xfrm>
            <a:off x="640080" y="4873752"/>
            <a:ext cx="6492240" cy="658368"/>
          </a:xfrm>
          <a:prstGeom prst="rect">
            <a:avLst/>
          </a:prstGeom>
          <a:noFill/>
        </p:spPr>
        <p:txBody>
          <a:bodyPr wrap="square">
            <a:spAutoFit/>
          </a:bodyPr>
          <a:lstStyle/>
          <a:p>
            <a:pPr algn="l"/>
            <a:r>
              <a:rPr sz="1300" b="0">
                <a:solidFill>
                  <a:srgbClr val="FFFFFF"/>
                </a:solidFill>
                <a:latin typeface="Calibri"/>
              </a:rPr>
              <a:t>Acceso rapido a resultados previos si el usuario ya respondio</a:t>
            </a:r>
          </a:p>
        </p:txBody>
      </p:sp>
      <p:sp>
        <p:nvSpPr>
          <p:cNvPr id="12" name="Rectangle 11"/>
          <p:cNvSpPr/>
          <p:nvPr/>
        </p:nvSpPr>
        <p:spPr>
          <a:xfrm>
            <a:off x="7479792" y="1261872"/>
            <a:ext cx="4251960" cy="5230368"/>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62672" y="1389888"/>
            <a:ext cx="3886200" cy="320040"/>
          </a:xfrm>
          <a:prstGeom prst="rect">
            <a:avLst/>
          </a:prstGeom>
          <a:noFill/>
        </p:spPr>
        <p:txBody>
          <a:bodyPr wrap="square">
            <a:spAutoFit/>
          </a:bodyPr>
          <a:lstStyle/>
          <a:p>
            <a:pPr algn="l"/>
            <a:r>
              <a:rPr sz="1100" b="1">
                <a:solidFill>
                  <a:srgbClr val="3A9E7A"/>
                </a:solidFill>
                <a:latin typeface="Calibri"/>
              </a:rPr>
              <a:t>FILOSOFIA</a:t>
            </a:r>
          </a:p>
        </p:txBody>
      </p:sp>
      <p:sp>
        <p:nvSpPr>
          <p:cNvPr id="14" name="TextBox 13"/>
          <p:cNvSpPr txBox="1"/>
          <p:nvPr/>
        </p:nvSpPr>
        <p:spPr>
          <a:xfrm>
            <a:off x="7662672" y="1874519"/>
            <a:ext cx="3886200" cy="4407408"/>
          </a:xfrm>
          <a:prstGeom prst="rect">
            <a:avLst/>
          </a:prstGeom>
          <a:noFill/>
        </p:spPr>
        <p:txBody>
          <a:bodyPr wrap="square">
            <a:spAutoFit/>
          </a:bodyPr>
          <a:lstStyle/>
          <a:p>
            <a:pPr algn="l"/>
            <a:r>
              <a:rPr sz="1300" b="0">
                <a:solidFill>
                  <a:srgbClr val="FFFFFF"/>
                </a:solidFill>
                <a:latin typeface="Calibri"/>
              </a:rPr>
              <a:t>El home no es una bienvenida.
Es una pregunta directa.
El usuario ya quiere votar bien.
No necesita que le vendamos el producto.
Necesita una herramienta que funcione
sin friccion ni explicaciones.
Sin celebracion. Sin confeti.
Claro y directo.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3A9E7A"/>
                </a:solidFill>
                <a:latin typeface="Calibri"/>
              </a:rPr>
              <a:t>FUNCIONALIDAD: CUESTIONARIO</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4200" b="1">
                <a:solidFill>
                  <a:srgbClr val="1C3A52"/>
                </a:solidFill>
                <a:latin typeface="Calibri"/>
              </a:rPr>
              <a:t>El corazon del sistema.</a:t>
            </a:r>
          </a:p>
        </p:txBody>
      </p:sp>
      <p:sp>
        <p:nvSpPr>
          <p:cNvPr id="5" name="Rectangle 4"/>
          <p:cNvSpPr/>
          <p:nvPr/>
        </p:nvSpPr>
        <p:spPr>
          <a:xfrm>
            <a:off x="457200" y="1261872"/>
            <a:ext cx="6858000" cy="523036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89888"/>
            <a:ext cx="6400800" cy="320040"/>
          </a:xfrm>
          <a:prstGeom prst="rect">
            <a:avLst/>
          </a:prstGeom>
          <a:noFill/>
        </p:spPr>
        <p:txBody>
          <a:bodyPr wrap="square">
            <a:spAutoFit/>
          </a:bodyPr>
          <a:lstStyle/>
          <a:p>
            <a:pPr algn="l"/>
            <a:r>
              <a:rPr sz="1100" b="1">
                <a:solidFill>
                  <a:srgbClr val="1C3A52"/>
                </a:solidFill>
                <a:latin typeface="Calibri"/>
              </a:rPr>
              <a:t>12 PREGUNTAS EN 7 EJES</a:t>
            </a:r>
          </a:p>
        </p:txBody>
      </p:sp>
      <p:sp>
        <p:nvSpPr>
          <p:cNvPr id="7" name="TextBox 6"/>
          <p:cNvSpPr txBox="1"/>
          <p:nvPr/>
        </p:nvSpPr>
        <p:spPr>
          <a:xfrm>
            <a:off x="640080" y="1874519"/>
            <a:ext cx="6400800" cy="475488"/>
          </a:xfrm>
          <a:prstGeom prst="rect">
            <a:avLst/>
          </a:prstGeom>
          <a:noFill/>
        </p:spPr>
        <p:txBody>
          <a:bodyPr wrap="square">
            <a:spAutoFit/>
          </a:bodyPr>
          <a:lstStyle/>
          <a:p>
            <a:pPr algn="l"/>
            <a:r>
              <a:rPr sz="1300" b="0">
                <a:solidFill>
                  <a:srgbClr val="1C3A52"/>
                </a:solidFill>
                <a:latin typeface="Calibri"/>
              </a:rPr>
              <a:t>  1.  Economia y empleo</a:t>
            </a:r>
          </a:p>
        </p:txBody>
      </p:sp>
      <p:sp>
        <p:nvSpPr>
          <p:cNvPr id="8" name="TextBox 7"/>
          <p:cNvSpPr txBox="1"/>
          <p:nvPr/>
        </p:nvSpPr>
        <p:spPr>
          <a:xfrm>
            <a:off x="640080" y="2423160"/>
            <a:ext cx="6400800" cy="475488"/>
          </a:xfrm>
          <a:prstGeom prst="rect">
            <a:avLst/>
          </a:prstGeom>
          <a:noFill/>
        </p:spPr>
        <p:txBody>
          <a:bodyPr wrap="square">
            <a:spAutoFit/>
          </a:bodyPr>
          <a:lstStyle/>
          <a:p>
            <a:pPr algn="l"/>
            <a:r>
              <a:rPr sz="1300" b="0">
                <a:solidFill>
                  <a:srgbClr val="1C3A52"/>
                </a:solidFill>
                <a:latin typeface="Calibri"/>
              </a:rPr>
              <a:t>  2.  Medioambiente</a:t>
            </a:r>
          </a:p>
        </p:txBody>
      </p:sp>
      <p:sp>
        <p:nvSpPr>
          <p:cNvPr id="9" name="TextBox 8"/>
          <p:cNvSpPr txBox="1"/>
          <p:nvPr/>
        </p:nvSpPr>
        <p:spPr>
          <a:xfrm>
            <a:off x="640080" y="2971800"/>
            <a:ext cx="6400800" cy="475488"/>
          </a:xfrm>
          <a:prstGeom prst="rect">
            <a:avLst/>
          </a:prstGeom>
          <a:noFill/>
        </p:spPr>
        <p:txBody>
          <a:bodyPr wrap="square">
            <a:spAutoFit/>
          </a:bodyPr>
          <a:lstStyle/>
          <a:p>
            <a:pPr algn="l"/>
            <a:r>
              <a:rPr sz="1300" b="0">
                <a:solidFill>
                  <a:srgbClr val="1C3A52"/>
                </a:solidFill>
                <a:latin typeface="Calibri"/>
              </a:rPr>
              <a:t>  3.  Derechos y sociedad</a:t>
            </a:r>
          </a:p>
        </p:txBody>
      </p:sp>
      <p:sp>
        <p:nvSpPr>
          <p:cNvPr id="10" name="TextBox 9"/>
          <p:cNvSpPr txBox="1"/>
          <p:nvPr/>
        </p:nvSpPr>
        <p:spPr>
          <a:xfrm>
            <a:off x="640080" y="3520439"/>
            <a:ext cx="6400800" cy="475488"/>
          </a:xfrm>
          <a:prstGeom prst="rect">
            <a:avLst/>
          </a:prstGeom>
          <a:noFill/>
        </p:spPr>
        <p:txBody>
          <a:bodyPr wrap="square">
            <a:spAutoFit/>
          </a:bodyPr>
          <a:lstStyle/>
          <a:p>
            <a:pPr algn="l"/>
            <a:r>
              <a:rPr sz="1300" b="0">
                <a:solidFill>
                  <a:srgbClr val="1C3A52"/>
                </a:solidFill>
                <a:latin typeface="Calibri"/>
              </a:rPr>
              <a:t>  4.  Educacion</a:t>
            </a:r>
          </a:p>
        </p:txBody>
      </p:sp>
      <p:sp>
        <p:nvSpPr>
          <p:cNvPr id="11" name="TextBox 10"/>
          <p:cNvSpPr txBox="1"/>
          <p:nvPr/>
        </p:nvSpPr>
        <p:spPr>
          <a:xfrm>
            <a:off x="640080" y="4069079"/>
            <a:ext cx="6400800" cy="475488"/>
          </a:xfrm>
          <a:prstGeom prst="rect">
            <a:avLst/>
          </a:prstGeom>
          <a:noFill/>
        </p:spPr>
        <p:txBody>
          <a:bodyPr wrap="square">
            <a:spAutoFit/>
          </a:bodyPr>
          <a:lstStyle/>
          <a:p>
            <a:pPr algn="l"/>
            <a:r>
              <a:rPr sz="1300" b="0">
                <a:solidFill>
                  <a:srgbClr val="1C3A52"/>
                </a:solidFill>
                <a:latin typeface="Calibri"/>
              </a:rPr>
              <a:t>  5.  Seguridad</a:t>
            </a:r>
          </a:p>
        </p:txBody>
      </p:sp>
      <p:sp>
        <p:nvSpPr>
          <p:cNvPr id="12" name="TextBox 11"/>
          <p:cNvSpPr txBox="1"/>
          <p:nvPr/>
        </p:nvSpPr>
        <p:spPr>
          <a:xfrm>
            <a:off x="640080" y="4617720"/>
            <a:ext cx="6400800" cy="475488"/>
          </a:xfrm>
          <a:prstGeom prst="rect">
            <a:avLst/>
          </a:prstGeom>
          <a:noFill/>
        </p:spPr>
        <p:txBody>
          <a:bodyPr wrap="square">
            <a:spAutoFit/>
          </a:bodyPr>
          <a:lstStyle/>
          <a:p>
            <a:pPr algn="l"/>
            <a:r>
              <a:rPr sz="1300" b="0">
                <a:solidFill>
                  <a:srgbClr val="1C3A52"/>
                </a:solidFill>
                <a:latin typeface="Calibri"/>
              </a:rPr>
              <a:t>  6.  Salud</a:t>
            </a:r>
          </a:p>
        </p:txBody>
      </p:sp>
      <p:sp>
        <p:nvSpPr>
          <p:cNvPr id="13" name="TextBox 12"/>
          <p:cNvSpPr txBox="1"/>
          <p:nvPr/>
        </p:nvSpPr>
        <p:spPr>
          <a:xfrm>
            <a:off x="640080" y="5166359"/>
            <a:ext cx="6400800" cy="475488"/>
          </a:xfrm>
          <a:prstGeom prst="rect">
            <a:avLst/>
          </a:prstGeom>
          <a:noFill/>
        </p:spPr>
        <p:txBody>
          <a:bodyPr wrap="square">
            <a:spAutoFit/>
          </a:bodyPr>
          <a:lstStyle/>
          <a:p>
            <a:pPr algn="l"/>
            <a:r>
              <a:rPr sz="1300" b="0">
                <a:solidFill>
                  <a:srgbClr val="1C3A52"/>
                </a:solidFill>
                <a:latin typeface="Calibri"/>
              </a:rPr>
              <a:t>  7.  Institucionalidad</a:t>
            </a:r>
          </a:p>
        </p:txBody>
      </p:sp>
      <p:sp>
        <p:nvSpPr>
          <p:cNvPr id="14" name="TextBox 13"/>
          <p:cNvSpPr txBox="1"/>
          <p:nvPr/>
        </p:nvSpPr>
        <p:spPr>
          <a:xfrm>
            <a:off x="640080" y="5779008"/>
            <a:ext cx="6400800" cy="292608"/>
          </a:xfrm>
          <a:prstGeom prst="rect">
            <a:avLst/>
          </a:prstGeom>
          <a:noFill/>
        </p:spPr>
        <p:txBody>
          <a:bodyPr wrap="square">
            <a:spAutoFit/>
          </a:bodyPr>
          <a:lstStyle/>
          <a:p>
            <a:pPr algn="l"/>
            <a:r>
              <a:rPr sz="1000" b="1">
                <a:solidFill>
                  <a:srgbClr val="1C3A52"/>
                </a:solidFill>
                <a:latin typeface="Calibri"/>
              </a:rPr>
              <a:t>MECANICA</a:t>
            </a:r>
          </a:p>
        </p:txBody>
      </p:sp>
      <p:sp>
        <p:nvSpPr>
          <p:cNvPr id="15" name="TextBox 14"/>
          <p:cNvSpPr txBox="1"/>
          <p:nvPr/>
        </p:nvSpPr>
        <p:spPr>
          <a:xfrm>
            <a:off x="640080" y="6108192"/>
            <a:ext cx="6400800" cy="274320"/>
          </a:xfrm>
          <a:prstGeom prst="rect">
            <a:avLst/>
          </a:prstGeom>
          <a:noFill/>
        </p:spPr>
        <p:txBody>
          <a:bodyPr wrap="square">
            <a:spAutoFit/>
          </a:bodyPr>
          <a:lstStyle/>
          <a:p>
            <a:pPr algn="l"/>
            <a:r>
              <a:rPr sz="1100" b="0">
                <a:solidFill>
                  <a:srgbClr val="1C3A52"/>
                </a:solidFill>
                <a:latin typeface="Calibri"/>
              </a:rPr>
              <a:t>Likert 5 puntos  +  Ponderacion 4 niveles  +  Opcion NSR</a:t>
            </a:r>
          </a:p>
        </p:txBody>
      </p:sp>
      <p:sp>
        <p:nvSpPr>
          <p:cNvPr id="16" name="Rectangle 15"/>
          <p:cNvSpPr/>
          <p:nvPr/>
        </p:nvSpPr>
        <p:spPr>
          <a:xfrm>
            <a:off x="7479792" y="1261872"/>
            <a:ext cx="4251960" cy="5230368"/>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62672" y="1389888"/>
            <a:ext cx="3886200" cy="320040"/>
          </a:xfrm>
          <a:prstGeom prst="rect">
            <a:avLst/>
          </a:prstGeom>
          <a:noFill/>
        </p:spPr>
        <p:txBody>
          <a:bodyPr wrap="square">
            <a:spAutoFit/>
          </a:bodyPr>
          <a:lstStyle/>
          <a:p>
            <a:pPr algn="l"/>
            <a:r>
              <a:rPr sz="1100" b="1">
                <a:solidFill>
                  <a:srgbClr val="3A9E7A"/>
                </a:solidFill>
                <a:latin typeface="Calibri"/>
              </a:rPr>
              <a:t>DECISIONES UX</a:t>
            </a:r>
          </a:p>
        </p:txBody>
      </p:sp>
      <p:sp>
        <p:nvSpPr>
          <p:cNvPr id="18" name="TextBox 17"/>
          <p:cNvSpPr txBox="1"/>
          <p:nvPr/>
        </p:nvSpPr>
        <p:spPr>
          <a:xfrm>
            <a:off x="7662672" y="1901952"/>
            <a:ext cx="3886200" cy="658368"/>
          </a:xfrm>
          <a:prstGeom prst="rect">
            <a:avLst/>
          </a:prstGeom>
          <a:noFill/>
        </p:spPr>
        <p:txBody>
          <a:bodyPr wrap="square">
            <a:spAutoFit/>
          </a:bodyPr>
          <a:lstStyle/>
          <a:p>
            <a:pPr algn="l"/>
            <a:r>
              <a:rPr sz="1200" b="0">
                <a:solidFill>
                  <a:srgbClr val="FFFFFF"/>
                </a:solidFill>
                <a:latin typeface="Calibri"/>
              </a:rPr>
              <a:t>Contexto educativo por pregunta</a:t>
            </a:r>
          </a:p>
        </p:txBody>
      </p:sp>
      <p:sp>
        <p:nvSpPr>
          <p:cNvPr id="19" name="TextBox 18"/>
          <p:cNvSpPr txBox="1"/>
          <p:nvPr/>
        </p:nvSpPr>
        <p:spPr>
          <a:xfrm>
            <a:off x="7662672" y="2651760"/>
            <a:ext cx="3886200" cy="658368"/>
          </a:xfrm>
          <a:prstGeom prst="rect">
            <a:avLst/>
          </a:prstGeom>
          <a:noFill/>
        </p:spPr>
        <p:txBody>
          <a:bodyPr wrap="square">
            <a:spAutoFit/>
          </a:bodyPr>
          <a:lstStyle/>
          <a:p>
            <a:pPr algn="l"/>
            <a:r>
              <a:rPr sz="1200" b="0">
                <a:solidFill>
                  <a:srgbClr val="FFFFFF"/>
                </a:solidFill>
                <a:latin typeface="Calibri"/>
              </a:rPr>
              <a:t>'Por que te preguntamos esto?'</a:t>
            </a:r>
          </a:p>
        </p:txBody>
      </p:sp>
      <p:sp>
        <p:nvSpPr>
          <p:cNvPr id="20" name="TextBox 19"/>
          <p:cNvSpPr txBox="1"/>
          <p:nvPr/>
        </p:nvSpPr>
        <p:spPr>
          <a:xfrm>
            <a:off x="7662672" y="3401568"/>
            <a:ext cx="3886200" cy="658368"/>
          </a:xfrm>
          <a:prstGeom prst="rect">
            <a:avLst/>
          </a:prstGeom>
          <a:noFill/>
        </p:spPr>
        <p:txBody>
          <a:bodyPr wrap="square">
            <a:spAutoFit/>
          </a:bodyPr>
          <a:lstStyle/>
          <a:p>
            <a:pPr algn="l"/>
            <a:r>
              <a:rPr sz="1200" b="0">
                <a:solidFill>
                  <a:srgbClr val="FFFFFF"/>
                </a:solidFill>
                <a:latin typeface="Calibri"/>
              </a:rPr>
              <a:t>Progreso visible pero no dominante</a:t>
            </a:r>
          </a:p>
        </p:txBody>
      </p:sp>
      <p:sp>
        <p:nvSpPr>
          <p:cNvPr id="21" name="TextBox 20"/>
          <p:cNvSpPr txBox="1"/>
          <p:nvPr/>
        </p:nvSpPr>
        <p:spPr>
          <a:xfrm>
            <a:off x="7662672" y="4151376"/>
            <a:ext cx="3886200" cy="658368"/>
          </a:xfrm>
          <a:prstGeom prst="rect">
            <a:avLst/>
          </a:prstGeom>
          <a:noFill/>
        </p:spPr>
        <p:txBody>
          <a:bodyPr wrap="square">
            <a:spAutoFit/>
          </a:bodyPr>
          <a:lstStyle/>
          <a:p>
            <a:pPr algn="l"/>
            <a:r>
              <a:rPr sz="1200" b="0">
                <a:solidFill>
                  <a:srgbClr val="FFFFFF"/>
                </a:solidFill>
                <a:latin typeface="Calibri"/>
              </a:rPr>
              <a:t>Sin puntos, sin logros, sin celebracion</a:t>
            </a:r>
          </a:p>
        </p:txBody>
      </p:sp>
      <p:sp>
        <p:nvSpPr>
          <p:cNvPr id="22" name="TextBox 21"/>
          <p:cNvSpPr txBox="1"/>
          <p:nvPr/>
        </p:nvSpPr>
        <p:spPr>
          <a:xfrm>
            <a:off x="7662672" y="4901183"/>
            <a:ext cx="3886200" cy="658368"/>
          </a:xfrm>
          <a:prstGeom prst="rect">
            <a:avLst/>
          </a:prstGeom>
          <a:noFill/>
        </p:spPr>
        <p:txBody>
          <a:bodyPr wrap="square">
            <a:spAutoFit/>
          </a:bodyPr>
          <a:lstStyle/>
          <a:p>
            <a:pPr algn="l"/>
            <a:r>
              <a:rPr sz="1200" b="0">
                <a:solidFill>
                  <a:srgbClr val="FFFFFF"/>
                </a:solidFill>
                <a:latin typeface="Calibri"/>
              </a:rPr>
              <a:t>Tiempo estimado visible desde el inicio</a:t>
            </a:r>
          </a:p>
        </p:txBody>
      </p:sp>
      <p:sp>
        <p:nvSpPr>
          <p:cNvPr id="23" name="TextBox 22"/>
          <p:cNvSpPr txBox="1"/>
          <p:nvPr/>
        </p:nvSpPr>
        <p:spPr>
          <a:xfrm>
            <a:off x="7662672" y="5650992"/>
            <a:ext cx="3886200" cy="658368"/>
          </a:xfrm>
          <a:prstGeom prst="rect">
            <a:avLst/>
          </a:prstGeom>
          <a:noFill/>
        </p:spPr>
        <p:txBody>
          <a:bodyPr wrap="square">
            <a:spAutoFit/>
          </a:bodyPr>
          <a:lstStyle/>
          <a:p>
            <a:pPr algn="l"/>
            <a:r>
              <a:rPr sz="1200" b="0">
                <a:solidFill>
                  <a:srgbClr val="FFFFFF"/>
                </a:solidFill>
                <a:latin typeface="Calibri"/>
              </a:rPr>
              <a:t>Opcion de omitir sin penalizacion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3A9E7A"/>
                </a:solidFill>
                <a:latin typeface="Calibri"/>
              </a:rPr>
              <a:t>FUNCIONALIDADES: MATCHING Y RESULTADOS</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3800" b="1">
                <a:solidFill>
                  <a:srgbClr val="FFFFFF"/>
                </a:solidFill>
                <a:latin typeface="Calibri"/>
              </a:rPr>
              <a:t>El algoritmo en 4 pasos.</a:t>
            </a:r>
          </a:p>
        </p:txBody>
      </p:sp>
      <p:sp>
        <p:nvSpPr>
          <p:cNvPr id="5" name="TextBox 4"/>
          <p:cNvSpPr txBox="1"/>
          <p:nvPr/>
        </p:nvSpPr>
        <p:spPr>
          <a:xfrm>
            <a:off x="3264408" y="2176272"/>
            <a:ext cx="411480" cy="457200"/>
          </a:xfrm>
          <a:prstGeom prst="rect">
            <a:avLst/>
          </a:prstGeom>
          <a:noFill/>
        </p:spPr>
        <p:txBody>
          <a:bodyPr wrap="square">
            <a:spAutoFit/>
          </a:bodyPr>
          <a:lstStyle/>
          <a:p>
            <a:pPr algn="ctr"/>
            <a:r>
              <a:rPr sz="2000" b="1">
                <a:solidFill>
                  <a:srgbClr val="CBD1CD"/>
                </a:solidFill>
                <a:latin typeface="Calibri"/>
              </a:rPr>
              <a:t>-&gt;</a:t>
            </a:r>
          </a:p>
        </p:txBody>
      </p:sp>
      <p:sp>
        <p:nvSpPr>
          <p:cNvPr id="6" name="Rectangle 5"/>
          <p:cNvSpPr/>
          <p:nvPr/>
        </p:nvSpPr>
        <p:spPr>
          <a:xfrm>
            <a:off x="457200" y="1298448"/>
            <a:ext cx="2651760" cy="4462272"/>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417320"/>
            <a:ext cx="640080" cy="548640"/>
          </a:xfrm>
          <a:prstGeom prst="rect">
            <a:avLst/>
          </a:prstGeom>
          <a:noFill/>
        </p:spPr>
        <p:txBody>
          <a:bodyPr wrap="square">
            <a:spAutoFit/>
          </a:bodyPr>
          <a:lstStyle/>
          <a:p>
            <a:pPr algn="l"/>
            <a:r>
              <a:rPr sz="2200" b="1">
                <a:solidFill>
                  <a:srgbClr val="FFFFFF"/>
                </a:solidFill>
                <a:latin typeface="Calibri"/>
              </a:rPr>
              <a:t>1</a:t>
            </a:r>
          </a:p>
        </p:txBody>
      </p:sp>
      <p:sp>
        <p:nvSpPr>
          <p:cNvPr id="8" name="TextBox 7"/>
          <p:cNvSpPr txBox="1"/>
          <p:nvPr/>
        </p:nvSpPr>
        <p:spPr>
          <a:xfrm>
            <a:off x="594360" y="2011680"/>
            <a:ext cx="2423160" cy="502920"/>
          </a:xfrm>
          <a:prstGeom prst="rect">
            <a:avLst/>
          </a:prstGeom>
          <a:noFill/>
        </p:spPr>
        <p:txBody>
          <a:bodyPr wrap="square">
            <a:spAutoFit/>
          </a:bodyPr>
          <a:lstStyle/>
          <a:p>
            <a:pPr algn="l"/>
            <a:r>
              <a:rPr sz="1400" b="1">
                <a:solidFill>
                  <a:srgbClr val="FFFFFF"/>
                </a:solidFill>
                <a:latin typeface="Calibri"/>
              </a:rPr>
              <a:t>LIKERT</a:t>
            </a:r>
          </a:p>
        </p:txBody>
      </p:sp>
      <p:sp>
        <p:nvSpPr>
          <p:cNvPr id="9" name="Rectangle 8"/>
          <p:cNvSpPr/>
          <p:nvPr/>
        </p:nvSpPr>
        <p:spPr>
          <a:xfrm>
            <a:off x="594360" y="2542032"/>
            <a:ext cx="21945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670048"/>
            <a:ext cx="2423160" cy="2788920"/>
          </a:xfrm>
          <a:prstGeom prst="rect">
            <a:avLst/>
          </a:prstGeom>
          <a:noFill/>
        </p:spPr>
        <p:txBody>
          <a:bodyPr wrap="square">
            <a:spAutoFit/>
          </a:bodyPr>
          <a:lstStyle/>
          <a:p>
            <a:pPr algn="l"/>
            <a:r>
              <a:rPr sz="1200" b="0">
                <a:solidFill>
                  <a:srgbClr val="FFFFFF"/>
                </a:solidFill>
                <a:latin typeface="Calibri"/>
              </a:rPr>
              <a:t>Respuestas del usuario
Escala 1-5 + NSR excluido
Ponderacion 4 niveles</a:t>
            </a:r>
          </a:p>
        </p:txBody>
      </p:sp>
      <p:sp>
        <p:nvSpPr>
          <p:cNvPr id="11" name="TextBox 10"/>
          <p:cNvSpPr txBox="1"/>
          <p:nvPr/>
        </p:nvSpPr>
        <p:spPr>
          <a:xfrm>
            <a:off x="6144768" y="2176272"/>
            <a:ext cx="411480" cy="457200"/>
          </a:xfrm>
          <a:prstGeom prst="rect">
            <a:avLst/>
          </a:prstGeom>
          <a:noFill/>
        </p:spPr>
        <p:txBody>
          <a:bodyPr wrap="square">
            <a:spAutoFit/>
          </a:bodyPr>
          <a:lstStyle/>
          <a:p>
            <a:pPr algn="ctr"/>
            <a:r>
              <a:rPr sz="2000" b="1">
                <a:solidFill>
                  <a:srgbClr val="CBD1CD"/>
                </a:solidFill>
                <a:latin typeface="Calibri"/>
              </a:rPr>
              <a:t>-&gt;</a:t>
            </a:r>
          </a:p>
        </p:txBody>
      </p:sp>
      <p:sp>
        <p:nvSpPr>
          <p:cNvPr id="12" name="Rectangle 11"/>
          <p:cNvSpPr/>
          <p:nvPr/>
        </p:nvSpPr>
        <p:spPr>
          <a:xfrm>
            <a:off x="3337560" y="1298448"/>
            <a:ext cx="2651760" cy="4462272"/>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0" y="1417320"/>
            <a:ext cx="640080" cy="548640"/>
          </a:xfrm>
          <a:prstGeom prst="rect">
            <a:avLst/>
          </a:prstGeom>
          <a:noFill/>
        </p:spPr>
        <p:txBody>
          <a:bodyPr wrap="square">
            <a:spAutoFit/>
          </a:bodyPr>
          <a:lstStyle/>
          <a:p>
            <a:pPr algn="l"/>
            <a:r>
              <a:rPr sz="2200" b="1">
                <a:solidFill>
                  <a:srgbClr val="FFFFFF"/>
                </a:solidFill>
                <a:latin typeface="Calibri"/>
              </a:rPr>
              <a:t>2</a:t>
            </a:r>
          </a:p>
        </p:txBody>
      </p:sp>
      <p:sp>
        <p:nvSpPr>
          <p:cNvPr id="14" name="TextBox 13"/>
          <p:cNvSpPr txBox="1"/>
          <p:nvPr/>
        </p:nvSpPr>
        <p:spPr>
          <a:xfrm>
            <a:off x="3474720" y="2011680"/>
            <a:ext cx="2423160" cy="502920"/>
          </a:xfrm>
          <a:prstGeom prst="rect">
            <a:avLst/>
          </a:prstGeom>
          <a:noFill/>
        </p:spPr>
        <p:txBody>
          <a:bodyPr wrap="square">
            <a:spAutoFit/>
          </a:bodyPr>
          <a:lstStyle/>
          <a:p>
            <a:pPr algn="l"/>
            <a:r>
              <a:rPr sz="1400" b="1">
                <a:solidFill>
                  <a:srgbClr val="FFFFFF"/>
                </a:solidFill>
                <a:latin typeface="Calibri"/>
              </a:rPr>
              <a:t>POSTURA</a:t>
            </a:r>
          </a:p>
        </p:txBody>
      </p:sp>
      <p:sp>
        <p:nvSpPr>
          <p:cNvPr id="15" name="Rectangle 14"/>
          <p:cNvSpPr/>
          <p:nvPr/>
        </p:nvSpPr>
        <p:spPr>
          <a:xfrm>
            <a:off x="3474720" y="2542032"/>
            <a:ext cx="21945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0" y="2670048"/>
            <a:ext cx="2423160" cy="2788920"/>
          </a:xfrm>
          <a:prstGeom prst="rect">
            <a:avLst/>
          </a:prstGeom>
          <a:noFill/>
        </p:spPr>
        <p:txBody>
          <a:bodyPr wrap="square">
            <a:spAutoFit/>
          </a:bodyPr>
          <a:lstStyle/>
          <a:p>
            <a:pPr algn="l"/>
            <a:r>
              <a:rPr sz="1200" b="0">
                <a:solidFill>
                  <a:srgbClr val="FFFFFF"/>
                </a:solidFill>
                <a:latin typeface="Calibri"/>
              </a:rPr>
              <a:t>Candidato + fuente verificada
Nivel de confianza
ALTA / MEDIA / BAJA</a:t>
            </a:r>
          </a:p>
        </p:txBody>
      </p:sp>
      <p:sp>
        <p:nvSpPr>
          <p:cNvPr id="17" name="TextBox 16"/>
          <p:cNvSpPr txBox="1"/>
          <p:nvPr/>
        </p:nvSpPr>
        <p:spPr>
          <a:xfrm>
            <a:off x="9025128" y="2176272"/>
            <a:ext cx="411480" cy="457200"/>
          </a:xfrm>
          <a:prstGeom prst="rect">
            <a:avLst/>
          </a:prstGeom>
          <a:noFill/>
        </p:spPr>
        <p:txBody>
          <a:bodyPr wrap="square">
            <a:spAutoFit/>
          </a:bodyPr>
          <a:lstStyle/>
          <a:p>
            <a:pPr algn="ctr"/>
            <a:r>
              <a:rPr sz="2000" b="1">
                <a:solidFill>
                  <a:srgbClr val="CBD1CD"/>
                </a:solidFill>
                <a:latin typeface="Calibri"/>
              </a:rPr>
              <a:t>-&gt;</a:t>
            </a:r>
          </a:p>
        </p:txBody>
      </p:sp>
      <p:sp>
        <p:nvSpPr>
          <p:cNvPr id="18" name="Rectangle 17"/>
          <p:cNvSpPr/>
          <p:nvPr/>
        </p:nvSpPr>
        <p:spPr>
          <a:xfrm>
            <a:off x="6217920" y="1298448"/>
            <a:ext cx="2651760" cy="4462272"/>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1417320"/>
            <a:ext cx="640080" cy="548640"/>
          </a:xfrm>
          <a:prstGeom prst="rect">
            <a:avLst/>
          </a:prstGeom>
          <a:noFill/>
        </p:spPr>
        <p:txBody>
          <a:bodyPr wrap="square">
            <a:spAutoFit/>
          </a:bodyPr>
          <a:lstStyle/>
          <a:p>
            <a:pPr algn="l"/>
            <a:r>
              <a:rPr sz="2200" b="1">
                <a:solidFill>
                  <a:srgbClr val="FFFFFF"/>
                </a:solidFill>
                <a:latin typeface="Calibri"/>
              </a:rPr>
              <a:t>3</a:t>
            </a:r>
          </a:p>
        </p:txBody>
      </p:sp>
      <p:sp>
        <p:nvSpPr>
          <p:cNvPr id="20" name="TextBox 19"/>
          <p:cNvSpPr txBox="1"/>
          <p:nvPr/>
        </p:nvSpPr>
        <p:spPr>
          <a:xfrm>
            <a:off x="6355080" y="2011680"/>
            <a:ext cx="2423160" cy="502920"/>
          </a:xfrm>
          <a:prstGeom prst="rect">
            <a:avLst/>
          </a:prstGeom>
          <a:noFill/>
        </p:spPr>
        <p:txBody>
          <a:bodyPr wrap="square">
            <a:spAutoFit/>
          </a:bodyPr>
          <a:lstStyle/>
          <a:p>
            <a:pPr algn="l"/>
            <a:r>
              <a:rPr sz="1400" b="1">
                <a:solidFill>
                  <a:srgbClr val="FFFFFF"/>
                </a:solidFill>
                <a:latin typeface="Calibri"/>
              </a:rPr>
              <a:t>CALCULO</a:t>
            </a:r>
          </a:p>
        </p:txBody>
      </p:sp>
      <p:sp>
        <p:nvSpPr>
          <p:cNvPr id="21" name="Rectangle 20"/>
          <p:cNvSpPr/>
          <p:nvPr/>
        </p:nvSpPr>
        <p:spPr>
          <a:xfrm>
            <a:off x="6355080" y="2542032"/>
            <a:ext cx="21945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2670048"/>
            <a:ext cx="2423160" cy="2788920"/>
          </a:xfrm>
          <a:prstGeom prst="rect">
            <a:avLst/>
          </a:prstGeom>
          <a:noFill/>
        </p:spPr>
        <p:txBody>
          <a:bodyPr wrap="square">
            <a:spAutoFit/>
          </a:bodyPr>
          <a:lstStyle/>
          <a:p>
            <a:pPr algn="l"/>
            <a:r>
              <a:rPr sz="1200" b="0">
                <a:solidFill>
                  <a:srgbClr val="FFFFFF"/>
                </a:solidFill>
                <a:latin typeface="Calibri"/>
              </a:rPr>
              <a:t>Diferencia normalizada
al cuadrado
* peso de importancia</a:t>
            </a:r>
          </a:p>
        </p:txBody>
      </p:sp>
      <p:sp>
        <p:nvSpPr>
          <p:cNvPr id="23" name="Rectangle 22"/>
          <p:cNvSpPr/>
          <p:nvPr/>
        </p:nvSpPr>
        <p:spPr>
          <a:xfrm>
            <a:off x="9098280" y="1298448"/>
            <a:ext cx="2651760" cy="4462272"/>
          </a:xfrm>
          <a:prstGeom prst="rect">
            <a:avLst/>
          </a:prstGeom>
          <a:solidFill>
            <a:srgbClr val="6B9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0" y="1417320"/>
            <a:ext cx="640080" cy="548640"/>
          </a:xfrm>
          <a:prstGeom prst="rect">
            <a:avLst/>
          </a:prstGeom>
          <a:noFill/>
        </p:spPr>
        <p:txBody>
          <a:bodyPr wrap="square">
            <a:spAutoFit/>
          </a:bodyPr>
          <a:lstStyle/>
          <a:p>
            <a:pPr algn="l"/>
            <a:r>
              <a:rPr sz="2200" b="1">
                <a:solidFill>
                  <a:srgbClr val="FFFFFF"/>
                </a:solidFill>
                <a:latin typeface="Calibri"/>
              </a:rPr>
              <a:t>4</a:t>
            </a:r>
          </a:p>
        </p:txBody>
      </p:sp>
      <p:sp>
        <p:nvSpPr>
          <p:cNvPr id="25" name="TextBox 24"/>
          <p:cNvSpPr txBox="1"/>
          <p:nvPr/>
        </p:nvSpPr>
        <p:spPr>
          <a:xfrm>
            <a:off x="9235440" y="2011680"/>
            <a:ext cx="2423160" cy="502920"/>
          </a:xfrm>
          <a:prstGeom prst="rect">
            <a:avLst/>
          </a:prstGeom>
          <a:noFill/>
        </p:spPr>
        <p:txBody>
          <a:bodyPr wrap="square">
            <a:spAutoFit/>
          </a:bodyPr>
          <a:lstStyle/>
          <a:p>
            <a:pPr algn="l"/>
            <a:r>
              <a:rPr sz="1400" b="1">
                <a:solidFill>
                  <a:srgbClr val="FFFFFF"/>
                </a:solidFill>
                <a:latin typeface="Calibri"/>
              </a:rPr>
              <a:t>RESULTADO</a:t>
            </a:r>
          </a:p>
        </p:txBody>
      </p:sp>
      <p:sp>
        <p:nvSpPr>
          <p:cNvPr id="26" name="Rectangle 25"/>
          <p:cNvSpPr/>
          <p:nvPr/>
        </p:nvSpPr>
        <p:spPr>
          <a:xfrm>
            <a:off x="9235440" y="2542032"/>
            <a:ext cx="21945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35440" y="2670048"/>
            <a:ext cx="2423160" cy="2788920"/>
          </a:xfrm>
          <a:prstGeom prst="rect">
            <a:avLst/>
          </a:prstGeom>
          <a:noFill/>
        </p:spPr>
        <p:txBody>
          <a:bodyPr wrap="square">
            <a:spAutoFit/>
          </a:bodyPr>
          <a:lstStyle/>
          <a:p>
            <a:pPr algn="l"/>
            <a:r>
              <a:rPr sz="1200" b="0">
                <a:solidFill>
                  <a:srgbClr val="FFFFFF"/>
                </a:solidFill>
                <a:latin typeface="Calibri"/>
              </a:rPr>
              <a:t>% de afinidad global
Desglose por eje
Indicador de confianza</a:t>
            </a:r>
          </a:p>
        </p:txBody>
      </p:sp>
      <p:sp>
        <p:nvSpPr>
          <p:cNvPr id="28" name="Rectangle 27"/>
          <p:cNvSpPr/>
          <p:nvPr/>
        </p:nvSpPr>
        <p:spPr>
          <a:xfrm>
            <a:off x="457200" y="5961888"/>
            <a:ext cx="11247120" cy="68580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6080760"/>
            <a:ext cx="10698480" cy="475488"/>
          </a:xfrm>
          <a:prstGeom prst="rect">
            <a:avLst/>
          </a:prstGeom>
          <a:noFill/>
        </p:spPr>
        <p:txBody>
          <a:bodyPr wrap="square">
            <a:spAutoFit/>
          </a:bodyPr>
          <a:lstStyle/>
          <a:p>
            <a:pPr algn="ctr"/>
            <a:r>
              <a:rPr sz="1100" b="0">
                <a:solidFill>
                  <a:srgbClr val="FFFFFF"/>
                </a:solidFill>
                <a:latin typeface="Calibri"/>
              </a:rPr>
              <a:t>Funcion cuadratica: penaliza desacuerdos extremos con mayor severidad que los leves. Louwerse y Rosema (2014): esta metrica refleja mejor la intuicion politica sobre distancia entre posiciones.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3A9E7A"/>
                </a:solidFill>
                <a:latin typeface="Calibri"/>
              </a:rPr>
              <a:t>FUNCIONALIDADES: COMPARACION Y PERFIL</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3800" b="1">
                <a:solidFill>
                  <a:srgbClr val="1C3A52"/>
                </a:solidFill>
                <a:latin typeface="Calibri"/>
              </a:rPr>
              <a:t>Los datos como protagonistas.</a:t>
            </a:r>
          </a:p>
        </p:txBody>
      </p:sp>
      <p:sp>
        <p:nvSpPr>
          <p:cNvPr id="5" name="Rectangle 4"/>
          <p:cNvSpPr/>
          <p:nvPr/>
        </p:nvSpPr>
        <p:spPr>
          <a:xfrm>
            <a:off x="457200" y="1261872"/>
            <a:ext cx="5577840" cy="523036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89888"/>
            <a:ext cx="5212080" cy="320040"/>
          </a:xfrm>
          <a:prstGeom prst="rect">
            <a:avLst/>
          </a:prstGeom>
          <a:noFill/>
        </p:spPr>
        <p:txBody>
          <a:bodyPr wrap="square">
            <a:spAutoFit/>
          </a:bodyPr>
          <a:lstStyle/>
          <a:p>
            <a:pPr algn="l"/>
            <a:r>
              <a:rPr sz="1100" b="1">
                <a:solidFill>
                  <a:srgbClr val="1C3A52"/>
                </a:solidFill>
                <a:latin typeface="Calibri"/>
              </a:rPr>
              <a:t>COMPARACION DE CANDIDATOS</a:t>
            </a:r>
          </a:p>
        </p:txBody>
      </p:sp>
      <p:sp>
        <p:nvSpPr>
          <p:cNvPr id="7" name="TextBox 6"/>
          <p:cNvSpPr txBox="1"/>
          <p:nvPr/>
        </p:nvSpPr>
        <p:spPr>
          <a:xfrm>
            <a:off x="640080" y="1783080"/>
            <a:ext cx="5212080" cy="658368"/>
          </a:xfrm>
          <a:prstGeom prst="rect">
            <a:avLst/>
          </a:prstGeom>
          <a:noFill/>
        </p:spPr>
        <p:txBody>
          <a:bodyPr wrap="square">
            <a:spAutoFit/>
          </a:bodyPr>
          <a:lstStyle/>
          <a:p>
            <a:pPr algn="l"/>
            <a:r>
              <a:rPr sz="1600" b="1">
                <a:solidFill>
                  <a:srgbClr val="1C3A52"/>
                </a:solidFill>
                <a:latin typeface="Calibri"/>
              </a:rPr>
              <a:t>Radar chart de superposicion
usuario vs. candidato.</a:t>
            </a:r>
          </a:p>
        </p:txBody>
      </p:sp>
      <p:sp>
        <p:nvSpPr>
          <p:cNvPr id="8" name="TextBox 7"/>
          <p:cNvSpPr txBox="1"/>
          <p:nvPr/>
        </p:nvSpPr>
        <p:spPr>
          <a:xfrm>
            <a:off x="640080" y="2542032"/>
            <a:ext cx="5212080" cy="566928"/>
          </a:xfrm>
          <a:prstGeom prst="rect">
            <a:avLst/>
          </a:prstGeom>
          <a:noFill/>
        </p:spPr>
        <p:txBody>
          <a:bodyPr wrap="square">
            <a:spAutoFit/>
          </a:bodyPr>
          <a:lstStyle/>
          <a:p>
            <a:pPr algn="l"/>
            <a:r>
              <a:rPr sz="1200" b="0">
                <a:solidFill>
                  <a:srgbClr val="1C3A52"/>
                </a:solidFill>
                <a:latin typeface="Calibri"/>
              </a:rPr>
              <a:t>  Area de interseccion = coincidencia real</a:t>
            </a:r>
          </a:p>
        </p:txBody>
      </p:sp>
      <p:sp>
        <p:nvSpPr>
          <p:cNvPr id="9" name="TextBox 8"/>
          <p:cNvSpPr txBox="1"/>
          <p:nvPr/>
        </p:nvSpPr>
        <p:spPr>
          <a:xfrm>
            <a:off x="640080" y="3200400"/>
            <a:ext cx="5212080" cy="566928"/>
          </a:xfrm>
          <a:prstGeom prst="rect">
            <a:avLst/>
          </a:prstGeom>
          <a:noFill/>
        </p:spPr>
        <p:txBody>
          <a:bodyPr wrap="square">
            <a:spAutoFit/>
          </a:bodyPr>
          <a:lstStyle/>
          <a:p>
            <a:pPr algn="l"/>
            <a:r>
              <a:rPr sz="1200" b="0">
                <a:solidFill>
                  <a:srgbClr val="1C3A52"/>
                </a:solidFill>
                <a:latin typeface="Calibri"/>
              </a:rPr>
              <a:t>  Sin ganadores ni perdedores declarados</a:t>
            </a:r>
          </a:p>
        </p:txBody>
      </p:sp>
      <p:sp>
        <p:nvSpPr>
          <p:cNvPr id="10" name="TextBox 9"/>
          <p:cNvSpPr txBox="1"/>
          <p:nvPr/>
        </p:nvSpPr>
        <p:spPr>
          <a:xfrm>
            <a:off x="640080" y="3858768"/>
            <a:ext cx="5212080" cy="566928"/>
          </a:xfrm>
          <a:prstGeom prst="rect">
            <a:avLst/>
          </a:prstGeom>
          <a:noFill/>
        </p:spPr>
        <p:txBody>
          <a:bodyPr wrap="square">
            <a:spAutoFit/>
          </a:bodyPr>
          <a:lstStyle/>
          <a:p>
            <a:pPr algn="l"/>
            <a:r>
              <a:rPr sz="1200" b="0">
                <a:solidFill>
                  <a:srgbClr val="1C3A52"/>
                </a:solidFill>
                <a:latin typeface="Calibri"/>
              </a:rPr>
              <a:t>  Dos candidatos comparables simultaneamente</a:t>
            </a:r>
          </a:p>
        </p:txBody>
      </p:sp>
      <p:sp>
        <p:nvSpPr>
          <p:cNvPr id="11" name="TextBox 10"/>
          <p:cNvSpPr txBox="1"/>
          <p:nvPr/>
        </p:nvSpPr>
        <p:spPr>
          <a:xfrm>
            <a:off x="640080" y="4517136"/>
            <a:ext cx="5212080" cy="566928"/>
          </a:xfrm>
          <a:prstGeom prst="rect">
            <a:avLst/>
          </a:prstGeom>
          <a:noFill/>
        </p:spPr>
        <p:txBody>
          <a:bodyPr wrap="square">
            <a:spAutoFit/>
          </a:bodyPr>
          <a:lstStyle/>
          <a:p>
            <a:pPr algn="l"/>
            <a:r>
              <a:rPr sz="1200" b="0">
                <a:solidFill>
                  <a:srgbClr val="1C3A52"/>
                </a:solidFill>
                <a:latin typeface="Calibri"/>
              </a:rPr>
              <a:t>  Zona de acuerdo y desacuerdo visible</a:t>
            </a:r>
          </a:p>
        </p:txBody>
      </p:sp>
      <p:sp>
        <p:nvSpPr>
          <p:cNvPr id="12" name="TextBox 11"/>
          <p:cNvSpPr txBox="1"/>
          <p:nvPr/>
        </p:nvSpPr>
        <p:spPr>
          <a:xfrm>
            <a:off x="640080" y="5175504"/>
            <a:ext cx="5212080" cy="566928"/>
          </a:xfrm>
          <a:prstGeom prst="rect">
            <a:avLst/>
          </a:prstGeom>
          <a:noFill/>
        </p:spPr>
        <p:txBody>
          <a:bodyPr wrap="square">
            <a:spAutoFit/>
          </a:bodyPr>
          <a:lstStyle/>
          <a:p>
            <a:pPr algn="l"/>
            <a:r>
              <a:rPr sz="1200" b="0">
                <a:solidFill>
                  <a:srgbClr val="1C3A52"/>
                </a:solidFill>
                <a:latin typeface="Calibri"/>
              </a:rPr>
              <a:t>  El grafico ES la marca del producto</a:t>
            </a:r>
          </a:p>
        </p:txBody>
      </p:sp>
      <p:sp>
        <p:nvSpPr>
          <p:cNvPr id="13" name="Rectangle 12"/>
          <p:cNvSpPr/>
          <p:nvPr/>
        </p:nvSpPr>
        <p:spPr>
          <a:xfrm>
            <a:off x="6199632" y="1261872"/>
            <a:ext cx="5486400" cy="5230368"/>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389888"/>
            <a:ext cx="5120640" cy="320040"/>
          </a:xfrm>
          <a:prstGeom prst="rect">
            <a:avLst/>
          </a:prstGeom>
          <a:noFill/>
        </p:spPr>
        <p:txBody>
          <a:bodyPr wrap="square">
            <a:spAutoFit/>
          </a:bodyPr>
          <a:lstStyle/>
          <a:p>
            <a:pPr algn="l"/>
            <a:r>
              <a:rPr sz="1100" b="1">
                <a:solidFill>
                  <a:srgbClr val="3A9E7A"/>
                </a:solidFill>
                <a:latin typeface="Calibri"/>
              </a:rPr>
              <a:t>PERFIL DE CANDIDATO</a:t>
            </a:r>
          </a:p>
        </p:txBody>
      </p:sp>
      <p:sp>
        <p:nvSpPr>
          <p:cNvPr id="15" name="TextBox 14"/>
          <p:cNvSpPr txBox="1"/>
          <p:nvPr/>
        </p:nvSpPr>
        <p:spPr>
          <a:xfrm>
            <a:off x="6382512" y="1783080"/>
            <a:ext cx="5120640" cy="658368"/>
          </a:xfrm>
          <a:prstGeom prst="rect">
            <a:avLst/>
          </a:prstGeom>
          <a:noFill/>
        </p:spPr>
        <p:txBody>
          <a:bodyPr wrap="square">
            <a:spAutoFit/>
          </a:bodyPr>
          <a:lstStyle/>
          <a:p>
            <a:pPr algn="l"/>
            <a:r>
              <a:rPr sz="1600" b="1">
                <a:solidFill>
                  <a:srgbClr val="FFFFFF"/>
                </a:solidFill>
                <a:latin typeface="Calibri"/>
              </a:rPr>
              <a:t>Las posiciones son el contenido.
La foto es el contexto.</a:t>
            </a:r>
          </a:p>
        </p:txBody>
      </p:sp>
      <p:sp>
        <p:nvSpPr>
          <p:cNvPr id="16" name="TextBox 15"/>
          <p:cNvSpPr txBox="1"/>
          <p:nvPr/>
        </p:nvSpPr>
        <p:spPr>
          <a:xfrm>
            <a:off x="6382512" y="2542032"/>
            <a:ext cx="5120640" cy="566928"/>
          </a:xfrm>
          <a:prstGeom prst="rect">
            <a:avLst/>
          </a:prstGeom>
          <a:noFill/>
        </p:spPr>
        <p:txBody>
          <a:bodyPr wrap="square">
            <a:spAutoFit/>
          </a:bodyPr>
          <a:lstStyle/>
          <a:p>
            <a:pPr algn="l"/>
            <a:r>
              <a:rPr sz="1200" b="0">
                <a:solidFill>
                  <a:srgbClr val="FFFFFF"/>
                </a:solidFill>
                <a:latin typeface="Calibri"/>
              </a:rPr>
              <a:t>  Postura en cada pregunta del cuestionario</a:t>
            </a:r>
          </a:p>
        </p:txBody>
      </p:sp>
      <p:sp>
        <p:nvSpPr>
          <p:cNvPr id="17" name="TextBox 16"/>
          <p:cNvSpPr txBox="1"/>
          <p:nvPr/>
        </p:nvSpPr>
        <p:spPr>
          <a:xfrm>
            <a:off x="6382512" y="3200400"/>
            <a:ext cx="5120640" cy="566928"/>
          </a:xfrm>
          <a:prstGeom prst="rect">
            <a:avLst/>
          </a:prstGeom>
          <a:noFill/>
        </p:spPr>
        <p:txBody>
          <a:bodyPr wrap="square">
            <a:spAutoFit/>
          </a:bodyPr>
          <a:lstStyle/>
          <a:p>
            <a:pPr algn="l"/>
            <a:r>
              <a:rPr sz="1200" b="0">
                <a:solidFill>
                  <a:srgbClr val="FFFFFF"/>
                </a:solidFill>
                <a:latin typeface="Calibri"/>
              </a:rPr>
              <a:t>  Justificacion textual de cada postura</a:t>
            </a:r>
          </a:p>
        </p:txBody>
      </p:sp>
      <p:sp>
        <p:nvSpPr>
          <p:cNvPr id="18" name="TextBox 17"/>
          <p:cNvSpPr txBox="1"/>
          <p:nvPr/>
        </p:nvSpPr>
        <p:spPr>
          <a:xfrm>
            <a:off x="6382512" y="3858768"/>
            <a:ext cx="5120640" cy="566928"/>
          </a:xfrm>
          <a:prstGeom prst="rect">
            <a:avLst/>
          </a:prstGeom>
          <a:noFill/>
        </p:spPr>
        <p:txBody>
          <a:bodyPr wrap="square">
            <a:spAutoFit/>
          </a:bodyPr>
          <a:lstStyle/>
          <a:p>
            <a:pPr algn="l"/>
            <a:r>
              <a:rPr sz="1200" b="0">
                <a:solidFill>
                  <a:srgbClr val="FFFFFF"/>
                </a:solidFill>
                <a:latin typeface="Calibri"/>
              </a:rPr>
              <a:t>  URL de fuente primaria verificable</a:t>
            </a:r>
          </a:p>
        </p:txBody>
      </p:sp>
      <p:sp>
        <p:nvSpPr>
          <p:cNvPr id="19" name="TextBox 18"/>
          <p:cNvSpPr txBox="1"/>
          <p:nvPr/>
        </p:nvSpPr>
        <p:spPr>
          <a:xfrm>
            <a:off x="6382512" y="4517136"/>
            <a:ext cx="5120640" cy="566928"/>
          </a:xfrm>
          <a:prstGeom prst="rect">
            <a:avLst/>
          </a:prstGeom>
          <a:noFill/>
        </p:spPr>
        <p:txBody>
          <a:bodyPr wrap="square">
            <a:spAutoFit/>
          </a:bodyPr>
          <a:lstStyle/>
          <a:p>
            <a:pPr algn="l"/>
            <a:r>
              <a:rPr sz="1200" b="0">
                <a:solidFill>
                  <a:srgbClr val="FFFFFF"/>
                </a:solidFill>
                <a:latin typeface="Calibri"/>
              </a:rPr>
              <a:t>  Nivel de confianza por postura</a:t>
            </a:r>
          </a:p>
        </p:txBody>
      </p:sp>
      <p:sp>
        <p:nvSpPr>
          <p:cNvPr id="20" name="TextBox 19"/>
          <p:cNvSpPr txBox="1"/>
          <p:nvPr/>
        </p:nvSpPr>
        <p:spPr>
          <a:xfrm>
            <a:off x="6382512" y="5175504"/>
            <a:ext cx="5120640" cy="566928"/>
          </a:xfrm>
          <a:prstGeom prst="rect">
            <a:avLst/>
          </a:prstGeom>
          <a:noFill/>
        </p:spPr>
        <p:txBody>
          <a:bodyPr wrap="square">
            <a:spAutoFit/>
          </a:bodyPr>
          <a:lstStyle/>
          <a:p>
            <a:pPr algn="l"/>
            <a:r>
              <a:rPr sz="1200" b="0">
                <a:solidFill>
                  <a:srgbClr val="FFFFFF"/>
                </a:solidFill>
                <a:latin typeface="Calibri"/>
              </a:rPr>
              <a:t>  Noticias recientes asociadas al candidato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PRINCIPALES DECISIONES DE INGENIERIA</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3600" b="1">
                <a:solidFill>
                  <a:srgbClr val="FFFFFF"/>
                </a:solidFill>
                <a:latin typeface="Calibri"/>
              </a:rPr>
              <a:t>Alternativas consideradas y razones.</a:t>
            </a:r>
          </a:p>
        </p:txBody>
      </p:sp>
      <p:sp>
        <p:nvSpPr>
          <p:cNvPr id="5" name="Rectangle 4"/>
          <p:cNvSpPr/>
          <p:nvPr/>
        </p:nvSpPr>
        <p:spPr>
          <a:xfrm>
            <a:off x="457200" y="1389888"/>
            <a:ext cx="11247120" cy="96012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63040"/>
            <a:ext cx="3200400" cy="384048"/>
          </a:xfrm>
          <a:prstGeom prst="rect">
            <a:avLst/>
          </a:prstGeom>
          <a:noFill/>
        </p:spPr>
        <p:txBody>
          <a:bodyPr wrap="square">
            <a:spAutoFit/>
          </a:bodyPr>
          <a:lstStyle/>
          <a:p>
            <a:pPr algn="l"/>
            <a:r>
              <a:rPr sz="1300" b="1">
                <a:solidFill>
                  <a:srgbClr val="FFFFFF"/>
                </a:solidFill>
                <a:latin typeface="Calibri"/>
              </a:rPr>
              <a:t>React Native (Expo)</a:t>
            </a:r>
          </a:p>
        </p:txBody>
      </p:sp>
      <p:sp>
        <p:nvSpPr>
          <p:cNvPr id="7" name="TextBox 6"/>
          <p:cNvSpPr txBox="1"/>
          <p:nvPr/>
        </p:nvSpPr>
        <p:spPr>
          <a:xfrm>
            <a:off x="4023360" y="1463040"/>
            <a:ext cx="5029200" cy="384048"/>
          </a:xfrm>
          <a:prstGeom prst="rect">
            <a:avLst/>
          </a:prstGeom>
          <a:noFill/>
        </p:spPr>
        <p:txBody>
          <a:bodyPr wrap="square">
            <a:spAutoFit/>
          </a:bodyPr>
          <a:lstStyle/>
          <a:p>
            <a:pPr algn="l"/>
            <a:r>
              <a:rPr sz="1200" b="0">
                <a:solidFill>
                  <a:srgbClr val="FFFFFF"/>
                </a:solidFill>
                <a:latin typeface="Calibri"/>
              </a:rPr>
              <a:t>Web + iOS + Android en una base de codigo</a:t>
            </a:r>
          </a:p>
        </p:txBody>
      </p:sp>
      <p:sp>
        <p:nvSpPr>
          <p:cNvPr id="8" name="TextBox 7"/>
          <p:cNvSpPr txBox="1"/>
          <p:nvPr/>
        </p:nvSpPr>
        <p:spPr>
          <a:xfrm>
            <a:off x="9326880" y="1463040"/>
            <a:ext cx="2286000" cy="804672"/>
          </a:xfrm>
          <a:prstGeom prst="rect">
            <a:avLst/>
          </a:prstGeom>
          <a:noFill/>
        </p:spPr>
        <p:txBody>
          <a:bodyPr wrap="square">
            <a:spAutoFit/>
          </a:bodyPr>
          <a:lstStyle/>
          <a:p>
            <a:pPr algn="l"/>
            <a:r>
              <a:rPr sz="900" b="0">
                <a:solidFill>
                  <a:srgbClr val="FFFFFF"/>
                </a:solidFill>
                <a:latin typeface="Calibri"/>
              </a:rPr>
              <a:t>Alt: Flutter  --  Ecosistema JS unificado con el backend fue la razon</a:t>
            </a:r>
          </a:p>
        </p:txBody>
      </p:sp>
      <p:sp>
        <p:nvSpPr>
          <p:cNvPr id="9" name="Rectangle 8"/>
          <p:cNvSpPr/>
          <p:nvPr/>
        </p:nvSpPr>
        <p:spPr>
          <a:xfrm>
            <a:off x="457200" y="2414016"/>
            <a:ext cx="11247120" cy="96012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87168"/>
            <a:ext cx="3200400" cy="384048"/>
          </a:xfrm>
          <a:prstGeom prst="rect">
            <a:avLst/>
          </a:prstGeom>
          <a:noFill/>
        </p:spPr>
        <p:txBody>
          <a:bodyPr wrap="square">
            <a:spAutoFit/>
          </a:bodyPr>
          <a:lstStyle/>
          <a:p>
            <a:pPr algn="l"/>
            <a:r>
              <a:rPr sz="1300" b="1">
                <a:solidFill>
                  <a:srgbClr val="FFFFFF"/>
                </a:solidFill>
                <a:latin typeface="Calibri"/>
              </a:rPr>
              <a:t>Django + Python</a:t>
            </a:r>
          </a:p>
        </p:txBody>
      </p:sp>
      <p:sp>
        <p:nvSpPr>
          <p:cNvPr id="11" name="TextBox 10"/>
          <p:cNvSpPr txBox="1"/>
          <p:nvPr/>
        </p:nvSpPr>
        <p:spPr>
          <a:xfrm>
            <a:off x="4023360" y="2487168"/>
            <a:ext cx="5029200" cy="384048"/>
          </a:xfrm>
          <a:prstGeom prst="rect">
            <a:avLst/>
          </a:prstGeom>
          <a:noFill/>
        </p:spPr>
        <p:txBody>
          <a:bodyPr wrap="square">
            <a:spAutoFit/>
          </a:bodyPr>
          <a:lstStyle/>
          <a:p>
            <a:pPr algn="l"/>
            <a:r>
              <a:rPr sz="1200" b="0">
                <a:solidFill>
                  <a:srgbClr val="FFFFFF"/>
                </a:solidFill>
                <a:latin typeface="Calibri"/>
              </a:rPr>
              <a:t>ORM robusto, 42 migraciones sin conflictos</a:t>
            </a:r>
          </a:p>
        </p:txBody>
      </p:sp>
      <p:sp>
        <p:nvSpPr>
          <p:cNvPr id="12" name="TextBox 11"/>
          <p:cNvSpPr txBox="1"/>
          <p:nvPr/>
        </p:nvSpPr>
        <p:spPr>
          <a:xfrm>
            <a:off x="9326880" y="2487168"/>
            <a:ext cx="2286000" cy="804672"/>
          </a:xfrm>
          <a:prstGeom prst="rect">
            <a:avLst/>
          </a:prstGeom>
          <a:noFill/>
        </p:spPr>
        <p:txBody>
          <a:bodyPr wrap="square">
            <a:spAutoFit/>
          </a:bodyPr>
          <a:lstStyle/>
          <a:p>
            <a:pPr algn="l"/>
            <a:r>
              <a:rPr sz="900" b="0">
                <a:solidFill>
                  <a:srgbClr val="FFFFFF"/>
                </a:solidFill>
                <a:latin typeface="Calibri"/>
              </a:rPr>
              <a:t>Alt: FastAPI  --  Menor ecosistema de admin y fixtures</a:t>
            </a:r>
          </a:p>
        </p:txBody>
      </p:sp>
      <p:sp>
        <p:nvSpPr>
          <p:cNvPr id="13" name="Rectangle 12"/>
          <p:cNvSpPr/>
          <p:nvPr/>
        </p:nvSpPr>
        <p:spPr>
          <a:xfrm>
            <a:off x="457200" y="3438144"/>
            <a:ext cx="11247120" cy="96012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511296"/>
            <a:ext cx="3200400" cy="384048"/>
          </a:xfrm>
          <a:prstGeom prst="rect">
            <a:avLst/>
          </a:prstGeom>
          <a:noFill/>
        </p:spPr>
        <p:txBody>
          <a:bodyPr wrap="square">
            <a:spAutoFit/>
          </a:bodyPr>
          <a:lstStyle/>
          <a:p>
            <a:pPr algn="l"/>
            <a:r>
              <a:rPr sz="1300" b="1">
                <a:solidFill>
                  <a:srgbClr val="FFFFFF"/>
                </a:solidFill>
                <a:latin typeface="Calibri"/>
              </a:rPr>
              <a:t>OpenAPI 3.1 como contrato</a:t>
            </a:r>
          </a:p>
        </p:txBody>
      </p:sp>
      <p:sp>
        <p:nvSpPr>
          <p:cNvPr id="15" name="TextBox 14"/>
          <p:cNvSpPr txBox="1"/>
          <p:nvPr/>
        </p:nvSpPr>
        <p:spPr>
          <a:xfrm>
            <a:off x="4023360" y="3511296"/>
            <a:ext cx="5029200" cy="384048"/>
          </a:xfrm>
          <a:prstGeom prst="rect">
            <a:avLst/>
          </a:prstGeom>
          <a:noFill/>
        </p:spPr>
        <p:txBody>
          <a:bodyPr wrap="square">
            <a:spAutoFit/>
          </a:bodyPr>
          <a:lstStyle/>
          <a:p>
            <a:pPr algn="l"/>
            <a:r>
              <a:rPr sz="1200" b="0">
                <a:solidFill>
                  <a:srgbClr val="FFFFFF"/>
                </a:solidFill>
                <a:latin typeface="Calibri"/>
              </a:rPr>
              <a:t>Schema auto-generado, tipos TS desde el schema</a:t>
            </a:r>
          </a:p>
        </p:txBody>
      </p:sp>
      <p:sp>
        <p:nvSpPr>
          <p:cNvPr id="16" name="TextBox 15"/>
          <p:cNvSpPr txBox="1"/>
          <p:nvPr/>
        </p:nvSpPr>
        <p:spPr>
          <a:xfrm>
            <a:off x="9326880" y="3511296"/>
            <a:ext cx="2286000" cy="804672"/>
          </a:xfrm>
          <a:prstGeom prst="rect">
            <a:avLst/>
          </a:prstGeom>
          <a:noFill/>
        </p:spPr>
        <p:txBody>
          <a:bodyPr wrap="square">
            <a:spAutoFit/>
          </a:bodyPr>
          <a:lstStyle/>
          <a:p>
            <a:pPr algn="l"/>
            <a:r>
              <a:rPr sz="900" b="0">
                <a:solidFill>
                  <a:srgbClr val="FFFFFF"/>
                </a:solidFill>
                <a:latin typeface="Calibri"/>
              </a:rPr>
              <a:t>Alt: Swagger manual  --  Genera desincronizacion</a:t>
            </a:r>
          </a:p>
        </p:txBody>
      </p:sp>
      <p:sp>
        <p:nvSpPr>
          <p:cNvPr id="17" name="Rectangle 16"/>
          <p:cNvSpPr/>
          <p:nvPr/>
        </p:nvSpPr>
        <p:spPr>
          <a:xfrm>
            <a:off x="457200" y="4462272"/>
            <a:ext cx="11247120" cy="960120"/>
          </a:xfrm>
          <a:prstGeom prst="rect">
            <a:avLst/>
          </a:prstGeom>
          <a:solidFill>
            <a:srgbClr val="6B9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535424"/>
            <a:ext cx="3200400" cy="384048"/>
          </a:xfrm>
          <a:prstGeom prst="rect">
            <a:avLst/>
          </a:prstGeom>
          <a:noFill/>
        </p:spPr>
        <p:txBody>
          <a:bodyPr wrap="square">
            <a:spAutoFit/>
          </a:bodyPr>
          <a:lstStyle/>
          <a:p>
            <a:pPr algn="l"/>
            <a:r>
              <a:rPr sz="1300" b="1">
                <a:solidFill>
                  <a:srgbClr val="FFFFFF"/>
                </a:solidFill>
                <a:latin typeface="Calibri"/>
              </a:rPr>
              <a:t>Separacion de servicios</a:t>
            </a:r>
          </a:p>
        </p:txBody>
      </p:sp>
      <p:sp>
        <p:nvSpPr>
          <p:cNvPr id="19" name="TextBox 18"/>
          <p:cNvSpPr txBox="1"/>
          <p:nvPr/>
        </p:nvSpPr>
        <p:spPr>
          <a:xfrm>
            <a:off x="4023360" y="4535424"/>
            <a:ext cx="5029200" cy="384048"/>
          </a:xfrm>
          <a:prstGeom prst="rect">
            <a:avLst/>
          </a:prstGeom>
          <a:noFill/>
        </p:spPr>
        <p:txBody>
          <a:bodyPr wrap="square">
            <a:spAutoFit/>
          </a:bodyPr>
          <a:lstStyle/>
          <a:p>
            <a:pPr algn="l"/>
            <a:r>
              <a:rPr sz="1200" b="0">
                <a:solidFill>
                  <a:srgbClr val="FFFFFF"/>
                </a:solidFill>
                <a:latin typeface="Calibri"/>
              </a:rPr>
              <a:t>Logica de negocio pura sin dependencias de React</a:t>
            </a:r>
          </a:p>
        </p:txBody>
      </p:sp>
      <p:sp>
        <p:nvSpPr>
          <p:cNvPr id="20" name="TextBox 19"/>
          <p:cNvSpPr txBox="1"/>
          <p:nvPr/>
        </p:nvSpPr>
        <p:spPr>
          <a:xfrm>
            <a:off x="9326880" y="4535424"/>
            <a:ext cx="2286000" cy="804672"/>
          </a:xfrm>
          <a:prstGeom prst="rect">
            <a:avLst/>
          </a:prstGeom>
          <a:noFill/>
        </p:spPr>
        <p:txBody>
          <a:bodyPr wrap="square">
            <a:spAutoFit/>
          </a:bodyPr>
          <a:lstStyle/>
          <a:p>
            <a:pPr algn="l"/>
            <a:r>
              <a:rPr sz="900" b="0">
                <a:solidFill>
                  <a:srgbClr val="FFFFFF"/>
                </a:solidFill>
                <a:latin typeface="Calibri"/>
              </a:rPr>
              <a:t>Alt: Tests 30x mas rapidos. Zero duplicacion entre pantallas</a:t>
            </a:r>
          </a:p>
        </p:txBody>
      </p:sp>
      <p:sp>
        <p:nvSpPr>
          <p:cNvPr id="21" name="Rectangle 20"/>
          <p:cNvSpPr/>
          <p:nvPr/>
        </p:nvSpPr>
        <p:spPr>
          <a:xfrm>
            <a:off x="457200" y="5486400"/>
            <a:ext cx="11247120" cy="96012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559552"/>
            <a:ext cx="3200400" cy="384048"/>
          </a:xfrm>
          <a:prstGeom prst="rect">
            <a:avLst/>
          </a:prstGeom>
          <a:noFill/>
        </p:spPr>
        <p:txBody>
          <a:bodyPr wrap="square">
            <a:spAutoFit/>
          </a:bodyPr>
          <a:lstStyle/>
          <a:p>
            <a:pPr algn="l"/>
            <a:r>
              <a:rPr sz="1300" b="1">
                <a:solidFill>
                  <a:srgbClr val="FFFFFF"/>
                </a:solidFill>
                <a:latin typeface="Calibri"/>
              </a:rPr>
              <a:t>AGPL-3.0</a:t>
            </a:r>
          </a:p>
        </p:txBody>
      </p:sp>
      <p:sp>
        <p:nvSpPr>
          <p:cNvPr id="23" name="TextBox 22"/>
          <p:cNvSpPr txBox="1"/>
          <p:nvPr/>
        </p:nvSpPr>
        <p:spPr>
          <a:xfrm>
            <a:off x="4023360" y="5559552"/>
            <a:ext cx="5029200" cy="384048"/>
          </a:xfrm>
          <a:prstGeom prst="rect">
            <a:avLst/>
          </a:prstGeom>
          <a:noFill/>
        </p:spPr>
        <p:txBody>
          <a:bodyPr wrap="square">
            <a:spAutoFit/>
          </a:bodyPr>
          <a:lstStyle/>
          <a:p>
            <a:pPr algn="l"/>
            <a:r>
              <a:rPr sz="1200" b="0">
                <a:solidFill>
                  <a:srgbClr val="FFFFFF"/>
                </a:solidFill>
                <a:latin typeface="Calibri"/>
              </a:rPr>
              <a:t>Tecnologia electoral como infraestructura publica</a:t>
            </a:r>
          </a:p>
        </p:txBody>
      </p:sp>
      <p:sp>
        <p:nvSpPr>
          <p:cNvPr id="24" name="TextBox 23"/>
          <p:cNvSpPr txBox="1"/>
          <p:nvPr/>
        </p:nvSpPr>
        <p:spPr>
          <a:xfrm>
            <a:off x="9326880" y="5559552"/>
            <a:ext cx="2286000" cy="804672"/>
          </a:xfrm>
          <a:prstGeom prst="rect">
            <a:avLst/>
          </a:prstGeom>
          <a:noFill/>
        </p:spPr>
        <p:txBody>
          <a:bodyPr wrap="square">
            <a:spAutoFit/>
          </a:bodyPr>
          <a:lstStyle/>
          <a:p>
            <a:pPr algn="l"/>
            <a:r>
              <a:rPr sz="900" b="0">
                <a:solidFill>
                  <a:srgbClr val="FFFFFF"/>
                </a:solidFill>
                <a:latin typeface="Calibri"/>
              </a:rPr>
              <a:t>Alt: MIT/Apache  --  No requieren compartir versiones modificadas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DESAFIOS ENCONTRADOS</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3800" b="1">
                <a:solidFill>
                  <a:srgbClr val="1C3A52"/>
                </a:solidFill>
                <a:latin typeface="Calibri"/>
              </a:rPr>
              <a:t>Tres problemas sin solucion trivial.</a:t>
            </a:r>
          </a:p>
        </p:txBody>
      </p:sp>
      <p:sp>
        <p:nvSpPr>
          <p:cNvPr id="5" name="Rectangle 4"/>
          <p:cNvSpPr/>
          <p:nvPr/>
        </p:nvSpPr>
        <p:spPr>
          <a:xfrm>
            <a:off x="457200" y="1261872"/>
            <a:ext cx="11247120" cy="166420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4114800" cy="384048"/>
          </a:xfrm>
          <a:prstGeom prst="rect">
            <a:avLst/>
          </a:prstGeom>
          <a:noFill/>
        </p:spPr>
        <p:txBody>
          <a:bodyPr wrap="square">
            <a:spAutoFit/>
          </a:bodyPr>
          <a:lstStyle/>
          <a:p>
            <a:pPr algn="l"/>
            <a:r>
              <a:rPr sz="1200" b="1">
                <a:solidFill>
                  <a:srgbClr val="FFFFFF"/>
                </a:solidFill>
                <a:latin typeface="Calibri"/>
              </a:rPr>
              <a:t>CURADURIA DE POSTURAS</a:t>
            </a:r>
          </a:p>
        </p:txBody>
      </p:sp>
      <p:sp>
        <p:nvSpPr>
          <p:cNvPr id="7" name="TextBox 6"/>
          <p:cNvSpPr txBox="1"/>
          <p:nvPr/>
        </p:nvSpPr>
        <p:spPr>
          <a:xfrm>
            <a:off x="640080" y="1792224"/>
            <a:ext cx="5303520" cy="987552"/>
          </a:xfrm>
          <a:prstGeom prst="rect">
            <a:avLst/>
          </a:prstGeom>
          <a:noFill/>
        </p:spPr>
        <p:txBody>
          <a:bodyPr wrap="square">
            <a:spAutoFit/>
          </a:bodyPr>
          <a:lstStyle/>
          <a:p>
            <a:pPr algn="l"/>
            <a:r>
              <a:rPr sz="1100" b="0">
                <a:solidFill>
                  <a:srgbClr val="FFFFFF"/>
                </a:solidFill>
                <a:latin typeface="Calibri"/>
              </a:rPr>
              <a:t>Las posiciones de candidatos chilenos no estan sistematizadas.
Cada postura requiere consultar multiples fuentes primarias.
Trabajo intensivo en tiempo humano, no automatizable.</a:t>
            </a:r>
          </a:p>
        </p:txBody>
      </p:sp>
      <p:sp>
        <p:nvSpPr>
          <p:cNvPr id="8" name="Rectangle 7"/>
          <p:cNvSpPr/>
          <p:nvPr/>
        </p:nvSpPr>
        <p:spPr>
          <a:xfrm>
            <a:off x="6217920" y="1399031"/>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1517904"/>
            <a:ext cx="5120640" cy="1261872"/>
          </a:xfrm>
          <a:prstGeom prst="rect">
            <a:avLst/>
          </a:prstGeom>
          <a:noFill/>
        </p:spPr>
        <p:txBody>
          <a:bodyPr wrap="square">
            <a:spAutoFit/>
          </a:bodyPr>
          <a:lstStyle/>
          <a:p>
            <a:pPr algn="l"/>
            <a:r>
              <a:rPr sz="1100" b="1">
                <a:solidFill>
                  <a:srgbClr val="FFFFFF"/>
                </a:solidFill>
                <a:latin typeface="Calibri"/>
              </a:rPr>
              <a:t>RESPUESTA: Nivel de confianza explicito (ALTA/MEDIA/BAJA)
y roadmap de verificacion completa en v0.2.</a:t>
            </a:r>
          </a:p>
        </p:txBody>
      </p:sp>
      <p:sp>
        <p:nvSpPr>
          <p:cNvPr id="10" name="Rectangle 9"/>
          <p:cNvSpPr/>
          <p:nvPr/>
        </p:nvSpPr>
        <p:spPr>
          <a:xfrm>
            <a:off x="457200" y="3044952"/>
            <a:ext cx="11247120" cy="1664208"/>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154680"/>
            <a:ext cx="4114800" cy="384048"/>
          </a:xfrm>
          <a:prstGeom prst="rect">
            <a:avLst/>
          </a:prstGeom>
          <a:noFill/>
        </p:spPr>
        <p:txBody>
          <a:bodyPr wrap="square">
            <a:spAutoFit/>
          </a:bodyPr>
          <a:lstStyle/>
          <a:p>
            <a:pPr algn="l"/>
            <a:r>
              <a:rPr sz="1200" b="1">
                <a:solidFill>
                  <a:srgbClr val="FFFFFF"/>
                </a:solidFill>
                <a:latin typeface="Calibri"/>
              </a:rPr>
              <a:t>NEUTRALIDAD DEL CUESTIONARIO</a:t>
            </a:r>
          </a:p>
        </p:txBody>
      </p:sp>
      <p:sp>
        <p:nvSpPr>
          <p:cNvPr id="12" name="TextBox 11"/>
          <p:cNvSpPr txBox="1"/>
          <p:nvPr/>
        </p:nvSpPr>
        <p:spPr>
          <a:xfrm>
            <a:off x="640080" y="3575304"/>
            <a:ext cx="5303520" cy="987552"/>
          </a:xfrm>
          <a:prstGeom prst="rect">
            <a:avLst/>
          </a:prstGeom>
          <a:noFill/>
        </p:spPr>
        <p:txBody>
          <a:bodyPr wrap="square">
            <a:spAutoFit/>
          </a:bodyPr>
          <a:lstStyle/>
          <a:p>
            <a:pPr algn="l"/>
            <a:r>
              <a:rPr sz="1100" b="0">
                <a:solidFill>
                  <a:srgbClr val="FFFFFF"/>
                </a:solidFill>
                <a:latin typeface="Calibri"/>
              </a:rPr>
              <a:t>El lenguaje mismo es un campo politico.
La eleccion de terminos puede favorecer posiciones ideologicas.
La formulacion de cada pregunta fue revisada para eliminar sesgos.</a:t>
            </a:r>
          </a:p>
        </p:txBody>
      </p:sp>
      <p:sp>
        <p:nvSpPr>
          <p:cNvPr id="13" name="Rectangle 12"/>
          <p:cNvSpPr/>
          <p:nvPr/>
        </p:nvSpPr>
        <p:spPr>
          <a:xfrm>
            <a:off x="6217920" y="3182112"/>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3300984"/>
            <a:ext cx="5120640" cy="1261872"/>
          </a:xfrm>
          <a:prstGeom prst="rect">
            <a:avLst/>
          </a:prstGeom>
          <a:noFill/>
        </p:spPr>
        <p:txBody>
          <a:bodyPr wrap="square">
            <a:spAutoFit/>
          </a:bodyPr>
          <a:lstStyle/>
          <a:p>
            <a:pPr algn="l"/>
            <a:r>
              <a:rPr sz="1100" b="1">
                <a:solidFill>
                  <a:srgbClr val="FFFFFF"/>
                </a:solidFill>
                <a:latin typeface="Calibri"/>
              </a:rPr>
              <a:t>RESPUESTA: Aviso al usuario 'en revision con especialistas'
y redaccion en lenguaje positivo.</a:t>
            </a:r>
          </a:p>
        </p:txBody>
      </p:sp>
      <p:sp>
        <p:nvSpPr>
          <p:cNvPr id="15" name="Rectangle 14"/>
          <p:cNvSpPr/>
          <p:nvPr/>
        </p:nvSpPr>
        <p:spPr>
          <a:xfrm>
            <a:off x="457200" y="4828031"/>
            <a:ext cx="11247120" cy="16642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937759"/>
            <a:ext cx="4114800" cy="384048"/>
          </a:xfrm>
          <a:prstGeom prst="rect">
            <a:avLst/>
          </a:prstGeom>
          <a:noFill/>
        </p:spPr>
        <p:txBody>
          <a:bodyPr wrap="square">
            <a:spAutoFit/>
          </a:bodyPr>
          <a:lstStyle/>
          <a:p>
            <a:pPr algn="l"/>
            <a:r>
              <a:rPr sz="1200" b="1">
                <a:solidFill>
                  <a:srgbClr val="FFFFFF"/>
                </a:solidFill>
                <a:latin typeface="Calibri"/>
              </a:rPr>
              <a:t>SOSTENIBILIDAD ENTRE ELECCIONES</a:t>
            </a:r>
          </a:p>
        </p:txBody>
      </p:sp>
      <p:sp>
        <p:nvSpPr>
          <p:cNvPr id="17" name="TextBox 16"/>
          <p:cNvSpPr txBox="1"/>
          <p:nvPr/>
        </p:nvSpPr>
        <p:spPr>
          <a:xfrm>
            <a:off x="640080" y="5358383"/>
            <a:ext cx="5303520" cy="987552"/>
          </a:xfrm>
          <a:prstGeom prst="rect">
            <a:avLst/>
          </a:prstGeom>
          <a:noFill/>
        </p:spPr>
        <p:txBody>
          <a:bodyPr wrap="square">
            <a:spAutoFit/>
          </a:bodyPr>
          <a:lstStyle/>
          <a:p>
            <a:pPr algn="l"/>
            <a:r>
              <a:rPr sz="1100" b="0">
                <a:solidFill>
                  <a:srgbClr val="FFFFFF"/>
                </a:solidFill>
                <a:latin typeface="Calibri"/>
              </a:rPr>
              <a:t>Las VAAs chilenas anteriores se discontinuaron por falta de
modelo de mantenimiento y financiamiento entre ciclos electorales.
VotoAFin enfrenta el mismo desafio estructural.</a:t>
            </a:r>
          </a:p>
        </p:txBody>
      </p:sp>
      <p:sp>
        <p:nvSpPr>
          <p:cNvPr id="18" name="Rectangle 17"/>
          <p:cNvSpPr/>
          <p:nvPr/>
        </p:nvSpPr>
        <p:spPr>
          <a:xfrm>
            <a:off x="6217920" y="4965192"/>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5084064"/>
            <a:ext cx="5120640" cy="1261872"/>
          </a:xfrm>
          <a:prstGeom prst="rect">
            <a:avLst/>
          </a:prstGeom>
          <a:noFill/>
        </p:spPr>
        <p:txBody>
          <a:bodyPr wrap="square">
            <a:spAutoFit/>
          </a:bodyPr>
          <a:lstStyle/>
          <a:p>
            <a:pPr algn="l"/>
            <a:r>
              <a:rPr sz="1100" b="1">
                <a:solidFill>
                  <a:srgbClr val="FFFFFF"/>
                </a:solidFill>
                <a:latin typeface="Calibri"/>
              </a:rPr>
              <a:t>RESPUESTA: AGPL-3.0 + importacion por CSV + roadmap de
alianzas institucionales.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3A9E7A"/>
                </a:solidFill>
                <a:latin typeface="Calibri"/>
              </a:rPr>
              <a:t>RESULTADOS OBTENIDOS</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4200" b="1">
                <a:solidFill>
                  <a:srgbClr val="FFFFFF"/>
                </a:solidFill>
                <a:latin typeface="Calibri"/>
              </a:rPr>
              <a:t>VotoAFin: MVP funcional.</a:t>
            </a:r>
          </a:p>
        </p:txBody>
      </p:sp>
      <p:sp>
        <p:nvSpPr>
          <p:cNvPr id="5" name="Rectangle 4"/>
          <p:cNvSpPr/>
          <p:nvPr/>
        </p:nvSpPr>
        <p:spPr>
          <a:xfrm>
            <a:off x="457200" y="1353312"/>
            <a:ext cx="2697480" cy="2176272"/>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463040"/>
            <a:ext cx="2423160" cy="1078992"/>
          </a:xfrm>
          <a:prstGeom prst="rect">
            <a:avLst/>
          </a:prstGeom>
          <a:noFill/>
        </p:spPr>
        <p:txBody>
          <a:bodyPr wrap="square">
            <a:spAutoFit/>
          </a:bodyPr>
          <a:lstStyle/>
          <a:p>
            <a:pPr algn="ctr"/>
            <a:r>
              <a:rPr sz="5000" b="1">
                <a:solidFill>
                  <a:srgbClr val="FFFFFF"/>
                </a:solidFill>
                <a:latin typeface="Calibri"/>
              </a:rPr>
              <a:t>370</a:t>
            </a:r>
          </a:p>
        </p:txBody>
      </p:sp>
      <p:sp>
        <p:nvSpPr>
          <p:cNvPr id="7" name="TextBox 6"/>
          <p:cNvSpPr txBox="1"/>
          <p:nvPr/>
        </p:nvSpPr>
        <p:spPr>
          <a:xfrm>
            <a:off x="594360" y="2615184"/>
            <a:ext cx="2423160" cy="804672"/>
          </a:xfrm>
          <a:prstGeom prst="rect">
            <a:avLst/>
          </a:prstGeom>
          <a:noFill/>
        </p:spPr>
        <p:txBody>
          <a:bodyPr wrap="square">
            <a:spAutoFit/>
          </a:bodyPr>
          <a:lstStyle/>
          <a:p>
            <a:pPr algn="ctr"/>
            <a:r>
              <a:rPr sz="1200" b="0">
                <a:solidFill>
                  <a:srgbClr val="FFFFFF"/>
                </a:solidFill>
                <a:latin typeface="Calibri"/>
              </a:rPr>
              <a:t>tests automatizados</a:t>
            </a:r>
          </a:p>
        </p:txBody>
      </p:sp>
      <p:sp>
        <p:nvSpPr>
          <p:cNvPr id="8" name="Rectangle 7"/>
          <p:cNvSpPr/>
          <p:nvPr/>
        </p:nvSpPr>
        <p:spPr>
          <a:xfrm>
            <a:off x="3337560" y="1353312"/>
            <a:ext cx="2697480" cy="2176272"/>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0" y="1463040"/>
            <a:ext cx="2423160" cy="1078992"/>
          </a:xfrm>
          <a:prstGeom prst="rect">
            <a:avLst/>
          </a:prstGeom>
          <a:noFill/>
        </p:spPr>
        <p:txBody>
          <a:bodyPr wrap="square">
            <a:spAutoFit/>
          </a:bodyPr>
          <a:lstStyle/>
          <a:p>
            <a:pPr algn="ctr"/>
            <a:r>
              <a:rPr sz="5000" b="1">
                <a:solidFill>
                  <a:srgbClr val="FFFFFF"/>
                </a:solidFill>
                <a:latin typeface="Calibri"/>
              </a:rPr>
              <a:t>17</a:t>
            </a:r>
          </a:p>
        </p:txBody>
      </p:sp>
      <p:sp>
        <p:nvSpPr>
          <p:cNvPr id="10" name="TextBox 9"/>
          <p:cNvSpPr txBox="1"/>
          <p:nvPr/>
        </p:nvSpPr>
        <p:spPr>
          <a:xfrm>
            <a:off x="3474720" y="2615184"/>
            <a:ext cx="2423160" cy="804672"/>
          </a:xfrm>
          <a:prstGeom prst="rect">
            <a:avLst/>
          </a:prstGeom>
          <a:noFill/>
        </p:spPr>
        <p:txBody>
          <a:bodyPr wrap="square">
            <a:spAutoFit/>
          </a:bodyPr>
          <a:lstStyle/>
          <a:p>
            <a:pPr algn="ctr"/>
            <a:r>
              <a:rPr sz="1200" b="0">
                <a:solidFill>
                  <a:srgbClr val="FFFFFF"/>
                </a:solidFill>
                <a:latin typeface="Calibri"/>
              </a:rPr>
              <a:t>pantallas funcionales</a:t>
            </a:r>
          </a:p>
        </p:txBody>
      </p:sp>
      <p:sp>
        <p:nvSpPr>
          <p:cNvPr id="11" name="Rectangle 10"/>
          <p:cNvSpPr/>
          <p:nvPr/>
        </p:nvSpPr>
        <p:spPr>
          <a:xfrm>
            <a:off x="6217920" y="1353312"/>
            <a:ext cx="2697480" cy="2176272"/>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463040"/>
            <a:ext cx="2423160" cy="1078992"/>
          </a:xfrm>
          <a:prstGeom prst="rect">
            <a:avLst/>
          </a:prstGeom>
          <a:noFill/>
        </p:spPr>
        <p:txBody>
          <a:bodyPr wrap="square">
            <a:spAutoFit/>
          </a:bodyPr>
          <a:lstStyle/>
          <a:p>
            <a:pPr algn="ctr"/>
            <a:r>
              <a:rPr sz="5000" b="1">
                <a:solidFill>
                  <a:srgbClr val="FFFFFF"/>
                </a:solidFill>
                <a:latin typeface="Calibri"/>
              </a:rPr>
              <a:t>~31</a:t>
            </a:r>
          </a:p>
        </p:txBody>
      </p:sp>
      <p:sp>
        <p:nvSpPr>
          <p:cNvPr id="13" name="TextBox 12"/>
          <p:cNvSpPr txBox="1"/>
          <p:nvPr/>
        </p:nvSpPr>
        <p:spPr>
          <a:xfrm>
            <a:off x="6355080" y="2615184"/>
            <a:ext cx="2423160" cy="804672"/>
          </a:xfrm>
          <a:prstGeom prst="rect">
            <a:avLst/>
          </a:prstGeom>
          <a:noFill/>
        </p:spPr>
        <p:txBody>
          <a:bodyPr wrap="square">
            <a:spAutoFit/>
          </a:bodyPr>
          <a:lstStyle/>
          <a:p>
            <a:pPr algn="ctr"/>
            <a:r>
              <a:rPr sz="1200" b="0">
                <a:solidFill>
                  <a:srgbClr val="FFFFFF"/>
                </a:solidFill>
                <a:latin typeface="Calibri"/>
              </a:rPr>
              <a:t>endpoints REST</a:t>
            </a:r>
          </a:p>
        </p:txBody>
      </p:sp>
      <p:sp>
        <p:nvSpPr>
          <p:cNvPr id="14" name="Rectangle 13"/>
          <p:cNvSpPr/>
          <p:nvPr/>
        </p:nvSpPr>
        <p:spPr>
          <a:xfrm>
            <a:off x="9098280" y="1353312"/>
            <a:ext cx="2697480" cy="2176272"/>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0" y="1463040"/>
            <a:ext cx="2423160" cy="1078992"/>
          </a:xfrm>
          <a:prstGeom prst="rect">
            <a:avLst/>
          </a:prstGeom>
          <a:noFill/>
        </p:spPr>
        <p:txBody>
          <a:bodyPr wrap="square">
            <a:spAutoFit/>
          </a:bodyPr>
          <a:lstStyle/>
          <a:p>
            <a:pPr algn="ctr"/>
            <a:r>
              <a:rPr sz="5000" b="1">
                <a:solidFill>
                  <a:srgbClr val="FFFFFF"/>
                </a:solidFill>
                <a:latin typeface="Calibri"/>
              </a:rPr>
              <a:t>19</a:t>
            </a:r>
          </a:p>
        </p:txBody>
      </p:sp>
      <p:sp>
        <p:nvSpPr>
          <p:cNvPr id="16" name="TextBox 15"/>
          <p:cNvSpPr txBox="1"/>
          <p:nvPr/>
        </p:nvSpPr>
        <p:spPr>
          <a:xfrm>
            <a:off x="9235440" y="2615184"/>
            <a:ext cx="2423160" cy="804672"/>
          </a:xfrm>
          <a:prstGeom prst="rect">
            <a:avLst/>
          </a:prstGeom>
          <a:noFill/>
        </p:spPr>
        <p:txBody>
          <a:bodyPr wrap="square">
            <a:spAutoFit/>
          </a:bodyPr>
          <a:lstStyle/>
          <a:p>
            <a:pPr algn="ctr"/>
            <a:r>
              <a:rPr sz="1200" b="0">
                <a:solidFill>
                  <a:srgbClr val="FFFFFF"/>
                </a:solidFill>
                <a:latin typeface="Calibri"/>
              </a:rPr>
              <a:t>modelos de datos</a:t>
            </a:r>
          </a:p>
        </p:txBody>
      </p:sp>
      <p:sp>
        <p:nvSpPr>
          <p:cNvPr id="17" name="Rectangle 16"/>
          <p:cNvSpPr/>
          <p:nvPr/>
        </p:nvSpPr>
        <p:spPr>
          <a:xfrm>
            <a:off x="457200" y="3685031"/>
            <a:ext cx="2697480" cy="2176272"/>
          </a:xfrm>
          <a:prstGeom prst="rect">
            <a:avLst/>
          </a:prstGeom>
          <a:solidFill>
            <a:srgbClr val="6B9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794759"/>
            <a:ext cx="2423160" cy="1078992"/>
          </a:xfrm>
          <a:prstGeom prst="rect">
            <a:avLst/>
          </a:prstGeom>
          <a:noFill/>
        </p:spPr>
        <p:txBody>
          <a:bodyPr wrap="square">
            <a:spAutoFit/>
          </a:bodyPr>
          <a:lstStyle/>
          <a:p>
            <a:pPr algn="ctr"/>
            <a:r>
              <a:rPr sz="5000" b="1">
                <a:solidFill>
                  <a:srgbClr val="FFFFFF"/>
                </a:solidFill>
                <a:latin typeface="Calibri"/>
              </a:rPr>
              <a:t>42</a:t>
            </a:r>
          </a:p>
        </p:txBody>
      </p:sp>
      <p:sp>
        <p:nvSpPr>
          <p:cNvPr id="19" name="TextBox 18"/>
          <p:cNvSpPr txBox="1"/>
          <p:nvPr/>
        </p:nvSpPr>
        <p:spPr>
          <a:xfrm>
            <a:off x="594360" y="4946903"/>
            <a:ext cx="2423160" cy="804672"/>
          </a:xfrm>
          <a:prstGeom prst="rect">
            <a:avLst/>
          </a:prstGeom>
          <a:noFill/>
        </p:spPr>
        <p:txBody>
          <a:bodyPr wrap="square">
            <a:spAutoFit/>
          </a:bodyPr>
          <a:lstStyle/>
          <a:p>
            <a:pPr algn="ctr"/>
            <a:r>
              <a:rPr sz="1200" b="0">
                <a:solidFill>
                  <a:srgbClr val="FFFFFF"/>
                </a:solidFill>
                <a:latin typeface="Calibri"/>
              </a:rPr>
              <a:t>migraciones BD</a:t>
            </a:r>
          </a:p>
        </p:txBody>
      </p:sp>
      <p:sp>
        <p:nvSpPr>
          <p:cNvPr id="20" name="Rectangle 19"/>
          <p:cNvSpPr/>
          <p:nvPr/>
        </p:nvSpPr>
        <p:spPr>
          <a:xfrm>
            <a:off x="3337560" y="3685031"/>
            <a:ext cx="2697480" cy="2176272"/>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74720" y="3794759"/>
            <a:ext cx="2423160" cy="1078992"/>
          </a:xfrm>
          <a:prstGeom prst="rect">
            <a:avLst/>
          </a:prstGeom>
          <a:noFill/>
        </p:spPr>
        <p:txBody>
          <a:bodyPr wrap="square">
            <a:spAutoFit/>
          </a:bodyPr>
          <a:lstStyle/>
          <a:p>
            <a:pPr algn="ctr"/>
            <a:r>
              <a:rPr sz="5000" b="1">
                <a:solidFill>
                  <a:srgbClr val="FFFFFF"/>
                </a:solidFill>
                <a:latin typeface="Calibri"/>
              </a:rPr>
              <a:t>89</a:t>
            </a:r>
          </a:p>
        </p:txBody>
      </p:sp>
      <p:sp>
        <p:nvSpPr>
          <p:cNvPr id="22" name="TextBox 21"/>
          <p:cNvSpPr txBox="1"/>
          <p:nvPr/>
        </p:nvSpPr>
        <p:spPr>
          <a:xfrm>
            <a:off x="3474720" y="4946903"/>
            <a:ext cx="2423160" cy="804672"/>
          </a:xfrm>
          <a:prstGeom prst="rect">
            <a:avLst/>
          </a:prstGeom>
          <a:noFill/>
        </p:spPr>
        <p:txBody>
          <a:bodyPr wrap="square">
            <a:spAutoFit/>
          </a:bodyPr>
          <a:lstStyle/>
          <a:p>
            <a:pPr algn="ctr"/>
            <a:r>
              <a:rPr sz="1200" b="0">
                <a:solidFill>
                  <a:srgbClr val="FFFFFF"/>
                </a:solidFill>
                <a:latin typeface="Calibri"/>
              </a:rPr>
              <a:t>componentes UI</a:t>
            </a:r>
          </a:p>
        </p:txBody>
      </p:sp>
      <p:sp>
        <p:nvSpPr>
          <p:cNvPr id="23" name="Rectangle 22"/>
          <p:cNvSpPr/>
          <p:nvPr/>
        </p:nvSpPr>
        <p:spPr>
          <a:xfrm>
            <a:off x="6217920" y="3685031"/>
            <a:ext cx="2697480" cy="2176272"/>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3794759"/>
            <a:ext cx="2423160" cy="1078992"/>
          </a:xfrm>
          <a:prstGeom prst="rect">
            <a:avLst/>
          </a:prstGeom>
          <a:noFill/>
        </p:spPr>
        <p:txBody>
          <a:bodyPr wrap="square">
            <a:spAutoFit/>
          </a:bodyPr>
          <a:lstStyle/>
          <a:p>
            <a:pPr algn="ctr"/>
            <a:r>
              <a:rPr sz="5000" b="1">
                <a:solidFill>
                  <a:srgbClr val="FFFFFF"/>
                </a:solidFill>
                <a:latin typeface="Calibri"/>
              </a:rPr>
              <a:t>30</a:t>
            </a:r>
          </a:p>
        </p:txBody>
      </p:sp>
      <p:sp>
        <p:nvSpPr>
          <p:cNvPr id="25" name="TextBox 24"/>
          <p:cNvSpPr txBox="1"/>
          <p:nvPr/>
        </p:nvSpPr>
        <p:spPr>
          <a:xfrm>
            <a:off x="6355080" y="4946903"/>
            <a:ext cx="2423160" cy="804672"/>
          </a:xfrm>
          <a:prstGeom prst="rect">
            <a:avLst/>
          </a:prstGeom>
          <a:noFill/>
        </p:spPr>
        <p:txBody>
          <a:bodyPr wrap="square">
            <a:spAutoFit/>
          </a:bodyPr>
          <a:lstStyle/>
          <a:p>
            <a:pPr algn="ctr"/>
            <a:r>
              <a:rPr sz="1200" b="0">
                <a:solidFill>
                  <a:srgbClr val="FFFFFF"/>
                </a:solidFill>
                <a:latin typeface="Calibri"/>
              </a:rPr>
              <a:t>hooks de datos</a:t>
            </a:r>
          </a:p>
        </p:txBody>
      </p:sp>
      <p:sp>
        <p:nvSpPr>
          <p:cNvPr id="26" name="Rectangle 25"/>
          <p:cNvSpPr/>
          <p:nvPr/>
        </p:nvSpPr>
        <p:spPr>
          <a:xfrm>
            <a:off x="9098280" y="3685031"/>
            <a:ext cx="2697480" cy="2176272"/>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35440" y="3794759"/>
            <a:ext cx="2423160" cy="1078992"/>
          </a:xfrm>
          <a:prstGeom prst="rect">
            <a:avLst/>
          </a:prstGeom>
          <a:noFill/>
        </p:spPr>
        <p:txBody>
          <a:bodyPr wrap="square">
            <a:spAutoFit/>
          </a:bodyPr>
          <a:lstStyle/>
          <a:p>
            <a:pPr algn="ctr"/>
            <a:r>
              <a:rPr sz="5000" b="1">
                <a:solidFill>
                  <a:srgbClr val="FFFFFF"/>
                </a:solidFill>
                <a:latin typeface="Calibri"/>
              </a:rPr>
              <a:t>212</a:t>
            </a:r>
          </a:p>
        </p:txBody>
      </p:sp>
      <p:sp>
        <p:nvSpPr>
          <p:cNvPr id="28" name="TextBox 27"/>
          <p:cNvSpPr txBox="1"/>
          <p:nvPr/>
        </p:nvSpPr>
        <p:spPr>
          <a:xfrm>
            <a:off x="9235440" y="4946903"/>
            <a:ext cx="2423160" cy="804672"/>
          </a:xfrm>
          <a:prstGeom prst="rect">
            <a:avLst/>
          </a:prstGeom>
          <a:noFill/>
        </p:spPr>
        <p:txBody>
          <a:bodyPr wrap="square">
            <a:spAutoFit/>
          </a:bodyPr>
          <a:lstStyle/>
          <a:p>
            <a:pPr algn="ctr"/>
            <a:r>
              <a:rPr sz="1200" b="0">
                <a:solidFill>
                  <a:srgbClr val="FFFFFF"/>
                </a:solidFill>
                <a:latin typeface="Calibri"/>
              </a:rPr>
              <a:t>commits en main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3A9E7A"/>
                </a:solidFill>
                <a:latin typeface="Calibri"/>
              </a:rPr>
              <a:t>CUMPLIMIENTO DE OBJETIVOS</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3600" b="1">
                <a:solidFill>
                  <a:srgbClr val="1C3A52"/>
                </a:solidFill>
                <a:latin typeface="Calibri"/>
              </a:rPr>
              <a:t>6 de 7 objetivos especificos cumplidos.</a:t>
            </a:r>
          </a:p>
        </p:txBody>
      </p:sp>
      <p:sp>
        <p:nvSpPr>
          <p:cNvPr id="5" name="Rectangle 4"/>
          <p:cNvSpPr/>
          <p:nvPr/>
        </p:nvSpPr>
        <p:spPr>
          <a:xfrm>
            <a:off x="457200" y="1389888"/>
            <a:ext cx="11247120" cy="621792"/>
          </a:xfrm>
          <a:prstGeom prst="rect">
            <a:avLst/>
          </a:prstGeom>
          <a:solidFill>
            <a:srgbClr val="EA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89888"/>
            <a:ext cx="292608" cy="621792"/>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63040"/>
            <a:ext cx="804672" cy="457200"/>
          </a:xfrm>
          <a:prstGeom prst="rect">
            <a:avLst/>
          </a:prstGeom>
          <a:noFill/>
        </p:spPr>
        <p:txBody>
          <a:bodyPr wrap="square">
            <a:spAutoFit/>
          </a:bodyPr>
          <a:lstStyle/>
          <a:p>
            <a:pPr algn="l"/>
            <a:r>
              <a:rPr sz="1100" b="1">
                <a:solidFill>
                  <a:srgbClr val="3A9E7A"/>
                </a:solidFill>
                <a:latin typeface="Calibri"/>
              </a:rPr>
              <a:t>OE1</a:t>
            </a:r>
          </a:p>
        </p:txBody>
      </p:sp>
      <p:sp>
        <p:nvSpPr>
          <p:cNvPr id="8" name="TextBox 7"/>
          <p:cNvSpPr txBox="1"/>
          <p:nvPr/>
        </p:nvSpPr>
        <p:spPr>
          <a:xfrm>
            <a:off x="1828800" y="1463040"/>
            <a:ext cx="8412480" cy="457200"/>
          </a:xfrm>
          <a:prstGeom prst="rect">
            <a:avLst/>
          </a:prstGeom>
          <a:noFill/>
        </p:spPr>
        <p:txBody>
          <a:bodyPr wrap="square">
            <a:spAutoFit/>
          </a:bodyPr>
          <a:lstStyle/>
          <a:p>
            <a:pPr algn="l"/>
            <a:r>
              <a:rPr sz="1200" b="0">
                <a:solidFill>
                  <a:srgbClr val="1A2B33"/>
                </a:solidFill>
                <a:latin typeface="Calibri"/>
              </a:rPr>
              <a:t>Investigacion empirica del problema</a:t>
            </a:r>
          </a:p>
        </p:txBody>
      </p:sp>
      <p:sp>
        <p:nvSpPr>
          <p:cNvPr id="9" name="TextBox 8"/>
          <p:cNvSpPr txBox="1"/>
          <p:nvPr/>
        </p:nvSpPr>
        <p:spPr>
          <a:xfrm>
            <a:off x="10607040" y="1463040"/>
            <a:ext cx="914400" cy="457200"/>
          </a:xfrm>
          <a:prstGeom prst="rect">
            <a:avLst/>
          </a:prstGeom>
          <a:noFill/>
        </p:spPr>
        <p:txBody>
          <a:bodyPr wrap="square">
            <a:spAutoFit/>
          </a:bodyPr>
          <a:lstStyle/>
          <a:p>
            <a:pPr algn="r"/>
            <a:r>
              <a:rPr sz="1000" b="1">
                <a:solidFill>
                  <a:srgbClr val="3A9E7A"/>
                </a:solidFill>
                <a:latin typeface="Calibri"/>
              </a:rPr>
              <a:t>CUMPLIDO</a:t>
            </a:r>
          </a:p>
        </p:txBody>
      </p:sp>
      <p:sp>
        <p:nvSpPr>
          <p:cNvPr id="10" name="Rectangle 9"/>
          <p:cNvSpPr/>
          <p:nvPr/>
        </p:nvSpPr>
        <p:spPr>
          <a:xfrm>
            <a:off x="457200" y="2048256"/>
            <a:ext cx="1124712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048256"/>
            <a:ext cx="292608" cy="621792"/>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121408"/>
            <a:ext cx="804672" cy="457200"/>
          </a:xfrm>
          <a:prstGeom prst="rect">
            <a:avLst/>
          </a:prstGeom>
          <a:noFill/>
        </p:spPr>
        <p:txBody>
          <a:bodyPr wrap="square">
            <a:spAutoFit/>
          </a:bodyPr>
          <a:lstStyle/>
          <a:p>
            <a:pPr algn="l"/>
            <a:r>
              <a:rPr sz="1100" b="1">
                <a:solidFill>
                  <a:srgbClr val="3A9E7A"/>
                </a:solidFill>
                <a:latin typeface="Calibri"/>
              </a:rPr>
              <a:t>OE2</a:t>
            </a:r>
          </a:p>
        </p:txBody>
      </p:sp>
      <p:sp>
        <p:nvSpPr>
          <p:cNvPr id="13" name="TextBox 12"/>
          <p:cNvSpPr txBox="1"/>
          <p:nvPr/>
        </p:nvSpPr>
        <p:spPr>
          <a:xfrm>
            <a:off x="1828800" y="2121408"/>
            <a:ext cx="8412480" cy="457200"/>
          </a:xfrm>
          <a:prstGeom prst="rect">
            <a:avLst/>
          </a:prstGeom>
          <a:noFill/>
        </p:spPr>
        <p:txBody>
          <a:bodyPr wrap="square">
            <a:spAutoFit/>
          </a:bodyPr>
          <a:lstStyle/>
          <a:p>
            <a:pPr algn="l"/>
            <a:r>
              <a:rPr sz="1200" b="0">
                <a:solidFill>
                  <a:srgbClr val="1A2B33"/>
                </a:solidFill>
                <a:latin typeface="Calibri"/>
              </a:rPr>
              <a:t>Estado del arte y brechas locales</a:t>
            </a:r>
          </a:p>
        </p:txBody>
      </p:sp>
      <p:sp>
        <p:nvSpPr>
          <p:cNvPr id="14" name="TextBox 13"/>
          <p:cNvSpPr txBox="1"/>
          <p:nvPr/>
        </p:nvSpPr>
        <p:spPr>
          <a:xfrm>
            <a:off x="10607040" y="2121408"/>
            <a:ext cx="914400" cy="457200"/>
          </a:xfrm>
          <a:prstGeom prst="rect">
            <a:avLst/>
          </a:prstGeom>
          <a:noFill/>
        </p:spPr>
        <p:txBody>
          <a:bodyPr wrap="square">
            <a:spAutoFit/>
          </a:bodyPr>
          <a:lstStyle/>
          <a:p>
            <a:pPr algn="r"/>
            <a:r>
              <a:rPr sz="1000" b="1">
                <a:solidFill>
                  <a:srgbClr val="3A9E7A"/>
                </a:solidFill>
                <a:latin typeface="Calibri"/>
              </a:rPr>
              <a:t>CUMPLIDO</a:t>
            </a:r>
          </a:p>
        </p:txBody>
      </p:sp>
      <p:sp>
        <p:nvSpPr>
          <p:cNvPr id="15" name="Rectangle 14"/>
          <p:cNvSpPr/>
          <p:nvPr/>
        </p:nvSpPr>
        <p:spPr>
          <a:xfrm>
            <a:off x="457200" y="2706624"/>
            <a:ext cx="11247120" cy="621792"/>
          </a:xfrm>
          <a:prstGeom prst="rect">
            <a:avLst/>
          </a:prstGeom>
          <a:solidFill>
            <a:srgbClr val="EA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706624"/>
            <a:ext cx="292608" cy="621792"/>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2779776"/>
            <a:ext cx="804672" cy="457200"/>
          </a:xfrm>
          <a:prstGeom prst="rect">
            <a:avLst/>
          </a:prstGeom>
          <a:noFill/>
        </p:spPr>
        <p:txBody>
          <a:bodyPr wrap="square">
            <a:spAutoFit/>
          </a:bodyPr>
          <a:lstStyle/>
          <a:p>
            <a:pPr algn="l"/>
            <a:r>
              <a:rPr sz="1100" b="1">
                <a:solidFill>
                  <a:srgbClr val="3A9E7A"/>
                </a:solidFill>
                <a:latin typeface="Calibri"/>
              </a:rPr>
              <a:t>OE3</a:t>
            </a:r>
          </a:p>
        </p:txBody>
      </p:sp>
      <p:sp>
        <p:nvSpPr>
          <p:cNvPr id="18" name="TextBox 17"/>
          <p:cNvSpPr txBox="1"/>
          <p:nvPr/>
        </p:nvSpPr>
        <p:spPr>
          <a:xfrm>
            <a:off x="1828800" y="2779776"/>
            <a:ext cx="8412480" cy="457200"/>
          </a:xfrm>
          <a:prstGeom prst="rect">
            <a:avLst/>
          </a:prstGeom>
          <a:noFill/>
        </p:spPr>
        <p:txBody>
          <a:bodyPr wrap="square">
            <a:spAutoFit/>
          </a:bodyPr>
          <a:lstStyle/>
          <a:p>
            <a:pPr algn="l"/>
            <a:r>
              <a:rPr sz="1200" b="0">
                <a:solidFill>
                  <a:srgbClr val="1A2B33"/>
                </a:solidFill>
                <a:latin typeface="Calibri"/>
              </a:rPr>
              <a:t>UX para votantes sin conocimiento previo</a:t>
            </a:r>
          </a:p>
        </p:txBody>
      </p:sp>
      <p:sp>
        <p:nvSpPr>
          <p:cNvPr id="19" name="TextBox 18"/>
          <p:cNvSpPr txBox="1"/>
          <p:nvPr/>
        </p:nvSpPr>
        <p:spPr>
          <a:xfrm>
            <a:off x="10607040" y="2779776"/>
            <a:ext cx="914400" cy="457200"/>
          </a:xfrm>
          <a:prstGeom prst="rect">
            <a:avLst/>
          </a:prstGeom>
          <a:noFill/>
        </p:spPr>
        <p:txBody>
          <a:bodyPr wrap="square">
            <a:spAutoFit/>
          </a:bodyPr>
          <a:lstStyle/>
          <a:p>
            <a:pPr algn="r"/>
            <a:r>
              <a:rPr sz="1000" b="1">
                <a:solidFill>
                  <a:srgbClr val="3A9E7A"/>
                </a:solidFill>
                <a:latin typeface="Calibri"/>
              </a:rPr>
              <a:t>CUMPLIDO</a:t>
            </a:r>
          </a:p>
        </p:txBody>
      </p:sp>
      <p:sp>
        <p:nvSpPr>
          <p:cNvPr id="20" name="Rectangle 19"/>
          <p:cNvSpPr/>
          <p:nvPr/>
        </p:nvSpPr>
        <p:spPr>
          <a:xfrm>
            <a:off x="457200" y="3364992"/>
            <a:ext cx="1124712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364992"/>
            <a:ext cx="292608" cy="621792"/>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3438144"/>
            <a:ext cx="804672" cy="457200"/>
          </a:xfrm>
          <a:prstGeom prst="rect">
            <a:avLst/>
          </a:prstGeom>
          <a:noFill/>
        </p:spPr>
        <p:txBody>
          <a:bodyPr wrap="square">
            <a:spAutoFit/>
          </a:bodyPr>
          <a:lstStyle/>
          <a:p>
            <a:pPr algn="l"/>
            <a:r>
              <a:rPr sz="1100" b="1">
                <a:solidFill>
                  <a:srgbClr val="3A9E7A"/>
                </a:solidFill>
                <a:latin typeface="Calibri"/>
              </a:rPr>
              <a:t>OE4</a:t>
            </a:r>
          </a:p>
        </p:txBody>
      </p:sp>
      <p:sp>
        <p:nvSpPr>
          <p:cNvPr id="23" name="TextBox 22"/>
          <p:cNvSpPr txBox="1"/>
          <p:nvPr/>
        </p:nvSpPr>
        <p:spPr>
          <a:xfrm>
            <a:off x="1828800" y="3438144"/>
            <a:ext cx="8412480" cy="457200"/>
          </a:xfrm>
          <a:prstGeom prst="rect">
            <a:avLst/>
          </a:prstGeom>
          <a:noFill/>
        </p:spPr>
        <p:txBody>
          <a:bodyPr wrap="square">
            <a:spAutoFit/>
          </a:bodyPr>
          <a:lstStyle/>
          <a:p>
            <a:pPr algn="l"/>
            <a:r>
              <a:rPr sz="1200" b="0">
                <a:solidFill>
                  <a:srgbClr val="1A2B33"/>
                </a:solidFill>
                <a:latin typeface="Calibri"/>
              </a:rPr>
              <a:t>Algoritmo con ponderacion e indicador</a:t>
            </a:r>
          </a:p>
        </p:txBody>
      </p:sp>
      <p:sp>
        <p:nvSpPr>
          <p:cNvPr id="24" name="TextBox 23"/>
          <p:cNvSpPr txBox="1"/>
          <p:nvPr/>
        </p:nvSpPr>
        <p:spPr>
          <a:xfrm>
            <a:off x="10607040" y="3438144"/>
            <a:ext cx="914400" cy="457200"/>
          </a:xfrm>
          <a:prstGeom prst="rect">
            <a:avLst/>
          </a:prstGeom>
          <a:noFill/>
        </p:spPr>
        <p:txBody>
          <a:bodyPr wrap="square">
            <a:spAutoFit/>
          </a:bodyPr>
          <a:lstStyle/>
          <a:p>
            <a:pPr algn="r"/>
            <a:r>
              <a:rPr sz="1000" b="1">
                <a:solidFill>
                  <a:srgbClr val="3A9E7A"/>
                </a:solidFill>
                <a:latin typeface="Calibri"/>
              </a:rPr>
              <a:t>CUMPLIDO</a:t>
            </a:r>
          </a:p>
        </p:txBody>
      </p:sp>
      <p:sp>
        <p:nvSpPr>
          <p:cNvPr id="25" name="Rectangle 24"/>
          <p:cNvSpPr/>
          <p:nvPr/>
        </p:nvSpPr>
        <p:spPr>
          <a:xfrm>
            <a:off x="457200" y="4023360"/>
            <a:ext cx="11247120" cy="621792"/>
          </a:xfrm>
          <a:prstGeom prst="rect">
            <a:avLst/>
          </a:prstGeom>
          <a:solidFill>
            <a:srgbClr val="EA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4023360"/>
            <a:ext cx="292608" cy="621792"/>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4096512"/>
            <a:ext cx="804672" cy="457200"/>
          </a:xfrm>
          <a:prstGeom prst="rect">
            <a:avLst/>
          </a:prstGeom>
          <a:noFill/>
        </p:spPr>
        <p:txBody>
          <a:bodyPr wrap="square">
            <a:spAutoFit/>
          </a:bodyPr>
          <a:lstStyle/>
          <a:p>
            <a:pPr algn="l"/>
            <a:r>
              <a:rPr sz="1100" b="1">
                <a:solidFill>
                  <a:srgbClr val="3A9E7A"/>
                </a:solidFill>
                <a:latin typeface="Calibri"/>
              </a:rPr>
              <a:t>OE5</a:t>
            </a:r>
          </a:p>
        </p:txBody>
      </p:sp>
      <p:sp>
        <p:nvSpPr>
          <p:cNvPr id="28" name="TextBox 27"/>
          <p:cNvSpPr txBox="1"/>
          <p:nvPr/>
        </p:nvSpPr>
        <p:spPr>
          <a:xfrm>
            <a:off x="1828800" y="4096512"/>
            <a:ext cx="8412480" cy="457200"/>
          </a:xfrm>
          <a:prstGeom prst="rect">
            <a:avLst/>
          </a:prstGeom>
          <a:noFill/>
        </p:spPr>
        <p:txBody>
          <a:bodyPr wrap="square">
            <a:spAutoFit/>
          </a:bodyPr>
          <a:lstStyle/>
          <a:p>
            <a:pPr algn="l"/>
            <a:r>
              <a:rPr sz="1200" b="0">
                <a:solidFill>
                  <a:srgbClr val="1A2B33"/>
                </a:solidFill>
                <a:latin typeface="Calibri"/>
              </a:rPr>
              <a:t>Arquitectura cliente-servidor OpenAPI 3.1</a:t>
            </a:r>
          </a:p>
        </p:txBody>
      </p:sp>
      <p:sp>
        <p:nvSpPr>
          <p:cNvPr id="29" name="TextBox 28"/>
          <p:cNvSpPr txBox="1"/>
          <p:nvPr/>
        </p:nvSpPr>
        <p:spPr>
          <a:xfrm>
            <a:off x="10607040" y="4096512"/>
            <a:ext cx="914400" cy="457200"/>
          </a:xfrm>
          <a:prstGeom prst="rect">
            <a:avLst/>
          </a:prstGeom>
          <a:noFill/>
        </p:spPr>
        <p:txBody>
          <a:bodyPr wrap="square">
            <a:spAutoFit/>
          </a:bodyPr>
          <a:lstStyle/>
          <a:p>
            <a:pPr algn="r"/>
            <a:r>
              <a:rPr sz="1000" b="1">
                <a:solidFill>
                  <a:srgbClr val="3A9E7A"/>
                </a:solidFill>
                <a:latin typeface="Calibri"/>
              </a:rPr>
              <a:t>CUMPLIDO</a:t>
            </a:r>
          </a:p>
        </p:txBody>
      </p:sp>
      <p:sp>
        <p:nvSpPr>
          <p:cNvPr id="30" name="Rectangle 29"/>
          <p:cNvSpPr/>
          <p:nvPr/>
        </p:nvSpPr>
        <p:spPr>
          <a:xfrm>
            <a:off x="457200" y="4681727"/>
            <a:ext cx="1124712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4681727"/>
            <a:ext cx="292608" cy="621792"/>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4754879"/>
            <a:ext cx="804672" cy="457200"/>
          </a:xfrm>
          <a:prstGeom prst="rect">
            <a:avLst/>
          </a:prstGeom>
          <a:noFill/>
        </p:spPr>
        <p:txBody>
          <a:bodyPr wrap="square">
            <a:spAutoFit/>
          </a:bodyPr>
          <a:lstStyle/>
          <a:p>
            <a:pPr algn="l"/>
            <a:r>
              <a:rPr sz="1100" b="1">
                <a:solidFill>
                  <a:srgbClr val="3A9E7A"/>
                </a:solidFill>
                <a:latin typeface="Calibri"/>
              </a:rPr>
              <a:t>OE6</a:t>
            </a:r>
          </a:p>
        </p:txBody>
      </p:sp>
      <p:sp>
        <p:nvSpPr>
          <p:cNvPr id="33" name="TextBox 32"/>
          <p:cNvSpPr txBox="1"/>
          <p:nvPr/>
        </p:nvSpPr>
        <p:spPr>
          <a:xfrm>
            <a:off x="1828800" y="4754879"/>
            <a:ext cx="8412480" cy="457200"/>
          </a:xfrm>
          <a:prstGeom prst="rect">
            <a:avLst/>
          </a:prstGeom>
          <a:noFill/>
        </p:spPr>
        <p:txBody>
          <a:bodyPr wrap="square">
            <a:spAutoFit/>
          </a:bodyPr>
          <a:lstStyle/>
          <a:p>
            <a:pPr algn="l"/>
            <a:r>
              <a:rPr sz="1200" b="0">
                <a:solidFill>
                  <a:srgbClr val="1A2B33"/>
                </a:solidFill>
                <a:latin typeface="Calibri"/>
              </a:rPr>
              <a:t>Modelo de datos con verificacion de fuentes</a:t>
            </a:r>
          </a:p>
        </p:txBody>
      </p:sp>
      <p:sp>
        <p:nvSpPr>
          <p:cNvPr id="34" name="TextBox 33"/>
          <p:cNvSpPr txBox="1"/>
          <p:nvPr/>
        </p:nvSpPr>
        <p:spPr>
          <a:xfrm>
            <a:off x="10607040" y="4754879"/>
            <a:ext cx="914400" cy="457200"/>
          </a:xfrm>
          <a:prstGeom prst="rect">
            <a:avLst/>
          </a:prstGeom>
          <a:noFill/>
        </p:spPr>
        <p:txBody>
          <a:bodyPr wrap="square">
            <a:spAutoFit/>
          </a:bodyPr>
          <a:lstStyle/>
          <a:p>
            <a:pPr algn="r"/>
            <a:r>
              <a:rPr sz="1000" b="1">
                <a:solidFill>
                  <a:srgbClr val="3A9E7A"/>
                </a:solidFill>
                <a:latin typeface="Calibri"/>
              </a:rPr>
              <a:t>CUMPLIDO</a:t>
            </a:r>
          </a:p>
        </p:txBody>
      </p:sp>
      <p:sp>
        <p:nvSpPr>
          <p:cNvPr id="35" name="Rectangle 34"/>
          <p:cNvSpPr/>
          <p:nvPr/>
        </p:nvSpPr>
        <p:spPr>
          <a:xfrm>
            <a:off x="457200" y="5340096"/>
            <a:ext cx="11247120" cy="621792"/>
          </a:xfrm>
          <a:prstGeom prst="rect">
            <a:avLst/>
          </a:prstGeom>
          <a:solidFill>
            <a:srgbClr val="EA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57200" y="5340096"/>
            <a:ext cx="292608" cy="621792"/>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 y="5413248"/>
            <a:ext cx="804672" cy="457200"/>
          </a:xfrm>
          <a:prstGeom prst="rect">
            <a:avLst/>
          </a:prstGeom>
          <a:noFill/>
        </p:spPr>
        <p:txBody>
          <a:bodyPr wrap="square">
            <a:spAutoFit/>
          </a:bodyPr>
          <a:lstStyle/>
          <a:p>
            <a:pPr algn="l"/>
            <a:r>
              <a:rPr sz="1100" b="1">
                <a:solidFill>
                  <a:srgbClr val="C89B5C"/>
                </a:solidFill>
                <a:latin typeface="Calibri"/>
              </a:rPr>
              <a:t>OE7</a:t>
            </a:r>
          </a:p>
        </p:txBody>
      </p:sp>
      <p:sp>
        <p:nvSpPr>
          <p:cNvPr id="38" name="TextBox 37"/>
          <p:cNvSpPr txBox="1"/>
          <p:nvPr/>
        </p:nvSpPr>
        <p:spPr>
          <a:xfrm>
            <a:off x="1828800" y="5413248"/>
            <a:ext cx="8412480" cy="457200"/>
          </a:xfrm>
          <a:prstGeom prst="rect">
            <a:avLst/>
          </a:prstGeom>
          <a:noFill/>
        </p:spPr>
        <p:txBody>
          <a:bodyPr wrap="square">
            <a:spAutoFit/>
          </a:bodyPr>
          <a:lstStyle/>
          <a:p>
            <a:pPr algn="l"/>
            <a:r>
              <a:rPr sz="1200" b="0">
                <a:solidFill>
                  <a:srgbClr val="1A2B33"/>
                </a:solidFill>
                <a:latin typeface="Calibri"/>
              </a:rPr>
              <a:t>Documentacion para contribuidores externos</a:t>
            </a:r>
          </a:p>
        </p:txBody>
      </p:sp>
      <p:sp>
        <p:nvSpPr>
          <p:cNvPr id="39" name="TextBox 38"/>
          <p:cNvSpPr txBox="1"/>
          <p:nvPr/>
        </p:nvSpPr>
        <p:spPr>
          <a:xfrm>
            <a:off x="10607040" y="5413248"/>
            <a:ext cx="914400" cy="457200"/>
          </a:xfrm>
          <a:prstGeom prst="rect">
            <a:avLst/>
          </a:prstGeom>
          <a:noFill/>
        </p:spPr>
        <p:txBody>
          <a:bodyPr wrap="square">
            <a:spAutoFit/>
          </a:bodyPr>
          <a:lstStyle/>
          <a:p>
            <a:pPr algn="r"/>
            <a:r>
              <a:rPr sz="1000" b="1">
                <a:solidFill>
                  <a:srgbClr val="C89B5C"/>
                </a:solidFill>
                <a:latin typeface="Calibri"/>
              </a:rPr>
              <a:t>PARCIAL</a:t>
            </a:r>
          </a:p>
        </p:txBody>
      </p:sp>
      <p:sp>
        <p:nvSpPr>
          <p:cNvPr id="40" name="Rectangle 39"/>
          <p:cNvSpPr/>
          <p:nvPr/>
        </p:nvSpPr>
        <p:spPr>
          <a:xfrm>
            <a:off x="457200" y="6126480"/>
            <a:ext cx="11247120" cy="621792"/>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6245352"/>
            <a:ext cx="10698480" cy="411480"/>
          </a:xfrm>
          <a:prstGeom prst="rect">
            <a:avLst/>
          </a:prstGeom>
          <a:noFill/>
        </p:spPr>
        <p:txBody>
          <a:bodyPr wrap="square">
            <a:spAutoFit/>
          </a:bodyPr>
          <a:lstStyle/>
          <a:p>
            <a:pPr algn="l"/>
            <a:r>
              <a:rPr sz="1200" b="0">
                <a:solidFill>
                  <a:srgbClr val="FFFFFF"/>
                </a:solidFill>
                <a:latin typeface="Calibri"/>
              </a:rPr>
              <a:t>OBJETIVO GENERAL: cumplido en su dimension tecnica. El sistema funciona. La validacion de impacto real sobre la participacion informada requiere el lanzamiento publico.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LIMITACIONES ACTUALES</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4000" b="1">
                <a:solidFill>
                  <a:srgbClr val="FFFFFF"/>
                </a:solidFill>
                <a:latin typeface="Calibri"/>
              </a:rPr>
              <a:t>Honestidad sobre lo que falta.</a:t>
            </a:r>
          </a:p>
        </p:txBody>
      </p:sp>
      <p:sp>
        <p:nvSpPr>
          <p:cNvPr id="5" name="Rectangle 4"/>
          <p:cNvSpPr/>
          <p:nvPr/>
        </p:nvSpPr>
        <p:spPr>
          <a:xfrm>
            <a:off x="457200" y="1481328"/>
            <a:ext cx="5577840" cy="2304288"/>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18488"/>
            <a:ext cx="5212080" cy="384048"/>
          </a:xfrm>
          <a:prstGeom prst="rect">
            <a:avLst/>
          </a:prstGeom>
          <a:noFill/>
        </p:spPr>
        <p:txBody>
          <a:bodyPr wrap="square">
            <a:spAutoFit/>
          </a:bodyPr>
          <a:lstStyle/>
          <a:p>
            <a:pPr algn="l"/>
            <a:r>
              <a:rPr sz="1200" b="1">
                <a:solidFill>
                  <a:srgbClr val="FFFFFF"/>
                </a:solidFill>
                <a:latin typeface="Calibri"/>
              </a:rPr>
              <a:t>VERIFICACION DE DATOS</a:t>
            </a:r>
          </a:p>
        </p:txBody>
      </p:sp>
      <p:sp>
        <p:nvSpPr>
          <p:cNvPr id="7" name="Rectangle 6"/>
          <p:cNvSpPr/>
          <p:nvPr/>
        </p:nvSpPr>
        <p:spPr>
          <a:xfrm>
            <a:off x="640080" y="2029968"/>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39696"/>
            <a:ext cx="5212080" cy="1536192"/>
          </a:xfrm>
          <a:prstGeom prst="rect">
            <a:avLst/>
          </a:prstGeom>
          <a:noFill/>
        </p:spPr>
        <p:txBody>
          <a:bodyPr wrap="square">
            <a:spAutoFit/>
          </a:bodyPr>
          <a:lstStyle/>
          <a:p>
            <a:pPr algn="l"/>
            <a:r>
              <a:rPr sz="1200" b="0">
                <a:solidFill>
                  <a:srgbClr val="FFFFFF"/>
                </a:solidFill>
                <a:latin typeface="Calibri"/>
              </a:rPr>
              <a:t>Posturas con confianza MEDIA y BAJA en el sistema.
El sistema lo comunica, pero el ideal es verificacion completa pre-lanzamiento.</a:t>
            </a:r>
          </a:p>
        </p:txBody>
      </p:sp>
      <p:sp>
        <p:nvSpPr>
          <p:cNvPr id="9" name="Rectangle 8"/>
          <p:cNvSpPr/>
          <p:nvPr/>
        </p:nvSpPr>
        <p:spPr>
          <a:xfrm>
            <a:off x="6309360" y="1481328"/>
            <a:ext cx="5577840" cy="230428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618488"/>
            <a:ext cx="5212080" cy="384048"/>
          </a:xfrm>
          <a:prstGeom prst="rect">
            <a:avLst/>
          </a:prstGeom>
          <a:noFill/>
        </p:spPr>
        <p:txBody>
          <a:bodyPr wrap="square">
            <a:spAutoFit/>
          </a:bodyPr>
          <a:lstStyle/>
          <a:p>
            <a:pPr algn="l"/>
            <a:r>
              <a:rPr sz="1200" b="1">
                <a:solidFill>
                  <a:srgbClr val="FFFFFF"/>
                </a:solidFill>
                <a:latin typeface="Calibri"/>
              </a:rPr>
              <a:t>ESCALA DEL CUESTIONARIO</a:t>
            </a:r>
          </a:p>
        </p:txBody>
      </p:sp>
      <p:sp>
        <p:nvSpPr>
          <p:cNvPr id="11" name="Rectangle 10"/>
          <p:cNvSpPr/>
          <p:nvPr/>
        </p:nvSpPr>
        <p:spPr>
          <a:xfrm>
            <a:off x="6492240" y="2029968"/>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139696"/>
            <a:ext cx="5212080" cy="1536192"/>
          </a:xfrm>
          <a:prstGeom prst="rect">
            <a:avLst/>
          </a:prstGeom>
          <a:noFill/>
        </p:spPr>
        <p:txBody>
          <a:bodyPr wrap="square">
            <a:spAutoFit/>
          </a:bodyPr>
          <a:lstStyle/>
          <a:p>
            <a:pPr algn="l"/>
            <a:r>
              <a:rPr sz="1200" b="0">
                <a:solidFill>
                  <a:srgbClr val="FFFFFF"/>
                </a:solidFill>
                <a:latin typeface="Calibri"/>
              </a:rPr>
              <a:t>12 preguntas vs Smartvote (75) o Wahl-O-Mat (38).
Objetivo v0.3: expansion a 30+ preguntas con mayor precision.</a:t>
            </a:r>
          </a:p>
        </p:txBody>
      </p:sp>
      <p:sp>
        <p:nvSpPr>
          <p:cNvPr id="13" name="Rectangle 12"/>
          <p:cNvSpPr/>
          <p:nvPr/>
        </p:nvSpPr>
        <p:spPr>
          <a:xfrm>
            <a:off x="457200" y="3968496"/>
            <a:ext cx="5577840" cy="230428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105656"/>
            <a:ext cx="5212080" cy="384048"/>
          </a:xfrm>
          <a:prstGeom prst="rect">
            <a:avLst/>
          </a:prstGeom>
          <a:noFill/>
        </p:spPr>
        <p:txBody>
          <a:bodyPr wrap="square">
            <a:spAutoFit/>
          </a:bodyPr>
          <a:lstStyle/>
          <a:p>
            <a:pPr algn="l"/>
            <a:r>
              <a:rPr sz="1200" b="1">
                <a:solidFill>
                  <a:srgbClr val="FFFFFF"/>
                </a:solidFill>
                <a:latin typeface="Calibri"/>
              </a:rPr>
              <a:t>TESTS DE FRONTEND</a:t>
            </a:r>
          </a:p>
        </p:txBody>
      </p:sp>
      <p:sp>
        <p:nvSpPr>
          <p:cNvPr id="15" name="Rectangle 14"/>
          <p:cNvSpPr/>
          <p:nvPr/>
        </p:nvSpPr>
        <p:spPr>
          <a:xfrm>
            <a:off x="640080" y="4517136"/>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626864"/>
            <a:ext cx="5212080" cy="1536192"/>
          </a:xfrm>
          <a:prstGeom prst="rect">
            <a:avLst/>
          </a:prstGeom>
          <a:noFill/>
        </p:spPr>
        <p:txBody>
          <a:bodyPr wrap="square">
            <a:spAutoFit/>
          </a:bodyPr>
          <a:lstStyle/>
          <a:p>
            <a:pPr algn="l"/>
            <a:r>
              <a:rPr sz="1200" b="0">
                <a:solidFill>
                  <a:srgbClr val="FFFFFF"/>
                </a:solidFill>
                <a:latin typeface="Calibri"/>
              </a:rPr>
              <a:t>370 tests cubren el backend solidamente.
El frontend tiene cobertura de tests automatizados practicamente nula.</a:t>
            </a:r>
          </a:p>
        </p:txBody>
      </p:sp>
      <p:sp>
        <p:nvSpPr>
          <p:cNvPr id="17" name="Rectangle 16"/>
          <p:cNvSpPr/>
          <p:nvPr/>
        </p:nvSpPr>
        <p:spPr>
          <a:xfrm>
            <a:off x="6309360" y="3968496"/>
            <a:ext cx="5577840" cy="2304288"/>
          </a:xfrm>
          <a:prstGeom prst="rect">
            <a:avLst/>
          </a:prstGeom>
          <a:solidFill>
            <a:srgbClr val="5A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4105656"/>
            <a:ext cx="5212080" cy="384048"/>
          </a:xfrm>
          <a:prstGeom prst="rect">
            <a:avLst/>
          </a:prstGeom>
          <a:noFill/>
        </p:spPr>
        <p:txBody>
          <a:bodyPr wrap="square">
            <a:spAutoFit/>
          </a:bodyPr>
          <a:lstStyle/>
          <a:p>
            <a:pPr algn="l"/>
            <a:r>
              <a:rPr sz="1200" b="1">
                <a:solidFill>
                  <a:srgbClr val="FFFFFF"/>
                </a:solidFill>
                <a:latin typeface="Calibri"/>
              </a:rPr>
              <a:t>SOSTENIBILIDAD</a:t>
            </a:r>
          </a:p>
        </p:txBody>
      </p:sp>
      <p:sp>
        <p:nvSpPr>
          <p:cNvPr id="19" name="Rectangle 18"/>
          <p:cNvSpPr/>
          <p:nvPr/>
        </p:nvSpPr>
        <p:spPr>
          <a:xfrm>
            <a:off x="6492240" y="4517136"/>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4626864"/>
            <a:ext cx="5212080" cy="1536192"/>
          </a:xfrm>
          <a:prstGeom prst="rect">
            <a:avLst/>
          </a:prstGeom>
          <a:noFill/>
        </p:spPr>
        <p:txBody>
          <a:bodyPr wrap="square">
            <a:spAutoFit/>
          </a:bodyPr>
          <a:lstStyle/>
          <a:p>
            <a:pPr algn="l"/>
            <a:r>
              <a:rPr sz="1200" b="0">
                <a:solidFill>
                  <a:srgbClr val="FFFFFF"/>
                </a:solidFill>
                <a:latin typeface="Calibri"/>
              </a:rPr>
              <a:t>Proyecto personal sin respaldo institucional.
La continuidad entre ciclos electorales requiere un modelo no resuelto.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TRABAJO FUTURO</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4200" b="1">
                <a:solidFill>
                  <a:srgbClr val="1C3A52"/>
                </a:solidFill>
                <a:latin typeface="Calibri"/>
              </a:rPr>
              <a:t>El roadmap del proyecto.</a:t>
            </a:r>
          </a:p>
        </p:txBody>
      </p:sp>
      <p:sp>
        <p:nvSpPr>
          <p:cNvPr id="5" name="Rectangle 4"/>
          <p:cNvSpPr/>
          <p:nvPr/>
        </p:nvSpPr>
        <p:spPr>
          <a:xfrm>
            <a:off x="457200" y="1298448"/>
            <a:ext cx="2743200" cy="498348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417320"/>
            <a:ext cx="2487168" cy="475488"/>
          </a:xfrm>
          <a:prstGeom prst="rect">
            <a:avLst/>
          </a:prstGeom>
          <a:noFill/>
        </p:spPr>
        <p:txBody>
          <a:bodyPr wrap="square">
            <a:spAutoFit/>
          </a:bodyPr>
          <a:lstStyle/>
          <a:p>
            <a:pPr algn="l"/>
            <a:r>
              <a:rPr sz="2200" b="1">
                <a:solidFill>
                  <a:srgbClr val="FFFFFF"/>
                </a:solidFill>
                <a:latin typeface="Calibri"/>
              </a:rPr>
              <a:t>v0.2</a:t>
            </a:r>
          </a:p>
        </p:txBody>
      </p:sp>
      <p:sp>
        <p:nvSpPr>
          <p:cNvPr id="7" name="TextBox 6"/>
          <p:cNvSpPr txBox="1"/>
          <p:nvPr/>
        </p:nvSpPr>
        <p:spPr>
          <a:xfrm>
            <a:off x="594360" y="1938528"/>
            <a:ext cx="2487168" cy="475488"/>
          </a:xfrm>
          <a:prstGeom prst="rect">
            <a:avLst/>
          </a:prstGeom>
          <a:noFill/>
        </p:spPr>
        <p:txBody>
          <a:bodyPr wrap="square">
            <a:spAutoFit/>
          </a:bodyPr>
          <a:lstStyle/>
          <a:p>
            <a:pPr algn="l"/>
            <a:r>
              <a:rPr sz="1300" b="1">
                <a:solidFill>
                  <a:srgbClr val="FFFFFF"/>
                </a:solidFill>
                <a:latin typeface="Calibri"/>
              </a:rPr>
              <a:t>DATOS VERIFICADOS</a:t>
            </a:r>
          </a:p>
        </p:txBody>
      </p:sp>
      <p:sp>
        <p:nvSpPr>
          <p:cNvPr id="8" name="Rectangle 7"/>
          <p:cNvSpPr/>
          <p:nvPr/>
        </p:nvSpPr>
        <p:spPr>
          <a:xfrm>
            <a:off x="594360" y="2450592"/>
            <a:ext cx="21945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578608"/>
            <a:ext cx="2514600" cy="3429000"/>
          </a:xfrm>
          <a:prstGeom prst="rect">
            <a:avLst/>
          </a:prstGeom>
          <a:noFill/>
        </p:spPr>
        <p:txBody>
          <a:bodyPr wrap="square">
            <a:spAutoFit/>
          </a:bodyPr>
          <a:lstStyle/>
          <a:p>
            <a:pPr algn="l"/>
            <a:r>
              <a:rPr sz="1200" b="0">
                <a:solidFill>
                  <a:srgbClr val="FFFFFF"/>
                </a:solidFill>
                <a:latin typeface="Calibri"/>
              </a:rPr>
              <a:t>Verificacion completa de posturas
Fuentes primarias por candidato
Changelog publico</a:t>
            </a:r>
          </a:p>
        </p:txBody>
      </p:sp>
      <p:sp>
        <p:nvSpPr>
          <p:cNvPr id="10" name="Rectangle 9"/>
          <p:cNvSpPr/>
          <p:nvPr/>
        </p:nvSpPr>
        <p:spPr>
          <a:xfrm>
            <a:off x="3337560" y="1298448"/>
            <a:ext cx="2743200" cy="498348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0" y="1417320"/>
            <a:ext cx="2487168" cy="475488"/>
          </a:xfrm>
          <a:prstGeom prst="rect">
            <a:avLst/>
          </a:prstGeom>
          <a:noFill/>
        </p:spPr>
        <p:txBody>
          <a:bodyPr wrap="square">
            <a:spAutoFit/>
          </a:bodyPr>
          <a:lstStyle/>
          <a:p>
            <a:pPr algn="l"/>
            <a:r>
              <a:rPr sz="2200" b="1">
                <a:solidFill>
                  <a:srgbClr val="FFFFFF"/>
                </a:solidFill>
                <a:latin typeface="Calibri"/>
              </a:rPr>
              <a:t>v0.3</a:t>
            </a:r>
          </a:p>
        </p:txBody>
      </p:sp>
      <p:sp>
        <p:nvSpPr>
          <p:cNvPr id="12" name="TextBox 11"/>
          <p:cNvSpPr txBox="1"/>
          <p:nvPr/>
        </p:nvSpPr>
        <p:spPr>
          <a:xfrm>
            <a:off x="3474720" y="1938528"/>
            <a:ext cx="2487168" cy="475488"/>
          </a:xfrm>
          <a:prstGeom prst="rect">
            <a:avLst/>
          </a:prstGeom>
          <a:noFill/>
        </p:spPr>
        <p:txBody>
          <a:bodyPr wrap="square">
            <a:spAutoFit/>
          </a:bodyPr>
          <a:lstStyle/>
          <a:p>
            <a:pPr algn="l"/>
            <a:r>
              <a:rPr sz="1300" b="1">
                <a:solidFill>
                  <a:srgbClr val="FFFFFF"/>
                </a:solidFill>
                <a:latin typeface="Calibri"/>
              </a:rPr>
              <a:t>EXPLICABILIDAD</a:t>
            </a:r>
          </a:p>
        </p:txBody>
      </p:sp>
      <p:sp>
        <p:nvSpPr>
          <p:cNvPr id="13" name="Rectangle 12"/>
          <p:cNvSpPr/>
          <p:nvPr/>
        </p:nvSpPr>
        <p:spPr>
          <a:xfrm>
            <a:off x="3474720" y="2450592"/>
            <a:ext cx="21945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0" y="2578608"/>
            <a:ext cx="2514600" cy="3429000"/>
          </a:xfrm>
          <a:prstGeom prst="rect">
            <a:avLst/>
          </a:prstGeom>
          <a:noFill/>
        </p:spPr>
        <p:txBody>
          <a:bodyPr wrap="square">
            <a:spAutoFit/>
          </a:bodyPr>
          <a:lstStyle/>
          <a:p>
            <a:pPr algn="l"/>
            <a:r>
              <a:rPr sz="1200" b="0">
                <a:solidFill>
                  <a:srgbClr val="FFFFFF"/>
                </a:solidFill>
                <a:latin typeface="Calibri"/>
              </a:rPr>
              <a:t>Que preguntas causan el ranking
Simulador de sensibilidad
30+ preguntas</a:t>
            </a:r>
          </a:p>
        </p:txBody>
      </p:sp>
      <p:sp>
        <p:nvSpPr>
          <p:cNvPr id="15" name="Rectangle 14"/>
          <p:cNvSpPr/>
          <p:nvPr/>
        </p:nvSpPr>
        <p:spPr>
          <a:xfrm>
            <a:off x="6217920" y="1298448"/>
            <a:ext cx="2743200" cy="498348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417320"/>
            <a:ext cx="2487168" cy="475488"/>
          </a:xfrm>
          <a:prstGeom prst="rect">
            <a:avLst/>
          </a:prstGeom>
          <a:noFill/>
        </p:spPr>
        <p:txBody>
          <a:bodyPr wrap="square">
            <a:spAutoFit/>
          </a:bodyPr>
          <a:lstStyle/>
          <a:p>
            <a:pPr algn="l"/>
            <a:r>
              <a:rPr sz="2200" b="1">
                <a:solidFill>
                  <a:srgbClr val="FFFFFF"/>
                </a:solidFill>
                <a:latin typeface="Calibri"/>
              </a:rPr>
              <a:t>v0.4</a:t>
            </a:r>
          </a:p>
        </p:txBody>
      </p:sp>
      <p:sp>
        <p:nvSpPr>
          <p:cNvPr id="17" name="TextBox 16"/>
          <p:cNvSpPr txBox="1"/>
          <p:nvPr/>
        </p:nvSpPr>
        <p:spPr>
          <a:xfrm>
            <a:off x="6355080" y="1938528"/>
            <a:ext cx="2487168" cy="475488"/>
          </a:xfrm>
          <a:prstGeom prst="rect">
            <a:avLst/>
          </a:prstGeom>
          <a:noFill/>
        </p:spPr>
        <p:txBody>
          <a:bodyPr wrap="square">
            <a:spAutoFit/>
          </a:bodyPr>
          <a:lstStyle/>
          <a:p>
            <a:pPr algn="l"/>
            <a:r>
              <a:rPr sz="1300" b="1">
                <a:solidFill>
                  <a:srgbClr val="FFFFFF"/>
                </a:solidFill>
                <a:latin typeface="Calibri"/>
              </a:rPr>
              <a:t>EXPANSION</a:t>
            </a:r>
          </a:p>
        </p:txBody>
      </p:sp>
      <p:sp>
        <p:nvSpPr>
          <p:cNvPr id="18" name="Rectangle 17"/>
          <p:cNvSpPr/>
          <p:nvPr/>
        </p:nvSpPr>
        <p:spPr>
          <a:xfrm>
            <a:off x="6355080" y="2450592"/>
            <a:ext cx="21945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2578608"/>
            <a:ext cx="2514600" cy="3429000"/>
          </a:xfrm>
          <a:prstGeom prst="rect">
            <a:avLst/>
          </a:prstGeom>
          <a:noFill/>
        </p:spPr>
        <p:txBody>
          <a:bodyPr wrap="square">
            <a:spAutoFit/>
          </a:bodyPr>
          <a:lstStyle/>
          <a:p>
            <a:pPr algn="l"/>
            <a:r>
              <a:rPr sz="1200" b="0">
                <a:solidFill>
                  <a:srgbClr val="FFFFFF"/>
                </a:solidFill>
                <a:latin typeface="Calibri"/>
              </a:rPr>
              <a:t>Elecciones municipales y regionales
Onboarding del candidato
Notificaciones</a:t>
            </a:r>
          </a:p>
        </p:txBody>
      </p:sp>
      <p:sp>
        <p:nvSpPr>
          <p:cNvPr id="20" name="Rectangle 19"/>
          <p:cNvSpPr/>
          <p:nvPr/>
        </p:nvSpPr>
        <p:spPr>
          <a:xfrm>
            <a:off x="9098280" y="1298448"/>
            <a:ext cx="2743200" cy="4983480"/>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0" y="1417320"/>
            <a:ext cx="2487168" cy="475488"/>
          </a:xfrm>
          <a:prstGeom prst="rect">
            <a:avLst/>
          </a:prstGeom>
          <a:noFill/>
        </p:spPr>
        <p:txBody>
          <a:bodyPr wrap="square">
            <a:spAutoFit/>
          </a:bodyPr>
          <a:lstStyle/>
          <a:p>
            <a:pPr algn="l"/>
            <a:r>
              <a:rPr sz="2200" b="1">
                <a:solidFill>
                  <a:srgbClr val="FFFFFF"/>
                </a:solidFill>
                <a:latin typeface="Calibri"/>
              </a:rPr>
              <a:t>v1.0</a:t>
            </a:r>
          </a:p>
        </p:txBody>
      </p:sp>
      <p:sp>
        <p:nvSpPr>
          <p:cNvPr id="22" name="TextBox 21"/>
          <p:cNvSpPr txBox="1"/>
          <p:nvPr/>
        </p:nvSpPr>
        <p:spPr>
          <a:xfrm>
            <a:off x="9235440" y="1938528"/>
            <a:ext cx="2487168" cy="475488"/>
          </a:xfrm>
          <a:prstGeom prst="rect">
            <a:avLst/>
          </a:prstGeom>
          <a:noFill/>
        </p:spPr>
        <p:txBody>
          <a:bodyPr wrap="square">
            <a:spAutoFit/>
          </a:bodyPr>
          <a:lstStyle/>
          <a:p>
            <a:pPr algn="l"/>
            <a:r>
              <a:rPr sz="1300" b="1">
                <a:solidFill>
                  <a:srgbClr val="FFFFFF"/>
                </a:solidFill>
                <a:latin typeface="Calibri"/>
              </a:rPr>
              <a:t>LANZAMIENTO</a:t>
            </a:r>
          </a:p>
        </p:txBody>
      </p:sp>
      <p:sp>
        <p:nvSpPr>
          <p:cNvPr id="23" name="Rectangle 22"/>
          <p:cNvSpPr/>
          <p:nvPr/>
        </p:nvSpPr>
        <p:spPr>
          <a:xfrm>
            <a:off x="9235440" y="2450592"/>
            <a:ext cx="21945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0" y="2578608"/>
            <a:ext cx="2514600" cy="3429000"/>
          </a:xfrm>
          <a:prstGeom prst="rect">
            <a:avLst/>
          </a:prstGeom>
          <a:noFill/>
        </p:spPr>
        <p:txBody>
          <a:bodyPr wrap="square">
            <a:spAutoFit/>
          </a:bodyPr>
          <a:lstStyle/>
          <a:p>
            <a:pPr algn="l"/>
            <a:r>
              <a:rPr sz="1200" b="0">
                <a:solidFill>
                  <a:srgbClr val="FFFFFF"/>
                </a:solidFill>
                <a:latin typeface="Calibri"/>
              </a:rPr>
              <a:t>Hosting en produccion
Pruebas de carga
Internacionalizacion LatAm</a:t>
            </a:r>
          </a:p>
        </p:txBody>
      </p:sp>
      <p:sp>
        <p:nvSpPr>
          <p:cNvPr id="25" name="TextBox 24"/>
          <p:cNvSpPr txBox="1"/>
          <p:nvPr/>
        </p:nvSpPr>
        <p:spPr>
          <a:xfrm>
            <a:off x="457200" y="6446520"/>
            <a:ext cx="11247120" cy="347472"/>
          </a:xfrm>
          <a:prstGeom prst="rect">
            <a:avLst/>
          </a:prstGeom>
          <a:noFill/>
        </p:spPr>
        <p:txBody>
          <a:bodyPr wrap="square">
            <a:spAutoFit/>
          </a:bodyPr>
          <a:lstStyle/>
          <a:p>
            <a:pPr algn="ctr"/>
            <a:r>
              <a:rPr sz="1200" b="0">
                <a:solidFill>
                  <a:srgbClr val="5A6B73"/>
                </a:solidFill>
                <a:latin typeface="Calibri"/>
              </a:rPr>
              <a:t>Vision: alianza institucional tipo Vote Compass + CBC Canada para resolver sostenibilidad.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3A9E7A"/>
                </a:solidFill>
                <a:latin typeface="Calibri"/>
              </a:rPr>
              <a:t>CONCLUSIONES</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3600" b="1">
                <a:solidFill>
                  <a:srgbClr val="FFFFFF"/>
                </a:solidFill>
                <a:latin typeface="Calibri"/>
              </a:rPr>
              <a:t>El valor generado en tres dimensiones.</a:t>
            </a:r>
          </a:p>
        </p:txBody>
      </p:sp>
      <p:sp>
        <p:nvSpPr>
          <p:cNvPr id="5" name="Rectangle 4"/>
          <p:cNvSpPr/>
          <p:nvPr/>
        </p:nvSpPr>
        <p:spPr>
          <a:xfrm>
            <a:off x="457200" y="1325880"/>
            <a:ext cx="11247120" cy="160020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44752"/>
            <a:ext cx="3657600" cy="384048"/>
          </a:xfrm>
          <a:prstGeom prst="rect">
            <a:avLst/>
          </a:prstGeom>
          <a:noFill/>
        </p:spPr>
        <p:txBody>
          <a:bodyPr wrap="square">
            <a:spAutoFit/>
          </a:bodyPr>
          <a:lstStyle/>
          <a:p>
            <a:pPr algn="l"/>
            <a:r>
              <a:rPr sz="1300" b="1">
                <a:solidFill>
                  <a:srgbClr val="FFFFFF"/>
                </a:solidFill>
                <a:latin typeface="Calibri"/>
              </a:rPr>
              <a:t>VALOR DE PRODUCTO</a:t>
            </a:r>
          </a:p>
        </p:txBody>
      </p:sp>
      <p:sp>
        <p:nvSpPr>
          <p:cNvPr id="7" name="TextBox 6"/>
          <p:cNvSpPr txBox="1"/>
          <p:nvPr/>
        </p:nvSpPr>
        <p:spPr>
          <a:xfrm>
            <a:off x="640080" y="1847088"/>
            <a:ext cx="10789920" cy="960120"/>
          </a:xfrm>
          <a:prstGeom prst="rect">
            <a:avLst/>
          </a:prstGeom>
          <a:noFill/>
        </p:spPr>
        <p:txBody>
          <a:bodyPr wrap="square">
            <a:spAutoFit/>
          </a:bodyPr>
          <a:lstStyle/>
          <a:p>
            <a:pPr algn="l"/>
            <a:r>
              <a:rPr sz="1400" b="0">
                <a:solidFill>
                  <a:srgbClr val="FFFFFF"/>
                </a:solidFill>
                <a:latin typeface="Calibri"/>
              </a:rPr>
              <a:t>Un sistema funcional que no existia en Chile.
Cualquier votante que lo use dispone de informacion
estructurada que ninguna herramienta local le provia.</a:t>
            </a:r>
          </a:p>
        </p:txBody>
      </p:sp>
      <p:sp>
        <p:nvSpPr>
          <p:cNvPr id="8" name="Rectangle 7"/>
          <p:cNvSpPr/>
          <p:nvPr/>
        </p:nvSpPr>
        <p:spPr>
          <a:xfrm>
            <a:off x="457200" y="3044952"/>
            <a:ext cx="11247120" cy="160020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163824"/>
            <a:ext cx="3657600" cy="384048"/>
          </a:xfrm>
          <a:prstGeom prst="rect">
            <a:avLst/>
          </a:prstGeom>
          <a:noFill/>
        </p:spPr>
        <p:txBody>
          <a:bodyPr wrap="square">
            <a:spAutoFit/>
          </a:bodyPr>
          <a:lstStyle/>
          <a:p>
            <a:pPr algn="l"/>
            <a:r>
              <a:rPr sz="1300" b="1">
                <a:solidFill>
                  <a:srgbClr val="FFFFFF"/>
                </a:solidFill>
                <a:latin typeface="Calibri"/>
              </a:rPr>
              <a:t>VALOR ACADEMICO</a:t>
            </a:r>
          </a:p>
        </p:txBody>
      </p:sp>
      <p:sp>
        <p:nvSpPr>
          <p:cNvPr id="10" name="TextBox 9"/>
          <p:cNvSpPr txBox="1"/>
          <p:nvPr/>
        </p:nvSpPr>
        <p:spPr>
          <a:xfrm>
            <a:off x="640080" y="3566160"/>
            <a:ext cx="10789920" cy="960120"/>
          </a:xfrm>
          <a:prstGeom prst="rect">
            <a:avLst/>
          </a:prstGeom>
          <a:noFill/>
        </p:spPr>
        <p:txBody>
          <a:bodyPr wrap="square">
            <a:spAutoFit/>
          </a:bodyPr>
          <a:lstStyle/>
          <a:p>
            <a:pPr algn="l"/>
            <a:r>
              <a:rPr sz="1400" b="0">
                <a:solidFill>
                  <a:srgbClr val="FFFFFF"/>
                </a:solidFill>
                <a:latin typeface="Calibri"/>
              </a:rPr>
              <a:t>Conocimiento documentado sobre desinformacion electoral.
Diseno de VAAs en contextos de informacion incompleta.
Ingenieria de software aplicada a interes civico.</a:t>
            </a:r>
          </a:p>
        </p:txBody>
      </p:sp>
      <p:sp>
        <p:nvSpPr>
          <p:cNvPr id="11" name="Rectangle 10"/>
          <p:cNvSpPr/>
          <p:nvPr/>
        </p:nvSpPr>
        <p:spPr>
          <a:xfrm>
            <a:off x="457200" y="4764024"/>
            <a:ext cx="11247120" cy="1600200"/>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882896"/>
            <a:ext cx="3657600" cy="384048"/>
          </a:xfrm>
          <a:prstGeom prst="rect">
            <a:avLst/>
          </a:prstGeom>
          <a:noFill/>
        </p:spPr>
        <p:txBody>
          <a:bodyPr wrap="square">
            <a:spAutoFit/>
          </a:bodyPr>
          <a:lstStyle/>
          <a:p>
            <a:pPr algn="l"/>
            <a:r>
              <a:rPr sz="1300" b="1">
                <a:solidFill>
                  <a:srgbClr val="FFFFFF"/>
                </a:solidFill>
                <a:latin typeface="Calibri"/>
              </a:rPr>
              <a:t>VALOR DE INFRAESTRUCTURA</a:t>
            </a:r>
          </a:p>
        </p:txBody>
      </p:sp>
      <p:sp>
        <p:nvSpPr>
          <p:cNvPr id="13" name="TextBox 12"/>
          <p:cNvSpPr txBox="1"/>
          <p:nvPr/>
        </p:nvSpPr>
        <p:spPr>
          <a:xfrm>
            <a:off x="640080" y="5285231"/>
            <a:ext cx="10789920" cy="960120"/>
          </a:xfrm>
          <a:prstGeom prst="rect">
            <a:avLst/>
          </a:prstGeom>
          <a:noFill/>
        </p:spPr>
        <p:txBody>
          <a:bodyPr wrap="square">
            <a:spAutoFit/>
          </a:bodyPr>
          <a:lstStyle/>
          <a:p>
            <a:pPr algn="l"/>
            <a:r>
              <a:rPr sz="1400" b="0">
                <a:solidFill>
                  <a:srgbClr val="FFFFFF"/>
                </a:solidFill>
                <a:latin typeface="Calibri"/>
              </a:rPr>
              <a:t>Codigo abierto bajo AGPL-3.0.
Base tecnica adaptable a otros contextos electorales
latinoamericanos sin partir de cero.</a:t>
            </a:r>
          </a:p>
        </p:txBody>
      </p:sp>
      <p:sp>
        <p:nvSpPr>
          <p:cNvPr id="14" name="Rectangle 13"/>
          <p:cNvSpPr/>
          <p:nvPr/>
        </p:nvSpPr>
        <p:spPr>
          <a:xfrm>
            <a:off x="457200" y="6473952"/>
            <a:ext cx="11247120" cy="2926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528816"/>
            <a:ext cx="10789920" cy="201168"/>
          </a:xfrm>
          <a:prstGeom prst="rect">
            <a:avLst/>
          </a:prstGeom>
          <a:noFill/>
        </p:spPr>
        <p:txBody>
          <a:bodyPr wrap="square">
            <a:spAutoFit/>
          </a:bodyPr>
          <a:lstStyle/>
          <a:p>
            <a:pPr algn="ctr"/>
            <a:r>
              <a:rPr sz="1100" b="1">
                <a:solidFill>
                  <a:srgbClr val="1C3A52"/>
                </a:solidFill>
                <a:latin typeface="Calibri"/>
              </a:rPr>
              <a:t>La tecnologia electoral deberia ser infraestructura publica. VotoAFin es un paso concreto en esa direccion.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88952" cy="10972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10698480" cy="1600200"/>
          </a:xfrm>
          <a:prstGeom prst="rect">
            <a:avLst/>
          </a:prstGeom>
          <a:noFill/>
        </p:spPr>
        <p:txBody>
          <a:bodyPr wrap="square">
            <a:spAutoFit/>
          </a:bodyPr>
          <a:lstStyle/>
          <a:p>
            <a:pPr algn="ctr"/>
            <a:r>
              <a:rPr sz="4200" b="1">
                <a:solidFill>
                  <a:srgbClr val="FFFFFF"/>
                </a:solidFill>
                <a:latin typeface="Calibri"/>
              </a:rPr>
              <a:t>La ingenieria de productos de interes publico
exige un estandar etico diferente.</a:t>
            </a:r>
          </a:p>
        </p:txBody>
      </p:sp>
      <p:sp>
        <p:nvSpPr>
          <p:cNvPr id="5" name="TextBox 4"/>
          <p:cNvSpPr txBox="1"/>
          <p:nvPr/>
        </p:nvSpPr>
        <p:spPr>
          <a:xfrm>
            <a:off x="1371600" y="2880360"/>
            <a:ext cx="9418320" cy="1325880"/>
          </a:xfrm>
          <a:prstGeom prst="rect">
            <a:avLst/>
          </a:prstGeom>
          <a:noFill/>
        </p:spPr>
        <p:txBody>
          <a:bodyPr wrap="square">
            <a:spAutoFit/>
          </a:bodyPr>
          <a:lstStyle/>
          <a:p>
            <a:pPr algn="ctr"/>
            <a:r>
              <a:rPr sz="1700" b="0">
                <a:solidFill>
                  <a:srgbClr val="CBD1CD"/>
                </a:solidFill>
                <a:latin typeface="Calibri"/>
              </a:rPr>
              <a:t>En un producto comercial, ocultar la incertidumbre de un resultado
es un problema de experiencia de usuario.
En un producto electoral, es un problema de integridad democratica.</a:t>
            </a:r>
          </a:p>
        </p:txBody>
      </p:sp>
      <p:sp>
        <p:nvSpPr>
          <p:cNvPr id="6" name="Rectangle 5"/>
          <p:cNvSpPr/>
          <p:nvPr/>
        </p:nvSpPr>
        <p:spPr>
          <a:xfrm>
            <a:off x="4937760" y="4370832"/>
            <a:ext cx="2313432" cy="36576"/>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4572000"/>
            <a:ext cx="9418320" cy="914400"/>
          </a:xfrm>
          <a:prstGeom prst="rect">
            <a:avLst/>
          </a:prstGeom>
          <a:noFill/>
        </p:spPr>
        <p:txBody>
          <a:bodyPr wrap="square">
            <a:spAutoFit/>
          </a:bodyPr>
          <a:lstStyle/>
          <a:p>
            <a:pPr algn="ctr"/>
            <a:r>
              <a:rPr sz="1800" b="1">
                <a:solidFill>
                  <a:srgbClr val="3A9E7A"/>
                </a:solidFill>
                <a:latin typeface="Calibri"/>
              </a:rPr>
              <a:t>VotoAFin: un paso pequeno pero concreto hacia
la tecnologia electoral como bien publico.</a:t>
            </a:r>
          </a:p>
        </p:txBody>
      </p:sp>
      <p:sp>
        <p:nvSpPr>
          <p:cNvPr id="8" name="TextBox 7"/>
          <p:cNvSpPr txBox="1"/>
          <p:nvPr/>
        </p:nvSpPr>
        <p:spPr>
          <a:xfrm>
            <a:off x="1371600" y="6172200"/>
            <a:ext cx="9418320" cy="384048"/>
          </a:xfrm>
          <a:prstGeom prst="rect">
            <a:avLst/>
          </a:prstGeom>
          <a:noFill/>
        </p:spPr>
        <p:txBody>
          <a:bodyPr wrap="square">
            <a:spAutoFit/>
          </a:bodyPr>
          <a:lstStyle/>
          <a:p>
            <a:pPr algn="ctr"/>
            <a:r>
              <a:rPr sz="1200" b="0">
                <a:solidFill>
                  <a:srgbClr val="8A9199"/>
                </a:solidFill>
                <a:latin typeface="Calibri"/>
              </a:rPr>
              <a:t>Jenifer Castillo  --  UTFSM  --  Agosto 2026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1645920"/>
            <a:ext cx="8503920" cy="1645920"/>
          </a:xfrm>
          <a:prstGeom prst="rect">
            <a:avLst/>
          </a:prstGeom>
          <a:noFill/>
        </p:spPr>
        <p:txBody>
          <a:bodyPr wrap="square">
            <a:spAutoFit/>
          </a:bodyPr>
          <a:lstStyle/>
          <a:p>
            <a:pPr algn="ctr"/>
            <a:r>
              <a:rPr sz="8000" b="1">
                <a:solidFill>
                  <a:srgbClr val="FFFFFF"/>
                </a:solidFill>
                <a:latin typeface="Calibri"/>
              </a:rPr>
              <a:t>Preguntas</a:t>
            </a:r>
          </a:p>
        </p:txBody>
      </p:sp>
      <p:sp>
        <p:nvSpPr>
          <p:cNvPr id="4" name="TextBox 3"/>
          <p:cNvSpPr txBox="1"/>
          <p:nvPr/>
        </p:nvSpPr>
        <p:spPr>
          <a:xfrm>
            <a:off x="1371600" y="5715000"/>
            <a:ext cx="9418320" cy="457200"/>
          </a:xfrm>
          <a:prstGeom prst="rect">
            <a:avLst/>
          </a:prstGeom>
          <a:noFill/>
        </p:spPr>
        <p:txBody>
          <a:bodyPr wrap="square">
            <a:spAutoFit/>
          </a:bodyPr>
          <a:lstStyle/>
          <a:p>
            <a:pPr algn="ctr"/>
            <a:r>
              <a:rPr sz="1400" b="0">
                <a:solidFill>
                  <a:srgbClr val="3A9E7A"/>
                </a:solidFill>
                <a:latin typeface="Calibri"/>
              </a:rPr>
              <a:t>votoafin.cl  --  github.com/whatebria/tinder-decisivo  --  AGPL-3.0</a:t>
            </a:r>
          </a:p>
        </p:txBody>
      </p:sp>
      <p:sp>
        <p:nvSpPr>
          <p:cNvPr id="5" name="TextBox 4"/>
          <p:cNvSpPr txBox="1"/>
          <p:nvPr/>
        </p:nvSpPr>
        <p:spPr>
          <a:xfrm>
            <a:off x="1371600" y="6263640"/>
            <a:ext cx="9418320" cy="384048"/>
          </a:xfrm>
          <a:prstGeom prst="rect">
            <a:avLst/>
          </a:prstGeom>
          <a:noFill/>
        </p:spPr>
        <p:txBody>
          <a:bodyPr wrap="square">
            <a:spAutoFit/>
          </a:bodyPr>
          <a:lstStyle/>
          <a:p>
            <a:pPr algn="ctr"/>
            <a:r>
              <a:rPr sz="1200" b="0">
                <a:solidFill>
                  <a:srgbClr val="8A9199"/>
                </a:solidFill>
                <a:latin typeface="Calibri"/>
              </a:rPr>
              <a:t>Jenifer Castillo  --  UTFSM  --  Ingenieria en Informatica  --  Agosto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