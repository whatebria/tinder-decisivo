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Presentacion Presentacion 02 de 04: Evolucion de la Idea. De la Observacion al Modelo VAA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proyecto no nacio como tesis. Nacio como trabajo de Emprendimiento. Cada etapa fue necesaria para llegar a la siguiente. El fracaso del prototipo inicial fue el aprendizaje mas valioso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equipo eligio desinformacion electoral por su relevancia social directa y la posibilidad de abordaje desde la ingenieria. El diagnostico de cinco causas estructurales fue el marco que guio toda la investigacion posterior.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propuesta era coherente con el diagnostico: si el desinteres es el problema, la gamificacion puede ser parte de la solucion. El error no estaba en el diagnostico sino en que la gamificacion no aborda la calidad del voto -- solo el nivel de participacion.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Tinder Electoral no fue una copia descuidada de una app de citas. Fue una hipotesis deliberada: si la barrera de entrada al conocimiento de candidatos es la friccion cognitiva, el swipe la elimina. La hipotesis era inteligente. El problema era otro.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fue el hallazgo mas importante de la iteracion 2. No es un problema de interfaz: es un problema epistemologico. El swipe binario pierde la mitad de la informacion relevante para el matching. Sin esa informacion, el porcentaje de afinidad no refleja las preferencias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fue la decision mas importante del proyecto. Eliminar completamente el dataset fabricado fue la primera decision de diseno estructurante. Cada postura en VotoAFin debe incluir justificacion textual y URL de fuente primaria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tres problemas no son independientes: se refuerzan mutuamente. Un sistema binario sobre datos fabricados con cobertura incompleta no es una VAA -- es una demo tecnica. Util como aprendizaje, no como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cambio no fue tecnico. Fue epistemologico. Desplazar la pregunta de diseno produjo una solucion fundamentalmente distinta. Esta es la inversion mas rentable del proyecto: reformular la pregunta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modelo VAA tenia 35 anos cuando lo descubrimos. No habia que inventarlo: habia que adaptarlo. La investigacion del estado del arte en 9 plataformas internacionales definio cuales principios de diseno habian sido validados empiricamente.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cuatro principios no son decisiones de diseno arbitrarias: estan respaldadas por investigacion academica en politologia y psicologia cognitiva. Bachmann et al (2026), Garzia y Marschall (2014), Krosnick y Presser (2010), Louwerse y Rosema (2014).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diferencia no es estetica: es epistemologica. Entretenimiento y eficiencia no son lo mismo. Un proceso entretenido que produce resultados imprecisos no ayuda al votante. Un proceso eficiente que produce resultados verificables,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hipotesis, dos iteraciones de aprendizaje, una solucion. Esto no es fracaso: es el proceso de ingenieria correcto. Cada hipotesis descartada eliminaba una clase de error que de otro modo hubiera aparecido en produccion.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Cierra la presentacion 02. La siguiente cuenta que se construyo y por que las decisiones de diseno tienen sentido.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9B5C"/>
                </a:solidFill>
                <a:latin typeface="Calibri"/>
              </a:rPr>
              <a:t>Presentacion 02 de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Evolucion de la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1CD"/>
                </a:solidFill>
                <a:latin typeface="Calibri"/>
              </a:rPr>
              <a:t>De la Observacion al Modelo VAA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4114800" cy="36576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1CD"/>
                </a:solidFill>
                <a:latin typeface="Calibri"/>
              </a:rPr>
              <a:t>Tres iteraciones. Dos descartadas. Una que funciono.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199"/>
                </a:solidFill>
                <a:latin typeface="Calibri"/>
              </a:rPr>
              <a:t>Jenifer Castillo  --  Universidad Tecnica Federico Santa Maria  -- 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9B5C"/>
                </a:solidFill>
                <a:latin typeface="Calibri"/>
              </a:rPr>
              <a:t>CRONOLOGIA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Cuatro etapas, tres 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46120"/>
            <a:ext cx="10881360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61872" y="2944368"/>
            <a:ext cx="685800" cy="68580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990088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9B5C"/>
                </a:solidFill>
                <a:latin typeface="Calibri"/>
              </a:rPr>
              <a:t>2024 Sem 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19" y="3767328"/>
            <a:ext cx="2560320" cy="43891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EMPRENDIMIENTO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315968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Investigacion empirica
Levantamiento de campo
Primera hipotesis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6511" y="2944368"/>
            <a:ext cx="685800" cy="6858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990088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F7E"/>
                </a:solidFill>
                <a:latin typeface="Calibri"/>
              </a:rPr>
              <a:t>2025 Sem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3767328"/>
            <a:ext cx="2560320" cy="43891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 MOVIL (DAM)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315968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Tinder Electoral
Proototipo funcional
Limitaciones identificadas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31152" y="2944368"/>
            <a:ext cx="685800" cy="68580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990088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85C5C"/>
                </a:solidFill>
                <a:latin typeface="Calibri"/>
              </a:rPr>
              <a:t>2025 Sem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67328"/>
            <a:ext cx="2560320" cy="43891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REFORMULACION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15968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Estado del arte VAAs
Nueva pregunta de diseno
Cambio conceptual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65792" y="2944368"/>
            <a:ext cx="685800" cy="6858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990088"/>
            <a:ext cx="5669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A9E7A"/>
                </a:solidFill>
                <a:latin typeface="Calibri"/>
              </a:rPr>
              <a:t>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767328"/>
            <a:ext cx="2560320" cy="4389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3813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VOTOAFIN VAA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315968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3"/>
                </a:solidFill>
                <a:latin typeface="Calibri"/>
              </a:rPr>
              <a:t>Sistema completo
370 tests
Codigo abierto AGPL-3.0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9B5C"/>
                </a:solidFill>
                <a:latin typeface="Calibri"/>
              </a:rPr>
              <a:t>ETAPA 1 -- EMPRENDIMIENTO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Identificacion y primera hipotesis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3"/>
                </a:solidFill>
                <a:latin typeface="Calibri"/>
              </a:rPr>
              <a:t>Equipo: Jenifer Castillo + Patricio De Lima + Alonso Sanchez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11247120" cy="4572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9B5C"/>
                </a:solidFill>
                <a:latin typeface="Calibri"/>
              </a:rPr>
              <a:t>EL PROBLEMA SELECCIONADO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C3A52"/>
                </a:solidFill>
                <a:latin typeface="Calibri"/>
              </a:rPr>
              <a:t>Desinformacion en los procesos electorales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52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5F7E"/>
                </a:solidFill>
                <a:latin typeface="Calibri"/>
              </a:rPr>
              <a:t>CINCO CAUSAS IDENTIFICADAS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2212848" cy="16459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01568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Aumento de fuentes no reguladas de informacion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1488" y="3291840"/>
            <a:ext cx="2212848" cy="16459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3401568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Desconfianza en fuentes de informacion tradicionales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5776" y="3291840"/>
            <a:ext cx="2212848" cy="16459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2936" y="3401568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Complejidad de la informacion electoral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0064" y="3291840"/>
            <a:ext cx="2212848" cy="16459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3401568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Polarizacion politica creciente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2" y="3291840"/>
            <a:ext cx="2212848" cy="16459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2" y="3401568"/>
            <a:ext cx="19933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Ausencia de educacion civica sistematica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9B5C"/>
                </a:solidFill>
                <a:latin typeface="Calibri"/>
              </a:rPr>
              <a:t>LA PRIMERA PROPUESTA DE SOLUCION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 la politica es aburrida,
hagamosla un juego.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19072"/>
            <a:ext cx="2743200" cy="38404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Clave Unica del Estado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4871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Autenticacion oficial
Vinculo con institucionalidad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719072"/>
            <a:ext cx="2743200" cy="38404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Preguntas gamificadas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514600"/>
            <a:ext cx="24871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Aprender sobre candidatos
de forma interactiva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2743200" cy="384048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Sistema de puntos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24871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Premios y descuentos
por participar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719072"/>
            <a:ext cx="2743200" cy="384048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24871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Tendencias de voto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514600"/>
            <a:ext cx="2487168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Datos de la region
Comparativas locales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42432"/>
            <a:ext cx="11247120" cy="80467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1558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3A52"/>
                </a:solidFill>
                <a:latin typeface="Calibri"/>
              </a:rPr>
              <a:t>Modelo de negocio: $120M CLP -- Retorno proyectado 50% primer ano
Escalabilidad: otros paises latinoamericanos con desinteres electoral similar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9B5C"/>
                </a:solidFill>
                <a:latin typeface="Calibri"/>
              </a:rPr>
              <a:t>ETAPA 2 -- DESARROLLO DE APLICACIONES MOVILES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Del boceto al codigo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A6B73"/>
                </a:solidFill>
                <a:latin typeface="Calibri"/>
              </a:rPr>
              <a:t>La hipotesis de diseño: si la barrera es el texto, reducir la interaccion al minimo.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47120" cy="4572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9B5C"/>
                </a:solidFill>
                <a:latin typeface="Calibri"/>
              </a:rPr>
              <a:t>LA INTUICION DE DISENO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3A52"/>
                </a:solidFill>
                <a:latin typeface="Calibri"/>
              </a:rPr>
              <a:t>Millones de personas usan el swipe izquierda/derecha con naturalidad.
Si aplicamos esa mecanica a candidatos politicos,
reducimos la friccion de exploracion al minimo absoluto.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11247120" cy="4572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5F7E"/>
                </a:solidFill>
                <a:latin typeface="Calibri"/>
              </a:rPr>
              <a:t>EL PROTOTIPO IMPLEMENTADO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33087"/>
            <a:ext cx="11247120" cy="5486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87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Candidatos ficticios como datos de prueba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7448"/>
            <a:ext cx="11247120" cy="5486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7823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Perfil visual: foto, nombre, partido, propuestas clave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21807"/>
            <a:ext cx="11247120" cy="5486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766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Swipe DERECHA = me interesa  /  Swipe IZQUIERDA = no me interesa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916168"/>
            <a:ext cx="11247120" cy="5486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9710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Interaccion binaria, inmediata, sin friccion visible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5C5C"/>
                </a:solidFill>
                <a:latin typeface="Calibri"/>
              </a:rPr>
              <a:t>EL PROBLEMA FUNDAMENTAL DEL PROTOTIPO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Binario vs. matiz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50749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9E7A"/>
                </a:solidFill>
                <a:latin typeface="Calibri"/>
              </a:rPr>
              <a:t>LO QUE EL SWIPE CAPTURA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Me gusta / No me gusta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La decision es binaria.
Cero o uno.
Si o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1CD"/>
                </a:solidFill>
                <a:latin typeface="Calibri"/>
              </a:rPr>
              <a:t>Perfecto para seleccionar
una pareja potencial.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4937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5C5C"/>
                </a:solidFill>
                <a:latin typeface="Calibri"/>
              </a:rPr>
              <a:t>Inaceptable para comparar
posturas sobre politica
publica compleja.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80160"/>
            <a:ext cx="5577840" cy="50749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89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A52"/>
                </a:solidFill>
                <a:latin typeface="Calibri"/>
              </a:rPr>
              <a:t>LO QUE LA POLITICA REQUIERE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105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Gradacion de acuerdo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688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Muy de acuerdo
De acuerdo
Neutral / Sin opinion
En desacuerdo
Muy en desacuerdo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5720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 escala Likert de 5 puntos
existe exactamente para
capturar esta gradacion.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5C5C"/>
                </a:solidFill>
                <a:latin typeface="Calibri"/>
              </a:rPr>
              <a:t>EL ERROR CRITICO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C3A52"/>
                </a:solidFill>
                <a:latin typeface="Calibri"/>
              </a:rPr>
              <a:t>El dataset fabricado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47120" cy="233172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Las posturas asignadas a los candidatos de prueba fueron generadas por inferencia ideologica estereotipica: si un candidato pertenecia a cierta orientacion politica, se asumia que su postura era la 'esperada' para esa orientacion.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Sin verificacion contra declaraciones, votaciones o programas reales.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5C5C"/>
                </a:solidFill>
                <a:latin typeface="Calibri"/>
              </a:rPr>
              <a:t>POR QUE ESTO ES UN ERROR ETICO CRITICO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15968"/>
            <a:ext cx="11247120" cy="6858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Un sistema electoral con datos inventados no informa: desinforma de manera sofisticada.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65776"/>
            <a:ext cx="11247120" cy="68580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1389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 presentacion algoritmica genera una ilusion de rigor que el contenido no respalda.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15583"/>
            <a:ext cx="11247120" cy="6858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888736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Es peor que un articulo falso en redes sociales: tiene apariencia de herramienta tecnica neutral.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5C5C"/>
                </a:solidFill>
                <a:latin typeface="Calibri"/>
              </a:rPr>
              <a:t>LIMITACIONES DEL PROTOTIPO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Tres razones por las que el prototipo era insuficiente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47120" cy="157276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8249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LIMITACION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8249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BINARIO VS. MATIZ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1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El swipe pierde la mitad de la informacion de matching.
Sin gradacion de posiciones, el calculo es impreciso.
Resultado: porcentaje de afinidad sin validez.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64408"/>
            <a:ext cx="11247120" cy="157276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741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LIMITACION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3741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DATOS FABRICADOS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76472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Posturas inferidas por ideologia sin verificacion.
Recomendacion electoral sin fuente primaria.
Resultado: desinformacion con apariencia de rigor.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56048"/>
            <a:ext cx="11247120" cy="157276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657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LIMITACION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50657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COBERTURA TERRITORIAL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68112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Solo candidatos presidenciales ficticios.
Sin modelo para alcaldes, diputados, concejales.
Resultado: inutilizable para el votante real chileno.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CAMBIO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La pregunta que reorganizo 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394960" cy="196596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PREGUNTA ANTERIOR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Como hacer mas atractivo
el candidato para el votante?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03120"/>
            <a:ext cx="731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A9E7A"/>
                </a:solidFill>
                <a:latin typeface="Calibri"/>
              </a:rPr>
              <a:t>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417320"/>
            <a:ext cx="5120640" cy="196596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2704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NUEVA PREGUNTA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47548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Como medir la coincidencia
entre votante y candidato?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84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5F7E"/>
                </a:solidFill>
                <a:latin typeface="Calibri"/>
              </a:rPr>
              <a:t>Por que este cambio es importante: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11247120" cy="6858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96512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 primera pregunta pone al candidato en el centro. La segunda, al votante.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73168"/>
            <a:ext cx="11247120" cy="68580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 primera busca engagement. La segunda busca precision.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22976"/>
            <a:ext cx="11247120" cy="6858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96128"/>
            <a:ext cx="10789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La primera genera entretenimiento. La segunda genera informacion util.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EL MODELO QUE YA EXISTIA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Voting Advice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BD1CD"/>
                </a:solidFill>
                <a:latin typeface="Calibri"/>
              </a:rPr>
              <a:t>35 anos de historia academica. Validacion empirica en Europa. Listo para adaptarse a Chile.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19072"/>
            <a:ext cx="2743200" cy="47548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StemWijzer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Paises Bajos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2487168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1989 -- La primera VAA del mundo.
Distribuida inicialmente en disquete.
Hoy: millones de usos por eleccion.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719072"/>
            <a:ext cx="2743200" cy="47548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828800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Wahl-O-Mat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0428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Alemania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269748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816352"/>
            <a:ext cx="2487168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Operada por la Agencia Federal
de Educacion Civica.
21 millones de usos en 2021.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19072"/>
            <a:ext cx="2743200" cy="475488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Smartvote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30428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Suiza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69748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816352"/>
            <a:ext cx="2487168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75 preguntas en 11 dimensiones.
Validada en estudios academicos.
Alto impacto en participacion.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719072"/>
            <a:ext cx="2743200" cy="475488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828800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Vote Compass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304288"/>
            <a:ext cx="2487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Canada/Australia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697480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816352"/>
            <a:ext cx="2487168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Alianza con medios (CBC Canada).
Resolvio el problema de
sostenibilidad institucional.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QUE APRENDIMOS DE LAS VAAs INTERNACIONALES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Principios validados por 35 anos de investigacion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5577840" cy="23317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Escala Likert de 5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3969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Captura gradacion con suficiente resolucion.
Escalas mas cortas pierden matiz.
Escalas mas largas generan fatiga sin ganancia.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72768"/>
            <a:ext cx="5577840" cy="23317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09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Ponderacion por importancia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13969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El votante puede indicar que temas le importan mas.
El algoritmo ajusta el peso de cada pregunta.
Resultado: mas coherente con prioridades reales.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87368"/>
            <a:ext cx="5577840" cy="233172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24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Exclusion de respuestas NSR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5429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73168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No sabe / No responde se excluye del denominador.
No se trata como posicion neutral.
Preserva la precision del calculo.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087368"/>
            <a:ext cx="5577840" cy="23317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24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Indicador de confianza del resultado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4654296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73168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Bachmann et al (2026): comunicar el nivel de certeza
afecta positivamente el uso sin distorsionar la percepcion.
Un match sobre 3 preguntas no equivale a uno sobre 12.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LA HIPOTESIS REFORMULADA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La que se confirmo como correcta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47120" cy="217627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Si se reduce la carga cognitiva del proceso informativo --
no haciendo la interfaz mas entretenida, sino estructurando preguntas
para que el usuario revele sus preferencias en 5-15 minutos --
y el resultado entrega un ranking con criterios explicitos y verificables,
entonces la herramienta puede ser util para votantes de perfiles muy distintos.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7588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9B5C"/>
                </a:solidFill>
                <a:latin typeface="Calibri"/>
              </a:rPr>
              <a:t>LA DIFERENCIA CLAVE CON EL PROTOTIPO ANTERIOR: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33087"/>
            <a:ext cx="5394960" cy="228600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4937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Reducir la carga cognitiva
haciendo el proceso
mas entretenido.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4133087"/>
            <a:ext cx="5577840" cy="22860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2519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A52"/>
                </a:solidFill>
                <a:latin typeface="Calibri"/>
              </a:rPr>
              <a:t>AHORA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66344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A52"/>
                </a:solidFill>
                <a:latin typeface="Calibri"/>
              </a:rPr>
              <a:t>Reducir la carga cognitiva
haciendo el proceso
mas eficiente.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LAS TRES HIPOTESIS EN PERSPECTIVA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C3A52"/>
                </a:solidFill>
                <a:latin typeface="Calibri"/>
              </a:rPr>
              <a:t>La evolucion completa de la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81328"/>
            <a:ext cx="11247120" cy="162763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HIPOTESIS 1 -- EMPRENDIMIENTO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Gamificacion civica con puntos y recompensas.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572768"/>
            <a:ext cx="34747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La politica es aburrida. Los juegos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572768"/>
            <a:ext cx="2377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aborda la calidad del voto.
Solo el nivel de participacion.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DESCARTADA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11247120" cy="162763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39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HIPOTESIS 2 -- APP MOVIL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1246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Tinder Electoral con mecanica de swipe.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91839"/>
            <a:ext cx="34747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Si reducimos la friccion, mas personas participan.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91839"/>
            <a:ext cx="2377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Binario vs. matiz. Dataset fabricado.
Cobertura territorial cero.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4005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DESCARTADA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19472"/>
            <a:ext cx="11247120" cy="16276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109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HIPOTESIS 3 -- VOTOAFIN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3153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VAA con cuestionario Likert y matching cuadratico.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010912"/>
            <a:ext cx="34747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Medir la coincidencia real entre votante y candidato.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010912"/>
            <a:ext cx="2377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Sistema funcional. Datos verificados.
370 tests automatizados.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72414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C3A52"/>
                </a:solidFill>
                <a:latin typeface="Calibri"/>
              </a:rPr>
              <a:t>IMPLEMENTADA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9144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La evolucion no fue accidental.
Fue el proceso.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CBD1CD"/>
                </a:solidFill>
                <a:latin typeface="Calibri"/>
              </a:rPr>
              <a:t>Cada hipotesis descartada fue un aprendizaje que hizo
la siguiente iteracion mas precisa y mas honesta.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434840"/>
            <a:ext cx="2679192" cy="36576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177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89B5C"/>
                </a:solidFill>
                <a:latin typeface="Calibri"/>
              </a:rPr>
              <a:t>Continua en: 03 Solucion, Diseno y Producto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